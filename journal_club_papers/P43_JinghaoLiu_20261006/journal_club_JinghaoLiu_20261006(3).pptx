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1.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2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2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8.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40.xml" ContentType="application/vnd.openxmlformats-officedocument.presentationml.notesSlide+xml"/>
  <Override PartName="/ppt/tags/tag259.xml" ContentType="application/vnd.openxmlformats-officedocument.presentationml.tags+xml"/>
  <Override PartName="/ppt/tags/tag260.xml" ContentType="application/vnd.openxmlformats-officedocument.presentationml.tags+xml"/>
  <Override PartName="/ppt/notesSlides/notesSlide41.xml" ContentType="application/vnd.openxmlformats-officedocument.presentationml.notesSlide+xml"/>
  <Override PartName="/ppt/ink/ink10.xml" ContentType="application/inkml+xml"/>
  <Override PartName="/ppt/ink/ink11.xml" ContentType="application/inkml+xml"/>
  <Override PartName="/ppt/tags/tag261.xml" ContentType="application/vnd.openxmlformats-officedocument.presentationml.tags+xml"/>
  <Override PartName="/ppt/tags/tag262.xml" ContentType="application/vnd.openxmlformats-officedocument.presentationml.tags+xml"/>
  <Override PartName="/ppt/notesSlides/notesSlide42.xml" ContentType="application/vnd.openxmlformats-officedocument.presentationml.notesSlide+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notesSlides/notesSlide46.xml" ContentType="application/vnd.openxmlformats-officedocument.presentationml.notesSlide+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ink/ink12.xml" ContentType="application/inkml+xml"/>
  <Override PartName="/ppt/ink/ink13.xml" ContentType="application/inkml+xml"/>
  <Override PartName="/ppt/notesSlides/notesSlide63.xml" ContentType="application/vnd.openxmlformats-officedocument.presentationml.notesSlide+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notesSlides/notesSlide67.xml" ContentType="application/vnd.openxmlformats-officedocument.presentationml.notesSlide+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notesSlides/notesSlide77.xml" ContentType="application/vnd.openxmlformats-officedocument.presentationml.notesSlide+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5"/>
  </p:notesMasterIdLst>
  <p:handoutMasterIdLst>
    <p:handoutMasterId r:id="rId96"/>
  </p:handoutMasterIdLst>
  <p:sldIdLst>
    <p:sldId id="441" r:id="rId3"/>
    <p:sldId id="442" r:id="rId4"/>
    <p:sldId id="531" r:id="rId5"/>
    <p:sldId id="532" r:id="rId6"/>
    <p:sldId id="533" r:id="rId7"/>
    <p:sldId id="449" r:id="rId8"/>
    <p:sldId id="534" r:id="rId9"/>
    <p:sldId id="443" r:id="rId10"/>
    <p:sldId id="444" r:id="rId11"/>
    <p:sldId id="445" r:id="rId12"/>
    <p:sldId id="446" r:id="rId13"/>
    <p:sldId id="447" r:id="rId14"/>
    <p:sldId id="448" r:id="rId15"/>
    <p:sldId id="450" r:id="rId16"/>
    <p:sldId id="452" r:id="rId17"/>
    <p:sldId id="529" r:id="rId18"/>
    <p:sldId id="453"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469" r:id="rId35"/>
    <p:sldId id="470" r:id="rId36"/>
    <p:sldId id="471" r:id="rId37"/>
    <p:sldId id="472" r:id="rId38"/>
    <p:sldId id="473" r:id="rId39"/>
    <p:sldId id="530" r:id="rId40"/>
    <p:sldId id="474" r:id="rId41"/>
    <p:sldId id="475" r:id="rId42"/>
    <p:sldId id="476" r:id="rId43"/>
    <p:sldId id="477" r:id="rId44"/>
    <p:sldId id="478" r:id="rId45"/>
    <p:sldId id="479" r:id="rId46"/>
    <p:sldId id="480" r:id="rId47"/>
    <p:sldId id="481" r:id="rId48"/>
    <p:sldId id="482" r:id="rId49"/>
    <p:sldId id="483" r:id="rId50"/>
    <p:sldId id="484" r:id="rId51"/>
    <p:sldId id="485" r:id="rId52"/>
    <p:sldId id="486" r:id="rId53"/>
    <p:sldId id="487" r:id="rId54"/>
    <p:sldId id="488" r:id="rId55"/>
    <p:sldId id="490" r:id="rId56"/>
    <p:sldId id="491" r:id="rId57"/>
    <p:sldId id="492" r:id="rId58"/>
    <p:sldId id="493" r:id="rId59"/>
    <p:sldId id="494" r:id="rId60"/>
    <p:sldId id="495" r:id="rId61"/>
    <p:sldId id="496" r:id="rId62"/>
    <p:sldId id="497" r:id="rId63"/>
    <p:sldId id="498" r:id="rId64"/>
    <p:sldId id="499" r:id="rId65"/>
    <p:sldId id="500" r:id="rId66"/>
    <p:sldId id="501" r:id="rId67"/>
    <p:sldId id="502" r:id="rId68"/>
    <p:sldId id="503" r:id="rId69"/>
    <p:sldId id="504" r:id="rId70"/>
    <p:sldId id="505" r:id="rId71"/>
    <p:sldId id="506" r:id="rId72"/>
    <p:sldId id="507" r:id="rId73"/>
    <p:sldId id="508" r:id="rId74"/>
    <p:sldId id="509" r:id="rId75"/>
    <p:sldId id="510" r:id="rId76"/>
    <p:sldId id="511" r:id="rId77"/>
    <p:sldId id="512" r:id="rId78"/>
    <p:sldId id="513" r:id="rId79"/>
    <p:sldId id="514" r:id="rId80"/>
    <p:sldId id="515" r:id="rId81"/>
    <p:sldId id="516" r:id="rId82"/>
    <p:sldId id="517" r:id="rId83"/>
    <p:sldId id="518" r:id="rId84"/>
    <p:sldId id="519" r:id="rId85"/>
    <p:sldId id="520" r:id="rId86"/>
    <p:sldId id="521" r:id="rId87"/>
    <p:sldId id="522" r:id="rId88"/>
    <p:sldId id="523" r:id="rId89"/>
    <p:sldId id="524" r:id="rId90"/>
    <p:sldId id="525" r:id="rId91"/>
    <p:sldId id="526" r:id="rId92"/>
    <p:sldId id="527" r:id="rId93"/>
    <p:sldId id="528" r:id="rId9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2"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y yang" initials="hy" lastIdx="2" clrIdx="0"/>
  <p:cmAuthor id="2" name="Hongyan Yang" initials="YHY"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4AB"/>
    <a:srgbClr val="0000FF"/>
    <a:srgbClr val="0E0EFF"/>
    <a:srgbClr val="044875"/>
    <a:srgbClr val="D0CECE"/>
    <a:srgbClr val="000000"/>
    <a:srgbClr val="7F7F7F"/>
    <a:srgbClr val="C00000"/>
    <a:srgbClr val="5B9BD5"/>
    <a:srgbClr val="F2F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32" autoAdjust="0"/>
    <p:restoredTop sz="84357" autoAdjust="0"/>
  </p:normalViewPr>
  <p:slideViewPr>
    <p:cSldViewPr showGuides="1">
      <p:cViewPr varScale="1">
        <p:scale>
          <a:sx n="93" d="100"/>
          <a:sy n="93" d="100"/>
        </p:scale>
        <p:origin x="584" y="28"/>
      </p:cViewPr>
      <p:guideLst>
        <p:guide orient="horz" pos="2442"/>
        <p:guide pos="3863"/>
      </p:guideLst>
    </p:cSldViewPr>
  </p:slideViewPr>
  <p:notesTextViewPr>
    <p:cViewPr>
      <p:scale>
        <a:sx n="3" d="2"/>
        <a:sy n="3" d="2"/>
      </p:scale>
      <p:origin x="0" y="-1584"/>
    </p:cViewPr>
  </p:notesTextViewPr>
  <p:sorterViewPr>
    <p:cViewPr>
      <p:scale>
        <a:sx n="100" d="100"/>
        <a:sy n="100" d="100"/>
      </p:scale>
      <p:origin x="0" y="0"/>
    </p:cViewPr>
  </p:sorter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021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1050217"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2026/10/12</a:t>
            </a:fld>
            <a:endParaRPr lang="zh-CN" altLang="en-US">
              <a:latin typeface="微软雅黑" panose="020B0503020204020204" charset="-122"/>
              <a:ea typeface="微软雅黑" panose="020B0503020204020204" charset="-122"/>
            </a:endParaRPr>
          </a:p>
        </p:txBody>
      </p:sp>
      <p:sp>
        <p:nvSpPr>
          <p:cNvPr id="1050218"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1050219"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01.877"/>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0,'1010'0,"-802"11,-97-3,109 8,244 7,-362-25,136 4,-161 7,27 1,10-9,220 9,342 0,-418-12,-68 2,-173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09.41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40,'46'0,"-2"1,0-2,72-11,-100 9,25-5,-1 1,73-2,574 10,-671-1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11.003"/>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1,'784'0,"-759"1,-1 2,0 1,1 1,31 11,-31-9,0 0,0-2,0 0,27 0,81-6,-117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50.12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1,'802'0,"-785"0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4:15:51.610"/>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0,'555'0,"-539"0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3T04:07: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1 207,'4'-3,"0"0,1 0,0 0,0 1,0-1,0 1,0 1,7-3,14-4,7-5,1 2,0 1,1 2,63-7,-34 6,-24 3,74-3,-24 11,-23 0,96-9,-144 4,33-10,-37 8,0 1,0 0,0 2,17-2,403 4,-196 1,-79-10,3-1,292 10,-425-1,37-7,22-1,484 8,-278 2,-155-11,-5 1,881 8,-464 2,-535-1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3T04:07: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 0,'8181'0'0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4:08:5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20,'209'-1,"222"3,-294 7,45 1,1038-9,-593-2,-438-9,-7 0,1694 10,-1669-9,0-1,2321 10,-2512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5T04:09:0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40,'2'-2,"1"0,0 0,0 0,0 0,0 1,0-1,0 1,0 0,0 0,1 0,-1 0,0 1,5-1,49 0,-40 1,119-9,-8-1,618 9,-362 3,-368-2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5:30:50.286"/>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42,'21'-2,"1"0,-1-1,36-11,-35 8,0 1,1 1,28-1,507 4,-258 3,0 22,-165-9,-114-13,293 17,856-20,-1000 12,-12-1,-20-7,1 6,165 32,-194-21,174 8,-144-22,196 6,-110-2,-16 0,656-11,-612-12,-165 6,8 0,134-6,-78 3,-13 0,-15 10,187-11,-187 2,130 8,-113 3,34-2,-160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5T15:30:52.224"/>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0 102,'1491'0,"-1183"-11,-10 1,593 11,-821-4,80-14,29-2,304 16,-251 5,-203-2,297-12,-45-8,-165 12,120 7,-104 2,2127-1,-2240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9T12:17:2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21,'0'-1,"0"1,0-1,1 0,-1 1,1-1,-1 1,1-1,-1 1,1-1,-1 1,1-1,-1 1,1-1,-1 1,1 0,0-1,-1 1,1 0,0-1,-1 1,1 0,0 0,-1 0,1 0,1 0,22-4,-21 4,294-6,-176 8,2593-2,-2572 9,3 1,-93-11,-38 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9T12:17:3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54,'246'11,"196"-2,-269-11,2274 2,-2303-9,-8-1,30 1,17 0,-39 10,257-11,-14 1,-236 11,916-2,-948-9,-16 0,152 8,-134 2,-106-1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021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105021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2026/10/12</a:t>
            </a:fld>
            <a:endParaRPr lang="zh-CN" altLang="en-US"/>
          </a:p>
        </p:txBody>
      </p:sp>
      <p:sp>
        <p:nvSpPr>
          <p:cNvPr id="105021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5021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5021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105021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幻灯片图像占位符 1"/>
          <p:cNvSpPr>
            <a:spLocks noGrp="1" noRot="1" noChangeAspect="1"/>
          </p:cNvSpPr>
          <p:nvPr>
            <p:ph type="sldImg"/>
          </p:nvPr>
        </p:nvSpPr>
        <p:spPr/>
      </p:sp>
      <p:sp>
        <p:nvSpPr>
          <p:cNvPr id="1048646" name="备注占位符 2"/>
          <p:cNvSpPr>
            <a:spLocks noGrp="1"/>
          </p:cNvSpPr>
          <p:nvPr>
            <p:ph type="body" idx="1"/>
          </p:nvPr>
        </p:nvSpPr>
        <p:spPr/>
        <p:txBody>
          <a:bodyPr/>
          <a:lstStyle/>
          <a:p>
            <a:r>
              <a:rPr lang="zh-CN" altLang="en-US"/>
              <a:t>我汇报的主题是通过量子编码增强时间序列预测的性能。</a:t>
            </a:r>
            <a:endParaRPr lang="zh-CN" altLang="en-US" dirty="0"/>
          </a:p>
        </p:txBody>
      </p:sp>
      <p:sp>
        <p:nvSpPr>
          <p:cNvPr id="1048647"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幻灯片图像占位符 1"/>
          <p:cNvSpPr>
            <a:spLocks noGrp="1" noRot="1" noChangeAspect="1"/>
          </p:cNvSpPr>
          <p:nvPr>
            <p:ph type="sldImg"/>
          </p:nvPr>
        </p:nvSpPr>
        <p:spPr/>
      </p:sp>
      <p:sp>
        <p:nvSpPr>
          <p:cNvPr id="1048606" name="备注占位符 2"/>
          <p:cNvSpPr>
            <a:spLocks noGrp="1"/>
          </p:cNvSpPr>
          <p:nvPr>
            <p:ph type="body" idx="1"/>
          </p:nvPr>
        </p:nvSpPr>
        <p:spPr/>
        <p:txBody>
          <a:bodyPr/>
          <a:lstStyle/>
          <a:p>
            <a:r>
              <a:rPr lang="zh-CN" altLang="en-US"/>
              <a:t>我汇报的主题是通过量子编码增强时间序列预测的性能。首</a:t>
            </a:r>
            <a:r>
              <a:rPr lang="zh-CN" altLang="en-US" dirty="0"/>
              <a:t>先，第一篇论文介绍变分量子算法的基本原理与算法框架；第二篇论文将变分量子算法融入量子网络，以提升时间序列预测性能，但该方法在长时序列建模中容易出现灾难性遗忘问题。针对这一不足，第三篇论文在此基础上引入双层图注意力机制，以缓解灾难性遗忘，本篇论文讨论了此类算法在泛化性方面的局限。最后两篇论文分别从变分量子算法泛化性的角度切入，提出了增强表征能力的条件。</a:t>
            </a:r>
          </a:p>
        </p:txBody>
      </p:sp>
      <p:sp>
        <p:nvSpPr>
          <p:cNvPr id="1048607" name="灯片编号占位符 3"/>
          <p:cNvSpPr>
            <a:spLocks noGrp="1"/>
          </p:cNvSpPr>
          <p:nvPr>
            <p:ph type="sldNum" sz="quarter" idx="5"/>
          </p:nvPr>
        </p:nvSpPr>
        <p:spPr/>
        <p:txBody>
          <a:bodyPr/>
          <a:lstStyle/>
          <a:p>
            <a:fld id="{5849F42C-2DAE-424C-A4B8-3140182C3E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147DB-9CBE-4096-EC3C-565DD77A3BA2}"/>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AC648AF7-AD0B-20E1-C4FF-CE269BD1350C}"/>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B928980F-2F90-88FF-1F0D-52A657DECFD2}"/>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56973B23-204C-0CFB-1BDF-1355CB9CA617}"/>
              </a:ext>
            </a:extLst>
          </p:cNvPr>
          <p:cNvSpPr>
            <a:spLocks noGrp="1"/>
          </p:cNvSpPr>
          <p:nvPr>
            <p:ph type="sldNum" sz="quarter" idx="10"/>
          </p:nvPr>
        </p:nvSpPr>
        <p:spPr/>
        <p:txBody>
          <a:bodyPr/>
          <a:lstStyle/>
          <a:p>
            <a:fld id="{677A2CBA-E486-4DC8-8696-C7854B0A28FD}" type="slidenum">
              <a:rPr lang="zh-CN" altLang="en-US" smtClean="0"/>
              <a:t>3</a:t>
            </a:fld>
            <a:endParaRPr lang="zh-CN" altLang="en-US"/>
          </a:p>
        </p:txBody>
      </p:sp>
    </p:spTree>
    <p:extLst>
      <p:ext uri="{BB962C8B-B14F-4D97-AF65-F5344CB8AC3E}">
        <p14:creationId xmlns:p14="http://schemas.microsoft.com/office/powerpoint/2010/main" val="2835407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EE151-2DB0-CD77-A659-2643F83B2BE1}"/>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D99C2019-B657-DDAF-9953-D18C9CE3B1C7}"/>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50E5D342-F13E-CE9D-CDBE-75493391F8AB}"/>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C60156C2-23F8-1302-B853-AA827B74E0F1}"/>
              </a:ext>
            </a:extLst>
          </p:cNvPr>
          <p:cNvSpPr>
            <a:spLocks noGrp="1"/>
          </p:cNvSpPr>
          <p:nvPr>
            <p:ph type="sldNum" sz="quarter" idx="10"/>
          </p:nvPr>
        </p:nvSpPr>
        <p:spPr/>
        <p:txBody>
          <a:bodyPr/>
          <a:lstStyle/>
          <a:p>
            <a:fld id="{677A2CBA-E486-4DC8-8696-C7854B0A28FD}" type="slidenum">
              <a:rPr lang="zh-CN" altLang="en-US" smtClean="0"/>
              <a:t>4</a:t>
            </a:fld>
            <a:endParaRPr lang="zh-CN" altLang="en-US"/>
          </a:p>
        </p:txBody>
      </p:sp>
    </p:spTree>
    <p:extLst>
      <p:ext uri="{BB962C8B-B14F-4D97-AF65-F5344CB8AC3E}">
        <p14:creationId xmlns:p14="http://schemas.microsoft.com/office/powerpoint/2010/main" val="234151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E89B5-7484-ED59-BDA8-CC816EE55A86}"/>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67C7344F-7B2F-B8E7-E76B-70FA12B2D0A5}"/>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3629EE56-4F02-5164-ABAB-5E4640447C8A}"/>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AA9ADAA9-7AF2-809B-D8A9-59A5CA2EFC57}"/>
              </a:ext>
            </a:extLst>
          </p:cNvPr>
          <p:cNvSpPr>
            <a:spLocks noGrp="1"/>
          </p:cNvSpPr>
          <p:nvPr>
            <p:ph type="sldNum" sz="quarter" idx="10"/>
          </p:nvPr>
        </p:nvSpPr>
        <p:spPr/>
        <p:txBody>
          <a:bodyPr/>
          <a:lstStyle/>
          <a:p>
            <a:fld id="{677A2CBA-E486-4DC8-8696-C7854B0A28FD}" type="slidenum">
              <a:rPr lang="zh-CN" altLang="en-US" smtClean="0"/>
              <a:t>5</a:t>
            </a:fld>
            <a:endParaRPr lang="zh-CN" altLang="en-US"/>
          </a:p>
        </p:txBody>
      </p:sp>
    </p:spTree>
    <p:extLst>
      <p:ext uri="{BB962C8B-B14F-4D97-AF65-F5344CB8AC3E}">
        <p14:creationId xmlns:p14="http://schemas.microsoft.com/office/powerpoint/2010/main" val="3894097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幻灯片图像占位符 1"/>
          <p:cNvSpPr>
            <a:spLocks noGrp="1" noRot="1" noChangeAspect="1"/>
          </p:cNvSpPr>
          <p:nvPr>
            <p:ph type="sldImg"/>
          </p:nvPr>
        </p:nvSpPr>
        <p:spPr>
          <a:xfrm>
            <a:off x="685800" y="1143000"/>
            <a:ext cx="5486400" cy="3086100"/>
          </a:xfrm>
        </p:spPr>
      </p:sp>
      <p:sp>
        <p:nvSpPr>
          <p:cNvPr id="1048791"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p:cNvSpPr>
            <a:spLocks noGrp="1"/>
          </p:cNvSpPr>
          <p:nvPr>
            <p:ph type="sldNum" sz="quarter" idx="10"/>
          </p:nvPr>
        </p:nvSpPr>
        <p:spPr/>
        <p:txBody>
          <a:bodyPr/>
          <a:lstStyle/>
          <a:p>
            <a:fld id="{677A2CBA-E486-4DC8-8696-C7854B0A28F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C114-BD3D-2146-6C58-484A61FA25F2}"/>
            </a:ext>
          </a:extLst>
        </p:cNvPr>
        <p:cNvGrpSpPr/>
        <p:nvPr/>
      </p:nvGrpSpPr>
      <p:grpSpPr>
        <a:xfrm>
          <a:off x="0" y="0"/>
          <a:ext cx="0" cy="0"/>
          <a:chOff x="0" y="0"/>
          <a:chExt cx="0" cy="0"/>
        </a:xfrm>
      </p:grpSpPr>
      <p:sp>
        <p:nvSpPr>
          <p:cNvPr id="1048790" name="幻灯片图像占位符 1">
            <a:extLst>
              <a:ext uri="{FF2B5EF4-FFF2-40B4-BE49-F238E27FC236}">
                <a16:creationId xmlns:a16="http://schemas.microsoft.com/office/drawing/2014/main" id="{6FF131A4-2721-D757-5F3D-C07756FCA4F0}"/>
              </a:ext>
            </a:extLst>
          </p:cNvPr>
          <p:cNvSpPr>
            <a:spLocks noGrp="1" noRot="1" noChangeAspect="1"/>
          </p:cNvSpPr>
          <p:nvPr>
            <p:ph type="sldImg"/>
          </p:nvPr>
        </p:nvSpPr>
        <p:spPr>
          <a:xfrm>
            <a:off x="685800" y="1143000"/>
            <a:ext cx="5486400" cy="3086100"/>
          </a:xfrm>
        </p:spPr>
      </p:sp>
      <p:sp>
        <p:nvSpPr>
          <p:cNvPr id="1048791" name="备注占位符 2">
            <a:extLst>
              <a:ext uri="{FF2B5EF4-FFF2-40B4-BE49-F238E27FC236}">
                <a16:creationId xmlns:a16="http://schemas.microsoft.com/office/drawing/2014/main" id="{F8C3D1B2-6F21-531F-3AFA-4A61163A8BA0}"/>
              </a:ext>
            </a:extLst>
          </p:cNvPr>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92" name="灯片编号占位符 3">
            <a:extLst>
              <a:ext uri="{FF2B5EF4-FFF2-40B4-BE49-F238E27FC236}">
                <a16:creationId xmlns:a16="http://schemas.microsoft.com/office/drawing/2014/main" id="{89C63603-2B7B-DD05-B66D-5620BBE7BF4E}"/>
              </a:ext>
            </a:extLst>
          </p:cNvPr>
          <p:cNvSpPr>
            <a:spLocks noGrp="1"/>
          </p:cNvSpPr>
          <p:nvPr>
            <p:ph type="sldNum" sz="quarter" idx="10"/>
          </p:nvPr>
        </p:nvSpPr>
        <p:spPr/>
        <p:txBody>
          <a:bodyPr/>
          <a:lstStyle/>
          <a:p>
            <a:fld id="{677A2CBA-E486-4DC8-8696-C7854B0A28FD}" type="slidenum">
              <a:rPr lang="zh-CN" altLang="en-US" smtClean="0"/>
              <a:t>7</a:t>
            </a:fld>
            <a:endParaRPr lang="zh-CN" altLang="en-US"/>
          </a:p>
        </p:txBody>
      </p:sp>
    </p:spTree>
    <p:extLst>
      <p:ext uri="{BB962C8B-B14F-4D97-AF65-F5344CB8AC3E}">
        <p14:creationId xmlns:p14="http://schemas.microsoft.com/office/powerpoint/2010/main" val="284836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幻灯片图像占位符 1"/>
          <p:cNvSpPr>
            <a:spLocks noGrp="1" noRot="1" noChangeAspect="1"/>
          </p:cNvSpPr>
          <p:nvPr>
            <p:ph type="sldImg"/>
          </p:nvPr>
        </p:nvSpPr>
        <p:spPr>
          <a:xfrm>
            <a:off x="685800" y="1143000"/>
            <a:ext cx="5486400" cy="3086100"/>
          </a:xfrm>
        </p:spPr>
      </p:sp>
      <p:sp>
        <p:nvSpPr>
          <p:cNvPr id="104862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8629" name="灯片编号占位符 3"/>
          <p:cNvSpPr>
            <a:spLocks noGrp="1"/>
          </p:cNvSpPr>
          <p:nvPr>
            <p:ph type="sldNum" sz="quarter" idx="10"/>
          </p:nvPr>
        </p:nvSpPr>
        <p:spPr/>
        <p:txBody>
          <a:bodyPr/>
          <a:lstStyle/>
          <a:p>
            <a:fld id="{677A2CBA-E486-4DC8-8696-C7854B0A28F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幻灯片图像占位符 1"/>
          <p:cNvSpPr>
            <a:spLocks noGrp="1" noRot="1" noChangeAspect="1"/>
          </p:cNvSpPr>
          <p:nvPr>
            <p:ph type="sldImg"/>
          </p:nvPr>
        </p:nvSpPr>
        <p:spPr>
          <a:xfrm>
            <a:off x="685800" y="1143000"/>
            <a:ext cx="5486400" cy="3086100"/>
          </a:xfrm>
        </p:spPr>
      </p:sp>
      <p:sp>
        <p:nvSpPr>
          <p:cNvPr id="1048685" name="备注占位符 2"/>
          <p:cNvSpPr>
            <a:spLocks noGrp="1"/>
          </p:cNvSpPr>
          <p:nvPr>
            <p:ph type="body" idx="1"/>
          </p:nvPr>
        </p:nvSpPr>
        <p:spPr/>
        <p:txBody>
          <a:bodyPr/>
          <a:lstStyle/>
          <a:p>
            <a:r>
              <a:rPr lang="zh-CN" altLang="en-US" dirty="0"/>
              <a:t>主要分为以下四个部分</a:t>
            </a:r>
          </a:p>
        </p:txBody>
      </p:sp>
      <p:sp>
        <p:nvSpPr>
          <p:cNvPr id="1048686" name="灯片编号占位符 3"/>
          <p:cNvSpPr>
            <a:spLocks noGrp="1"/>
          </p:cNvSpPr>
          <p:nvPr>
            <p:ph type="sldNum" sz="quarter" idx="10"/>
          </p:nvPr>
        </p:nvSpPr>
        <p:spPr/>
        <p:txBody>
          <a:bodyPr/>
          <a:lstStyle/>
          <a:p>
            <a:fld id="{677A2CBA-E486-4DC8-8696-C7854B0A28F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幻灯片图像占位符 1"/>
          <p:cNvSpPr>
            <a:spLocks noGrp="1" noRot="1" noChangeAspect="1"/>
          </p:cNvSpPr>
          <p:nvPr>
            <p:ph type="sldImg"/>
          </p:nvPr>
        </p:nvSpPr>
        <p:spPr>
          <a:xfrm>
            <a:off x="685800" y="1143000"/>
            <a:ext cx="5486400" cy="3086100"/>
          </a:xfrm>
        </p:spPr>
      </p:sp>
      <p:sp>
        <p:nvSpPr>
          <p:cNvPr id="1048721" name="备注占位符 2"/>
          <p:cNvSpPr>
            <a:spLocks noGrp="1"/>
          </p:cNvSpPr>
          <p:nvPr>
            <p:ph type="body" idx="1"/>
          </p:nvPr>
        </p:nvSpPr>
        <p:spPr/>
        <p:txBody>
          <a:bodyPr/>
          <a:lstStyle/>
          <a:p>
            <a:endParaRPr lang="zh-CN" altLang="en-US" dirty="0"/>
          </a:p>
        </p:txBody>
      </p:sp>
      <p:sp>
        <p:nvSpPr>
          <p:cNvPr id="1048722" name="灯片编号占位符 3"/>
          <p:cNvSpPr>
            <a:spLocks noGrp="1"/>
          </p:cNvSpPr>
          <p:nvPr>
            <p:ph type="sldNum" sz="quarter" idx="10"/>
          </p:nvPr>
        </p:nvSpPr>
        <p:spPr/>
        <p:txBody>
          <a:bodyPr/>
          <a:lstStyle/>
          <a:p>
            <a:fld id="{677A2CBA-E486-4DC8-8696-C7854B0A28F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幻灯片图像占位符 1"/>
          <p:cNvSpPr>
            <a:spLocks noGrp="1" noRot="1" noChangeAspect="1"/>
          </p:cNvSpPr>
          <p:nvPr>
            <p:ph type="sldImg"/>
          </p:nvPr>
        </p:nvSpPr>
        <p:spPr>
          <a:xfrm>
            <a:off x="685800" y="1143000"/>
            <a:ext cx="5486400" cy="3086100"/>
          </a:xfrm>
        </p:spPr>
      </p:sp>
      <p:sp>
        <p:nvSpPr>
          <p:cNvPr id="1048730"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本文提出了一种元学习变分量子算法，为了处理大规模模型的训练场景。之后比较并分析了目标能量和变分参数，结果显示我们的算法在学习能力方面优于</a:t>
            </a:r>
            <a:r>
              <a:rPr lang="en-US" altLang="zh-CN" sz="1600" kern="1200">
                <a:solidFill>
                  <a:schemeClr val="tx1"/>
                </a:solidFill>
                <a:effectLst/>
                <a:latin typeface="微软雅黑" panose="020B0503020204020204" charset="-122"/>
                <a:ea typeface="微软雅黑" panose="020B0503020204020204" charset="-122"/>
                <a:cs typeface="+mn-cs"/>
              </a:rPr>
              <a:t>VQE</a:t>
            </a:r>
            <a:r>
              <a:rPr lang="zh-CN" altLang="en-US" sz="1600" kern="1200">
                <a:solidFill>
                  <a:schemeClr val="tx1"/>
                </a:solidFill>
                <a:effectLst/>
                <a:latin typeface="微软雅黑" panose="020B0503020204020204" charset="-122"/>
                <a:ea typeface="微软雅黑" panose="020B0503020204020204" charset="-122"/>
                <a:cs typeface="+mn-cs"/>
              </a:rPr>
              <a:t>算法。重要的是，我们的实验表明，通过优化小规模量子算法，可以在更大系统规模上进行学习。</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挑战：</a:t>
            </a:r>
            <a:r>
              <a:rPr lang="zh-CN" altLang="en-US" b="0" i="0">
                <a:effectLst/>
                <a:latin typeface="-apple-system"/>
              </a:rPr>
              <a:t>传统</a:t>
            </a:r>
            <a:r>
              <a:rPr lang="en-US" altLang="zh-CN" b="0" i="0">
                <a:effectLst/>
                <a:latin typeface="-apple-system"/>
              </a:rPr>
              <a:t>VQA</a:t>
            </a:r>
            <a:r>
              <a:rPr lang="zh-CN" altLang="en-US" b="0" i="0">
                <a:effectLst/>
                <a:latin typeface="-apple-system"/>
              </a:rPr>
              <a:t>在训练过程中需要大量的迭代和采样，这限制了其在大规模量子系统中的应用。</a:t>
            </a:r>
            <a:r>
              <a:rPr lang="en-US" altLang="zh-CN" b="0" i="0">
                <a:effectLst/>
                <a:latin typeface="-apple-system"/>
              </a:rPr>
              <a:t>meta-VQA</a:t>
            </a:r>
            <a:r>
              <a:rPr lang="zh-CN" altLang="en-US" b="0" i="0">
                <a:effectLst/>
                <a:latin typeface="-apple-system"/>
              </a:rPr>
              <a:t>通过引入元学习和自适应学习率，减少了所需的采样次数和迭代次数，提高了优化效率。</a:t>
            </a:r>
            <a:endParaRPr lang="en-US" altLang="zh-CN" b="0" i="0">
              <a:effectLst/>
              <a:latin typeface="-apple-system"/>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b="0" i="0" kern="1200">
              <a:solidFill>
                <a:schemeClr val="tx1"/>
              </a:solidFill>
              <a:effectLst/>
              <a:latin typeface="-apple-system"/>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b="0" i="0" kern="1200">
                <a:solidFill>
                  <a:schemeClr val="tx1"/>
                </a:solidFill>
                <a:effectLst/>
                <a:latin typeface="-apple-system"/>
                <a:ea typeface="微软雅黑" panose="020B0503020204020204" charset="-122"/>
                <a:cs typeface="+mn-cs"/>
              </a:rPr>
              <a:t>方法：</a:t>
            </a:r>
            <a:r>
              <a:rPr lang="zh-CN" altLang="en-US" b="0" i="0">
                <a:effectLst/>
                <a:latin typeface="-apple-system"/>
              </a:rPr>
              <a:t>文章提出了一种元学习变分量子算法（</a:t>
            </a:r>
            <a:r>
              <a:rPr lang="en-US" altLang="zh-CN" b="0" i="0">
                <a:effectLst/>
                <a:latin typeface="-apple-system"/>
              </a:rPr>
              <a:t>meta-VQA</a:t>
            </a:r>
            <a:r>
              <a:rPr lang="zh-CN" altLang="en-US" b="0" i="0">
                <a:effectLst/>
                <a:latin typeface="-apple-system"/>
              </a:rPr>
              <a:t>），通过训练经典的循环单元来辅助量子计算。这种方法的核心思想是让模型学会如何优化算法参数，从而在新的任务中快速适应并找到近似最优解。具体来说，就是利用循环单元处理之前的迭代信息，帮助</a:t>
            </a:r>
            <a:r>
              <a:rPr lang="en-US" altLang="zh-CN" b="0" i="0">
                <a:effectLst/>
                <a:latin typeface="-apple-system"/>
              </a:rPr>
              <a:t>VQA</a:t>
            </a:r>
            <a:r>
              <a:rPr lang="zh-CN" altLang="en-US" b="0" i="0">
                <a:effectLst/>
                <a:latin typeface="-apple-system"/>
              </a:rPr>
              <a:t>更高效地找到参数空间中的近似最优值。</a:t>
            </a:r>
            <a:endParaRPr lang="en-US" altLang="zh-CN" b="0" i="0">
              <a:effectLst/>
              <a:latin typeface="-apple-system"/>
            </a:endParaRPr>
          </a:p>
          <a:p>
            <a:pPr marL="0" marR="0" indent="0" algn="l" defTabSz="914400" rtl="0" eaLnBrk="1" fontAlgn="auto" latinLnBrk="0" hangingPunct="1">
              <a:lnSpc>
                <a:spcPct val="100000"/>
              </a:lnSpc>
              <a:spcBef>
                <a:spcPts val="0"/>
              </a:spcBef>
              <a:spcAft>
                <a:spcPts val="0"/>
              </a:spcAft>
              <a:buClrTx/>
              <a:buSzTx/>
              <a:buFontTx/>
              <a:buNone/>
            </a:pP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8731" name="灯片编号占位符 3"/>
          <p:cNvSpPr>
            <a:spLocks noGrp="1"/>
          </p:cNvSpPr>
          <p:nvPr>
            <p:ph type="sldNum" sz="quarter" idx="10"/>
          </p:nvPr>
        </p:nvSpPr>
        <p:spPr/>
        <p:txBody>
          <a:bodyPr/>
          <a:lstStyle/>
          <a:p>
            <a:fld id="{677A2CBA-E486-4DC8-8696-C7854B0A28F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幻灯片图像占位符 1"/>
          <p:cNvSpPr>
            <a:spLocks noGrp="1" noRot="1" noChangeAspect="1"/>
          </p:cNvSpPr>
          <p:nvPr>
            <p:ph type="sldImg"/>
          </p:nvPr>
        </p:nvSpPr>
        <p:spPr>
          <a:xfrm>
            <a:off x="685800" y="1143000"/>
            <a:ext cx="5486400" cy="3086100"/>
          </a:xfrm>
        </p:spPr>
      </p:sp>
      <p:sp>
        <p:nvSpPr>
          <p:cNvPr id="1048766" name="备注占位符 2"/>
          <p:cNvSpPr>
            <a:spLocks noGrp="1"/>
          </p:cNvSpPr>
          <p:nvPr>
            <p:ph type="body" idx="1"/>
          </p:nvPr>
        </p:nvSpPr>
        <p:spPr/>
        <p:txBody>
          <a:bodyPr/>
          <a:lstStyle/>
          <a:p>
            <a:r>
              <a:rPr lang="zh-CN" altLang="en-US" dirty="0"/>
              <a:t>研究现状</a:t>
            </a:r>
          </a:p>
        </p:txBody>
      </p:sp>
      <p:sp>
        <p:nvSpPr>
          <p:cNvPr id="1048767" name="灯片编号占位符 3"/>
          <p:cNvSpPr>
            <a:spLocks noGrp="1"/>
          </p:cNvSpPr>
          <p:nvPr>
            <p:ph type="sldNum" sz="quarter" idx="10"/>
          </p:nvPr>
        </p:nvSpPr>
        <p:spPr/>
        <p:txBody>
          <a:bodyPr/>
          <a:lstStyle/>
          <a:p>
            <a:fld id="{677A2CBA-E486-4DC8-8696-C7854B0A28F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8" name="幻灯片图像占位符 1"/>
          <p:cNvSpPr>
            <a:spLocks noGrp="1" noRot="1" noChangeAspect="1"/>
          </p:cNvSpPr>
          <p:nvPr>
            <p:ph type="sldImg"/>
          </p:nvPr>
        </p:nvSpPr>
        <p:spPr>
          <a:xfrm>
            <a:off x="685800" y="1143000"/>
            <a:ext cx="5486400" cy="3086100"/>
          </a:xfrm>
        </p:spPr>
      </p:sp>
      <p:sp>
        <p:nvSpPr>
          <p:cNvPr id="1048779" name="备注占位符 2"/>
          <p:cNvSpPr>
            <a:spLocks noGrp="1"/>
          </p:cNvSpPr>
          <p:nvPr>
            <p:ph type="body" idx="1"/>
          </p:nvPr>
        </p:nvSpPr>
        <p:spPr/>
        <p:txBody>
          <a:bodyPr/>
          <a:lstStyle/>
          <a:p>
            <a:pPr algn="just"/>
            <a:r>
              <a:rPr lang="en-US" altLang="zh-CN" b="0" i="0">
                <a:solidFill>
                  <a:srgbClr val="000000"/>
                </a:solidFill>
                <a:effectLst/>
                <a:latin typeface="微软雅黑" panose="020B0503020204020204" charset="-122"/>
                <a:ea typeface="微软雅黑" panose="020B0503020204020204" charset="-122"/>
              </a:rPr>
              <a:t>First, let’s introduce the </a:t>
            </a:r>
            <a:r>
              <a:rPr lang="en-US" altLang="zh-CN" sz="1600" b="1">
                <a:latin typeface="微软雅黑" panose="020B0503020204020204" charset="-122"/>
                <a:ea typeface="微软雅黑" panose="020B0503020204020204" charset="-122"/>
              </a:rPr>
              <a:t>Variational quantum algorithm.</a:t>
            </a:r>
            <a:r>
              <a:rPr lang="en-US" altLang="zh-CN" sz="1600">
                <a:solidFill>
                  <a:srgbClr val="231F20"/>
                </a:solidFill>
                <a:effectLst/>
                <a:latin typeface="Arial" panose="020B0604020202020204" pitchFamily="34" charset="0"/>
                <a:cs typeface="Arial" panose="020B0604020202020204" pitchFamily="34" charset="0"/>
              </a:rPr>
              <a:t> Variational quantum algorithms (VQAs) use </a:t>
            </a:r>
            <a:r>
              <a:rPr lang="en-US" altLang="zh-CN" sz="1600" b="1">
                <a:solidFill>
                  <a:srgbClr val="FF0000"/>
                </a:solidFill>
                <a:effectLst/>
                <a:latin typeface="Arial" panose="020B0604020202020204" pitchFamily="34" charset="0"/>
                <a:cs typeface="Arial" panose="020B0604020202020204" pitchFamily="34" charset="0"/>
              </a:rPr>
              <a:t>classical computers </a:t>
            </a:r>
            <a:r>
              <a:rPr lang="en-US" altLang="zh-CN" sz="1600">
                <a:solidFill>
                  <a:srgbClr val="231F20"/>
                </a:solidFill>
                <a:effectLst/>
                <a:latin typeface="Arial" panose="020B0604020202020204" pitchFamily="34" charset="0"/>
                <a:cs typeface="Arial" panose="020B0604020202020204" pitchFamily="34" charset="0"/>
              </a:rPr>
              <a:t>as the </a:t>
            </a:r>
            <a:r>
              <a:rPr lang="en-US" altLang="zh-CN" sz="1600" b="1">
                <a:solidFill>
                  <a:srgbClr val="FF0000"/>
                </a:solidFill>
                <a:effectLst/>
                <a:latin typeface="Arial" panose="020B0604020202020204" pitchFamily="34" charset="0"/>
                <a:cs typeface="Arial" panose="020B0604020202020204" pitchFamily="34" charset="0"/>
              </a:rPr>
              <a:t>quantum outer loop optimizer</a:t>
            </a:r>
            <a:r>
              <a:rPr lang="en-US" altLang="zh-CN" sz="1600" b="1">
                <a:solidFill>
                  <a:srgbClr val="231F20"/>
                </a:solidFill>
                <a:effectLst/>
                <a:latin typeface="Arial" panose="020B0604020202020204" pitchFamily="34" charset="0"/>
                <a:cs typeface="Arial" panose="020B0604020202020204" pitchFamily="34" charset="0"/>
              </a:rPr>
              <a:t> </a:t>
            </a:r>
            <a:r>
              <a:rPr lang="en-US" altLang="zh-CN" sz="1600">
                <a:solidFill>
                  <a:srgbClr val="231F20"/>
                </a:solidFill>
                <a:effectLst/>
                <a:latin typeface="Arial" panose="020B0604020202020204" pitchFamily="34" charset="0"/>
                <a:cs typeface="Arial" panose="020B0604020202020204" pitchFamily="34" charset="0"/>
              </a:rPr>
              <a:t>and update the </a:t>
            </a:r>
            <a:r>
              <a:rPr lang="en-US" altLang="zh-CN" sz="1600" b="1">
                <a:solidFill>
                  <a:srgbClr val="FF0000"/>
                </a:solidFill>
                <a:effectLst/>
                <a:latin typeface="Arial" panose="020B0604020202020204" pitchFamily="34" charset="0"/>
                <a:cs typeface="Arial" panose="020B0604020202020204" pitchFamily="34" charset="0"/>
              </a:rPr>
              <a:t>circuit parameters </a:t>
            </a:r>
            <a:r>
              <a:rPr lang="en-US" altLang="zh-CN" sz="1600">
                <a:solidFill>
                  <a:srgbClr val="231F20"/>
                </a:solidFill>
                <a:effectLst/>
                <a:latin typeface="Arial" panose="020B0604020202020204" pitchFamily="34" charset="0"/>
                <a:cs typeface="Arial" panose="020B0604020202020204" pitchFamily="34" charset="0"/>
              </a:rPr>
              <a:t>to obtain an approximate ground state. Meta-learning is called learning to learn, which aims to learn how to </a:t>
            </a:r>
            <a:r>
              <a:rPr lang="en-US" altLang="zh-CN" sz="1600" b="1">
                <a:solidFill>
                  <a:srgbClr val="FF0000"/>
                </a:solidFill>
                <a:effectLst/>
                <a:latin typeface="Arial" panose="020B0604020202020204" pitchFamily="34" charset="0"/>
                <a:cs typeface="Arial" panose="020B0604020202020204" pitchFamily="34" charset="0"/>
              </a:rPr>
              <a:t>optimize the parameters</a:t>
            </a:r>
            <a:r>
              <a:rPr lang="en-US" altLang="zh-CN" sz="1600">
                <a:solidFill>
                  <a:srgbClr val="231F20"/>
                </a:solidFill>
                <a:effectLst/>
                <a:latin typeface="Arial" panose="020B0604020202020204" pitchFamily="34" charset="0"/>
                <a:cs typeface="Arial" panose="020B0604020202020204" pitchFamily="34" charset="0"/>
              </a:rPr>
              <a:t> of an algorithm and further formulate it for specific problems.</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780" name="灯片编号占位符 3"/>
          <p:cNvSpPr>
            <a:spLocks noGrp="1"/>
          </p:cNvSpPr>
          <p:nvPr>
            <p:ph type="sldNum" sz="quarter" idx="10"/>
          </p:nvPr>
        </p:nvSpPr>
        <p:spPr/>
        <p:txBody>
          <a:bodyPr/>
          <a:lstStyle/>
          <a:p>
            <a:fld id="{677A2CBA-E486-4DC8-8696-C7854B0A28F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3"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8804" name="备注占位符 2"/>
              <p:cNvSpPr>
                <a:spLocks noGrp="1"/>
              </p:cNvSpPr>
              <p:nvPr>
                <p:ph type="body" idx="1"/>
              </p:nvPr>
            </p:nvSpPr>
            <p:spPr/>
            <p:txBody>
              <a:bodyPr/>
              <a:lstStyle/>
              <a:p>
                <a:r>
                  <a:rPr lang="zh-CN" altLang="zh-CN" sz="1600" b="0" i="0" kern="1200">
                    <a:solidFill>
                      <a:schemeClr val="tx1"/>
                    </a:solidFill>
                    <a:effectLst/>
                    <a:latin typeface="微软雅黑" panose="020B0503020204020204" charset="-122"/>
                    <a:ea typeface="微软雅黑" panose="020B0503020204020204" charset="-122"/>
                    <a:cs typeface="+mn-cs"/>
                  </a:rPr>
                  <a:t>VQA uses </a:t>
                </a:r>
                <a:r>
                  <a:rPr lang="zh-CN" altLang="zh-CN" sz="1600" b="1" i="0" kern="1200">
                    <a:solidFill>
                      <a:schemeClr val="tx1"/>
                    </a:solidFill>
                    <a:effectLst/>
                    <a:latin typeface="微软雅黑" panose="020B0503020204020204" charset="-122"/>
                    <a:ea typeface="微软雅黑" panose="020B0503020204020204" charset="-122"/>
                    <a:cs typeface="+mn-cs"/>
                  </a:rPr>
                  <a:t>classical computers</a:t>
                </a:r>
                <a:r>
                  <a:rPr lang="zh-CN" altLang="zh-CN" sz="1600" b="0" i="0" kern="1200">
                    <a:solidFill>
                      <a:schemeClr val="tx1"/>
                    </a:solidFill>
                    <a:effectLst/>
                    <a:latin typeface="微软雅黑" panose="020B0503020204020204" charset="-122"/>
                    <a:ea typeface="微软雅黑" panose="020B0503020204020204" charset="-122"/>
                    <a:cs typeface="+mn-cs"/>
                  </a:rPr>
                  <a:t> as a quantum outer-loop optimizer. The classical optimizer updates the circuit parameters to approximate the ground state of a given problem.</a:t>
                </a:r>
              </a:p>
              <a:p>
                <a:r>
                  <a:rPr lang="zh-CN" altLang="zh-CN" sz="1600" b="1" i="0" kern="1200">
                    <a:solidFill>
                      <a:schemeClr val="tx1"/>
                    </a:solidFill>
                    <a:effectLst/>
                    <a:latin typeface="微软雅黑" panose="020B0503020204020204" charset="-122"/>
                    <a:ea typeface="微软雅黑" panose="020B0503020204020204" charset="-122"/>
                    <a:cs typeface="+mn-cs"/>
                  </a:rPr>
                  <a:t>First</a:t>
                </a:r>
                <a:r>
                  <a:rPr lang="zh-CN" altLang="zh-CN" sz="1600" b="0" i="0" kern="1200">
                    <a:solidFill>
                      <a:schemeClr val="tx1"/>
                    </a:solidFill>
                    <a:effectLst/>
                    <a:latin typeface="微软雅黑" panose="020B0503020204020204" charset="-122"/>
                    <a:ea typeface="微软雅黑" panose="020B0503020204020204" charset="-122"/>
                    <a:cs typeface="+mn-cs"/>
                  </a:rPr>
                  <a:t>, we initialize the system in a uniform superposition state.</a:t>
                </a:r>
              </a:p>
              <a:p>
                <a:r>
                  <a:rPr lang="zh-CN" altLang="zh-CN" sz="1600" b="1" i="0" kern="1200">
                    <a:solidFill>
                      <a:schemeClr val="tx1"/>
                    </a:solidFill>
                    <a:effectLst/>
                    <a:latin typeface="微软雅黑" panose="020B0503020204020204" charset="-122"/>
                    <a:ea typeface="微软雅黑" panose="020B0503020204020204" charset="-122"/>
                    <a:cs typeface="+mn-cs"/>
                  </a:rPr>
                  <a:t>Second</a:t>
                </a:r>
                <a:r>
                  <a:rPr lang="zh-CN" altLang="zh-CN" sz="1600" b="0" i="0" kern="1200">
                    <a:solidFill>
                      <a:schemeClr val="tx1"/>
                    </a:solidFill>
                    <a:effectLst/>
                    <a:latin typeface="微软雅黑" panose="020B0503020204020204" charset="-122"/>
                    <a:ea typeface="微软雅黑" panose="020B0503020204020204" charset="-122"/>
                    <a:cs typeface="+mn-cs"/>
                  </a:rPr>
                  <a:t>, we apply a quantum circuit to this initial state. Looking at Equation 5, this is achieved by applying a sequence of exponentials involving two key Hamiltonians: the mixer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𝑀</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and the cost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parameterized by angles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𝑚</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and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𝑐</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It's important to note that the mixer Hamiltonian is the sum of Pauli-X operators, which has our initial state as its eigenstate. </a:t>
                </a:r>
                <a:endParaRPr lang="en-US" altLang="zh-CN" sz="1600" b="0" i="0" kern="1200">
                  <a:solidFill>
                    <a:schemeClr val="tx1"/>
                  </a:solidFill>
                  <a:effectLst/>
                  <a:latin typeface="微软雅黑" panose="020B0503020204020204" charset="-122"/>
                  <a:ea typeface="微软雅黑" panose="020B0503020204020204" charset="-122"/>
                  <a:cs typeface="+mn-cs"/>
                </a:endParaRPr>
              </a:p>
              <a:p>
                <a:endParaRPr lang="zh-CN" altLang="zh-CN" sz="1600" b="0" i="0" kern="1200">
                  <a:solidFill>
                    <a:schemeClr val="tx1"/>
                  </a:solidFill>
                  <a:effectLst/>
                  <a:latin typeface="微软雅黑" panose="020B0503020204020204" charset="-122"/>
                  <a:ea typeface="微软雅黑" panose="020B0503020204020204" charset="-122"/>
                  <a:cs typeface="+mn-cs"/>
                </a:endParaRPr>
              </a:p>
              <a:p>
                <a:r>
                  <a:rPr lang="zh-CN" altLang="zh-CN" sz="1600" b="1" i="0" kern="1200">
                    <a:solidFill>
                      <a:schemeClr val="tx1"/>
                    </a:solidFill>
                    <a:effectLst/>
                    <a:latin typeface="微软雅黑" panose="020B0503020204020204" charset="-122"/>
                    <a:ea typeface="微软雅黑" panose="020B0503020204020204" charset="-122"/>
                    <a:cs typeface="+mn-cs"/>
                  </a:rPr>
                  <a:t>Third</a:t>
                </a:r>
                <a:r>
                  <a:rPr lang="zh-CN" altLang="zh-CN" sz="1600" b="0" i="0" kern="1200">
                    <a:solidFill>
                      <a:schemeClr val="tx1"/>
                    </a:solidFill>
                    <a:effectLst/>
                    <a:latin typeface="微软雅黑" panose="020B0503020204020204" charset="-122"/>
                    <a:ea typeface="微软雅黑" panose="020B0503020204020204" charset="-122"/>
                    <a:cs typeface="+mn-cs"/>
                  </a:rPr>
                  <a:t>, after applying this parameterized sequence, we obtain our final output state, </a:t>
                </a:r>
                <a14:m>
                  <m:oMath xmlns:m="http://schemas.openxmlformats.org/officeDocument/2006/math">
                    <m:d>
                      <m:dPr>
                        <m:begChr m:val=""/>
                        <m:endChr m:val="⟩"/>
                        <m:ctrlPr>
                          <a:rPr lang="zh-CN" altLang="en-US" sz="1600" kern="1200">
                            <a:solidFill>
                              <a:schemeClr val="tx1"/>
                            </a:solidFill>
                            <a:latin typeface="Cambria Math" panose="02040503050406030204" pitchFamily="18" charset="0"/>
                            <a:ea typeface="微软雅黑" panose="020B0503020204020204" charset="-122"/>
                            <a:cs typeface="+mn-cs"/>
                          </a:rPr>
                        </m:ctrlPr>
                      </m:dPr>
                      <m:e>
                        <m:r>
                          <a:rPr lang="zh-CN" altLang="en-US" sz="1600" kern="1200">
                            <a:solidFill>
                              <a:schemeClr val="tx1"/>
                            </a:solidFill>
                            <a:latin typeface="Cambria Math" panose="02040503050406030204" pitchFamily="18" charset="0"/>
                            <a:ea typeface="微软雅黑" panose="020B0503020204020204" charset="-122"/>
                            <a:cs typeface="+mn-cs"/>
                          </a:rPr>
                          <m:t>∣</m:t>
                        </m:r>
                        <m:sSub>
                          <m:sSubPr>
                            <m:ctrlPr>
                              <a:rPr lang="en-US" altLang="zh-CN" sz="1600" i="0" kern="1200">
                                <a:solidFill>
                                  <a:schemeClr val="tx1"/>
                                </a:solidFill>
                                <a:latin typeface="Cambria Math" panose="02040503050406030204" pitchFamily="18" charset="0"/>
                                <a:ea typeface="微软雅黑" panose="020B0503020204020204" charset="-122"/>
                                <a:cs typeface="+mn-cs"/>
                              </a:rPr>
                            </m:ctrlPr>
                          </m:sSubPr>
                          <m:e>
                            <m:r>
                              <m:rPr>
                                <m:sty m:val="p"/>
                              </m:rPr>
                              <a:rPr lang="en-US" altLang="zh-CN" sz="1600" i="0" kern="1200">
                                <a:solidFill>
                                  <a:schemeClr val="tx1"/>
                                </a:solidFill>
                                <a:latin typeface="Cambria Math" panose="02040503050406030204" pitchFamily="18" charset="0"/>
                                <a:ea typeface="微软雅黑" panose="020B0503020204020204" charset="-122"/>
                                <a:cs typeface="+mn-cs"/>
                              </a:rPr>
                              <m:t>Ψ</m:t>
                            </m:r>
                          </m:e>
                          <m:sub>
                            <m:r>
                              <a:rPr lang="zh-CN" altLang="en-US" sz="1600" i="1" kern="1200">
                                <a:solidFill>
                                  <a:schemeClr val="tx1"/>
                                </a:solidFill>
                                <a:latin typeface="Cambria Math" panose="02040503050406030204" pitchFamily="18" charset="0"/>
                                <a:ea typeface="微软雅黑" panose="020B0503020204020204" charset="-122"/>
                                <a:cs typeface="+mn-cs"/>
                              </a:rPr>
                              <m:t>𝜃</m:t>
                            </m:r>
                          </m:sub>
                        </m:sSub>
                      </m:e>
                    </m:d>
                  </m:oMath>
                </a14:m>
                <a:r>
                  <a:rPr lang="zh-CN" altLang="zh-CN" sz="1600" b="0" i="0" kern="1200">
                    <a:solidFill>
                      <a:schemeClr val="tx1"/>
                    </a:solidFill>
                    <a:effectLst/>
                    <a:latin typeface="微软雅黑" panose="020B0503020204020204" charset="-122"/>
                    <a:ea typeface="微软雅黑" panose="020B0503020204020204" charset="-122"/>
                    <a:cs typeface="+mn-cs"/>
                  </a:rPr>
                  <a:t>, as shown at the bottom left.</a:t>
                </a:r>
              </a:p>
              <a:p>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zh-CN" sz="1600" b="0" i="0" kern="1200">
                    <a:solidFill>
                      <a:schemeClr val="tx1"/>
                    </a:solidFill>
                    <a:effectLst/>
                    <a:latin typeface="微软雅黑" panose="020B0503020204020204" charset="-122"/>
                    <a:ea typeface="微软雅黑" panose="020B0503020204020204" charset="-122"/>
                    <a:cs typeface="+mn-cs"/>
                  </a:rPr>
                  <a:t>The right side of the slide connects this framework to the Quantum Approximate Optimization Algorithm,.</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Here, we need to minimize the energy of the cost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which is defined as a function of the Pauli-Z operators,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𝑓</m:t>
                    </m:r>
                    <m:d>
                      <m:dPr>
                        <m:ctrlPr>
                          <a:rPr lang="zh-CN" altLang="en-US" sz="1600" i="1" kern="1200">
                            <a:solidFill>
                              <a:schemeClr val="tx1"/>
                            </a:solidFill>
                            <a:latin typeface="Cambria Math" panose="02040503050406030204" pitchFamily="18" charset="0"/>
                            <a:ea typeface="微软雅黑" panose="020B0503020204020204" charset="-122"/>
                            <a:cs typeface="+mn-cs"/>
                          </a:rPr>
                        </m:ctrlPr>
                      </m:d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d>
                  </m:oMath>
                </a14:m>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For a</a:t>
                </a:r>
                <a:r>
                  <a:rPr lang="en-US" altLang="zh-CN" sz="1600" b="0" i="0" kern="1200" baseline="0">
                    <a:solidFill>
                      <a:schemeClr val="tx1"/>
                    </a:solidFill>
                    <a:effectLst/>
                    <a:latin typeface="微软雅黑" panose="020B0503020204020204" charset="-122"/>
                    <a:ea typeface="微软雅黑" panose="020B0503020204020204" charset="-122"/>
                    <a:cs typeface="+mn-cs"/>
                  </a:rPr>
                  <a:t> </a:t>
                </a:r>
                <a:r>
                  <a:rPr lang="zh-CN" altLang="zh-CN" sz="1600" b="0" i="0" kern="1200">
                    <a:solidFill>
                      <a:schemeClr val="tx1"/>
                    </a:solidFill>
                    <a:effectLst/>
                    <a:latin typeface="微软雅黑" panose="020B0503020204020204" charset="-122"/>
                    <a:ea typeface="微软雅黑" panose="020B0503020204020204" charset="-122"/>
                    <a:cs typeface="+mn-cs"/>
                  </a:rPr>
                  <a:t>problem like MaxCut, this cost function is computes the sum over all edges in the graph of </a:t>
                </a:r>
                <a14:m>
                  <m:oMath xmlns:m="http://schemas.openxmlformats.org/officeDocument/2006/math">
                    <m:f>
                      <m:fPr>
                        <m:ctrlPr>
                          <a:rPr lang="en-US" altLang="zh-CN" sz="1600" kern="1200">
                            <a:solidFill>
                              <a:schemeClr val="tx1"/>
                            </a:solidFill>
                            <a:latin typeface="Cambria Math" panose="02040503050406030204" pitchFamily="18" charset="0"/>
                            <a:ea typeface="微软雅黑" panose="020B0503020204020204" charset="-122"/>
                            <a:cs typeface="+mn-cs"/>
                          </a:rPr>
                        </m:ctrlPr>
                      </m:fPr>
                      <m:num>
                        <m:r>
                          <a:rPr lang="en-US" altLang="zh-CN" sz="1600" kern="1200">
                            <a:solidFill>
                              <a:schemeClr val="tx1"/>
                            </a:solidFill>
                            <a:latin typeface="Cambria Math" panose="02040503050406030204" pitchFamily="18" charset="0"/>
                            <a:ea typeface="微软雅黑" panose="020B0503020204020204" charset="-122"/>
                            <a:cs typeface="+mn-cs"/>
                          </a:rPr>
                          <m:t>1</m:t>
                        </m:r>
                      </m:num>
                      <m:den>
                        <m:r>
                          <a:rPr lang="en-US" altLang="zh-CN" sz="1600" i="0" kern="1200">
                            <a:solidFill>
                              <a:schemeClr val="tx1"/>
                            </a:solidFill>
                            <a:latin typeface="Cambria Math" panose="02040503050406030204" pitchFamily="18" charset="0"/>
                            <a:ea typeface="微软雅黑" panose="020B0503020204020204" charset="-122"/>
                            <a:cs typeface="+mn-cs"/>
                          </a:rPr>
                          <m:t>2</m:t>
                        </m:r>
                      </m:den>
                    </m:f>
                    <m:d>
                      <m:dPr>
                        <m:ctrlPr>
                          <a:rPr lang="zh-CN" altLang="en-US" sz="1600" i="1" kern="1200">
                            <a:solidFill>
                              <a:schemeClr val="tx1"/>
                            </a:solidFill>
                            <a:latin typeface="Cambria Math" panose="02040503050406030204" pitchFamily="18" charset="0"/>
                            <a:ea typeface="微软雅黑" panose="020B0503020204020204" charset="-122"/>
                            <a:cs typeface="+mn-cs"/>
                          </a:rPr>
                        </m:ctrlPr>
                      </m:d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𝐼</m:t>
                            </m:r>
                          </m:e>
                        </m:acc>
                        <m:r>
                          <a:rPr lang="zh-CN" altLang="en-US" sz="1600" i="0" kern="1200">
                            <a:solidFill>
                              <a:schemeClr val="tx1"/>
                            </a:solidFill>
                            <a:latin typeface="Cambria Math" panose="02040503050406030204" pitchFamily="18" charset="0"/>
                            <a:ea typeface="微软雅黑" panose="020B0503020204020204" charset="-122"/>
                            <a:cs typeface="+mn-cs"/>
                          </a:rPr>
                          <m:t>−</m:t>
                        </m:r>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sub>
                            <m:r>
                              <a:rPr lang="zh-CN" altLang="en-US" sz="1600" i="1" kern="1200">
                                <a:solidFill>
                                  <a:schemeClr val="tx1"/>
                                </a:solidFill>
                                <a:latin typeface="Cambria Math" panose="02040503050406030204" pitchFamily="18" charset="0"/>
                                <a:ea typeface="微软雅黑" panose="020B0503020204020204" charset="-122"/>
                                <a:cs typeface="+mn-cs"/>
                              </a:rPr>
                              <m:t>𝑗</m:t>
                            </m:r>
                          </m:sub>
                        </m:sSub>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sub>
                            <m:r>
                              <a:rPr lang="zh-CN" altLang="en-US" sz="1600" i="1" kern="1200">
                                <a:solidFill>
                                  <a:schemeClr val="tx1"/>
                                </a:solidFill>
                                <a:latin typeface="Cambria Math" panose="02040503050406030204" pitchFamily="18" charset="0"/>
                                <a:ea typeface="微软雅黑" panose="020B0503020204020204" charset="-122"/>
                                <a:cs typeface="+mn-cs"/>
                              </a:rPr>
                              <m:t>𝑘</m:t>
                            </m:r>
                          </m:sub>
                        </m:sSub>
                      </m:e>
                    </m:d>
                  </m:oMath>
                </a14:m>
                <a:r>
                  <a:rPr lang="zh-CN" altLang="zh-CN" sz="1600" b="0" i="0" kern="1200">
                    <a:solidFill>
                      <a:schemeClr val="tx1"/>
                    </a:solidFill>
                    <a:effectLst/>
                    <a:latin typeface="微软雅黑" panose="020B0503020204020204" charset="-122"/>
                    <a:ea typeface="微软雅黑" panose="020B0503020204020204" charset="-122"/>
                    <a:cs typeface="+mn-cs"/>
                  </a:rPr>
                  <a:t>.</a:t>
                </a:r>
                <a:endParaRPr lang="en-US" altLang="zh-CN" sz="1600" b="0" i="0" kern="1200">
                  <a:solidFill>
                    <a:schemeClr val="tx1"/>
                  </a:solidFill>
                  <a:effectLst/>
                  <a:latin typeface="微软雅黑" panose="020B0503020204020204" charset="-122"/>
                  <a:ea typeface="微软雅黑" panose="020B0503020204020204" charset="-122"/>
                  <a:cs typeface="+mn-cs"/>
                </a:endParaRPr>
              </a:p>
              <a:p>
                <a:br>
                  <a:rPr lang="zh-CN" altLang="zh-CN" sz="1600" b="0" i="0" kern="1200">
                    <a:solidFill>
                      <a:schemeClr val="tx1"/>
                    </a:solidFill>
                    <a:effectLst/>
                    <a:latin typeface="微软雅黑" panose="020B0503020204020204" charset="-122"/>
                    <a:ea typeface="微软雅黑" panose="020B0503020204020204" charset="-122"/>
                    <a:cs typeface="+mn-cs"/>
                  </a:rPr>
                </a:br>
                <a:r>
                  <a:rPr lang="en-US" altLang="zh-CN" sz="1600" b="0" i="0" kern="1200">
                    <a:solidFill>
                      <a:schemeClr val="tx1"/>
                    </a:solidFill>
                    <a:effectLst/>
                    <a:latin typeface="微软雅黑" panose="020B0503020204020204" charset="-122"/>
                    <a:ea typeface="微软雅黑" panose="020B0503020204020204" charset="-122"/>
                    <a:cs typeface="+mn-cs"/>
                  </a:rPr>
                  <a:t>W</a:t>
                </a:r>
                <a:r>
                  <a:rPr lang="zh-CN" altLang="zh-CN" sz="1600" b="0" i="0" kern="1200">
                    <a:solidFill>
                      <a:schemeClr val="tx1"/>
                    </a:solidFill>
                    <a:effectLst/>
                    <a:latin typeface="微软雅黑" panose="020B0503020204020204" charset="-122"/>
                    <a:ea typeface="微软雅黑" panose="020B0503020204020204" charset="-122"/>
                    <a:cs typeface="+mn-cs"/>
                  </a:rPr>
                  <a:t>e use this function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𝑓</m:t>
                    </m:r>
                    <m:d>
                      <m:dPr>
                        <m:ctrlPr>
                          <a:rPr lang="zh-CN" altLang="en-US" sz="1600" i="1" kern="1200">
                            <a:solidFill>
                              <a:schemeClr val="tx1"/>
                            </a:solidFill>
                            <a:latin typeface="Cambria Math" panose="02040503050406030204" pitchFamily="18" charset="0"/>
                            <a:ea typeface="微软雅黑" panose="020B0503020204020204" charset="-122"/>
                            <a:cs typeface="+mn-cs"/>
                          </a:rPr>
                        </m:ctrlPr>
                      </m:d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𝑍</m:t>
                            </m:r>
                          </m:e>
                        </m:acc>
                      </m:e>
                    </m:d>
                  </m:oMath>
                </a14:m>
                <a:r>
                  <a:rPr lang="en-US" altLang="zh-CN" sz="1600" b="0" i="0" kern="1200">
                    <a:solidFill>
                      <a:schemeClr val="tx1"/>
                    </a:solidFill>
                    <a:effectLst/>
                    <a:latin typeface="微软雅黑" panose="020B0503020204020204" charset="-122"/>
                    <a:ea typeface="微软雅黑" panose="020B0503020204020204" charset="-122"/>
                    <a:cs typeface="+mn-cs"/>
                  </a:rPr>
                  <a:t> </a:t>
                </a:r>
                <a:r>
                  <a:rPr lang="zh-CN" altLang="zh-CN" sz="1600" b="0" i="0" kern="1200">
                    <a:solidFill>
                      <a:schemeClr val="tx1"/>
                    </a:solidFill>
                    <a:effectLst/>
                    <a:latin typeface="微软雅黑" panose="020B0503020204020204" charset="-122"/>
                    <a:ea typeface="微软雅黑" panose="020B0503020204020204" charset="-122"/>
                    <a:cs typeface="+mn-cs"/>
                  </a:rPr>
                  <a:t>to effectively approximate and evaluate our cost Hamiltonian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acc>
                          <m:accPr>
                            <m:chr m:val="̂"/>
                            <m:ctrlPr>
                              <a:rPr lang="zh-CN" altLang="en-US" sz="1600" i="1" kern="1200">
                                <a:solidFill>
                                  <a:schemeClr val="tx1"/>
                                </a:solidFill>
                                <a:latin typeface="Cambria Math" panose="02040503050406030204" pitchFamily="18" charset="0"/>
                                <a:ea typeface="微软雅黑" panose="020B0503020204020204" charset="-122"/>
                                <a:cs typeface="+mn-cs"/>
                              </a:rPr>
                            </m:ctrlPr>
                          </m:accPr>
                          <m:e>
                            <m:r>
                              <a:rPr lang="zh-CN" altLang="en-US" sz="1600" i="1" kern="1200">
                                <a:solidFill>
                                  <a:schemeClr val="tx1"/>
                                </a:solidFill>
                                <a:latin typeface="Cambria Math" panose="02040503050406030204" pitchFamily="18" charset="0"/>
                                <a:ea typeface="微软雅黑" panose="020B0503020204020204" charset="-122"/>
                                <a:cs typeface="+mn-cs"/>
                              </a:rPr>
                              <m:t>𝐻</m:t>
                            </m:r>
                          </m:e>
                        </m:acc>
                      </m:e>
                      <m:sub>
                        <m:r>
                          <a:rPr lang="zh-CN" altLang="en-US" sz="1600" i="1" kern="1200">
                            <a:solidFill>
                              <a:schemeClr val="tx1"/>
                            </a:solidFill>
                            <a:latin typeface="Cambria Math" panose="02040503050406030204" pitchFamily="18" charset="0"/>
                            <a:ea typeface="微软雅黑" panose="020B0503020204020204" charset="-122"/>
                            <a:cs typeface="+mn-cs"/>
                          </a:rPr>
                          <m:t>𝐶</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t>
                </a:r>
              </a:p>
              <a:p>
                <a:r>
                  <a:rPr lang="en-US" altLang="zh-CN" sz="1600" b="0" i="0" kern="1200">
                    <a:solidFill>
                      <a:schemeClr val="tx1"/>
                    </a:solidFill>
                    <a:effectLst/>
                    <a:latin typeface="微软雅黑" panose="020B0503020204020204" charset="-122"/>
                    <a:ea typeface="微软雅黑" panose="020B0503020204020204" charset="-122"/>
                    <a:cs typeface="+mn-cs"/>
                  </a:rPr>
                  <a:t>Finally</a:t>
                </a:r>
                <a:r>
                  <a:rPr lang="zh-CN" altLang="zh-CN" sz="1600" b="0" i="0" kern="1200">
                    <a:solidFill>
                      <a:schemeClr val="tx1"/>
                    </a:solidFill>
                    <a:effectLst/>
                    <a:latin typeface="微软雅黑" panose="020B0503020204020204" charset="-122"/>
                    <a:ea typeface="微软雅黑" panose="020B0503020204020204" charset="-122"/>
                    <a:cs typeface="+mn-cs"/>
                  </a:rPr>
                  <a:t>, the classical outer loop will adjust the parameters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𝑚</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and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𝜃</m:t>
                        </m:r>
                      </m:e>
                      <m:sub>
                        <m:r>
                          <a:rPr lang="zh-CN" altLang="en-US" sz="1600" i="1" kern="1200">
                            <a:solidFill>
                              <a:schemeClr val="tx1"/>
                            </a:solidFill>
                            <a:latin typeface="Cambria Math" panose="02040503050406030204" pitchFamily="18" charset="0"/>
                            <a:ea typeface="微软雅黑" panose="020B0503020204020204" charset="-122"/>
                            <a:cs typeface="+mn-cs"/>
                          </a:rPr>
                          <m:t>𝑐</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to minimize the expectation value of this cost Hamiltonian, thereby finding the approximate ground state for our target problem."</a:t>
                </a:r>
              </a:p>
              <a:p>
                <a:pPr algn="just"/>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首先初始化一量</a:t>
                </a:r>
                <a:r>
                  <a:rPr lang="zh-CN" altLang="en-US" b="0" i="0">
                    <a:solidFill>
                      <a:srgbClr val="000000"/>
                    </a:solidFill>
                    <a:effectLst/>
                    <a:latin typeface="微软雅黑" panose="020B0503020204020204" charset="-122"/>
                    <a:ea typeface="微软雅黑" panose="020B0503020204020204" charset="-122"/>
                  </a:rPr>
                  <a:t>子态（</a:t>
                </a:r>
                <a:r>
                  <a:rPr lang="zh-CN" altLang="zh-CN" sz="1600" b="0" i="0" kern="1200">
                    <a:solidFill>
                      <a:schemeClr val="tx1"/>
                    </a:solidFill>
                    <a:effectLst/>
                    <a:latin typeface="微软雅黑" panose="020B0503020204020204" charset="-122"/>
                    <a:ea typeface="微软雅黑" panose="020B0503020204020204" charset="-122"/>
                    <a:cs typeface="+mn-cs"/>
                  </a:rPr>
                  <a:t>初始化均匀叠加态</a:t>
                </a:r>
                <a:r>
                  <a:rPr lang="zh-CN" altLang="en-US" b="0" i="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之后产生一个波函数</a:t>
                </a:r>
                <a:r>
                  <a:rPr lang="zh-CN" altLang="en-US" b="0" i="0">
                    <a:solidFill>
                      <a:srgbClr val="000000"/>
                    </a:solidFill>
                    <a:effectLst/>
                    <a:latin typeface="微软雅黑" panose="020B0503020204020204" charset="-122"/>
                    <a:ea typeface="微软雅黑" panose="020B0503020204020204" charset="-122"/>
                  </a:rPr>
                  <a:t>来计算哈密顿量</a:t>
                </a:r>
                <a:r>
                  <a:rPr lang="en-US" altLang="zh-CN" b="0" i="0" dirty="0">
                    <a:solidFill>
                      <a:srgbClr val="000000"/>
                    </a:solidFill>
                    <a:effectLst/>
                    <a:latin typeface="微软雅黑" panose="020B0503020204020204" charset="-122"/>
                    <a:ea typeface="微软雅黑" panose="020B0503020204020204" charset="-122"/>
                  </a:rPr>
                  <a:t>HˆC</a:t>
                </a:r>
                <a:r>
                  <a:rPr lang="zh-CN" altLang="en-US" b="0" i="0" dirty="0">
                    <a:solidFill>
                      <a:srgbClr val="000000"/>
                    </a:solidFill>
                    <a:effectLst/>
                    <a:latin typeface="微软雅黑" panose="020B0503020204020204" charset="-122"/>
                    <a:ea typeface="微软雅黑" panose="020B0503020204020204" charset="-122"/>
                  </a:rPr>
                  <a:t>，其中目标是选择</a:t>
                </a:r>
                <a:r>
                  <a:rPr lang="zh-CN" altLang="en-US" b="0" i="0">
                    <a:solidFill>
                      <a:srgbClr val="000000"/>
                    </a:solidFill>
                    <a:effectLst/>
                    <a:latin typeface="微软雅黑" panose="020B0503020204020204" charset="-122"/>
                    <a:ea typeface="微软雅黑" panose="020B0503020204020204" charset="-122"/>
                  </a:rPr>
                  <a:t>更高的概率</a:t>
                </a:r>
                <a:r>
                  <a:rPr lang="zh-CN" altLang="en-US" b="0" i="0" dirty="0">
                    <a:solidFill>
                      <a:srgbClr val="000000"/>
                    </a:solidFill>
                    <a:effectLst/>
                    <a:latin typeface="微软雅黑" panose="020B0503020204020204" charset="-122"/>
                    <a:ea typeface="微软雅黑" panose="020B0503020204020204" charset="-122"/>
                  </a:rPr>
                  <a:t>在低能量状态下被</a:t>
                </a:r>
                <a:r>
                  <a:rPr lang="zh-CN" altLang="en-US" b="0" i="0">
                    <a:solidFill>
                      <a:srgbClr val="000000"/>
                    </a:solidFill>
                    <a:effectLst/>
                    <a:latin typeface="微软雅黑" panose="020B0503020204020204" charset="-122"/>
                    <a:ea typeface="微软雅黑" panose="020B0503020204020204" charset="-122"/>
                  </a:rPr>
                  <a:t>测量。通过代价哈密顿量与混合哈密顿量构成幺正变换矩阵，且两者彼此不正交。式</a:t>
                </a:r>
                <a:r>
                  <a:rPr lang="en-US" altLang="zh-CN" b="0" i="0">
                    <a:solidFill>
                      <a:srgbClr val="000000"/>
                    </a:solidFill>
                    <a:effectLst/>
                    <a:latin typeface="微软雅黑" panose="020B0503020204020204" charset="-122"/>
                    <a:ea typeface="微软雅黑" panose="020B0503020204020204" charset="-122"/>
                  </a:rPr>
                  <a:t>6</a:t>
                </a:r>
                <a:r>
                  <a:rPr lang="zh-CN" altLang="en-US" b="0" i="0">
                    <a:solidFill>
                      <a:srgbClr val="000000"/>
                    </a:solidFill>
                    <a:effectLst/>
                    <a:latin typeface="微软雅黑" panose="020B0503020204020204" charset="-122"/>
                    <a:ea typeface="微软雅黑" panose="020B0503020204020204" charset="-122"/>
                  </a:rPr>
                  <a:t>为</a:t>
                </a:r>
                <a:r>
                  <a:rPr lang="zh-CN" altLang="zh-CN" sz="1600" b="0" i="0" kern="1200">
                    <a:solidFill>
                      <a:schemeClr val="tx1"/>
                    </a:solidFill>
                    <a:effectLst/>
                    <a:latin typeface="微软雅黑" panose="020B0503020204020204" charset="-122"/>
                    <a:ea typeface="微软雅黑" panose="020B0503020204020204" charset="-122"/>
                    <a:cs typeface="+mn-cs"/>
                  </a:rPr>
                  <a:t>MaxCut 问题的 </a:t>
                </a:r>
                <a:r>
                  <a:rPr lang="zh-CN" altLang="en-US" sz="1600" b="0" i="0" kern="1200">
                    <a:solidFill>
                      <a:schemeClr val="tx1"/>
                    </a:solidFill>
                    <a:effectLst/>
                    <a:latin typeface="微软雅黑" panose="020B0503020204020204" charset="-122"/>
                    <a:ea typeface="微软雅黑" panose="020B0503020204020204" charset="-122"/>
                    <a:cs typeface="+mn-cs"/>
                  </a:rPr>
                  <a:t>代价</a:t>
                </a:r>
                <a:r>
                  <a:rPr lang="zh-CN" altLang="zh-CN" sz="1600" b="0" i="0" kern="1200">
                    <a:solidFill>
                      <a:schemeClr val="tx1"/>
                    </a:solidFill>
                    <a:effectLst/>
                    <a:latin typeface="微软雅黑" panose="020B0503020204020204" charset="-122"/>
                    <a:ea typeface="微软雅黑" panose="020B0503020204020204" charset="-122"/>
                    <a:cs typeface="+mn-cs"/>
                  </a:rPr>
                  <a:t>Hamiltonian</a:t>
                </a:r>
                <a:r>
                  <a:rPr lang="zh-CN" altLang="en-US" sz="1600" b="0" i="0" kern="1200">
                    <a:solidFill>
                      <a:schemeClr val="tx1"/>
                    </a:solidFill>
                    <a:effectLst/>
                    <a:latin typeface="微软雅黑" panose="020B0503020204020204" charset="-122"/>
                    <a:ea typeface="微软雅黑" panose="020B0503020204020204" charset="-122"/>
                    <a:cs typeface="+mn-cs"/>
                  </a:rPr>
                  <a:t>量</a:t>
                </a:r>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MAXcut</a:t>
                </a:r>
                <a:r>
                  <a:rPr lang="zh-CN" altLang="en-US" b="0" i="0">
                    <a:solidFill>
                      <a:srgbClr val="000000"/>
                    </a:solidFill>
                    <a:effectLst/>
                    <a:latin typeface="微软雅黑" panose="020B0503020204020204" charset="-122"/>
                    <a:ea typeface="微软雅黑" panose="020B0503020204020204" charset="-122"/>
                  </a:rPr>
                  <a:t>问题：更高的概率在低能量状态下被测量。</a:t>
                </a:r>
                <a:endParaRPr lang="en-US" altLang="zh-CN" b="0" i="0" dirty="0">
                  <a:solidFill>
                    <a:srgbClr val="000000"/>
                  </a:solidFill>
                  <a:effectLst/>
                  <a:latin typeface="微软雅黑" panose="020B0503020204020204" charset="-122"/>
                  <a:ea typeface="微软雅黑" panose="020B0503020204020204" charset="-122"/>
                </a:endParaRPr>
              </a:p>
            </p:txBody>
          </p:sp>
        </mc:Choice>
        <mc:Fallback xmlns="">
          <p:sp>
            <p:nvSpPr>
              <p:cNvPr id="1048804" name="备注占位符 2"/>
              <p:cNvSpPr>
                <a:spLocks noGrp="1"/>
              </p:cNvSpPr>
              <p:nvPr>
                <p:ph type="body" idx="1"/>
              </p:nvPr>
            </p:nvSpPr>
            <p:spPr/>
            <p:txBody>
              <a:bodyPr/>
              <a:lstStyle/>
              <a:p>
                <a:r>
                  <a:rPr lang="zh-CN" altLang="zh-CN" sz="1600" b="0" i="0" kern="1200">
                    <a:solidFill>
                      <a:schemeClr val="tx1"/>
                    </a:solidFill>
                    <a:effectLst/>
                    <a:latin typeface="微软雅黑" panose="020B0503020204020204" charset="-122"/>
                    <a:ea typeface="微软雅黑" panose="020B0503020204020204" charset="-122"/>
                    <a:cs typeface="+mn-cs"/>
                  </a:rPr>
                  <a:t>VQA uses </a:t>
                </a:r>
                <a:r>
                  <a:rPr lang="zh-CN" altLang="zh-CN" sz="1600" b="1" i="0" kern="1200">
                    <a:solidFill>
                      <a:schemeClr val="tx1"/>
                    </a:solidFill>
                    <a:effectLst/>
                    <a:latin typeface="微软雅黑" panose="020B0503020204020204" charset="-122"/>
                    <a:ea typeface="微软雅黑" panose="020B0503020204020204" charset="-122"/>
                    <a:cs typeface="+mn-cs"/>
                  </a:rPr>
                  <a:t>classical computers</a:t>
                </a:r>
                <a:r>
                  <a:rPr lang="zh-CN" altLang="zh-CN" sz="1600" b="0" i="0" kern="1200">
                    <a:solidFill>
                      <a:schemeClr val="tx1"/>
                    </a:solidFill>
                    <a:effectLst/>
                    <a:latin typeface="微软雅黑" panose="020B0503020204020204" charset="-122"/>
                    <a:ea typeface="微软雅黑" panose="020B0503020204020204" charset="-122"/>
                    <a:cs typeface="+mn-cs"/>
                  </a:rPr>
                  <a:t> as a quantum outer-loop optimizer. The classical optimizer updates the circuit parameters to approximate the ground state of a given problem.</a:t>
                </a:r>
              </a:p>
              <a:p>
                <a:r>
                  <a:rPr lang="zh-CN" altLang="zh-CN" sz="1600" b="1" i="0" kern="1200">
                    <a:solidFill>
                      <a:schemeClr val="tx1"/>
                    </a:solidFill>
                    <a:effectLst/>
                    <a:latin typeface="微软雅黑" panose="020B0503020204020204" charset="-122"/>
                    <a:ea typeface="微软雅黑" panose="020B0503020204020204" charset="-122"/>
                    <a:cs typeface="+mn-cs"/>
                  </a:rPr>
                  <a:t>First</a:t>
                </a:r>
                <a:r>
                  <a:rPr lang="zh-CN" altLang="zh-CN" sz="1600" b="0" i="0" kern="1200">
                    <a:solidFill>
                      <a:schemeClr val="tx1"/>
                    </a:solidFill>
                    <a:effectLst/>
                    <a:latin typeface="微软雅黑" panose="020B0503020204020204" charset="-122"/>
                    <a:ea typeface="微软雅黑" panose="020B0503020204020204" charset="-122"/>
                    <a:cs typeface="+mn-cs"/>
                  </a:rPr>
                  <a:t>, we initialize the system in a uniform superposition state.</a:t>
                </a:r>
              </a:p>
              <a:p>
                <a:r>
                  <a:rPr lang="zh-CN" altLang="zh-CN" sz="1600" b="1" i="0" kern="1200">
                    <a:solidFill>
                      <a:schemeClr val="tx1"/>
                    </a:solidFill>
                    <a:effectLst/>
                    <a:latin typeface="微软雅黑" panose="020B0503020204020204" charset="-122"/>
                    <a:ea typeface="微软雅黑" panose="020B0503020204020204" charset="-122"/>
                    <a:cs typeface="+mn-cs"/>
                  </a:rPr>
                  <a:t>Second</a:t>
                </a:r>
                <a:r>
                  <a:rPr lang="zh-CN" altLang="zh-CN" sz="1600" b="0" i="0" kern="1200">
                    <a:solidFill>
                      <a:schemeClr val="tx1"/>
                    </a:solidFill>
                    <a:effectLst/>
                    <a:latin typeface="微软雅黑" panose="020B0503020204020204" charset="-122"/>
                    <a:ea typeface="微软雅黑" panose="020B0503020204020204" charset="-122"/>
                    <a:cs typeface="+mn-cs"/>
                  </a:rPr>
                  <a:t>, we apply a parameterized quantum circuit to this initial state. Looking at Equation 5, this is achieved by applying a sequence of exponentials involving two key Hamiltonians: the mixer Hamiltonian </a:t>
                </a:r>
                <a:r>
                  <a:rPr lang="zh-CN" altLang="en-US" sz="1600" i="0" kern="1200">
                    <a:solidFill>
                      <a:schemeClr val="tx1"/>
                    </a:solidFill>
                    <a:latin typeface="微软雅黑" panose="020B0503020204020204" charset="-122"/>
                    <a:ea typeface="微软雅黑" panose="020B0503020204020204" charset="-122"/>
                    <a:cs typeface="+mn-cs"/>
                  </a:rPr>
                  <a:t>𝐻 ̂_𝑀</a:t>
                </a:r>
                <a:r>
                  <a:rPr lang="zh-CN" altLang="zh-CN" sz="1600" b="0" i="0" kern="1200">
                    <a:solidFill>
                      <a:schemeClr val="tx1"/>
                    </a:solidFill>
                    <a:effectLst/>
                    <a:latin typeface="微软雅黑" panose="020B0503020204020204" charset="-122"/>
                    <a:ea typeface="微软雅黑" panose="020B0503020204020204" charset="-122"/>
                    <a:cs typeface="+mn-cs"/>
                  </a:rPr>
                  <a:t>and the cost Hamiltonian </a:t>
                </a:r>
                <a:r>
                  <a:rPr lang="zh-CN" altLang="en-US" sz="1600" i="0" kern="1200">
                    <a:solidFill>
                      <a:schemeClr val="tx1"/>
                    </a:solidFill>
                    <a:latin typeface="微软雅黑" panose="020B0503020204020204" charset="-122"/>
                    <a:ea typeface="微软雅黑" panose="020B0503020204020204" charset="-122"/>
                    <a:cs typeface="+mn-cs"/>
                  </a:rPr>
                  <a:t>𝐻 ̂_𝐶</a:t>
                </a:r>
                <a:r>
                  <a:rPr lang="zh-CN" altLang="zh-CN" sz="1600" b="0" i="0" kern="1200">
                    <a:solidFill>
                      <a:schemeClr val="tx1"/>
                    </a:solidFill>
                    <a:effectLst/>
                    <a:latin typeface="微软雅黑" panose="020B0503020204020204" charset="-122"/>
                    <a:ea typeface="微软雅黑" panose="020B0503020204020204" charset="-122"/>
                    <a:cs typeface="+mn-cs"/>
                  </a:rPr>
                  <a:t>, parameterized by angles </a:t>
                </a:r>
                <a:r>
                  <a:rPr lang="zh-CN" altLang="en-US" sz="1600" i="0" kern="1200">
                    <a:solidFill>
                      <a:schemeClr val="tx1"/>
                    </a:solidFill>
                    <a:latin typeface="微软雅黑" panose="020B0503020204020204" charset="-122"/>
                    <a:ea typeface="微软雅黑" panose="020B0503020204020204" charset="-122"/>
                    <a:cs typeface="+mn-cs"/>
                  </a:rPr>
                  <a:t>𝜃_𝑚</a:t>
                </a:r>
                <a:r>
                  <a:rPr lang="zh-CN" altLang="zh-CN" sz="1600" b="0" i="0" kern="1200">
                    <a:solidFill>
                      <a:schemeClr val="tx1"/>
                    </a:solidFill>
                    <a:effectLst/>
                    <a:latin typeface="微软雅黑" panose="020B0503020204020204" charset="-122"/>
                    <a:ea typeface="微软雅黑" panose="020B0503020204020204" charset="-122"/>
                    <a:cs typeface="+mn-cs"/>
                  </a:rPr>
                  <a:t>and </a:t>
                </a:r>
                <a:r>
                  <a:rPr lang="zh-CN" altLang="en-US" sz="1600" i="0" kern="1200">
                    <a:solidFill>
                      <a:schemeClr val="tx1"/>
                    </a:solidFill>
                    <a:latin typeface="微软雅黑" panose="020B0503020204020204" charset="-122"/>
                    <a:ea typeface="微软雅黑" panose="020B0503020204020204" charset="-122"/>
                    <a:cs typeface="+mn-cs"/>
                  </a:rPr>
                  <a:t>𝜃_𝑐</a:t>
                </a:r>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It's important to note that the mixer Hamiltonian is the sum of Pauli-X operators, which has our initial state as its eigenstate. Crucially, as stated in the text, the cost Hamiltonian does not commute with the mixer Hamiltonian—this non-commutativity, </a:t>
                </a:r>
                <a:r>
                  <a:rPr lang="zh-CN" altLang="en-US" sz="1600" i="0" kern="1200">
                    <a:solidFill>
                      <a:schemeClr val="tx1"/>
                    </a:solidFill>
                    <a:latin typeface="微软雅黑" panose="020B0503020204020204" charset="-122"/>
                    <a:ea typeface="微软雅黑" panose="020B0503020204020204" charset="-122"/>
                    <a:cs typeface="+mn-cs"/>
                  </a:rPr>
                  <a:t>[𝐻 ̂_𝐶ⓜ,𝐻 ̂_𝑀 ]≠</a:t>
                </a:r>
                <a:r>
                  <a:rPr lang="en-US" altLang="zh-CN" sz="1600" i="0" kern="1200">
                    <a:solidFill>
                      <a:schemeClr val="tx1"/>
                    </a:solidFill>
                    <a:latin typeface="微软雅黑" panose="020B0503020204020204" charset="-122"/>
                    <a:ea typeface="微软雅黑" panose="020B0503020204020204" charset="-122"/>
                    <a:cs typeface="+mn-cs"/>
                  </a:rPr>
                  <a:t>0</a:t>
                </a:r>
                <a:r>
                  <a:rPr lang="zh-CN" altLang="zh-CN" sz="1600" b="0" i="0" kern="1200">
                    <a:solidFill>
                      <a:schemeClr val="tx1"/>
                    </a:solidFill>
                    <a:effectLst/>
                    <a:latin typeface="微软雅黑" panose="020B0503020204020204" charset="-122"/>
                    <a:ea typeface="微软雅黑" panose="020B0503020204020204" charset="-122"/>
                    <a:cs typeface="+mn-cs"/>
                  </a:rPr>
                  <a:t>, is what makes the optimization landscape non-trivial.</a:t>
                </a:r>
              </a:p>
              <a:p>
                <a:r>
                  <a:rPr lang="zh-CN" altLang="zh-CN" sz="1600" b="1" i="0" kern="1200">
                    <a:solidFill>
                      <a:schemeClr val="tx1"/>
                    </a:solidFill>
                    <a:effectLst/>
                    <a:latin typeface="微软雅黑" panose="020B0503020204020204" charset="-122"/>
                    <a:ea typeface="微软雅黑" panose="020B0503020204020204" charset="-122"/>
                    <a:cs typeface="+mn-cs"/>
                  </a:rPr>
                  <a:t>Third</a:t>
                </a:r>
                <a:r>
                  <a:rPr lang="zh-CN" altLang="zh-CN" sz="1600" b="0" i="0" kern="1200">
                    <a:solidFill>
                      <a:schemeClr val="tx1"/>
                    </a:solidFill>
                    <a:effectLst/>
                    <a:latin typeface="微软雅黑" panose="020B0503020204020204" charset="-122"/>
                    <a:ea typeface="微软雅黑" panose="020B0503020204020204" charset="-122"/>
                    <a:cs typeface="+mn-cs"/>
                  </a:rPr>
                  <a:t>, after applying this parameterized sequence, we obtain our final output state, </a:t>
                </a:r>
                <a:r>
                  <a:rPr lang="zh-CN" altLang="en-US" sz="1600" i="0" kern="1200">
                    <a:solidFill>
                      <a:schemeClr val="tx1"/>
                    </a:solidFill>
                    <a:latin typeface="微软雅黑" panose="020B0503020204020204" charset="-122"/>
                    <a:ea typeface="微软雅黑" panose="020B0503020204020204" charset="-122"/>
                    <a:cs typeface="+mn-cs"/>
                  </a:rPr>
                  <a:t>├ ∣</a:t>
                </a:r>
                <a:r>
                  <a:rPr lang="en-US" altLang="zh-CN" sz="1600" i="0" kern="1200">
                    <a:solidFill>
                      <a:schemeClr val="tx1"/>
                    </a:solidFill>
                    <a:latin typeface="微软雅黑" panose="020B0503020204020204" charset="-122"/>
                    <a:ea typeface="微软雅黑" panose="020B0503020204020204" charset="-122"/>
                    <a:cs typeface="+mn-cs"/>
                  </a:rPr>
                  <a:t>Ψ</a:t>
                </a:r>
                <a:r>
                  <a:rPr lang="zh-CN" altLang="en-US" sz="1600" i="0" kern="1200">
                    <a:solidFill>
                      <a:schemeClr val="tx1"/>
                    </a:solidFill>
                    <a:latin typeface="微软雅黑" panose="020B0503020204020204" charset="-122"/>
                    <a:ea typeface="微软雅黑" panose="020B0503020204020204" charset="-122"/>
                    <a:cs typeface="+mn-cs"/>
                  </a:rPr>
                  <a:t>_𝜃 ⟩</a:t>
                </a:r>
                <a:r>
                  <a:rPr lang="zh-CN" altLang="zh-CN" sz="1600" b="0" i="0" kern="1200">
                    <a:solidFill>
                      <a:schemeClr val="tx1"/>
                    </a:solidFill>
                    <a:effectLst/>
                    <a:latin typeface="微软雅黑" panose="020B0503020204020204" charset="-122"/>
                    <a:ea typeface="微软雅黑" panose="020B0503020204020204" charset="-122"/>
                    <a:cs typeface="+mn-cs"/>
                  </a:rPr>
                  <a:t>, as shown at the bottom left.</a:t>
                </a:r>
              </a:p>
              <a:p>
                <a:r>
                  <a:rPr lang="zh-CN" altLang="zh-CN" sz="1600" b="0" i="0" kern="1200">
                    <a:solidFill>
                      <a:schemeClr val="tx1"/>
                    </a:solidFill>
                    <a:effectLst/>
                    <a:latin typeface="微软雅黑" panose="020B0503020204020204" charset="-122"/>
                    <a:ea typeface="微软雅黑" panose="020B0503020204020204" charset="-122"/>
                    <a:cs typeface="+mn-cs"/>
                  </a:rPr>
                  <a:t>Now, how does this relate to a practical problem? The right side of the slide connects this framework to the Quantum Approximate Optimization Algorithm,.</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Here, we need to minimize the energy of the cost Hamiltonian, </a:t>
                </a:r>
                <a:r>
                  <a:rPr lang="zh-CN" altLang="en-US" sz="1600" i="0" kern="1200">
                    <a:solidFill>
                      <a:schemeClr val="tx1"/>
                    </a:solidFill>
                    <a:latin typeface="微软雅黑" panose="020B0503020204020204" charset="-122"/>
                    <a:ea typeface="微软雅黑" panose="020B0503020204020204" charset="-122"/>
                    <a:cs typeface="+mn-cs"/>
                  </a:rPr>
                  <a:t>𝐻 ̂_𝐶</a:t>
                </a:r>
                <a:r>
                  <a:rPr lang="zh-CN" altLang="zh-CN" sz="1600" b="0" i="0" kern="1200">
                    <a:solidFill>
                      <a:schemeClr val="tx1"/>
                    </a:solidFill>
                    <a:effectLst/>
                    <a:latin typeface="微软雅黑" panose="020B0503020204020204" charset="-122"/>
                    <a:ea typeface="微软雅黑" panose="020B0503020204020204" charset="-122"/>
                    <a:cs typeface="+mn-cs"/>
                  </a:rPr>
                  <a:t>, which is defined as a function of the Pauli-Z operators, </a:t>
                </a:r>
                <a:r>
                  <a:rPr lang="zh-CN" altLang="en-US" sz="1600" i="0" kern="1200">
                    <a:solidFill>
                      <a:schemeClr val="tx1"/>
                    </a:solidFill>
                    <a:latin typeface="微软雅黑" panose="020B0503020204020204" charset="-122"/>
                    <a:ea typeface="微软雅黑" panose="020B0503020204020204" charset="-122"/>
                    <a:cs typeface="+mn-cs"/>
                  </a:rPr>
                  <a:t>𝑓(𝑍 ̂ )</a:t>
                </a:r>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For a combinatorial problem like MaxCut, this cost function is explicitly written</a:t>
                </a:r>
                <a:r>
                  <a:rPr lang="en-US" altLang="zh-CN" sz="1600" b="0" i="0" kern="1200">
                    <a:solidFill>
                      <a:schemeClr val="tx1"/>
                    </a:solidFill>
                    <a:effectLst/>
                    <a:latin typeface="微软雅黑" panose="020B0503020204020204" charset="-122"/>
                    <a:ea typeface="微软雅黑" panose="020B0503020204020204" charset="-122"/>
                    <a:cs typeface="+mn-cs"/>
                  </a:rPr>
                  <a:t> at</a:t>
                </a:r>
                <a:r>
                  <a:rPr lang="zh-CN" altLang="zh-CN" sz="1600" b="0" i="0" kern="1200">
                    <a:solidFill>
                      <a:schemeClr val="tx1"/>
                    </a:solidFill>
                    <a:effectLst/>
                    <a:latin typeface="微软雅黑" panose="020B0503020204020204" charset="-122"/>
                    <a:ea typeface="微软雅黑" panose="020B0503020204020204" charset="-122"/>
                    <a:cs typeface="+mn-cs"/>
                  </a:rPr>
                  <a:t> in Equation 6. It computes the sum over all edges in the graph of </a:t>
                </a:r>
                <a:r>
                  <a:rPr lang="en-US" altLang="zh-CN" sz="1600" i="0" kern="1200">
                    <a:solidFill>
                      <a:schemeClr val="tx1"/>
                    </a:solidFill>
                    <a:latin typeface="微软雅黑" panose="020B0503020204020204" charset="-122"/>
                    <a:ea typeface="微软雅黑" panose="020B0503020204020204" charset="-122"/>
                    <a:cs typeface="+mn-cs"/>
                  </a:rPr>
                  <a:t>1</a:t>
                </a:r>
                <a:r>
                  <a:rPr lang="zh-CN" altLang="en-US" sz="1600" i="0" kern="1200">
                    <a:solidFill>
                      <a:schemeClr val="tx1"/>
                    </a:solidFill>
                    <a:latin typeface="微软雅黑" panose="020B0503020204020204" charset="-122"/>
                    <a:ea typeface="微软雅黑" panose="020B0503020204020204" charset="-122"/>
                    <a:cs typeface="+mn-cs"/>
                  </a:rPr>
                  <a:t>/</a:t>
                </a:r>
                <a:r>
                  <a:rPr lang="en-US" altLang="zh-CN" sz="1600" i="0" kern="1200">
                    <a:solidFill>
                      <a:schemeClr val="tx1"/>
                    </a:solidFill>
                    <a:latin typeface="微软雅黑" panose="020B0503020204020204" charset="-122"/>
                    <a:ea typeface="微软雅黑" panose="020B0503020204020204" charset="-122"/>
                    <a:cs typeface="+mn-cs"/>
                  </a:rPr>
                  <a:t>2</a:t>
                </a:r>
                <a:r>
                  <a:rPr lang="zh-CN" altLang="en-US" sz="1600" i="0" kern="1200">
                    <a:solidFill>
                      <a:schemeClr val="tx1"/>
                    </a:solidFill>
                    <a:latin typeface="微软雅黑" panose="020B0503020204020204" charset="-122"/>
                    <a:ea typeface="微软雅黑" panose="020B0503020204020204" charset="-122"/>
                    <a:cs typeface="+mn-cs"/>
                  </a:rPr>
                  <a:t> (𝐼 ̂−𝑍 ̂_𝑗 𝑍 ̂_𝑘 )</a:t>
                </a:r>
                <a:r>
                  <a:rPr lang="zh-CN" altLang="zh-CN" sz="1600" b="0" i="0" kern="1200">
                    <a:solidFill>
                      <a:schemeClr val="tx1"/>
                    </a:solidFill>
                    <a:effectLst/>
                    <a:latin typeface="微软雅黑" panose="020B0503020204020204" charset="-122"/>
                    <a:ea typeface="微软雅黑" panose="020B0503020204020204" charset="-122"/>
                    <a:cs typeface="+mn-cs"/>
                  </a:rPr>
                  <a:t>.</a:t>
                </a:r>
                <a:br>
                  <a:rPr lang="zh-CN" altLang="zh-CN" sz="1600" b="0" i="0" kern="1200">
                    <a:solidFill>
                      <a:schemeClr val="tx1"/>
                    </a:solidFill>
                    <a:effectLst/>
                    <a:latin typeface="微软雅黑" panose="020B0503020204020204" charset="-122"/>
                    <a:ea typeface="微软雅黑" panose="020B0503020204020204" charset="-122"/>
                    <a:cs typeface="+mn-cs"/>
                  </a:rPr>
                </a:br>
                <a:r>
                  <a:rPr lang="zh-CN" altLang="zh-CN" sz="1600" b="0" i="0" kern="1200">
                    <a:solidFill>
                      <a:schemeClr val="tx1"/>
                    </a:solidFill>
                    <a:effectLst/>
                    <a:latin typeface="微软雅黑" panose="020B0503020204020204" charset="-122"/>
                    <a:ea typeface="微软雅黑" panose="020B0503020204020204" charset="-122"/>
                    <a:cs typeface="+mn-cs"/>
                  </a:rPr>
                  <a:t>As the note at the bottom right emphasizes, we use this function </a:t>
                </a:r>
                <a:r>
                  <a:rPr lang="zh-CN" altLang="en-US" sz="1600" i="0" kern="1200">
                    <a:solidFill>
                      <a:schemeClr val="tx1"/>
                    </a:solidFill>
                    <a:latin typeface="微软雅黑" panose="020B0503020204020204" charset="-122"/>
                    <a:ea typeface="微软雅黑" panose="020B0503020204020204" charset="-122"/>
                    <a:cs typeface="+mn-cs"/>
                  </a:rPr>
                  <a:t>𝑓(𝑍 ̂ )</a:t>
                </a:r>
                <a:r>
                  <a:rPr lang="zh-CN" altLang="zh-CN" sz="1600" b="0" i="0" kern="1200">
                    <a:solidFill>
                      <a:schemeClr val="tx1"/>
                    </a:solidFill>
                    <a:effectLst/>
                    <a:latin typeface="微软雅黑" panose="020B0503020204020204" charset="-122"/>
                    <a:ea typeface="微软雅黑" panose="020B0503020204020204" charset="-122"/>
                    <a:cs typeface="+mn-cs"/>
                  </a:rPr>
                  <a:t>to effectively approximate and evaluate our cost Hamiltonian </a:t>
                </a:r>
                <a:r>
                  <a:rPr lang="zh-CN" altLang="en-US" sz="1600" i="0" kern="1200">
                    <a:solidFill>
                      <a:schemeClr val="tx1"/>
                    </a:solidFill>
                    <a:latin typeface="微软雅黑" panose="020B0503020204020204" charset="-122"/>
                    <a:ea typeface="微软雅黑" panose="020B0503020204020204" charset="-122"/>
                    <a:cs typeface="+mn-cs"/>
                  </a:rPr>
                  <a:t>𝐻 ̂_𝐶</a:t>
                </a:r>
                <a:r>
                  <a:rPr lang="zh-CN" altLang="zh-CN" sz="1600" b="0" i="0" kern="1200">
                    <a:solidFill>
                      <a:schemeClr val="tx1"/>
                    </a:solidFill>
                    <a:effectLst/>
                    <a:latin typeface="微软雅黑" panose="020B0503020204020204" charset="-122"/>
                    <a:ea typeface="微软雅黑" panose="020B0503020204020204" charset="-122"/>
                    <a:cs typeface="+mn-cs"/>
                  </a:rPr>
                  <a:t>.</a:t>
                </a:r>
              </a:p>
              <a:p>
                <a:r>
                  <a:rPr lang="zh-CN" altLang="zh-CN" sz="1600" b="0" i="0" kern="1200">
                    <a:solidFill>
                      <a:schemeClr val="tx1"/>
                    </a:solidFill>
                    <a:effectLst/>
                    <a:latin typeface="微软雅黑" panose="020B0503020204020204" charset="-122"/>
                    <a:ea typeface="微软雅黑" panose="020B0503020204020204" charset="-122"/>
                    <a:cs typeface="+mn-cs"/>
                  </a:rPr>
                  <a:t>Ultimately, the classical outer loop will adjust the parameters </a:t>
                </a:r>
                <a:r>
                  <a:rPr lang="zh-CN" altLang="en-US" sz="1600" i="0" kern="1200">
                    <a:solidFill>
                      <a:schemeClr val="tx1"/>
                    </a:solidFill>
                    <a:latin typeface="微软雅黑" panose="020B0503020204020204" charset="-122"/>
                    <a:ea typeface="微软雅黑" panose="020B0503020204020204" charset="-122"/>
                    <a:cs typeface="+mn-cs"/>
                  </a:rPr>
                  <a:t>𝜃_𝑚</a:t>
                </a:r>
                <a:r>
                  <a:rPr lang="zh-CN" altLang="zh-CN" sz="1600" b="0" i="0" kern="1200">
                    <a:solidFill>
                      <a:schemeClr val="tx1"/>
                    </a:solidFill>
                    <a:effectLst/>
                    <a:latin typeface="微软雅黑" panose="020B0503020204020204" charset="-122"/>
                    <a:ea typeface="微软雅黑" panose="020B0503020204020204" charset="-122"/>
                    <a:cs typeface="+mn-cs"/>
                  </a:rPr>
                  <a:t>and </a:t>
                </a:r>
                <a:r>
                  <a:rPr lang="zh-CN" altLang="en-US" sz="1600" i="0" kern="1200">
                    <a:solidFill>
                      <a:schemeClr val="tx1"/>
                    </a:solidFill>
                    <a:latin typeface="微软雅黑" panose="020B0503020204020204" charset="-122"/>
                    <a:ea typeface="微软雅黑" panose="020B0503020204020204" charset="-122"/>
                    <a:cs typeface="+mn-cs"/>
                  </a:rPr>
                  <a:t>𝜃_𝑐</a:t>
                </a:r>
                <a:r>
                  <a:rPr lang="zh-CN" altLang="zh-CN" sz="1600" b="0" i="0" kern="1200">
                    <a:solidFill>
                      <a:schemeClr val="tx1"/>
                    </a:solidFill>
                    <a:effectLst/>
                    <a:latin typeface="微软雅黑" panose="020B0503020204020204" charset="-122"/>
                    <a:ea typeface="微软雅黑" panose="020B0503020204020204" charset="-122"/>
                    <a:cs typeface="+mn-cs"/>
                  </a:rPr>
                  <a:t>to minimize the expectation value of this cost Hamiltonian, thereby finding the approximate ground state for our target problem."</a:t>
                </a:r>
              </a:p>
              <a:p>
                <a:pPr algn="just"/>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首先初始化一量</a:t>
                </a:r>
                <a:r>
                  <a:rPr lang="zh-CN" altLang="en-US" b="0" i="0">
                    <a:solidFill>
                      <a:srgbClr val="000000"/>
                    </a:solidFill>
                    <a:effectLst/>
                    <a:latin typeface="微软雅黑" panose="020B0503020204020204" charset="-122"/>
                    <a:ea typeface="微软雅黑" panose="020B0503020204020204" charset="-122"/>
                  </a:rPr>
                  <a:t>子态（</a:t>
                </a:r>
                <a:r>
                  <a:rPr lang="zh-CN" altLang="zh-CN" sz="1600" b="0" i="0" kern="1200">
                    <a:solidFill>
                      <a:schemeClr val="tx1"/>
                    </a:solidFill>
                    <a:effectLst/>
                    <a:latin typeface="微软雅黑" panose="020B0503020204020204" charset="-122"/>
                    <a:ea typeface="微软雅黑" panose="020B0503020204020204" charset="-122"/>
                    <a:cs typeface="+mn-cs"/>
                  </a:rPr>
                  <a:t>初始化均匀叠加态</a:t>
                </a:r>
                <a:r>
                  <a:rPr lang="zh-CN" altLang="en-US" b="0" i="0">
                    <a:solidFill>
                      <a:srgbClr val="000000"/>
                    </a:solidFill>
                    <a:effectLst/>
                    <a:latin typeface="微软雅黑" panose="020B0503020204020204" charset="-122"/>
                    <a:ea typeface="微软雅黑" panose="020B0503020204020204" charset="-122"/>
                  </a:rPr>
                  <a:t>），</a:t>
                </a:r>
                <a:r>
                  <a:rPr lang="zh-CN" altLang="en-US" b="0" i="0" dirty="0">
                    <a:solidFill>
                      <a:srgbClr val="000000"/>
                    </a:solidFill>
                    <a:effectLst/>
                    <a:latin typeface="微软雅黑" panose="020B0503020204020204" charset="-122"/>
                    <a:ea typeface="微软雅黑" panose="020B0503020204020204" charset="-122"/>
                  </a:rPr>
                  <a:t>之后产生一个波函数</a:t>
                </a:r>
                <a:r>
                  <a:rPr lang="zh-CN" altLang="en-US" b="0" i="0">
                    <a:solidFill>
                      <a:srgbClr val="000000"/>
                    </a:solidFill>
                    <a:effectLst/>
                    <a:latin typeface="微软雅黑" panose="020B0503020204020204" charset="-122"/>
                    <a:ea typeface="微软雅黑" panose="020B0503020204020204" charset="-122"/>
                  </a:rPr>
                  <a:t>来计算哈密顿量</a:t>
                </a:r>
                <a:r>
                  <a:rPr lang="en-US" altLang="zh-CN" b="0" i="0" dirty="0">
                    <a:solidFill>
                      <a:srgbClr val="000000"/>
                    </a:solidFill>
                    <a:effectLst/>
                    <a:latin typeface="微软雅黑" panose="020B0503020204020204" charset="-122"/>
                    <a:ea typeface="微软雅黑" panose="020B0503020204020204" charset="-122"/>
                  </a:rPr>
                  <a:t>HˆC</a:t>
                </a:r>
                <a:r>
                  <a:rPr lang="zh-CN" altLang="en-US" b="0" i="0" dirty="0">
                    <a:solidFill>
                      <a:srgbClr val="000000"/>
                    </a:solidFill>
                    <a:effectLst/>
                    <a:latin typeface="微软雅黑" panose="020B0503020204020204" charset="-122"/>
                    <a:ea typeface="微软雅黑" panose="020B0503020204020204" charset="-122"/>
                  </a:rPr>
                  <a:t>，其中目标是选择</a:t>
                </a:r>
                <a:r>
                  <a:rPr lang="zh-CN" altLang="en-US" b="0" i="0">
                    <a:solidFill>
                      <a:srgbClr val="000000"/>
                    </a:solidFill>
                    <a:effectLst/>
                    <a:latin typeface="微软雅黑" panose="020B0503020204020204" charset="-122"/>
                    <a:ea typeface="微软雅黑" panose="020B0503020204020204" charset="-122"/>
                  </a:rPr>
                  <a:t>更高的概率</a:t>
                </a:r>
                <a:r>
                  <a:rPr lang="zh-CN" altLang="en-US" b="0" i="0" dirty="0">
                    <a:solidFill>
                      <a:srgbClr val="000000"/>
                    </a:solidFill>
                    <a:effectLst/>
                    <a:latin typeface="微软雅黑" panose="020B0503020204020204" charset="-122"/>
                    <a:ea typeface="微软雅黑" panose="020B0503020204020204" charset="-122"/>
                  </a:rPr>
                  <a:t>在低能量状态下被</a:t>
                </a:r>
                <a:r>
                  <a:rPr lang="zh-CN" altLang="en-US" b="0" i="0">
                    <a:solidFill>
                      <a:srgbClr val="000000"/>
                    </a:solidFill>
                    <a:effectLst/>
                    <a:latin typeface="微软雅黑" panose="020B0503020204020204" charset="-122"/>
                    <a:ea typeface="微软雅黑" panose="020B0503020204020204" charset="-122"/>
                  </a:rPr>
                  <a:t>测量。通过代价哈密顿量与混合哈密顿量构成幺正变换矩阵，且两者彼此不正交。式</a:t>
                </a:r>
                <a:r>
                  <a:rPr lang="en-US" altLang="zh-CN" b="0" i="0">
                    <a:solidFill>
                      <a:srgbClr val="000000"/>
                    </a:solidFill>
                    <a:effectLst/>
                    <a:latin typeface="微软雅黑" panose="020B0503020204020204" charset="-122"/>
                    <a:ea typeface="微软雅黑" panose="020B0503020204020204" charset="-122"/>
                  </a:rPr>
                  <a:t>6</a:t>
                </a:r>
                <a:r>
                  <a:rPr lang="zh-CN" altLang="en-US" b="0" i="0">
                    <a:solidFill>
                      <a:srgbClr val="000000"/>
                    </a:solidFill>
                    <a:effectLst/>
                    <a:latin typeface="微软雅黑" panose="020B0503020204020204" charset="-122"/>
                    <a:ea typeface="微软雅黑" panose="020B0503020204020204" charset="-122"/>
                  </a:rPr>
                  <a:t>为</a:t>
                </a:r>
                <a:r>
                  <a:rPr lang="zh-CN" altLang="zh-CN" sz="1600" b="0" i="0" kern="1200">
                    <a:solidFill>
                      <a:schemeClr val="tx1"/>
                    </a:solidFill>
                    <a:effectLst/>
                    <a:latin typeface="微软雅黑" panose="020B0503020204020204" charset="-122"/>
                    <a:ea typeface="微软雅黑" panose="020B0503020204020204" charset="-122"/>
                    <a:cs typeface="+mn-cs"/>
                  </a:rPr>
                  <a:t>MaxCut 问题的 </a:t>
                </a:r>
                <a:r>
                  <a:rPr lang="zh-CN" altLang="en-US" sz="1600" b="0" i="0" kern="1200">
                    <a:solidFill>
                      <a:schemeClr val="tx1"/>
                    </a:solidFill>
                    <a:effectLst/>
                    <a:latin typeface="微软雅黑" panose="020B0503020204020204" charset="-122"/>
                    <a:ea typeface="微软雅黑" panose="020B0503020204020204" charset="-122"/>
                    <a:cs typeface="+mn-cs"/>
                  </a:rPr>
                  <a:t>代价</a:t>
                </a:r>
                <a:r>
                  <a:rPr lang="zh-CN" altLang="zh-CN" sz="1600" b="0" i="0" kern="1200">
                    <a:solidFill>
                      <a:schemeClr val="tx1"/>
                    </a:solidFill>
                    <a:effectLst/>
                    <a:latin typeface="微软雅黑" panose="020B0503020204020204" charset="-122"/>
                    <a:ea typeface="微软雅黑" panose="020B0503020204020204" charset="-122"/>
                    <a:cs typeface="+mn-cs"/>
                  </a:rPr>
                  <a:t>Hamiltonian</a:t>
                </a:r>
                <a:r>
                  <a:rPr lang="zh-CN" altLang="en-US" sz="1600" b="0" i="0" kern="1200">
                    <a:solidFill>
                      <a:schemeClr val="tx1"/>
                    </a:solidFill>
                    <a:effectLst/>
                    <a:latin typeface="微软雅黑" panose="020B0503020204020204" charset="-122"/>
                    <a:ea typeface="微软雅黑" panose="020B0503020204020204" charset="-122"/>
                    <a:cs typeface="+mn-cs"/>
                  </a:rPr>
                  <a:t>量</a:t>
                </a:r>
                <a:endParaRPr lang="en-US" altLang="zh-CN" b="0" i="0">
                  <a:solidFill>
                    <a:srgbClr val="000000"/>
                  </a:solidFill>
                  <a:effectLst/>
                  <a:latin typeface="微软雅黑" panose="020B0503020204020204" charset="-122"/>
                  <a:ea typeface="微软雅黑" panose="020B0503020204020204" charset="-122"/>
                </a:endParaRPr>
              </a:p>
              <a:p>
                <a:pPr algn="just"/>
                <a:endParaRPr lang="en-US" altLang="zh-CN" b="0" i="0">
                  <a:solidFill>
                    <a:srgbClr val="000000"/>
                  </a:solidFill>
                  <a:effectLst/>
                  <a:latin typeface="微软雅黑" panose="020B0503020204020204" charset="-122"/>
                  <a:ea typeface="微软雅黑" panose="020B0503020204020204" charset="-122"/>
                </a:endParaRPr>
              </a:p>
              <a:p>
                <a:pPr algn="just"/>
                <a:r>
                  <a:rPr lang="en-US" altLang="zh-CN" b="0" i="0">
                    <a:solidFill>
                      <a:srgbClr val="000000"/>
                    </a:solidFill>
                    <a:effectLst/>
                    <a:latin typeface="微软雅黑" panose="020B0503020204020204" charset="-122"/>
                    <a:ea typeface="微软雅黑" panose="020B0503020204020204" charset="-122"/>
                  </a:rPr>
                  <a:t>MAXcut</a:t>
                </a:r>
                <a:r>
                  <a:rPr lang="zh-CN" altLang="en-US" b="0" i="0">
                    <a:solidFill>
                      <a:srgbClr val="000000"/>
                    </a:solidFill>
                    <a:effectLst/>
                    <a:latin typeface="微软雅黑" panose="020B0503020204020204" charset="-122"/>
                    <a:ea typeface="微软雅黑" panose="020B0503020204020204" charset="-122"/>
                  </a:rPr>
                  <a:t>问题：更高的概率在低能量状态下被测量。</a:t>
                </a:r>
                <a:endParaRPr lang="en-US" altLang="zh-CN" b="0" i="0" dirty="0">
                  <a:solidFill>
                    <a:srgbClr val="000000"/>
                  </a:solidFill>
                  <a:effectLst/>
                  <a:latin typeface="微软雅黑" panose="020B0503020204020204" charset="-122"/>
                  <a:ea typeface="微软雅黑" panose="020B0503020204020204" charset="-122"/>
                </a:endParaRPr>
              </a:p>
            </p:txBody>
          </p:sp>
        </mc:Fallback>
      </mc:AlternateContent>
      <p:sp>
        <p:nvSpPr>
          <p:cNvPr id="1048805" name="灯片编号占位符 3"/>
          <p:cNvSpPr>
            <a:spLocks noGrp="1"/>
          </p:cNvSpPr>
          <p:nvPr>
            <p:ph type="sldNum" sz="quarter" idx="10"/>
          </p:nvPr>
        </p:nvSpPr>
        <p:spPr/>
        <p:txBody>
          <a:bodyPr/>
          <a:lstStyle/>
          <a:p>
            <a:fld id="{677A2CBA-E486-4DC8-8696-C7854B0A28F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6" name="幻灯片图像占位符 1"/>
          <p:cNvSpPr>
            <a:spLocks noGrp="1" noRot="1" noChangeAspect="1"/>
          </p:cNvSpPr>
          <p:nvPr>
            <p:ph type="sldImg"/>
          </p:nvPr>
        </p:nvSpPr>
        <p:spPr>
          <a:xfrm>
            <a:off x="685800" y="1143000"/>
            <a:ext cx="5486400" cy="3086100"/>
          </a:xfrm>
        </p:spPr>
      </p:sp>
      <p:sp>
        <p:nvSpPr>
          <p:cNvPr id="1048817" name="备注占位符 2"/>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将本征态线性叠加可以得到所有一般的态。这里需要给大家解释一下，变分量子算法要优化哈密顿能量，但是需要有一个物理可实现性的保证，也就是说需要使得量子在优化过程中满足某一种物理规律，它可以用创造和堙灭算符去表达。如式</a:t>
            </a:r>
            <a:r>
              <a:rPr lang="en-US" altLang="zh-CN" b="0" i="0">
                <a:solidFill>
                  <a:srgbClr val="000000"/>
                </a:solidFill>
                <a:effectLst/>
                <a:latin typeface="微软雅黑" panose="020B0503020204020204" charset="-122"/>
                <a:ea typeface="微软雅黑" panose="020B0503020204020204" charset="-122"/>
              </a:rPr>
              <a:t>7</a:t>
            </a:r>
            <a:r>
              <a:rPr lang="zh-CN" altLang="en-US" b="0" i="0">
                <a:solidFill>
                  <a:srgbClr val="000000"/>
                </a:solidFill>
                <a:effectLst/>
                <a:latin typeface="微软雅黑" panose="020B0503020204020204" charset="-122"/>
                <a:ea typeface="微软雅黑" panose="020B0503020204020204" charset="-122"/>
              </a:rPr>
              <a:t>所示，其中变分量子算法通常使用三种线性量子模型作为优化基线，哈珀模型是一种，它描述了</a:t>
            </a:r>
            <a:r>
              <a:rPr lang="zh-CN" altLang="zh-CN" sz="1600" b="0" i="0" kern="1200">
                <a:solidFill>
                  <a:schemeClr val="tx1"/>
                </a:solidFill>
                <a:effectLst/>
                <a:latin typeface="微软雅黑" panose="020B0503020204020204" charset="-122"/>
                <a:ea typeface="微软雅黑" panose="020B0503020204020204" charset="-122"/>
                <a:cs typeface="+mn-cs"/>
              </a:rPr>
              <a:t>电子在晶格中的运动与相互作用</a:t>
            </a:r>
            <a:r>
              <a:rPr lang="zh-CN" altLang="en-US" sz="1600" b="0" i="0" kern="1200">
                <a:solidFill>
                  <a:schemeClr val="tx1"/>
                </a:solidFill>
                <a:effectLst/>
                <a:latin typeface="微软雅黑" panose="020B0503020204020204" charset="-122"/>
                <a:ea typeface="微软雅黑" panose="020B0503020204020204" charset="-122"/>
                <a:cs typeface="+mn-cs"/>
              </a:rPr>
              <a:t>。我那</a:t>
            </a:r>
            <a:r>
              <a:rPr lang="en-US" altLang="zh-CN" sz="1600" b="0" i="0" kern="1200">
                <a:solidFill>
                  <a:schemeClr val="tx1"/>
                </a:solidFill>
                <a:effectLst/>
                <a:latin typeface="微软雅黑" panose="020B0503020204020204" charset="-122"/>
                <a:ea typeface="微软雅黑" panose="020B0503020204020204" charset="-122"/>
                <a:cs typeface="+mn-cs"/>
              </a:rPr>
              <a:t>JAS</a:t>
            </a:r>
            <a:r>
              <a:rPr lang="zh-CN" altLang="en-US" sz="1600" b="0" i="0" kern="1200">
                <a:solidFill>
                  <a:schemeClr val="tx1"/>
                </a:solidFill>
                <a:effectLst/>
                <a:latin typeface="微软雅黑" panose="020B0503020204020204" charset="-122"/>
                <a:ea typeface="微软雅黑" panose="020B0503020204020204" charset="-122"/>
                <a:cs typeface="+mn-cs"/>
              </a:rPr>
              <a:t>和</a:t>
            </a:r>
            <a:r>
              <a:rPr lang="en-US" altLang="zh-CN" sz="1600" b="0" i="0" kern="1200">
                <a:solidFill>
                  <a:schemeClr val="tx1"/>
                </a:solidFill>
                <a:effectLst/>
                <a:latin typeface="微软雅黑" panose="020B0503020204020204" charset="-122"/>
                <a:ea typeface="微软雅黑" panose="020B0503020204020204" charset="-122"/>
                <a:cs typeface="+mn-cs"/>
              </a:rPr>
              <a:t>TCYB</a:t>
            </a:r>
            <a:r>
              <a:rPr lang="zh-CN" altLang="en-US" sz="1600" b="0" i="0" kern="1200">
                <a:solidFill>
                  <a:schemeClr val="tx1"/>
                </a:solidFill>
                <a:effectLst/>
                <a:latin typeface="微软雅黑" panose="020B0503020204020204" charset="-122"/>
                <a:ea typeface="微软雅黑" panose="020B0503020204020204" charset="-122"/>
                <a:cs typeface="+mn-cs"/>
              </a:rPr>
              <a:t>论文使用另外一种，是用被动光学腔作为优化基线模型。</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18" name="灯片编号占位符 3"/>
          <p:cNvSpPr>
            <a:spLocks noGrp="1"/>
          </p:cNvSpPr>
          <p:nvPr>
            <p:ph type="sldNum" sz="quarter" idx="10"/>
          </p:nvPr>
        </p:nvSpPr>
        <p:spPr/>
        <p:txBody>
          <a:bodyPr/>
          <a:lstStyle/>
          <a:p>
            <a:fld id="{677A2CBA-E486-4DC8-8696-C7854B0A28F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E9E5B-2CD0-E843-2A80-1CD3EC99CF92}"/>
            </a:ext>
          </a:extLst>
        </p:cNvPr>
        <p:cNvGrpSpPr/>
        <p:nvPr/>
      </p:nvGrpSpPr>
      <p:grpSpPr>
        <a:xfrm>
          <a:off x="0" y="0"/>
          <a:ext cx="0" cy="0"/>
          <a:chOff x="0" y="0"/>
          <a:chExt cx="0" cy="0"/>
        </a:xfrm>
      </p:grpSpPr>
      <p:sp>
        <p:nvSpPr>
          <p:cNvPr id="1048816" name="幻灯片图像占位符 1">
            <a:extLst>
              <a:ext uri="{FF2B5EF4-FFF2-40B4-BE49-F238E27FC236}">
                <a16:creationId xmlns:a16="http://schemas.microsoft.com/office/drawing/2014/main" id="{DC58AEDB-84BA-3336-FD26-4A30B8BDA10F}"/>
              </a:ext>
            </a:extLst>
          </p:cNvPr>
          <p:cNvSpPr>
            <a:spLocks noGrp="1" noRot="1" noChangeAspect="1"/>
          </p:cNvSpPr>
          <p:nvPr>
            <p:ph type="sldImg"/>
          </p:nvPr>
        </p:nvSpPr>
        <p:spPr>
          <a:xfrm>
            <a:off x="685800" y="1143000"/>
            <a:ext cx="5486400" cy="3086100"/>
          </a:xfrm>
        </p:spPr>
      </p:sp>
      <p:sp>
        <p:nvSpPr>
          <p:cNvPr id="1048817" name="备注占位符 2">
            <a:extLst>
              <a:ext uri="{FF2B5EF4-FFF2-40B4-BE49-F238E27FC236}">
                <a16:creationId xmlns:a16="http://schemas.microsoft.com/office/drawing/2014/main" id="{FA76FBA1-FD35-D54D-FF14-F6B6D17F6BA4}"/>
              </a:ext>
            </a:extLst>
          </p:cNvPr>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将本征态线性叠加可以得到所有一般的态。这里需要给大家解释一下，变分量子算法要优化哈密顿能量，但是需要有一个物理可实现性的保证，也就是说需要使得量子在优化过程中满足某一种物理规律，它可以用创造和堙灭算符去表达。如式</a:t>
            </a:r>
            <a:r>
              <a:rPr lang="en-US" altLang="zh-CN" b="0" i="0">
                <a:solidFill>
                  <a:srgbClr val="000000"/>
                </a:solidFill>
                <a:effectLst/>
                <a:latin typeface="微软雅黑" panose="020B0503020204020204" charset="-122"/>
                <a:ea typeface="微软雅黑" panose="020B0503020204020204" charset="-122"/>
              </a:rPr>
              <a:t>7</a:t>
            </a:r>
            <a:r>
              <a:rPr lang="zh-CN" altLang="en-US" b="0" i="0">
                <a:solidFill>
                  <a:srgbClr val="000000"/>
                </a:solidFill>
                <a:effectLst/>
                <a:latin typeface="微软雅黑" panose="020B0503020204020204" charset="-122"/>
                <a:ea typeface="微软雅黑" panose="020B0503020204020204" charset="-122"/>
              </a:rPr>
              <a:t>所示，其中变分量子算法通常使用三种</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18" name="灯片编号占位符 3">
            <a:extLst>
              <a:ext uri="{FF2B5EF4-FFF2-40B4-BE49-F238E27FC236}">
                <a16:creationId xmlns:a16="http://schemas.microsoft.com/office/drawing/2014/main" id="{D7862276-3E2D-BF73-F569-0C566F348EFF}"/>
              </a:ext>
            </a:extLst>
          </p:cNvPr>
          <p:cNvSpPr>
            <a:spLocks noGrp="1"/>
          </p:cNvSpPr>
          <p:nvPr>
            <p:ph type="sldNum" sz="quarter" idx="10"/>
          </p:nvPr>
        </p:nvSpPr>
        <p:spPr/>
        <p:txBody>
          <a:bodyPr/>
          <a:lstStyle/>
          <a:p>
            <a:fld id="{677A2CBA-E486-4DC8-8696-C7854B0A28FD}" type="slidenum">
              <a:rPr lang="zh-CN" altLang="en-US" smtClean="0"/>
              <a:t>16</a:t>
            </a:fld>
            <a:endParaRPr lang="zh-CN" altLang="en-US"/>
          </a:p>
        </p:txBody>
      </p:sp>
    </p:spTree>
    <p:extLst>
      <p:ext uri="{BB962C8B-B14F-4D97-AF65-F5344CB8AC3E}">
        <p14:creationId xmlns:p14="http://schemas.microsoft.com/office/powerpoint/2010/main" val="24230404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6" name="幻灯片图像占位符 1"/>
          <p:cNvSpPr>
            <a:spLocks noGrp="1" noRot="1" noChangeAspect="1"/>
          </p:cNvSpPr>
          <p:nvPr>
            <p:ph type="sldImg"/>
          </p:nvPr>
        </p:nvSpPr>
        <p:spPr>
          <a:xfrm>
            <a:off x="685800" y="1143000"/>
            <a:ext cx="5486400" cy="3086100"/>
          </a:xfrm>
        </p:spPr>
      </p:sp>
      <p:sp>
        <p:nvSpPr>
          <p:cNvPr id="1048827"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在传统VQA中，每次迭代或面对新任务时，优化器通常是从头开始搜索参数空间。而Meta-VQA中的参数共享，本质上是为了</a:t>
            </a:r>
            <a:r>
              <a:rPr lang="zh-CN" altLang="zh-CN" sz="1600" b="1" i="0" kern="1200">
                <a:solidFill>
                  <a:schemeClr val="tx1"/>
                </a:solidFill>
                <a:effectLst/>
                <a:latin typeface="微软雅黑" panose="020B0503020204020204" charset="-122"/>
                <a:ea typeface="微软雅黑" panose="020B0503020204020204" charset="-122"/>
                <a:cs typeface="+mn-cs"/>
              </a:rPr>
              <a:t>“学习如何优化（Learning to Learn）”</a:t>
            </a:r>
            <a:endParaRPr lang="en-US" altLang="zh-CN" sz="1600" b="1" i="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b="1" i="0" kern="1200">
              <a:solidFill>
                <a:schemeClr val="tx1"/>
              </a:solidFill>
              <a:effectLst/>
              <a:latin typeface="微软雅黑" panose="020B0503020204020204" charset="-122"/>
              <a:ea typeface="微软雅黑" panose="020B0503020204020204" charset="-122"/>
              <a:cs typeface="+mn-cs"/>
            </a:endParaRPr>
          </a:p>
          <a:p>
            <a:pPr algn="just"/>
            <a:r>
              <a:rPr lang="en-US" altLang="zh-CN" b="0" i="0">
                <a:solidFill>
                  <a:srgbClr val="000000"/>
                </a:solidFill>
                <a:effectLst/>
                <a:latin typeface="微软雅黑" panose="020B0503020204020204" charset="-122"/>
                <a:ea typeface="微软雅黑" panose="020B0503020204020204" charset="-122"/>
              </a:rPr>
              <a:t>VQA</a:t>
            </a:r>
            <a:r>
              <a:rPr lang="zh-CN" altLang="en-US" b="0" i="0" dirty="0">
                <a:solidFill>
                  <a:srgbClr val="000000"/>
                </a:solidFill>
                <a:effectLst/>
                <a:latin typeface="微软雅黑" panose="020B0503020204020204" charset="-122"/>
                <a:ea typeface="微软雅黑" panose="020B0503020204020204" charset="-122"/>
              </a:rPr>
              <a:t>方法的整体流程如图所示。该</a:t>
            </a:r>
            <a:r>
              <a:rPr lang="zh-CN" altLang="en-US" b="0" i="0">
                <a:solidFill>
                  <a:srgbClr val="000000"/>
                </a:solidFill>
                <a:effectLst/>
                <a:latin typeface="微软雅黑" panose="020B0503020204020204" charset="-122"/>
                <a:ea typeface="微软雅黑" panose="020B0503020204020204" charset="-122"/>
              </a:rPr>
              <a:t>方法分为来</a:t>
            </a:r>
            <a:r>
              <a:rPr lang="zh-CN" altLang="en-US" b="0" i="0" dirty="0">
                <a:solidFill>
                  <a:srgbClr val="000000"/>
                </a:solidFill>
                <a:effectLst/>
                <a:latin typeface="微软雅黑" panose="020B0503020204020204" charset="-122"/>
                <a:ea typeface="微软雅黑" panose="020B0503020204020204" charset="-122"/>
              </a:rPr>
              <a:t>实现</a:t>
            </a:r>
            <a:r>
              <a:rPr lang="en-US" altLang="zh-CN" b="0" i="0">
                <a:solidFill>
                  <a:srgbClr val="000000"/>
                </a:solidFill>
                <a:effectLst/>
                <a:latin typeface="微软雅黑" panose="020B0503020204020204" charset="-122"/>
                <a:ea typeface="微软雅黑" panose="020B0503020204020204" charset="-122"/>
              </a:rPr>
              <a:t>VQA</a:t>
            </a:r>
            <a:r>
              <a:rPr lang="zh-CN" altLang="en-US" b="0" i="0">
                <a:solidFill>
                  <a:srgbClr val="000000"/>
                </a:solidFill>
                <a:effectLst/>
                <a:latin typeface="微软雅黑" panose="020B0503020204020204" charset="-122"/>
                <a:ea typeface="微软雅黑" panose="020B0503020204020204" charset="-122"/>
              </a:rPr>
              <a:t>，量子态初始化、评估量子</a:t>
            </a:r>
            <a:r>
              <a:rPr lang="en-US" altLang="zh-CN" b="0" i="0">
                <a:solidFill>
                  <a:srgbClr val="000000"/>
                </a:solidFill>
                <a:effectLst/>
                <a:latin typeface="微软雅黑" panose="020B0503020204020204" charset="-122"/>
                <a:ea typeface="微软雅黑" panose="020B0503020204020204" charset="-122"/>
              </a:rPr>
              <a:t>PQC</a:t>
            </a:r>
            <a:r>
              <a:rPr lang="zh-CN" altLang="en-US" b="0" i="0">
                <a:solidFill>
                  <a:srgbClr val="000000"/>
                </a:solidFill>
                <a:effectLst/>
                <a:latin typeface="微软雅黑" panose="020B0503020204020204" charset="-122"/>
                <a:ea typeface="微软雅黑" panose="020B0503020204020204" charset="-122"/>
              </a:rPr>
              <a:t>电路</a:t>
            </a:r>
            <a:r>
              <a:rPr lang="zh-CN" altLang="en-US" b="0" i="0" dirty="0">
                <a:solidFill>
                  <a:srgbClr val="000000"/>
                </a:solidFill>
                <a:effectLst/>
                <a:latin typeface="微软雅黑" panose="020B0503020204020204" charset="-122"/>
                <a:ea typeface="微软雅黑" panose="020B0503020204020204" charset="-122"/>
              </a:rPr>
              <a:t>和</a:t>
            </a:r>
            <a:r>
              <a:rPr lang="zh-CN" altLang="en-US" b="0" i="0">
                <a:solidFill>
                  <a:srgbClr val="000000"/>
                </a:solidFill>
                <a:effectLst/>
                <a:latin typeface="微软雅黑" panose="020B0503020204020204" charset="-122"/>
                <a:ea typeface="微软雅黑" panose="020B0503020204020204" charset="-122"/>
              </a:rPr>
              <a:t>梯度计算三个阶段实现。</a:t>
            </a:r>
            <a:r>
              <a:rPr lang="zh-CN" altLang="en-US" b="0" i="0" dirty="0">
                <a:solidFill>
                  <a:srgbClr val="000000"/>
                </a:solidFill>
                <a:effectLst/>
                <a:latin typeface="微软雅黑" panose="020B0503020204020204" charset="-122"/>
                <a:ea typeface="微软雅黑" panose="020B0503020204020204" charset="-122"/>
              </a:rPr>
              <a:t>通过多次迭代优化变分电路参数以获得期望值，是一种可以不提供先验知识的迭代方法。</a:t>
            </a:r>
            <a:endParaRPr lang="en-US" altLang="zh-CN" b="0" i="0" dirty="0">
              <a:solidFill>
                <a:srgbClr val="000000"/>
              </a:solidFill>
              <a:effectLst/>
              <a:latin typeface="微软雅黑" panose="020B0503020204020204" charset="-122"/>
              <a:ea typeface="微软雅黑" panose="020B0503020204020204" charset="-122"/>
            </a:endParaRPr>
          </a:p>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28" name="灯片编号占位符 3"/>
          <p:cNvSpPr>
            <a:spLocks noGrp="1"/>
          </p:cNvSpPr>
          <p:nvPr>
            <p:ph type="sldNum" sz="quarter" idx="10"/>
          </p:nvPr>
        </p:nvSpPr>
        <p:spPr/>
        <p:txBody>
          <a:bodyPr/>
          <a:lstStyle/>
          <a:p>
            <a:fld id="{677A2CBA-E486-4DC8-8696-C7854B0A28F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6" name="幻灯片图像占位符 1"/>
          <p:cNvSpPr>
            <a:spLocks noGrp="1" noRot="1" noChangeAspect="1"/>
          </p:cNvSpPr>
          <p:nvPr>
            <p:ph type="sldImg"/>
          </p:nvPr>
        </p:nvSpPr>
        <p:spPr>
          <a:xfrm>
            <a:off x="685800" y="1143000"/>
            <a:ext cx="5486400" cy="3086100"/>
          </a:xfrm>
        </p:spPr>
      </p:sp>
      <p:sp>
        <p:nvSpPr>
          <p:cNvPr id="1048837" name="备注占位符 2"/>
          <p:cNvSpPr>
            <a:spLocks noGrp="1"/>
          </p:cNvSpPr>
          <p:nvPr>
            <p:ph type="body" idx="1"/>
          </p:nvPr>
        </p:nvSpPr>
        <p:spPr/>
        <p:txBody>
          <a:bodyPr/>
          <a:lstStyle/>
          <a:p>
            <a:pPr algn="just"/>
            <a:r>
              <a:rPr lang="zh-CN" altLang="en-US" b="0" i="0">
                <a:solidFill>
                  <a:srgbClr val="000000"/>
                </a:solidFill>
                <a:effectLst/>
                <a:latin typeface="微软雅黑" panose="020B0503020204020204" charset="-122"/>
                <a:ea typeface="微软雅黑" panose="020B0503020204020204" charset="-122"/>
              </a:rPr>
              <a:t>这里就是针对长时数据特征</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38" name="灯片编号占位符 3"/>
          <p:cNvSpPr>
            <a:spLocks noGrp="1"/>
          </p:cNvSpPr>
          <p:nvPr>
            <p:ph type="sldNum" sz="quarter" idx="10"/>
          </p:nvPr>
        </p:nvSpPr>
        <p:spPr/>
        <p:txBody>
          <a:bodyPr/>
          <a:lstStyle/>
          <a:p>
            <a:fld id="{677A2CBA-E486-4DC8-8696-C7854B0A28F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8"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8849"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参数平移法利用量子门对参数的三角函数依赖性，通过在参数上施加固定偏移（通常为 </a:t>
                </a:r>
                <a14:m>
                  <m:oMath xmlns:m="http://schemas.openxmlformats.org/officeDocument/2006/math">
                    <m:r>
                      <a:rPr lang="en-US" altLang="zh-CN" sz="160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𝜋</m:t>
                    </m:r>
                    <m:r>
                      <a:rPr lang="en-US" altLang="zh-CN" sz="1600" i="0" kern="1200">
                        <a:solidFill>
                          <a:schemeClr val="tx1"/>
                        </a:solidFill>
                        <a:latin typeface="Cambria Math" panose="02040503050406030204" pitchFamily="18" charset="0"/>
                        <a:ea typeface="微软雅黑" panose="020B0503020204020204" charset="-122"/>
                        <a:cs typeface="+mn-cs"/>
                      </a:rPr>
                      <m:t>/2</m:t>
                    </m:r>
                  </m:oMath>
                </a14:m>
                <a:r>
                  <a:rPr lang="zh-CN" altLang="zh-CN" sz="1600" b="0" i="0" kern="1200">
                    <a:solidFill>
                      <a:schemeClr val="tx1"/>
                    </a:solidFill>
                    <a:effectLst/>
                    <a:latin typeface="微软雅黑" panose="020B0503020204020204" charset="-122"/>
                    <a:ea typeface="微软雅黑" panose="020B0503020204020204" charset="-122"/>
                    <a:cs typeface="+mn-cs"/>
                  </a:rPr>
                  <a:t>），从期望值的变化中精确提取导数。它不需要辅助量子比特，也不需要受控操作，因此非常适合在 NISQ 设备上实现。</a:t>
                </a:r>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r>
                  <a:rPr lang="zh-CN" altLang="zh-CN" sz="1600" b="0" i="0" kern="1200">
                    <a:solidFill>
                      <a:schemeClr val="tx1"/>
                    </a:solidFill>
                    <a:effectLst/>
                    <a:latin typeface="微软雅黑" panose="020B0503020204020204" charset="-122"/>
                    <a:ea typeface="微软雅黑" panose="020B0503020204020204" charset="-122"/>
                    <a:cs typeface="+mn-cs"/>
                  </a:rPr>
                  <a:t>为了减少电路评估次数，可以引入一个辅助量子比特，通过受控操作将梯度信息编码到辅助比特的测量结果中。这种方法通常称为 </a:t>
                </a:r>
                <a:r>
                  <a:rPr lang="zh-CN" altLang="zh-CN" sz="1600" b="1" i="0" kern="1200">
                    <a:solidFill>
                      <a:schemeClr val="tx1"/>
                    </a:solidFill>
                    <a:effectLst/>
                    <a:latin typeface="微软雅黑" panose="020B0503020204020204" charset="-122"/>
                    <a:ea typeface="微软雅黑" panose="020B0503020204020204" charset="-122"/>
                    <a:cs typeface="+mn-cs"/>
                  </a:rPr>
                  <a:t>Hadamard test</a:t>
                </a:r>
                <a:r>
                  <a:rPr lang="zh-CN" altLang="zh-CN" sz="1600" b="0" i="0" kern="1200">
                    <a:solidFill>
                      <a:schemeClr val="tx1"/>
                    </a:solidFill>
                    <a:effectLst/>
                    <a:latin typeface="微软雅黑" panose="020B0503020204020204" charset="-122"/>
                    <a:ea typeface="微软雅黑" panose="020B0503020204020204" charset="-122"/>
                    <a:cs typeface="+mn-cs"/>
                  </a:rPr>
                  <a:t> 或 </a:t>
                </a:r>
                <a:r>
                  <a:rPr lang="zh-CN" altLang="zh-CN" sz="1600" b="1" i="0" kern="1200">
                    <a:solidFill>
                      <a:schemeClr val="tx1"/>
                    </a:solidFill>
                    <a:effectLst/>
                    <a:latin typeface="微软雅黑" panose="020B0503020204020204" charset="-122"/>
                    <a:ea typeface="微软雅黑" panose="020B0503020204020204" charset="-122"/>
                    <a:cs typeface="+mn-cs"/>
                  </a:rPr>
                  <a:t>辅助比特法</a:t>
                </a:r>
                <a:r>
                  <a:rPr lang="zh-CN" altLang="zh-CN" sz="1600" b="0" i="0" kern="1200">
                    <a:solidFill>
                      <a:schemeClr val="tx1"/>
                    </a:solidFill>
                    <a:effectLst/>
                    <a:latin typeface="微软雅黑" panose="020B0503020204020204" charset="-122"/>
                    <a:ea typeface="微软雅黑" panose="020B0503020204020204" charset="-122"/>
                    <a:cs typeface="+mn-cs"/>
                  </a:rPr>
                  <a:t>。它可以在一次电路运行中同时估计梯度，但需要额外的辅助比特和受控门。</a:t>
                </a:r>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r>
                  <a:rPr lang="zh-CN" altLang="en-US" b="0" i="0">
                    <a:effectLst/>
                    <a:latin typeface="-apple-system"/>
                  </a:rPr>
                  <a:t>用</a:t>
                </a:r>
                <a:r>
                  <a:rPr lang="zh-CN" altLang="en-US" b="0" i="0" dirty="0">
                    <a:effectLst/>
                    <a:latin typeface="-apple-system"/>
                  </a:rPr>
                  <a:t>于描述量子变分算法（</a:t>
                </a:r>
                <a:r>
                  <a:rPr lang="en-US" altLang="zh-CN" b="0" i="0" dirty="0">
                    <a:effectLst/>
                    <a:latin typeface="-apple-system"/>
                  </a:rPr>
                  <a:t>VQA</a:t>
                </a:r>
                <a:r>
                  <a:rPr lang="zh-CN" altLang="en-US" b="0" i="0" dirty="0">
                    <a:effectLst/>
                    <a:latin typeface="-apple-system"/>
                  </a:rPr>
                  <a:t>）中的梯度计算和参数更新过程，特别是引入了随机梯度下降和自适应学习率方法。</a:t>
                </a:r>
                <a:endParaRPr lang="en-US" altLang="zh-CN" b="0" i="0" dirty="0">
                  <a:effectLst/>
                  <a:latin typeface="-apple-system"/>
                </a:endParaRPr>
              </a:p>
              <a:p>
                <a:pPr algn="l" fontAlgn="base">
                  <a:lnSpc>
                    <a:spcPts val="1950"/>
                  </a:lnSpc>
                  <a:spcAft>
                    <a:spcPts val="900"/>
                  </a:spcAft>
                  <a:buFont typeface="Arial" panose="020B0604020202020204" pitchFamily="34" charset="0"/>
                  <a:buNone/>
                </a:pPr>
                <a:r>
                  <a:rPr lang="zh-CN" altLang="en-US" b="0" i="0" dirty="0">
                    <a:effectLst/>
                    <a:latin typeface="-apple-system"/>
                  </a:rPr>
                  <a:t>公式</a:t>
                </a:r>
                <a:r>
                  <a:rPr lang="en-US" altLang="zh-CN" b="0" i="0" dirty="0">
                    <a:effectLst/>
                    <a:latin typeface="-apple-system"/>
                  </a:rPr>
                  <a:t>14</a:t>
                </a:r>
                <a:r>
                  <a:rPr lang="zh-CN" altLang="en-US" b="0" i="0" dirty="0">
                    <a:effectLst/>
                    <a:latin typeface="-apple-system"/>
                  </a:rPr>
                  <a:t>是参数化量子电路的分析梯度公式。它通过在参数 </a:t>
                </a:r>
                <a:r>
                  <a:rPr lang="en-US" altLang="zh-CN" b="0" i="1" dirty="0">
                    <a:effectLst/>
                    <a:latin typeface="KaTeX_Math"/>
                  </a:rPr>
                  <a:t>θ</a:t>
                </a:r>
                <a:r>
                  <a:rPr lang="zh-CN" altLang="en-US" b="0" i="0" dirty="0">
                    <a:effectLst/>
                    <a:latin typeface="-apple-system"/>
                  </a:rPr>
                  <a:t> 的两个偏移点处评估哈密顿量的期望值来计算梯度。这个方法虽然可以直接计算梯度，但是计算成本较大。因此通过引入辅助量子比特来间接测量梯度。式</a:t>
                </a:r>
                <a:r>
                  <a:rPr lang="en-US" altLang="zh-CN" b="0" i="0" dirty="0">
                    <a:effectLst/>
                    <a:latin typeface="-apple-system"/>
                  </a:rPr>
                  <a:t>(16)</a:t>
                </a:r>
                <a:r>
                  <a:rPr lang="zh-CN" altLang="en-US" b="0" i="0" dirty="0">
                    <a:effectLst/>
                    <a:latin typeface="inherit"/>
                  </a:rPr>
                  <a:t>通过随机选择生成器中每个项的系数 </a:t>
                </a:r>
                <a:r>
                  <a:rPr lang="en-US" altLang="zh-CN" b="0" i="1" dirty="0" err="1">
                    <a:effectLst/>
                    <a:latin typeface="KaTeX_Math"/>
                  </a:rPr>
                  <a:t>γk</a:t>
                </a:r>
                <a:r>
                  <a:rPr lang="zh-CN" altLang="en-US" b="0" i="0" dirty="0">
                    <a:effectLst/>
                    <a:latin typeface="inherit"/>
                  </a:rPr>
                  <a:t>​ 来估计梯度。</a:t>
                </a:r>
              </a:p>
              <a:p>
                <a:pPr>
                  <a:buNone/>
                </a:pPr>
                <a:br>
                  <a:rPr lang="zh-CN" altLang="en-US" dirty="0"/>
                </a:br>
                <a:endParaRPr lang="zh-CN" altLang="en-US" b="0" i="0" dirty="0">
                  <a:solidFill>
                    <a:srgbClr val="000000"/>
                  </a:solidFill>
                  <a:effectLst/>
                  <a:latin typeface="微软雅黑" panose="020B0503020204020204" charset="-122"/>
                  <a:ea typeface="微软雅黑" panose="020B0503020204020204" charset="-122"/>
                </a:endParaRPr>
              </a:p>
            </p:txBody>
          </p:sp>
        </mc:Choice>
        <mc:Fallback xmlns="">
          <p:sp>
            <p:nvSpPr>
              <p:cNvPr id="1048849"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参数平移法利用量子门对参数的三角函数依赖性，通过在参数上施加固定偏移（通常为 </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𝜋</a:t>
                </a:r>
                <a:r>
                  <a:rPr lang="en-US" altLang="zh-CN" sz="1600" i="0" kern="1200">
                    <a:solidFill>
                      <a:schemeClr val="tx1"/>
                    </a:solidFill>
                    <a:latin typeface="微软雅黑" panose="020B0503020204020204" charset="-122"/>
                    <a:ea typeface="微软雅黑" panose="020B0503020204020204" charset="-122"/>
                    <a:cs typeface="+mn-cs"/>
                  </a:rPr>
                  <a:t>/2</a:t>
                </a:r>
                <a:r>
                  <a:rPr lang="zh-CN" altLang="zh-CN" sz="1600" b="0" i="0" kern="1200">
                    <a:solidFill>
                      <a:schemeClr val="tx1"/>
                    </a:solidFill>
                    <a:effectLst/>
                    <a:latin typeface="微软雅黑" panose="020B0503020204020204" charset="-122"/>
                    <a:ea typeface="微软雅黑" panose="020B0503020204020204" charset="-122"/>
                    <a:cs typeface="+mn-cs"/>
                  </a:rPr>
                  <a:t>），从期望值的变化中精确提取导数。它不需要辅助量子比特，也不需要受控操作，因此非常适合在 NISQ 设备上实现。</a:t>
                </a:r>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b="0" i="0" kern="1200">
                  <a:solidFill>
                    <a:schemeClr val="tx1"/>
                  </a:solidFill>
                  <a:effectLst/>
                  <a:latin typeface="微软雅黑" panose="020B0503020204020204" charset="-122"/>
                  <a:ea typeface="微软雅黑" panose="020B0503020204020204" charset="-122"/>
                  <a:cs typeface="+mn-cs"/>
                </a:endParaRPr>
              </a:p>
              <a:p>
                <a:pPr algn="just"/>
                <a:r>
                  <a:rPr lang="zh-CN" altLang="zh-CN" sz="1600" b="0" i="0" kern="1200">
                    <a:solidFill>
                      <a:schemeClr val="tx1"/>
                    </a:solidFill>
                    <a:effectLst/>
                    <a:latin typeface="微软雅黑" panose="020B0503020204020204" charset="-122"/>
                    <a:ea typeface="微软雅黑" panose="020B0503020204020204" charset="-122"/>
                    <a:cs typeface="+mn-cs"/>
                  </a:rPr>
                  <a:t>为了减少电路评估次数，可以引入一个辅助量子比特，通过受控操作将梯度信息编码到辅助比特的测量结果中。这种方法通常称为 </a:t>
                </a:r>
                <a:r>
                  <a:rPr lang="zh-CN" altLang="zh-CN" sz="1600" b="1" i="0" kern="1200">
                    <a:solidFill>
                      <a:schemeClr val="tx1"/>
                    </a:solidFill>
                    <a:effectLst/>
                    <a:latin typeface="微软雅黑" panose="020B0503020204020204" charset="-122"/>
                    <a:ea typeface="微软雅黑" panose="020B0503020204020204" charset="-122"/>
                    <a:cs typeface="+mn-cs"/>
                  </a:rPr>
                  <a:t>Hadamard test</a:t>
                </a:r>
                <a:r>
                  <a:rPr lang="zh-CN" altLang="zh-CN" sz="1600" b="0" i="0" kern="1200">
                    <a:solidFill>
                      <a:schemeClr val="tx1"/>
                    </a:solidFill>
                    <a:effectLst/>
                    <a:latin typeface="微软雅黑" panose="020B0503020204020204" charset="-122"/>
                    <a:ea typeface="微软雅黑" panose="020B0503020204020204" charset="-122"/>
                    <a:cs typeface="+mn-cs"/>
                  </a:rPr>
                  <a:t> 或 </a:t>
                </a:r>
                <a:r>
                  <a:rPr lang="zh-CN" altLang="zh-CN" sz="1600" b="1" i="0" kern="1200">
                    <a:solidFill>
                      <a:schemeClr val="tx1"/>
                    </a:solidFill>
                    <a:effectLst/>
                    <a:latin typeface="微软雅黑" panose="020B0503020204020204" charset="-122"/>
                    <a:ea typeface="微软雅黑" panose="020B0503020204020204" charset="-122"/>
                    <a:cs typeface="+mn-cs"/>
                  </a:rPr>
                  <a:t>辅助比特法</a:t>
                </a:r>
                <a:r>
                  <a:rPr lang="zh-CN" altLang="zh-CN" sz="1600" b="0" i="0" kern="1200">
                    <a:solidFill>
                      <a:schemeClr val="tx1"/>
                    </a:solidFill>
                    <a:effectLst/>
                    <a:latin typeface="微软雅黑" panose="020B0503020204020204" charset="-122"/>
                    <a:ea typeface="微软雅黑" panose="020B0503020204020204" charset="-122"/>
                    <a:cs typeface="+mn-cs"/>
                  </a:rPr>
                  <a:t>。它可以在一次电路运行中同时估计梯度，但需要额外的辅助比特和受控门。</a:t>
                </a:r>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endParaRPr lang="en-US" altLang="zh-CN" b="0" i="0">
                  <a:effectLst/>
                  <a:latin typeface="-apple-system"/>
                </a:endParaRPr>
              </a:p>
              <a:p>
                <a:pPr algn="just"/>
                <a:r>
                  <a:rPr lang="zh-CN" altLang="en-US" b="0" i="0">
                    <a:effectLst/>
                    <a:latin typeface="-apple-system"/>
                  </a:rPr>
                  <a:t>用</a:t>
                </a:r>
                <a:r>
                  <a:rPr lang="zh-CN" altLang="en-US" b="0" i="0" dirty="0">
                    <a:effectLst/>
                    <a:latin typeface="-apple-system"/>
                  </a:rPr>
                  <a:t>于描述量子变分算法（</a:t>
                </a:r>
                <a:r>
                  <a:rPr lang="en-US" altLang="zh-CN" b="0" i="0" dirty="0">
                    <a:effectLst/>
                    <a:latin typeface="-apple-system"/>
                  </a:rPr>
                  <a:t>VQA</a:t>
                </a:r>
                <a:r>
                  <a:rPr lang="zh-CN" altLang="en-US" b="0" i="0" dirty="0">
                    <a:effectLst/>
                    <a:latin typeface="-apple-system"/>
                  </a:rPr>
                  <a:t>）中的梯度计算和参数更新过程，特别是引入了随机梯度下降和自适应学习率方法。</a:t>
                </a:r>
                <a:endParaRPr lang="en-US" altLang="zh-CN" b="0" i="0" dirty="0">
                  <a:effectLst/>
                  <a:latin typeface="-apple-system"/>
                </a:endParaRPr>
              </a:p>
              <a:p>
                <a:pPr algn="l" fontAlgn="base">
                  <a:lnSpc>
                    <a:spcPts val="1950"/>
                  </a:lnSpc>
                  <a:spcAft>
                    <a:spcPts val="900"/>
                  </a:spcAft>
                  <a:buFont typeface="Arial" panose="020B0604020202020204" pitchFamily="34" charset="0"/>
                  <a:buNone/>
                </a:pPr>
                <a:r>
                  <a:rPr lang="zh-CN" altLang="en-US" b="0" i="0" dirty="0">
                    <a:effectLst/>
                    <a:latin typeface="-apple-system"/>
                  </a:rPr>
                  <a:t>公式</a:t>
                </a:r>
                <a:r>
                  <a:rPr lang="en-US" altLang="zh-CN" b="0" i="0" dirty="0">
                    <a:effectLst/>
                    <a:latin typeface="-apple-system"/>
                  </a:rPr>
                  <a:t>14</a:t>
                </a:r>
                <a:r>
                  <a:rPr lang="zh-CN" altLang="en-US" b="0" i="0" dirty="0">
                    <a:effectLst/>
                    <a:latin typeface="-apple-system"/>
                  </a:rPr>
                  <a:t>是参数化量子电路的分析梯度公式。它通过在参数 </a:t>
                </a:r>
                <a:r>
                  <a:rPr lang="en-US" altLang="zh-CN" b="0" i="1" dirty="0">
                    <a:effectLst/>
                    <a:latin typeface="KaTeX_Math"/>
                  </a:rPr>
                  <a:t>θ</a:t>
                </a:r>
                <a:r>
                  <a:rPr lang="zh-CN" altLang="en-US" b="0" i="0" dirty="0">
                    <a:effectLst/>
                    <a:latin typeface="-apple-system"/>
                  </a:rPr>
                  <a:t> 的两个偏移点处评估哈密顿量的期望值来计算梯度。这个方法虽然可以直接计算梯度，但是计算成本较大。因此通过引入辅助量子比特来间接测量梯度。式</a:t>
                </a:r>
                <a:r>
                  <a:rPr lang="en-US" altLang="zh-CN" b="0" i="0" dirty="0">
                    <a:effectLst/>
                    <a:latin typeface="-apple-system"/>
                  </a:rPr>
                  <a:t>(16)</a:t>
                </a:r>
                <a:r>
                  <a:rPr lang="zh-CN" altLang="en-US" b="0" i="0" dirty="0">
                    <a:effectLst/>
                    <a:latin typeface="inherit"/>
                  </a:rPr>
                  <a:t>通过随机选择生成器中每个项的系数 </a:t>
                </a:r>
                <a:r>
                  <a:rPr lang="en-US" altLang="zh-CN" b="0" i="1" dirty="0" err="1">
                    <a:effectLst/>
                    <a:latin typeface="KaTeX_Math"/>
                  </a:rPr>
                  <a:t>γk</a:t>
                </a:r>
                <a:r>
                  <a:rPr lang="zh-CN" altLang="en-US" b="0" i="0" dirty="0">
                    <a:effectLst/>
                    <a:latin typeface="inherit"/>
                  </a:rPr>
                  <a:t>​ 来估计梯度。</a:t>
                </a:r>
              </a:p>
              <a:p>
                <a:pPr>
                  <a:buNone/>
                </a:pPr>
                <a:br>
                  <a:rPr lang="zh-CN" altLang="en-US" dirty="0"/>
                </a:br>
                <a:endParaRPr lang="zh-CN" altLang="en-US" b="0" i="0" dirty="0">
                  <a:solidFill>
                    <a:srgbClr val="000000"/>
                  </a:solidFill>
                  <a:effectLst/>
                  <a:latin typeface="微软雅黑" panose="020B0503020204020204" charset="-122"/>
                  <a:ea typeface="微软雅黑" panose="020B0503020204020204" charset="-122"/>
                </a:endParaRPr>
              </a:p>
            </p:txBody>
          </p:sp>
        </mc:Fallback>
      </mc:AlternateContent>
      <p:sp>
        <p:nvSpPr>
          <p:cNvPr id="1048850" name="灯片编号占位符 3"/>
          <p:cNvSpPr>
            <a:spLocks noGrp="1"/>
          </p:cNvSpPr>
          <p:nvPr>
            <p:ph type="sldNum" sz="quarter" idx="10"/>
          </p:nvPr>
        </p:nvSpPr>
        <p:spPr/>
        <p:txBody>
          <a:bodyPr/>
          <a:lstStyle/>
          <a:p>
            <a:fld id="{677A2CBA-E486-4DC8-8696-C7854B0A28F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幻灯片图像占位符 1"/>
          <p:cNvSpPr>
            <a:spLocks noGrp="1" noRot="1" noChangeAspect="1"/>
          </p:cNvSpPr>
          <p:nvPr>
            <p:ph type="sldImg"/>
          </p:nvPr>
        </p:nvSpPr>
        <p:spPr>
          <a:xfrm>
            <a:off x="685800" y="1143000"/>
            <a:ext cx="5486400" cy="3086100"/>
          </a:xfrm>
        </p:spPr>
      </p:sp>
      <p:sp>
        <p:nvSpPr>
          <p:cNvPr id="1048860" name="备注占位符 2"/>
          <p:cNvSpPr>
            <a:spLocks noGrp="1"/>
          </p:cNvSpPr>
          <p:nvPr>
            <p:ph type="body" idx="1"/>
          </p:nvPr>
        </p:nvSpPr>
        <p:spPr/>
        <p:txBody>
          <a:bodyPr/>
          <a:lstStyle/>
          <a:p>
            <a:pPr algn="just"/>
            <a:r>
              <a:rPr lang="zh-CN" altLang="en-US" b="0" i="0" dirty="0">
                <a:effectLst/>
                <a:latin typeface="-apple-system"/>
              </a:rPr>
              <a:t>它结合了动量（</a:t>
            </a:r>
            <a:r>
              <a:rPr lang="en-US" altLang="zh-CN" b="0" i="0" dirty="0">
                <a:effectLst/>
                <a:latin typeface="-apple-system"/>
              </a:rPr>
              <a:t>momentum</a:t>
            </a:r>
            <a:r>
              <a:rPr lang="zh-CN" altLang="en-US" b="0" i="0" dirty="0">
                <a:effectLst/>
                <a:latin typeface="-apple-system"/>
              </a:rPr>
              <a:t>）和自适应矩估计（</a:t>
            </a:r>
            <a:r>
              <a:rPr lang="en-US" altLang="zh-CN" b="0" i="0" dirty="0">
                <a:effectLst/>
                <a:latin typeface="-apple-system"/>
              </a:rPr>
              <a:t>Adam</a:t>
            </a:r>
            <a:r>
              <a:rPr lang="zh-CN" altLang="en-US" b="0" i="0" dirty="0">
                <a:effectLst/>
                <a:latin typeface="-apple-system"/>
              </a:rPr>
              <a:t>）方法来自适应更新学习率。自适应学习率可以根据梯度的大小自动调整学习率，从而加速收敛并避免过冲。公式中的</a:t>
            </a:r>
            <a:r>
              <a:rPr lang="en-US" altLang="zh-CN" b="0" i="1" dirty="0" err="1">
                <a:effectLst/>
                <a:latin typeface="KaTeX_Math"/>
              </a:rPr>
              <a:t>v</a:t>
            </a:r>
            <a:r>
              <a:rPr lang="en-US" altLang="zh-CN" b="0" i="0" dirty="0" err="1">
                <a:effectLst/>
                <a:latin typeface="KaTeX_Main"/>
              </a:rPr>
              <a:t>^</a:t>
            </a:r>
            <a:r>
              <a:rPr lang="en-US" altLang="zh-CN" b="0" i="1" dirty="0" err="1">
                <a:effectLst/>
                <a:latin typeface="KaTeX_Math"/>
              </a:rPr>
              <a:t>t</a:t>
            </a:r>
            <a:r>
              <a:rPr lang="en-US" altLang="zh-CN" b="0" i="0" dirty="0">
                <a:effectLst/>
                <a:latin typeface="inherit"/>
              </a:rPr>
              <a:t>​</a:t>
            </a:r>
            <a:r>
              <a:rPr lang="en-US" altLang="zh-CN" b="0" i="0" dirty="0">
                <a:effectLst/>
                <a:latin typeface="-apple-system"/>
              </a:rPr>
              <a:t> </a:t>
            </a:r>
            <a:r>
              <a:rPr lang="zh-CN" altLang="en-US" b="0" i="0" dirty="0">
                <a:effectLst/>
                <a:latin typeface="-apple-system"/>
              </a:rPr>
              <a:t>是梯度平方的指数衰减平均值，用于调整学习率；</a:t>
            </a:r>
            <a:r>
              <a:rPr lang="en-US" altLang="zh-CN" b="0" i="1" dirty="0" err="1">
                <a:effectLst/>
                <a:latin typeface="KaTeX_Math"/>
              </a:rPr>
              <a:t>m</a:t>
            </a:r>
            <a:r>
              <a:rPr lang="en-US" altLang="zh-CN" b="0" i="0" dirty="0" err="1">
                <a:effectLst/>
                <a:latin typeface="KaTeX_Main"/>
              </a:rPr>
              <a:t>^</a:t>
            </a:r>
            <a:r>
              <a:rPr lang="en-US" altLang="zh-CN" b="0" i="1" dirty="0" err="1">
                <a:effectLst/>
                <a:latin typeface="KaTeX_Math"/>
              </a:rPr>
              <a:t>t</a:t>
            </a:r>
            <a:r>
              <a:rPr lang="zh-CN" altLang="en-US" b="0" i="0" dirty="0">
                <a:effectLst/>
                <a:latin typeface="inherit"/>
              </a:rPr>
              <a:t>​</a:t>
            </a:r>
            <a:r>
              <a:rPr lang="zh-CN" altLang="en-US" b="0" i="0" dirty="0">
                <a:effectLst/>
                <a:latin typeface="-apple-system"/>
              </a:rPr>
              <a:t> 是梯度的指数衰减平均值，用于动量计算；</a:t>
            </a:r>
            <a:r>
              <a:rPr lang="en-US" altLang="zh-CN" b="0" i="1" dirty="0">
                <a:effectLst/>
                <a:latin typeface="KaTeX_Math"/>
              </a:rPr>
              <a:t>ϵ</a:t>
            </a:r>
            <a:r>
              <a:rPr lang="zh-CN" altLang="en-US" b="0" i="0" dirty="0">
                <a:effectLst/>
                <a:latin typeface="-apple-system"/>
              </a:rPr>
              <a:t> 是一个小的常数，用于数值稳定性。</a:t>
            </a:r>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61" name="灯片编号占位符 3"/>
          <p:cNvSpPr>
            <a:spLocks noGrp="1"/>
          </p:cNvSpPr>
          <p:nvPr>
            <p:ph type="sldNum" sz="quarter" idx="10"/>
          </p:nvPr>
        </p:nvSpPr>
        <p:spPr/>
        <p:txBody>
          <a:bodyPr/>
          <a:lstStyle/>
          <a:p>
            <a:fld id="{677A2CBA-E486-4DC8-8696-C7854B0A28F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8" name="幻灯片图像占位符 1"/>
          <p:cNvSpPr>
            <a:spLocks noGrp="1" noRot="1" noChangeAspect="1"/>
          </p:cNvSpPr>
          <p:nvPr>
            <p:ph type="sldImg"/>
          </p:nvPr>
        </p:nvSpPr>
        <p:spPr>
          <a:xfrm>
            <a:off x="685800" y="1143000"/>
            <a:ext cx="5486400" cy="3086100"/>
          </a:xfrm>
        </p:spPr>
      </p:sp>
      <p:sp>
        <p:nvSpPr>
          <p:cNvPr id="1048869" name="备注占位符 2"/>
          <p:cNvSpPr>
            <a:spLocks noGrp="1"/>
          </p:cNvSpPr>
          <p:nvPr>
            <p:ph type="body" idx="1"/>
          </p:nvPr>
        </p:nvSpPr>
        <p:spPr/>
        <p:txBody>
          <a:bodyPr/>
          <a:lstStyle/>
          <a:p>
            <a:pPr algn="just"/>
            <a:endParaRPr lang="zh-CN" altLang="en-US" b="0" i="0" dirty="0">
              <a:solidFill>
                <a:srgbClr val="000000"/>
              </a:solidFill>
              <a:effectLst/>
              <a:latin typeface="微软雅黑" panose="020B0503020204020204" charset="-122"/>
              <a:ea typeface="微软雅黑" panose="020B0503020204020204" charset="-122"/>
            </a:endParaRPr>
          </a:p>
        </p:txBody>
      </p:sp>
      <p:sp>
        <p:nvSpPr>
          <p:cNvPr id="1048870" name="灯片编号占位符 3"/>
          <p:cNvSpPr>
            <a:spLocks noGrp="1"/>
          </p:cNvSpPr>
          <p:nvPr>
            <p:ph type="sldNum" sz="quarter" idx="10"/>
          </p:nvPr>
        </p:nvSpPr>
        <p:spPr/>
        <p:txBody>
          <a:bodyPr/>
          <a:lstStyle/>
          <a:p>
            <a:fld id="{677A2CBA-E486-4DC8-8696-C7854B0A28F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4" name="幻灯片图像占位符 1"/>
          <p:cNvSpPr>
            <a:spLocks noGrp="1" noRot="1" noChangeAspect="1"/>
          </p:cNvSpPr>
          <p:nvPr>
            <p:ph type="sldImg"/>
          </p:nvPr>
        </p:nvSpPr>
        <p:spPr>
          <a:xfrm>
            <a:off x="685800" y="1143000"/>
            <a:ext cx="5486400" cy="3086100"/>
          </a:xfrm>
        </p:spPr>
      </p:sp>
      <p:sp>
        <p:nvSpPr>
          <p:cNvPr id="1048905" name="备注占位符 2"/>
          <p:cNvSpPr>
            <a:spLocks noGrp="1"/>
          </p:cNvSpPr>
          <p:nvPr>
            <p:ph type="body" idx="1"/>
          </p:nvPr>
        </p:nvSpPr>
        <p:spPr/>
        <p:txBody>
          <a:bodyPr/>
          <a:lstStyle/>
          <a:p>
            <a:endParaRPr lang="zh-CN" altLang="en-US" dirty="0"/>
          </a:p>
        </p:txBody>
      </p:sp>
      <p:sp>
        <p:nvSpPr>
          <p:cNvPr id="1048906" name="灯片编号占位符 3"/>
          <p:cNvSpPr>
            <a:spLocks noGrp="1"/>
          </p:cNvSpPr>
          <p:nvPr>
            <p:ph type="sldNum" sz="quarter" idx="10"/>
          </p:nvPr>
        </p:nvSpPr>
        <p:spPr/>
        <p:txBody>
          <a:bodyPr/>
          <a:lstStyle/>
          <a:p>
            <a:fld id="{677A2CBA-E486-4DC8-8696-C7854B0A28F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3" name="幻灯片图像占位符 1"/>
          <p:cNvSpPr>
            <a:spLocks noGrp="1" noRot="1" noChangeAspect="1"/>
          </p:cNvSpPr>
          <p:nvPr>
            <p:ph type="sldImg"/>
          </p:nvPr>
        </p:nvSpPr>
        <p:spPr>
          <a:xfrm>
            <a:off x="685800" y="1143000"/>
            <a:ext cx="5486400" cy="3086100"/>
          </a:xfrm>
        </p:spPr>
      </p:sp>
      <p:sp>
        <p:nvSpPr>
          <p:cNvPr id="1048914"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b="0" i="0" kern="1200">
                <a:solidFill>
                  <a:schemeClr val="tx1"/>
                </a:solidFill>
                <a:effectLst/>
                <a:latin typeface="微软雅黑" panose="020B0503020204020204" charset="-122"/>
                <a:ea typeface="微软雅黑" panose="020B0503020204020204" charset="-122"/>
                <a:cs typeface="+mn-cs"/>
              </a:rPr>
              <a:t>因为本文采用变分量子算法是采用哈珀模型，也就是哈珀模型是描述</a:t>
            </a:r>
            <a:r>
              <a:rPr lang="zh-CN" altLang="zh-CN" sz="1600" b="0" i="0" kern="1200">
                <a:solidFill>
                  <a:schemeClr val="tx1"/>
                </a:solidFill>
                <a:effectLst/>
                <a:latin typeface="微软雅黑" panose="020B0503020204020204" charset="-122"/>
                <a:ea typeface="微软雅黑" panose="020B0503020204020204" charset="-122"/>
                <a:cs typeface="+mn-cs"/>
              </a:rPr>
              <a:t>电子在晶格中的运动与相互作用</a:t>
            </a:r>
            <a:r>
              <a:rPr lang="zh-CN" altLang="en-US" sz="1600" b="0" i="0" kern="1200">
                <a:solidFill>
                  <a:schemeClr val="tx1"/>
                </a:solidFill>
                <a:effectLst/>
                <a:latin typeface="微软雅黑" panose="020B0503020204020204" charset="-122"/>
                <a:ea typeface="微软雅黑" panose="020B0503020204020204" charset="-122"/>
                <a:cs typeface="+mn-cs"/>
              </a:rPr>
              <a:t>，因此本文的验证思路选用不同电子的哈珀模型，证明所提算法在各种电子下均具有普适性。</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元学习器需要学习原子态目标能量，</a:t>
            </a:r>
            <a:r>
              <a:rPr lang="en-US" altLang="zh-CN" sz="1600" kern="1200">
                <a:solidFill>
                  <a:schemeClr val="tx1"/>
                </a:solidFill>
                <a:effectLst/>
                <a:latin typeface="微软雅黑" panose="020B0503020204020204" charset="-122"/>
                <a:ea typeface="微软雅黑" panose="020B0503020204020204" charset="-122"/>
                <a:cs typeface="+mn-cs"/>
              </a:rPr>
              <a:t>Energy</a:t>
            </a: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a:t>
            </a:r>
            <a:r>
              <a:rPr lang="en-US" altLang="zh-CN" sz="1600" kern="1200">
                <a:solidFill>
                  <a:schemeClr val="tx1"/>
                </a:solidFill>
                <a:effectLst/>
                <a:latin typeface="微软雅黑" panose="020B0503020204020204" charset="-122"/>
                <a:ea typeface="微软雅黑" panose="020B0503020204020204" charset="-122"/>
                <a:cs typeface="+mn-cs"/>
              </a:rPr>
              <a:t>1</a:t>
            </a:r>
            <a:r>
              <a:rPr lang="zh-CN" altLang="en-US" sz="1600" kern="1200">
                <a:solidFill>
                  <a:schemeClr val="tx1"/>
                </a:solidFill>
                <a:effectLst/>
                <a:latin typeface="微软雅黑" panose="020B0503020204020204" charset="-122"/>
                <a:ea typeface="微软雅黑" panose="020B0503020204020204" charset="-122"/>
                <a:cs typeface="+mn-cs"/>
              </a:rPr>
              <a:t>）分子氢</a:t>
            </a:r>
            <a:endParaRPr lang="en-US" altLang="zh-CN" sz="1600" kern="120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en-US" altLang="zh-CN" sz="1600" kern="120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能够学习随机曲线的基态能量。在此优化过程中，元学习器智能地学习修改算法的参数（或超参数），以计算出最优值。且，</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生成的电路角度在相同的测试集中更接近目标基态。学习</a:t>
            </a:r>
            <a:r>
              <a:rPr lang="en-US" altLang="zh-CN" sz="1600" kern="1200">
                <a:solidFill>
                  <a:schemeClr val="tx1"/>
                </a:solidFill>
                <a:effectLst/>
                <a:latin typeface="微软雅黑" panose="020B0503020204020204" charset="-122"/>
                <a:ea typeface="微软雅黑" panose="020B0503020204020204" charset="-122"/>
                <a:cs typeface="+mn-cs"/>
              </a:rPr>
              <a:t>RMSE</a:t>
            </a:r>
            <a:r>
              <a:rPr lang="zh-CN" altLang="en-US" sz="1600" kern="1200">
                <a:solidFill>
                  <a:schemeClr val="tx1"/>
                </a:solidFill>
                <a:effectLst/>
                <a:latin typeface="微软雅黑" panose="020B0503020204020204" charset="-122"/>
                <a:ea typeface="微软雅黑" panose="020B0503020204020204" charset="-122"/>
                <a:cs typeface="+mn-cs"/>
              </a:rPr>
              <a:t>也越小。</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8915"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23</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2" name="幻灯片图像占位符 1"/>
          <p:cNvSpPr>
            <a:spLocks noGrp="1" noRot="1" noChangeAspect="1"/>
          </p:cNvSpPr>
          <p:nvPr>
            <p:ph type="sldImg"/>
          </p:nvPr>
        </p:nvSpPr>
        <p:spPr>
          <a:xfrm>
            <a:off x="685800" y="1143000"/>
            <a:ext cx="5486400" cy="3086100"/>
          </a:xfrm>
        </p:spPr>
      </p:sp>
      <p:sp>
        <p:nvSpPr>
          <p:cNvPr id="1048923"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使用</a:t>
            </a:r>
            <a:r>
              <a:rPr lang="en-US" altLang="zh-CN" sz="1600" kern="1200" dirty="0" err="1">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学习不同键长的氢化锂信息。在两个图中，目标、测试集和</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分别用实线、虚线和点划线表示。</a:t>
            </a:r>
            <a:r>
              <a:rPr lang="en-US" altLang="zh-CN" sz="1600" kern="1200" dirty="0">
                <a:solidFill>
                  <a:schemeClr val="tx1"/>
                </a:solidFill>
                <a:effectLst/>
                <a:latin typeface="微软雅黑" panose="020B0503020204020204" charset="-122"/>
                <a:ea typeface="微软雅黑" panose="020B0503020204020204" charset="-122"/>
                <a:cs typeface="+mn-cs"/>
              </a:rPr>
              <a:t>(a)</a:t>
            </a:r>
            <a:r>
              <a:rPr lang="zh-CN" altLang="en-US" sz="1600" kern="1200" dirty="0">
                <a:solidFill>
                  <a:schemeClr val="tx1"/>
                </a:solidFill>
                <a:effectLst/>
                <a:latin typeface="微软雅黑" panose="020B0503020204020204" charset="-122"/>
                <a:ea typeface="微软雅黑" panose="020B0503020204020204" charset="-122"/>
                <a:cs typeface="+mn-cs"/>
              </a:rPr>
              <a:t>目标能量和优化结果对于</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a:t>
            </a:r>
            <a:r>
              <a:rPr lang="en-US" altLang="zh-CN" sz="1600" kern="1200" dirty="0">
                <a:solidFill>
                  <a:schemeClr val="tx1"/>
                </a:solidFill>
                <a:effectLst/>
                <a:latin typeface="微软雅黑" panose="020B0503020204020204" charset="-122"/>
                <a:ea typeface="微软雅黑" panose="020B0503020204020204" charset="-122"/>
                <a:cs typeface="+mn-cs"/>
              </a:rPr>
              <a:t>(b)</a:t>
            </a:r>
            <a:r>
              <a:rPr lang="zh-CN" altLang="en-US" sz="1600" kern="1200" dirty="0">
                <a:solidFill>
                  <a:schemeClr val="tx1"/>
                </a:solidFill>
                <a:effectLst/>
                <a:latin typeface="微软雅黑" panose="020B0503020204020204" charset="-122"/>
                <a:ea typeface="微软雅黑" panose="020B0503020204020204" charset="-122"/>
                <a:cs typeface="+mn-cs"/>
              </a:rPr>
              <a:t>两个变分参数之间的比例结果。我们可以看到，</a:t>
            </a:r>
            <a:r>
              <a:rPr lang="en-US" altLang="zh-CN" sz="1600" kern="1200" dirty="0">
                <a:solidFill>
                  <a:schemeClr val="tx1"/>
                </a:solidFill>
                <a:effectLst/>
                <a:latin typeface="微软雅黑" panose="020B0503020204020204" charset="-122"/>
                <a:ea typeface="微软雅黑" panose="020B0503020204020204" charset="-122"/>
                <a:cs typeface="+mn-cs"/>
              </a:rPr>
              <a:t>meta-VQA</a:t>
            </a:r>
            <a:r>
              <a:rPr lang="zh-CN" altLang="en-US" sz="1600" kern="1200" dirty="0">
                <a:solidFill>
                  <a:schemeClr val="tx1"/>
                </a:solidFill>
                <a:effectLst/>
                <a:latin typeface="微软雅黑" panose="020B0503020204020204" charset="-122"/>
                <a:ea typeface="微软雅黑" panose="020B0503020204020204" charset="-122"/>
                <a:cs typeface="+mn-cs"/>
              </a:rPr>
              <a:t>计算结果与目标参数一致。</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8924" name="灯片编号占位符 3"/>
          <p:cNvSpPr>
            <a:spLocks noGrp="1"/>
          </p:cNvSpPr>
          <p:nvPr>
            <p:ph type="sldNum" sz="quarter" idx="10"/>
          </p:nvPr>
        </p:nvSpPr>
        <p:spPr/>
        <p:txBody>
          <a:bodyPr/>
          <a:lstStyle/>
          <a:p>
            <a:fld id="{677A2CBA-E486-4DC8-8696-C7854B0A28F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3" name="幻灯片图像占位符 1"/>
          <p:cNvSpPr>
            <a:spLocks noGrp="1" noRot="1" noChangeAspect="1"/>
          </p:cNvSpPr>
          <p:nvPr>
            <p:ph type="sldImg"/>
          </p:nvPr>
        </p:nvSpPr>
        <p:spPr>
          <a:xfrm>
            <a:off x="685800" y="1143000"/>
            <a:ext cx="5486400" cy="3086100"/>
          </a:xfrm>
        </p:spPr>
      </p:sp>
      <p:sp>
        <p:nvSpPr>
          <p:cNvPr id="1048964" name="备注占位符 2"/>
          <p:cNvSpPr>
            <a:spLocks noGrp="1"/>
          </p:cNvSpPr>
          <p:nvPr>
            <p:ph type="body" idx="1"/>
          </p:nvPr>
        </p:nvSpPr>
        <p:spPr/>
        <p:txBody>
          <a:bodyPr/>
          <a:lstStyle/>
          <a:p>
            <a:endParaRPr lang="zh-CN" altLang="en-US" dirty="0"/>
          </a:p>
        </p:txBody>
      </p:sp>
      <p:sp>
        <p:nvSpPr>
          <p:cNvPr id="1048965" name="灯片编号占位符 3"/>
          <p:cNvSpPr>
            <a:spLocks noGrp="1"/>
          </p:cNvSpPr>
          <p:nvPr>
            <p:ph type="sldNum" sz="quarter" idx="10"/>
          </p:nvPr>
        </p:nvSpPr>
        <p:spPr/>
        <p:txBody>
          <a:bodyPr/>
          <a:lstStyle/>
          <a:p>
            <a:fld id="{677A2CBA-E486-4DC8-8696-C7854B0A28F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7" name="幻灯片图像占位符 1"/>
          <p:cNvSpPr>
            <a:spLocks noGrp="1" noRot="1" noChangeAspect="1"/>
          </p:cNvSpPr>
          <p:nvPr>
            <p:ph type="sldImg"/>
          </p:nvPr>
        </p:nvSpPr>
        <p:spPr>
          <a:xfrm>
            <a:off x="685800" y="1143000"/>
            <a:ext cx="5486400" cy="3086100"/>
          </a:xfrm>
        </p:spPr>
      </p:sp>
      <p:sp>
        <p:nvSpPr>
          <p:cNvPr id="1048978"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本文提出了元 </a:t>
            </a:r>
            <a:r>
              <a:rPr lang="en-US" altLang="zh-CN" sz="1600" kern="1200">
                <a:solidFill>
                  <a:schemeClr val="tx1"/>
                </a:solidFill>
                <a:effectLst/>
                <a:latin typeface="微软雅黑" panose="020B0503020204020204" charset="-122"/>
                <a:ea typeface="微软雅黑" panose="020B0503020204020204" charset="-122"/>
                <a:cs typeface="+mn-cs"/>
              </a:rPr>
              <a:t>VQA</a:t>
            </a:r>
            <a:r>
              <a:rPr lang="zh-CN" altLang="en-US" sz="1600" kern="1200">
                <a:solidFill>
                  <a:schemeClr val="tx1"/>
                </a:solidFill>
                <a:effectLst/>
                <a:latin typeface="微软雅黑" panose="020B0503020204020204" charset="-122"/>
                <a:ea typeface="微软雅黑" panose="020B0503020204020204" charset="-122"/>
                <a:cs typeface="+mn-cs"/>
              </a:rPr>
              <a:t>，它使用循环单元来辅助量子计算，并建立了一种权重共享方法。它有助于学习者更高效地找到参数优化</a:t>
            </a:r>
            <a:r>
              <a:rPr lang="en-US" altLang="zh-CN" sz="1600" kern="1200">
                <a:solidFill>
                  <a:schemeClr val="tx1"/>
                </a:solidFill>
                <a:effectLst/>
                <a:latin typeface="微软雅黑" panose="020B0503020204020204" charset="-122"/>
                <a:ea typeface="微软雅黑" panose="020B0503020204020204" charset="-122"/>
                <a:cs typeface="+mn-cs"/>
              </a:rPr>
              <a:t>·</a:t>
            </a:r>
            <a:r>
              <a:rPr lang="zh-CN" altLang="en-US" sz="1600" kern="1200">
                <a:solidFill>
                  <a:schemeClr val="tx1"/>
                </a:solidFill>
                <a:effectLst/>
                <a:latin typeface="微软雅黑" panose="020B0503020204020204" charset="-122"/>
                <a:ea typeface="微软雅黑" panose="020B0503020204020204" charset="-122"/>
                <a:cs typeface="+mn-cs"/>
              </a:rPr>
              <a:t>中的近似最优值。 并引入了量子随机梯度下降和自适应学习率方法来优化参数，减少了采样次数，加快了收敛速度。未来，我们将进一步研究</a:t>
            </a:r>
            <a:r>
              <a:rPr lang="en-US" altLang="zh-CN" sz="1600" kern="1200">
                <a:solidFill>
                  <a:schemeClr val="tx1"/>
                </a:solidFill>
                <a:effectLst/>
                <a:latin typeface="微软雅黑" panose="020B0503020204020204" charset="-122"/>
                <a:ea typeface="微软雅黑" panose="020B0503020204020204" charset="-122"/>
                <a:cs typeface="+mn-cs"/>
              </a:rPr>
              <a:t>meta-VQA</a:t>
            </a:r>
            <a:r>
              <a:rPr lang="zh-CN" altLang="en-US" sz="1600" kern="1200">
                <a:solidFill>
                  <a:schemeClr val="tx1"/>
                </a:solidFill>
                <a:effectLst/>
                <a:latin typeface="微软雅黑" panose="020B0503020204020204" charset="-122"/>
                <a:ea typeface="微软雅黑" panose="020B0503020204020204" charset="-122"/>
                <a:cs typeface="+mn-cs"/>
              </a:rPr>
              <a:t>分布式下的协同实现问题。</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8979" name="灯片编号占位符 3"/>
          <p:cNvSpPr>
            <a:spLocks noGrp="1"/>
          </p:cNvSpPr>
          <p:nvPr>
            <p:ph type="sldNum" sz="quarter" idx="10"/>
          </p:nvPr>
        </p:nvSpPr>
        <p:spPr/>
        <p:txBody>
          <a:bodyPr/>
          <a:lstStyle/>
          <a:p>
            <a:fld id="{677A2CBA-E486-4DC8-8696-C7854B0A28F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9" name="幻灯片图像占位符 1"/>
          <p:cNvSpPr>
            <a:spLocks noGrp="1" noRot="1" noChangeAspect="1"/>
          </p:cNvSpPr>
          <p:nvPr>
            <p:ph type="sldImg"/>
          </p:nvPr>
        </p:nvSpPr>
        <p:spPr>
          <a:xfrm>
            <a:off x="685800" y="1143000"/>
            <a:ext cx="5486400" cy="3086100"/>
          </a:xfrm>
        </p:spPr>
      </p:sp>
      <p:sp>
        <p:nvSpPr>
          <p:cNvPr id="104899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8991" name="灯片编号占位符 3"/>
          <p:cNvSpPr>
            <a:spLocks noGrp="1"/>
          </p:cNvSpPr>
          <p:nvPr>
            <p:ph type="sldNum" sz="quarter" idx="10"/>
          </p:nvPr>
        </p:nvSpPr>
        <p:spPr/>
        <p:txBody>
          <a:bodyPr/>
          <a:lstStyle/>
          <a:p>
            <a:fld id="{677A2CBA-E486-4DC8-8696-C7854B0A28F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5" name="幻灯片图像占位符 1"/>
          <p:cNvSpPr>
            <a:spLocks noGrp="1" noRot="1" noChangeAspect="1"/>
          </p:cNvSpPr>
          <p:nvPr>
            <p:ph type="sldImg"/>
          </p:nvPr>
        </p:nvSpPr>
        <p:spPr>
          <a:xfrm>
            <a:off x="685800" y="1143000"/>
            <a:ext cx="5486400" cy="3086100"/>
          </a:xfrm>
        </p:spPr>
      </p:sp>
      <p:sp>
        <p:nvSpPr>
          <p:cNvPr id="1049026" name="备注占位符 2"/>
          <p:cNvSpPr>
            <a:spLocks noGrp="1"/>
          </p:cNvSpPr>
          <p:nvPr>
            <p:ph type="body" idx="1"/>
          </p:nvPr>
        </p:nvSpPr>
        <p:spPr/>
        <p:txBody>
          <a:bodyPr/>
          <a:lstStyle/>
          <a:p>
            <a:r>
              <a:rPr lang="zh-CN" altLang="en-US" dirty="0"/>
              <a:t>主要分为以下四个部分</a:t>
            </a:r>
          </a:p>
        </p:txBody>
      </p:sp>
      <p:sp>
        <p:nvSpPr>
          <p:cNvPr id="1049027" name="灯片编号占位符 3"/>
          <p:cNvSpPr>
            <a:spLocks noGrp="1"/>
          </p:cNvSpPr>
          <p:nvPr>
            <p:ph type="sldNum" sz="quarter" idx="10"/>
          </p:nvPr>
        </p:nvSpPr>
        <p:spPr/>
        <p:txBody>
          <a:bodyPr/>
          <a:lstStyle/>
          <a:p>
            <a:fld id="{677A2CBA-E486-4DC8-8696-C7854B0A28F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1" name="幻灯片图像占位符 1"/>
          <p:cNvSpPr>
            <a:spLocks noGrp="1" noRot="1" noChangeAspect="1"/>
          </p:cNvSpPr>
          <p:nvPr>
            <p:ph type="sldImg"/>
          </p:nvPr>
        </p:nvSpPr>
        <p:spPr>
          <a:xfrm>
            <a:off x="685800" y="1143000"/>
            <a:ext cx="5486400" cy="3086100"/>
          </a:xfrm>
        </p:spPr>
      </p:sp>
      <p:sp>
        <p:nvSpPr>
          <p:cNvPr id="1049062" name="备注占位符 2"/>
          <p:cNvSpPr>
            <a:spLocks noGrp="1"/>
          </p:cNvSpPr>
          <p:nvPr>
            <p:ph type="body" idx="1"/>
          </p:nvPr>
        </p:nvSpPr>
        <p:spPr/>
        <p:txBody>
          <a:bodyPr/>
          <a:lstStyle/>
          <a:p>
            <a:r>
              <a:rPr lang="zh-CN" altLang="en-US" dirty="0"/>
              <a:t>首先是问题描述</a:t>
            </a:r>
          </a:p>
        </p:txBody>
      </p:sp>
      <p:sp>
        <p:nvSpPr>
          <p:cNvPr id="1049063" name="灯片编号占位符 3"/>
          <p:cNvSpPr>
            <a:spLocks noGrp="1"/>
          </p:cNvSpPr>
          <p:nvPr>
            <p:ph type="sldNum" sz="quarter" idx="10"/>
          </p:nvPr>
        </p:nvSpPr>
        <p:spPr/>
        <p:txBody>
          <a:bodyPr/>
          <a:lstStyle/>
          <a:p>
            <a:fld id="{677A2CBA-E486-4DC8-8696-C7854B0A28F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0" name="幻灯片图像占位符 1"/>
          <p:cNvSpPr>
            <a:spLocks noGrp="1" noRot="1" noChangeAspect="1"/>
          </p:cNvSpPr>
          <p:nvPr>
            <p:ph type="sldImg"/>
          </p:nvPr>
        </p:nvSpPr>
        <p:spPr>
          <a:xfrm>
            <a:off x="685800" y="1143000"/>
            <a:ext cx="5486400" cy="3086100"/>
          </a:xfrm>
        </p:spPr>
      </p:sp>
      <p:sp>
        <p:nvSpPr>
          <p:cNvPr id="1049071"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本文提出了一种纠缠量子联合学习（</a:t>
            </a:r>
            <a:r>
              <a:rPr lang="en-US" altLang="zh-CN" sz="1600" kern="1200" dirty="0" err="1">
                <a:solidFill>
                  <a:schemeClr val="tx1"/>
                </a:solidFill>
                <a:effectLst/>
                <a:latin typeface="微软雅黑" panose="020B0503020204020204" charset="-122"/>
                <a:ea typeface="微软雅黑" panose="020B0503020204020204" charset="-122"/>
                <a:cs typeface="+mn-cs"/>
              </a:rPr>
              <a:t>eSQFL</a:t>
            </a:r>
            <a:r>
              <a:rPr lang="zh-CN" altLang="en-US" sz="1600" kern="1200" dirty="0">
                <a:solidFill>
                  <a:schemeClr val="tx1"/>
                </a:solidFill>
                <a:effectLst/>
                <a:latin typeface="微软雅黑" panose="020B0503020204020204" charset="-122"/>
                <a:ea typeface="微软雅黑" panose="020B0503020204020204" charset="-122"/>
                <a:cs typeface="+mn-cs"/>
              </a:rPr>
              <a:t>）框架，旨在应对异构和时变的信道条件以及计算资源不同信道条件下的高效通信。为了解决高纠缠熵以及</a:t>
            </a:r>
            <a:r>
              <a:rPr lang="zh-CN" altLang="en-US" b="0" i="0" dirty="0">
                <a:effectLst/>
                <a:latin typeface="-apple-system"/>
              </a:rPr>
              <a:t>层与层之间的量子态差异</a:t>
            </a:r>
            <a:r>
              <a:rPr lang="zh-CN" altLang="en-US" sz="1600" kern="1200" dirty="0">
                <a:solidFill>
                  <a:schemeClr val="tx1"/>
                </a:solidFill>
                <a:effectLst/>
                <a:latin typeface="微软雅黑" panose="020B0503020204020204" charset="-122"/>
                <a:ea typeface="微软雅黑" panose="020B0503020204020204" charset="-122"/>
                <a:cs typeface="+mn-cs"/>
              </a:rPr>
              <a:t>的影响，本文引入了纠缠量子神经网络（</a:t>
            </a:r>
            <a:r>
              <a:rPr lang="en-US" altLang="zh-CN" sz="1600" kern="1200" dirty="0" err="1">
                <a:solidFill>
                  <a:schemeClr val="tx1"/>
                </a:solidFill>
                <a:effectLst/>
                <a:latin typeface="微软雅黑" panose="020B0503020204020204" charset="-122"/>
                <a:ea typeface="微软雅黑" panose="020B0503020204020204" charset="-122"/>
                <a:cs typeface="+mn-cs"/>
              </a:rPr>
              <a:t>eSQNN</a:t>
            </a:r>
            <a:r>
              <a:rPr lang="zh-CN" altLang="en-US" sz="1600" kern="1200" dirty="0">
                <a:solidFill>
                  <a:schemeClr val="tx1"/>
                </a:solidFill>
                <a:effectLst/>
                <a:latin typeface="微软雅黑" panose="020B0503020204020204" charset="-122"/>
                <a:ea typeface="微软雅黑" panose="020B0503020204020204" charset="-122"/>
                <a:cs typeface="+mn-cs"/>
              </a:rPr>
              <a:t>），使用受控通用（</a:t>
            </a:r>
            <a:r>
              <a:rPr lang="en-US" altLang="zh-CN" sz="1600" kern="1200" dirty="0">
                <a:solidFill>
                  <a:schemeClr val="tx1"/>
                </a:solidFill>
                <a:effectLst/>
                <a:latin typeface="微软雅黑" panose="020B0503020204020204" charset="-122"/>
                <a:ea typeface="微软雅黑" panose="020B0503020204020204" charset="-122"/>
                <a:cs typeface="+mn-cs"/>
              </a:rPr>
              <a:t>CU</a:t>
            </a:r>
            <a:r>
              <a:rPr lang="zh-CN" altLang="en-US" sz="1600" kern="1200" dirty="0">
                <a:solidFill>
                  <a:schemeClr val="tx1"/>
                </a:solidFill>
                <a:effectLst/>
                <a:latin typeface="微软雅黑" panose="020B0503020204020204" charset="-122"/>
                <a:ea typeface="微软雅黑" panose="020B0503020204020204" charset="-122"/>
                <a:cs typeface="+mn-cs"/>
              </a:rPr>
              <a:t>）门来管理纠缠水平并降低熵。该框架采用叠加编码和就地保真蒸馏（</a:t>
            </a:r>
            <a:r>
              <a:rPr lang="en-US" altLang="zh-CN" sz="1600" kern="1200" dirty="0">
                <a:solidFill>
                  <a:schemeClr val="tx1"/>
                </a:solidFill>
                <a:effectLst/>
                <a:latin typeface="微软雅黑" panose="020B0503020204020204" charset="-122"/>
                <a:ea typeface="微软雅黑" panose="020B0503020204020204" charset="-122"/>
                <a:cs typeface="+mn-cs"/>
              </a:rPr>
              <a:t>IPFD</a:t>
            </a:r>
            <a:r>
              <a:rPr lang="zh-CN" altLang="en-US" sz="1600" kern="1200" dirty="0">
                <a:solidFill>
                  <a:schemeClr val="tx1"/>
                </a:solidFill>
                <a:effectLst/>
                <a:latin typeface="微软雅黑" panose="020B0503020204020204" charset="-122"/>
                <a:ea typeface="微软雅黑" panose="020B0503020204020204" charset="-122"/>
                <a:cs typeface="+mn-cs"/>
              </a:rPr>
              <a:t>）正则器来优化参数交换。通过仿真实验，论文表明 </a:t>
            </a:r>
            <a:r>
              <a:rPr lang="en-US" altLang="zh-CN" sz="1600" kern="1200" dirty="0" err="1">
                <a:solidFill>
                  <a:schemeClr val="tx1"/>
                </a:solidFill>
                <a:effectLst/>
                <a:latin typeface="微软雅黑" panose="020B0503020204020204" charset="-122"/>
                <a:ea typeface="微软雅黑" panose="020B0503020204020204" charset="-122"/>
                <a:cs typeface="+mn-cs"/>
              </a:rPr>
              <a:t>eSQFL</a:t>
            </a:r>
            <a:r>
              <a:rPr lang="en-US" altLang="zh-CN" sz="1600" kern="1200" dirty="0">
                <a:solidFill>
                  <a:schemeClr val="tx1"/>
                </a:solidFill>
                <a:effectLst/>
                <a:latin typeface="微软雅黑" panose="020B0503020204020204" charset="-122"/>
                <a:ea typeface="微软雅黑" panose="020B0503020204020204" charset="-122"/>
                <a:cs typeface="+mn-cs"/>
              </a:rPr>
              <a:t> </a:t>
            </a:r>
            <a:r>
              <a:rPr lang="zh-CN" altLang="en-US" sz="1600" kern="1200" dirty="0">
                <a:solidFill>
                  <a:schemeClr val="tx1"/>
                </a:solidFill>
                <a:effectLst/>
                <a:latin typeface="微软雅黑" panose="020B0503020204020204" charset="-122"/>
                <a:ea typeface="微软雅黑" panose="020B0503020204020204" charset="-122"/>
                <a:cs typeface="+mn-cs"/>
              </a:rPr>
              <a:t>在不同信道条件和数据分布下的预测精度和鲁棒性优于传统 </a:t>
            </a:r>
            <a:r>
              <a:rPr lang="en-US" altLang="zh-CN" sz="1600" kern="1200" dirty="0">
                <a:solidFill>
                  <a:schemeClr val="tx1"/>
                </a:solidFill>
                <a:effectLst/>
                <a:latin typeface="微软雅黑" panose="020B0503020204020204" charset="-122"/>
                <a:ea typeface="微软雅黑" panose="020B0503020204020204" charset="-122"/>
                <a:cs typeface="+mn-cs"/>
              </a:rPr>
              <a:t>QFL </a:t>
            </a:r>
            <a:r>
              <a:rPr lang="zh-CN" altLang="en-US" sz="1600" kern="1200" dirty="0">
                <a:solidFill>
                  <a:schemeClr val="tx1"/>
                </a:solidFill>
                <a:effectLst/>
                <a:latin typeface="微软雅黑" panose="020B0503020204020204" charset="-122"/>
                <a:ea typeface="微软雅黑" panose="020B0503020204020204" charset="-122"/>
                <a:cs typeface="+mn-cs"/>
              </a:rPr>
              <a:t>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每个量子计算机或设备都用可训练的门来局部训练其量子神经网络（</a:t>
            </a:r>
            <a:r>
              <a:rPr lang="en-US" altLang="zh-CN" sz="1600" kern="1200" dirty="0">
                <a:solidFill>
                  <a:schemeClr val="tx1"/>
                </a:solidFill>
                <a:effectLst/>
                <a:latin typeface="微软雅黑" panose="020B0503020204020204" charset="-122"/>
                <a:ea typeface="微软雅黑" panose="020B0503020204020204" charset="-122"/>
                <a:cs typeface="+mn-cs"/>
              </a:rPr>
              <a:t>QNN</a:t>
            </a:r>
            <a:r>
              <a:rPr lang="zh-CN" altLang="en-US" sz="1600" kern="1200" dirty="0">
                <a:solidFill>
                  <a:schemeClr val="tx1"/>
                </a:solidFill>
                <a:effectLst/>
                <a:latin typeface="微软雅黑" panose="020B0503020204020204" charset="-122"/>
                <a:ea typeface="微软雅黑" panose="020B0503020204020204" charset="-122"/>
                <a:cs typeface="+mn-cs"/>
              </a:rPr>
              <a:t>），并且只通过经典通道通信这些门参数，而不需要昂贵的量子通信</a:t>
            </a:r>
            <a:r>
              <a:rPr lang="en-US" altLang="zh-CN" sz="1600" kern="1200" dirty="0">
                <a:solidFill>
                  <a:schemeClr val="tx1"/>
                </a:solidFill>
                <a:effectLst/>
                <a:latin typeface="微软雅黑" panose="020B0503020204020204" charset="-122"/>
                <a:ea typeface="微软雅黑" panose="020B0503020204020204" charset="-122"/>
                <a:cs typeface="+mn-cs"/>
              </a:rPr>
              <a: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072" name="灯片编号占位符 3"/>
          <p:cNvSpPr>
            <a:spLocks noGrp="1"/>
          </p:cNvSpPr>
          <p:nvPr>
            <p:ph type="sldNum" sz="quarter" idx="10"/>
          </p:nvPr>
        </p:nvSpPr>
        <p:spPr/>
        <p:txBody>
          <a:bodyPr/>
          <a:lstStyle/>
          <a:p>
            <a:fld id="{677A2CBA-E486-4DC8-8696-C7854B0A28F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6" name="幻灯片图像占位符 1"/>
          <p:cNvSpPr>
            <a:spLocks noGrp="1" noRot="1" noChangeAspect="1"/>
          </p:cNvSpPr>
          <p:nvPr>
            <p:ph type="sldImg"/>
          </p:nvPr>
        </p:nvSpPr>
        <p:spPr>
          <a:xfrm>
            <a:off x="685800" y="1143000"/>
            <a:ext cx="5486400" cy="3086100"/>
          </a:xfrm>
        </p:spPr>
      </p:sp>
      <p:sp>
        <p:nvSpPr>
          <p:cNvPr id="1049107" name="备注占位符 2"/>
          <p:cNvSpPr>
            <a:spLocks noGrp="1"/>
          </p:cNvSpPr>
          <p:nvPr>
            <p:ph type="body" idx="1"/>
          </p:nvPr>
        </p:nvSpPr>
        <p:spPr/>
        <p:txBody>
          <a:bodyPr/>
          <a:lstStyle/>
          <a:p>
            <a:r>
              <a:rPr lang="zh-CN" altLang="en-US" dirty="0"/>
              <a:t>研究现状</a:t>
            </a:r>
          </a:p>
        </p:txBody>
      </p:sp>
      <p:sp>
        <p:nvSpPr>
          <p:cNvPr id="1049108" name="灯片编号占位符 3"/>
          <p:cNvSpPr>
            <a:spLocks noGrp="1"/>
          </p:cNvSpPr>
          <p:nvPr>
            <p:ph type="sldNum" sz="quarter" idx="10"/>
          </p:nvPr>
        </p:nvSpPr>
        <p:spPr/>
        <p:txBody>
          <a:bodyPr/>
          <a:lstStyle/>
          <a:p>
            <a:fld id="{677A2CBA-E486-4DC8-8696-C7854B0A28F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5" name="幻灯片图像占位符 1"/>
          <p:cNvSpPr>
            <a:spLocks noGrp="1" noRot="1" noChangeAspect="1"/>
          </p:cNvSpPr>
          <p:nvPr>
            <p:ph type="sldImg"/>
          </p:nvPr>
        </p:nvSpPr>
        <p:spPr>
          <a:xfrm>
            <a:off x="685800" y="1143000"/>
            <a:ext cx="5486400" cy="3086100"/>
          </a:xfrm>
        </p:spPr>
      </p:sp>
      <p:sp>
        <p:nvSpPr>
          <p:cNvPr id="1049116"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17" name="灯片编号占位符 3"/>
          <p:cNvSpPr>
            <a:spLocks noGrp="1"/>
          </p:cNvSpPr>
          <p:nvPr>
            <p:ph type="sldNum" sz="quarter" idx="10"/>
          </p:nvPr>
        </p:nvSpPr>
        <p:spPr/>
        <p:txBody>
          <a:bodyPr/>
          <a:lstStyle/>
          <a:p>
            <a:fld id="{677A2CBA-E486-4DC8-8696-C7854B0A28F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4"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9125"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对输入 </a:t>
                </a:r>
                <a14:m>
                  <m:oMath xmlns:m="http://schemas.openxmlformats.org/officeDocument/2006/math">
                    <m:sSub>
                      <m:sSubPr>
                        <m:ctrlPr>
                          <a:rPr lang="zh-CN" altLang="en-US" sz="1600" b="1" kern="1200">
                            <a:solidFill>
                              <a:schemeClr val="tx1"/>
                            </a:solidFill>
                            <a:latin typeface="Cambria Math" panose="02040503050406030204" pitchFamily="18" charset="0"/>
                            <a:ea typeface="微软雅黑" panose="020B0503020204020204" charset="-122"/>
                            <a:cs typeface="+mn-cs"/>
                          </a:rPr>
                        </m:ctrlPr>
                      </m:sSubPr>
                      <m:e>
                        <m:r>
                          <a:rPr lang="zh-CN" altLang="en-US" sz="1600" b="1" kern="1200">
                            <a:solidFill>
                              <a:schemeClr val="tx1"/>
                            </a:solidFill>
                            <a:latin typeface="Cambria Math" panose="02040503050406030204" pitchFamily="18" charset="0"/>
                            <a:ea typeface="微软雅黑" panose="020B0503020204020204" charset="-122"/>
                            <a:cs typeface="+mn-cs"/>
                          </a:rPr>
                          <m:t>𝐗</m:t>
                        </m:r>
                      </m:e>
                      <m:sub>
                        <m:r>
                          <a:rPr lang="zh-CN" altLang="en-US" sz="1600" b="0" i="1" kern="1200">
                            <a:solidFill>
                              <a:schemeClr val="tx1"/>
                            </a:solidFill>
                            <a:latin typeface="Cambria Math" panose="02040503050406030204" pitchFamily="18" charset="0"/>
                            <a:ea typeface="微软雅黑" panose="020B0503020204020204" charset="-122"/>
                            <a:cs typeface="+mn-cs"/>
                          </a:rPr>
                          <m:t>𝑡</m:t>
                        </m:r>
                      </m:sub>
                    </m:sSub>
                    <m:r>
                      <a:rPr lang="zh-CN" altLang="en-US" sz="1600" b="0" i="0" kern="1200">
                        <a:solidFill>
                          <a:schemeClr val="tx1"/>
                        </a:solidFill>
                        <a:latin typeface="Cambria Math" panose="02040503050406030204" pitchFamily="18" charset="0"/>
                        <a:ea typeface="微软雅黑" panose="020B0503020204020204" charset="-122"/>
                        <a:cs typeface="+mn-cs"/>
                      </a:rPr>
                      <m:t>∈</m:t>
                    </m:r>
                    <m:sSup>
                      <m:sSupPr>
                        <m:ctrlPr>
                          <a:rPr lang="en-US" altLang="zh-CN" sz="1600" b="0" i="0" kern="1200">
                            <a:solidFill>
                              <a:schemeClr val="tx1"/>
                            </a:solidFill>
                            <a:latin typeface="Cambria Math" panose="02040503050406030204" pitchFamily="18" charset="0"/>
                            <a:ea typeface="微软雅黑" panose="020B0503020204020204" charset="-122"/>
                            <a:cs typeface="+mn-cs"/>
                          </a:rPr>
                        </m:ctrlPr>
                      </m:sSupPr>
                      <m:e>
                        <m:r>
                          <a:rPr lang="en-US" altLang="zh-CN" sz="1600" b="0" i="0" kern="1200">
                            <a:solidFill>
                              <a:schemeClr val="tx1"/>
                            </a:solidFill>
                            <a:latin typeface="Cambria Math" panose="02040503050406030204" pitchFamily="18" charset="0"/>
                            <a:ea typeface="微软雅黑" panose="020B0503020204020204" charset="-122"/>
                            <a:cs typeface="+mn-cs"/>
                          </a:rPr>
                          <m:t>ℝ</m:t>
                        </m:r>
                      </m:e>
                      <m:sup>
                        <m:r>
                          <a:rPr lang="zh-CN" altLang="en-US" sz="1600" b="0" i="1" kern="1200">
                            <a:solidFill>
                              <a:schemeClr val="tx1"/>
                            </a:solidFill>
                            <a:latin typeface="Cambria Math" panose="02040503050406030204" pitchFamily="18" charset="0"/>
                            <a:ea typeface="微软雅黑" panose="020B0503020204020204" charset="-122"/>
                            <a:cs typeface="+mn-cs"/>
                          </a:rPr>
                          <m:t>𝐶</m:t>
                        </m:r>
                        <m:r>
                          <a:rPr lang="en-US" altLang="zh-CN" sz="1600" b="0" i="0" kern="1200">
                            <a:solidFill>
                              <a:schemeClr val="tx1"/>
                            </a:solidFill>
                            <a:latin typeface="Cambria Math" panose="02040503050406030204" pitchFamily="18" charset="0"/>
                            <a:ea typeface="微软雅黑" panose="020B0503020204020204" charset="-122"/>
                            <a:cs typeface="+mn-cs"/>
                          </a:rPr>
                          <m:t>×</m:t>
                        </m:r>
                        <m:r>
                          <a:rPr lang="zh-CN" altLang="en-US" sz="1600" b="0" i="1" kern="1200">
                            <a:solidFill>
                              <a:schemeClr val="tx1"/>
                            </a:solidFill>
                            <a:latin typeface="Cambria Math" panose="02040503050406030204" pitchFamily="18" charset="0"/>
                            <a:ea typeface="微软雅黑" panose="020B0503020204020204" charset="-122"/>
                            <a:cs typeface="+mn-cs"/>
                          </a:rPr>
                          <m:t>𝐿</m:t>
                        </m:r>
                      </m:sup>
                    </m:sSup>
                  </m:oMath>
                </a14:m>
                <a:r>
                  <a:rPr lang="zh-CN" altLang="zh-CN" sz="1600" b="0" i="0" kern="1200">
                    <a:solidFill>
                      <a:schemeClr val="tx1"/>
                    </a:solidFill>
                    <a:effectLst/>
                    <a:latin typeface="微软雅黑" panose="020B0503020204020204" charset="-122"/>
                    <a:ea typeface="微软雅黑" panose="020B0503020204020204" charset="-122"/>
                    <a:cs typeface="+mn-cs"/>
                  </a:rPr>
                  <a:t>逐通道标准化</a:t>
                </a:r>
                <a:r>
                  <a:rPr lang="zh-CN" altLang="en-US" sz="1600" b="0" i="0" kern="1200">
                    <a:solidFill>
                      <a:schemeClr val="tx1"/>
                    </a:solidFill>
                    <a:effectLst/>
                    <a:latin typeface="微软雅黑" panose="020B0503020204020204" charset="-122"/>
                    <a:ea typeface="微软雅黑" panose="020B0503020204020204" charset="-122"/>
                    <a:cs typeface="+mn-cs"/>
                  </a:rPr>
                  <a:t>，</a:t>
                </a:r>
                <a:r>
                  <a:rPr lang="zh-CN" altLang="zh-CN" sz="1600" b="0" i="0" kern="1200">
                    <a:solidFill>
                      <a:schemeClr val="tx1"/>
                    </a:solidFill>
                    <a:effectLst/>
                    <a:latin typeface="微软雅黑" panose="020B0503020204020204" charset="-122"/>
                    <a:ea typeface="微软雅黑" panose="020B0503020204020204" charset="-122"/>
                    <a:cs typeface="+mn-cs"/>
                  </a:rPr>
                  <a:t>设可学习向量 </a:t>
                </a:r>
                <a14:m>
                  <m:oMath xmlns:m="http://schemas.openxmlformats.org/officeDocument/2006/math">
                    <m:r>
                      <a:rPr lang="zh-CN" altLang="en-US" sz="1600" b="1" kern="1200">
                        <a:solidFill>
                          <a:schemeClr val="tx1"/>
                        </a:solidFill>
                        <a:latin typeface="Cambria Math" panose="02040503050406030204" pitchFamily="18" charset="0"/>
                        <a:ea typeface="微软雅黑" panose="020B0503020204020204" charset="-122"/>
                        <a:cs typeface="+mn-cs"/>
                      </a:rPr>
                      <m:t>𝐩</m:t>
                    </m:r>
                    <m:r>
                      <a:rPr lang="zh-CN" altLang="en-US" sz="1600" b="0" i="0" kern="1200">
                        <a:solidFill>
                          <a:schemeClr val="tx1"/>
                        </a:solidFill>
                        <a:latin typeface="Cambria Math" panose="02040503050406030204" pitchFamily="18" charset="0"/>
                        <a:ea typeface="微软雅黑" panose="020B0503020204020204" charset="-122"/>
                        <a:cs typeface="+mn-cs"/>
                      </a:rPr>
                      <m:t>∈</m:t>
                    </m:r>
                    <m:sSup>
                      <m:sSupPr>
                        <m:ctrlPr>
                          <a:rPr lang="en-US" altLang="zh-CN" sz="1600" b="0" i="0" kern="1200">
                            <a:solidFill>
                              <a:schemeClr val="tx1"/>
                            </a:solidFill>
                            <a:latin typeface="Cambria Math" panose="02040503050406030204" pitchFamily="18" charset="0"/>
                            <a:ea typeface="微软雅黑" panose="020B0503020204020204" charset="-122"/>
                            <a:cs typeface="+mn-cs"/>
                          </a:rPr>
                        </m:ctrlPr>
                      </m:sSupPr>
                      <m:e>
                        <m:r>
                          <a:rPr lang="en-US" altLang="zh-CN" sz="1600" b="0" i="0" kern="1200">
                            <a:solidFill>
                              <a:schemeClr val="tx1"/>
                            </a:solidFill>
                            <a:latin typeface="Cambria Math" panose="02040503050406030204" pitchFamily="18" charset="0"/>
                            <a:ea typeface="微软雅黑" panose="020B0503020204020204" charset="-122"/>
                            <a:cs typeface="+mn-cs"/>
                          </a:rPr>
                          <m:t>ℝ</m:t>
                        </m:r>
                      </m:e>
                      <m:sup>
                        <m:r>
                          <a:rPr lang="zh-CN" altLang="en-US" sz="1600" b="0" i="1" kern="1200">
                            <a:solidFill>
                              <a:schemeClr val="tx1"/>
                            </a:solidFill>
                            <a:latin typeface="Cambria Math" panose="02040503050406030204" pitchFamily="18" charset="0"/>
                            <a:ea typeface="微软雅黑" panose="020B0503020204020204" charset="-122"/>
                            <a:cs typeface="+mn-cs"/>
                          </a:rPr>
                          <m:t>𝐶</m:t>
                        </m:r>
                        <m:r>
                          <a:rPr lang="en-US" altLang="zh-CN" sz="1600" b="0" i="0" kern="1200">
                            <a:solidFill>
                              <a:schemeClr val="tx1"/>
                            </a:solidFill>
                            <a:latin typeface="Cambria Math" panose="02040503050406030204" pitchFamily="18" charset="0"/>
                            <a:ea typeface="微软雅黑" panose="020B0503020204020204" charset="-122"/>
                            <a:cs typeface="+mn-cs"/>
                          </a:rPr>
                          <m:t>×</m:t>
                        </m:r>
                        <m:r>
                          <a:rPr lang="zh-CN" altLang="en-US" sz="1600" b="0" i="1" kern="1200">
                            <a:solidFill>
                              <a:schemeClr val="tx1"/>
                            </a:solidFill>
                            <a:latin typeface="Cambria Math" panose="02040503050406030204" pitchFamily="18" charset="0"/>
                            <a:ea typeface="微软雅黑" panose="020B0503020204020204" charset="-122"/>
                            <a:cs typeface="+mn-cs"/>
                          </a:rPr>
                          <m:t>𝑊</m:t>
                        </m:r>
                      </m:sup>
                    </m:sSup>
                  </m:oMath>
                </a14:m>
                <a:r>
                  <a:rPr lang="zh-CN" altLang="zh-CN" sz="1600" b="0" i="0" kern="1200">
                    <a:solidFill>
                      <a:schemeClr val="tx1"/>
                    </a:solidFill>
                    <a:effectLst/>
                    <a:latin typeface="微软雅黑" panose="020B0503020204020204" charset="-122"/>
                    <a:ea typeface="微软雅黑" panose="020B0503020204020204" charset="-122"/>
                    <a:cs typeface="+mn-cs"/>
                  </a:rPr>
                  <a:t>，周期长度为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𝑊</m:t>
                    </m:r>
                  </m:oMath>
                </a14:m>
                <a:r>
                  <a:rPr lang="zh-CN" altLang="zh-CN" sz="1600" b="0" i="0" kern="1200">
                    <a:solidFill>
                      <a:schemeClr val="tx1"/>
                    </a:solidFill>
                    <a:effectLst/>
                    <a:latin typeface="微软雅黑" panose="020B0503020204020204" charset="-122"/>
                    <a:ea typeface="微软雅黑" panose="020B0503020204020204" charset="-122"/>
                    <a:cs typeface="+mn-cs"/>
                  </a:rPr>
                  <a:t>。在时刻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𝑡</m:t>
                    </m:r>
                  </m:oMath>
                </a14:m>
                <a:r>
                  <a:rPr lang="zh-CN" altLang="zh-CN" sz="1600" b="0" i="0" kern="1200">
                    <a:solidFill>
                      <a:schemeClr val="tx1"/>
                    </a:solidFill>
                    <a:effectLst/>
                    <a:latin typeface="微软雅黑" panose="020B0503020204020204" charset="-122"/>
                    <a:ea typeface="微软雅黑" panose="020B0503020204020204" charset="-122"/>
                    <a:cs typeface="+mn-cs"/>
                  </a:rPr>
                  <a:t>，将 </a:t>
                </a:r>
                <a14:m>
                  <m:oMath xmlns:m="http://schemas.openxmlformats.org/officeDocument/2006/math">
                    <m:r>
                      <a:rPr lang="zh-CN" altLang="en-US" sz="1600" b="1" kern="1200">
                        <a:solidFill>
                          <a:schemeClr val="tx1"/>
                        </a:solidFill>
                        <a:latin typeface="Cambria Math" panose="02040503050406030204" pitchFamily="18" charset="0"/>
                        <a:ea typeface="微软雅黑" panose="020B0503020204020204" charset="-122"/>
                        <a:cs typeface="+mn-cs"/>
                      </a:rPr>
                      <m:t>𝐩</m:t>
                    </m:r>
                  </m:oMath>
                </a14:m>
                <a:r>
                  <a:rPr lang="zh-CN" altLang="zh-CN" sz="1600" b="0" i="0" kern="1200">
                    <a:solidFill>
                      <a:schemeClr val="tx1"/>
                    </a:solidFill>
                    <a:effectLst/>
                    <a:latin typeface="微软雅黑" panose="020B0503020204020204" charset="-122"/>
                    <a:ea typeface="微软雅黑" panose="020B0503020204020204" charset="-122"/>
                    <a:cs typeface="+mn-cs"/>
                  </a:rPr>
                  <a:t>按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𝑡</m:t>
                    </m:r>
                    <m:r>
                      <m:rPr>
                        <m:nor/>
                      </m:rPr>
                      <a:rPr lang="zh-CN" altLang="en-US" sz="1600" b="0" i="0" kern="1200">
                        <a:solidFill>
                          <a:schemeClr val="tx1"/>
                        </a:solidFill>
                        <a:latin typeface="微软雅黑" panose="020B0503020204020204" charset="-122"/>
                        <a:ea typeface="微软雅黑" panose="020B0503020204020204" charset="-122"/>
                        <a:cs typeface="+mn-cs"/>
                      </a:rPr>
                      <m:t>  </m:t>
                    </m:r>
                    <m:r>
                      <a:rPr lang="zh-CN" altLang="en-US" sz="1600" b="0" i="1" kern="1200">
                        <a:solidFill>
                          <a:schemeClr val="tx1"/>
                        </a:solidFill>
                        <a:latin typeface="Cambria Math" panose="02040503050406030204" pitchFamily="18" charset="0"/>
                        <a:ea typeface="微软雅黑" panose="020B0503020204020204" charset="-122"/>
                        <a:cs typeface="+mn-cs"/>
                      </a:rPr>
                      <m:t>𝑊</m:t>
                    </m:r>
                  </m:oMath>
                </a14:m>
                <a:r>
                  <a:rPr lang="zh-CN" altLang="zh-CN" sz="1600" b="0" i="0" kern="1200">
                    <a:solidFill>
                      <a:schemeClr val="tx1"/>
                    </a:solidFill>
                    <a:effectLst/>
                    <a:latin typeface="微软雅黑" panose="020B0503020204020204" charset="-122"/>
                    <a:ea typeface="微软雅黑" panose="020B0503020204020204" charset="-122"/>
                    <a:cs typeface="+mn-cs"/>
                  </a:rPr>
                  <a:t>相位对齐，重复 </a:t>
                </a:r>
                <a14:m>
                  <m:oMath xmlns:m="http://schemas.openxmlformats.org/officeDocument/2006/math">
                    <m:d>
                      <m:dPr>
                        <m:begChr m:val="⌊"/>
                        <m:endChr m:val="⌋"/>
                        <m:ctrlPr>
                          <a:rPr lang="zh-CN" altLang="en-US" sz="1600" i="1" kern="1200">
                            <a:solidFill>
                              <a:schemeClr val="tx1"/>
                            </a:solidFill>
                            <a:latin typeface="Cambria Math" panose="02040503050406030204" pitchFamily="18" charset="0"/>
                            <a:ea typeface="微软雅黑" panose="020B0503020204020204" charset="-122"/>
                            <a:cs typeface="+mn-cs"/>
                          </a:rPr>
                        </m:ctrlPr>
                      </m:dPr>
                      <m:e>
                        <m:r>
                          <a:rPr lang="zh-CN" altLang="en-US" sz="1600" i="1" kern="1200">
                            <a:solidFill>
                              <a:schemeClr val="tx1"/>
                            </a:solidFill>
                            <a:latin typeface="Cambria Math" panose="02040503050406030204" pitchFamily="18" charset="0"/>
                            <a:ea typeface="微软雅黑" panose="020B0503020204020204" charset="-122"/>
                            <a:cs typeface="+mn-cs"/>
                          </a:rPr>
                          <m:t>𝐿</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𝑊</m:t>
                        </m:r>
                      </m:e>
                    </m:d>
                  </m:oMath>
                </a14:m>
                <a:r>
                  <a:rPr lang="zh-CN" altLang="zh-CN" sz="1600" b="0" i="0" kern="1200">
                    <a:solidFill>
                      <a:schemeClr val="tx1"/>
                    </a:solidFill>
                    <a:effectLst/>
                    <a:latin typeface="微软雅黑" panose="020B0503020204020204" charset="-122"/>
                    <a:ea typeface="微软雅黑" panose="020B0503020204020204" charset="-122"/>
                    <a:cs typeface="+mn-cs"/>
                  </a:rPr>
                  <a:t>次并截断至长度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𝐿</m:t>
                    </m:r>
                    <m:r>
                      <a:rPr lang="zh-CN" altLang="en-US" sz="1600" i="1" kern="1200">
                        <a:solidFill>
                          <a:schemeClr val="tx1"/>
                        </a:solidFill>
                        <a:latin typeface="Cambria Math" panose="02040503050406030204" pitchFamily="18" charset="0"/>
                        <a:ea typeface="微软雅黑" panose="020B0503020204020204" charset="-122"/>
                        <a:cs typeface="+mn-cs"/>
                      </a:rPr>
                      <m:t>，</m:t>
                    </m:r>
                  </m:oMath>
                </a14:m>
                <a:r>
                  <a:rPr lang="zh-CN" altLang="zh-CN" sz="1600" b="0" i="0" kern="1200">
                    <a:solidFill>
                      <a:schemeClr val="tx1"/>
                    </a:solidFill>
                    <a:effectLst/>
                    <a:latin typeface="微软雅黑" panose="020B0503020204020204" charset="-122"/>
                    <a:ea typeface="微软雅黑" panose="020B0503020204020204" charset="-122"/>
                    <a:cs typeface="+mn-cs"/>
                  </a:rPr>
                  <a:t>为后续量子电路提供相位一致的周期先验。</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Choice>
        <mc:Fallback xmlns="">
          <p:sp>
            <p:nvSpPr>
              <p:cNvPr id="1049125"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对输入 </a:t>
                </a:r>
                <a:r>
                  <a:rPr lang="zh-CN" altLang="en-US" sz="1600" b="1" i="0" kern="1200">
                    <a:solidFill>
                      <a:schemeClr val="tx1"/>
                    </a:solidFill>
                    <a:latin typeface="微软雅黑" panose="020B0503020204020204" charset="-122"/>
                    <a:ea typeface="微软雅黑" panose="020B0503020204020204" charset="-122"/>
                    <a:cs typeface="+mn-cs"/>
                  </a:rPr>
                  <a:t>𝐗_</a:t>
                </a:r>
                <a:r>
                  <a:rPr lang="zh-CN" altLang="en-US" sz="1600" b="0" i="0" kern="1200">
                    <a:solidFill>
                      <a:schemeClr val="tx1"/>
                    </a:solidFill>
                    <a:latin typeface="微软雅黑" panose="020B0503020204020204" charset="-122"/>
                    <a:ea typeface="微软雅黑" panose="020B0503020204020204" charset="-122"/>
                    <a:cs typeface="+mn-cs"/>
                  </a:rPr>
                  <a:t>𝑡∈</a:t>
                </a:r>
                <a:r>
                  <a:rPr lang="en-US" altLang="zh-CN" sz="1600" b="0" i="0" kern="1200">
                    <a:solidFill>
                      <a:schemeClr val="tx1"/>
                    </a:solidFill>
                    <a:latin typeface="微软雅黑" panose="020B0503020204020204" charset="-122"/>
                    <a:ea typeface="微软雅黑" panose="020B0503020204020204" charset="-122"/>
                    <a:cs typeface="+mn-cs"/>
                  </a:rPr>
                  <a:t>ℝ</a:t>
                </a:r>
                <a:r>
                  <a:rPr lang="zh-CN" altLang="en-US" sz="1600" b="0" i="0" kern="1200">
                    <a:solidFill>
                      <a:schemeClr val="tx1"/>
                    </a:solidFill>
                    <a:latin typeface="微软雅黑" panose="020B0503020204020204" charset="-122"/>
                    <a:ea typeface="微软雅黑" panose="020B0503020204020204" charset="-122"/>
                    <a:cs typeface="+mn-cs"/>
                  </a:rPr>
                  <a:t>^(𝐶</a:t>
                </a:r>
                <a:r>
                  <a:rPr lang="en-US" altLang="zh-CN" sz="1600" b="0" i="0" kern="1200">
                    <a:solidFill>
                      <a:schemeClr val="tx1"/>
                    </a:solidFill>
                    <a:latin typeface="微软雅黑" panose="020B0503020204020204" charset="-122"/>
                    <a:ea typeface="微软雅黑" panose="020B0503020204020204" charset="-122"/>
                    <a:cs typeface="+mn-cs"/>
                  </a:rPr>
                  <a:t>×</a:t>
                </a:r>
                <a:r>
                  <a:rPr lang="zh-CN" altLang="en-US" sz="1600" b="0" i="0" kern="1200">
                    <a:solidFill>
                      <a:schemeClr val="tx1"/>
                    </a:solidFill>
                    <a:latin typeface="微软雅黑" panose="020B0503020204020204" charset="-122"/>
                    <a:ea typeface="微软雅黑" panose="020B0503020204020204" charset="-122"/>
                    <a:cs typeface="+mn-cs"/>
                  </a:rPr>
                  <a:t>𝐿)</a:t>
                </a:r>
                <a:r>
                  <a:rPr lang="zh-CN" altLang="zh-CN" sz="1600" b="0" i="0" kern="1200">
                    <a:solidFill>
                      <a:schemeClr val="tx1"/>
                    </a:solidFill>
                    <a:effectLst/>
                    <a:latin typeface="微软雅黑" panose="020B0503020204020204" charset="-122"/>
                    <a:ea typeface="微软雅黑" panose="020B0503020204020204" charset="-122"/>
                    <a:cs typeface="+mn-cs"/>
                  </a:rPr>
                  <a:t>逐通道标准化</a:t>
                </a:r>
                <a:r>
                  <a:rPr lang="zh-CN" altLang="en-US" sz="1600" b="0" i="0" kern="1200">
                    <a:solidFill>
                      <a:schemeClr val="tx1"/>
                    </a:solidFill>
                    <a:effectLst/>
                    <a:latin typeface="微软雅黑" panose="020B0503020204020204" charset="-122"/>
                    <a:ea typeface="微软雅黑" panose="020B0503020204020204" charset="-122"/>
                    <a:cs typeface="+mn-cs"/>
                  </a:rPr>
                  <a:t>，</a:t>
                </a:r>
                <a:r>
                  <a:rPr lang="zh-CN" altLang="zh-CN" sz="1600" b="0" i="0" kern="1200">
                    <a:solidFill>
                      <a:schemeClr val="tx1"/>
                    </a:solidFill>
                    <a:effectLst/>
                    <a:latin typeface="微软雅黑" panose="020B0503020204020204" charset="-122"/>
                    <a:ea typeface="微软雅黑" panose="020B0503020204020204" charset="-122"/>
                    <a:cs typeface="+mn-cs"/>
                  </a:rPr>
                  <a:t>设可学习向量 </a:t>
                </a:r>
                <a:r>
                  <a:rPr lang="zh-CN" altLang="en-US" sz="1600" b="1" i="0" kern="1200">
                    <a:solidFill>
                      <a:schemeClr val="tx1"/>
                    </a:solidFill>
                    <a:latin typeface="微软雅黑" panose="020B0503020204020204" charset="-122"/>
                    <a:ea typeface="微软雅黑" panose="020B0503020204020204" charset="-122"/>
                    <a:cs typeface="+mn-cs"/>
                  </a:rPr>
                  <a:t>𝐩</a:t>
                </a:r>
                <a:r>
                  <a:rPr lang="zh-CN" altLang="en-US" sz="1600" b="0" i="0" kern="1200">
                    <a:solidFill>
                      <a:schemeClr val="tx1"/>
                    </a:solidFill>
                    <a:latin typeface="微软雅黑" panose="020B0503020204020204" charset="-122"/>
                    <a:ea typeface="微软雅黑" panose="020B0503020204020204" charset="-122"/>
                    <a:cs typeface="+mn-cs"/>
                  </a:rPr>
                  <a:t>∈</a:t>
                </a:r>
                <a:r>
                  <a:rPr lang="en-US" altLang="zh-CN" sz="1600" b="0" i="0" kern="1200">
                    <a:solidFill>
                      <a:schemeClr val="tx1"/>
                    </a:solidFill>
                    <a:latin typeface="微软雅黑" panose="020B0503020204020204" charset="-122"/>
                    <a:ea typeface="微软雅黑" panose="020B0503020204020204" charset="-122"/>
                    <a:cs typeface="+mn-cs"/>
                  </a:rPr>
                  <a:t>ℝ</a:t>
                </a:r>
                <a:r>
                  <a:rPr lang="zh-CN" altLang="en-US" sz="1600" b="0" i="0" kern="1200">
                    <a:solidFill>
                      <a:schemeClr val="tx1"/>
                    </a:solidFill>
                    <a:latin typeface="微软雅黑" panose="020B0503020204020204" charset="-122"/>
                    <a:ea typeface="微软雅黑" panose="020B0503020204020204" charset="-122"/>
                    <a:cs typeface="+mn-cs"/>
                  </a:rPr>
                  <a:t>^(𝐶</a:t>
                </a:r>
                <a:r>
                  <a:rPr lang="en-US" altLang="zh-CN" sz="1600" b="0" i="0" kern="1200">
                    <a:solidFill>
                      <a:schemeClr val="tx1"/>
                    </a:solidFill>
                    <a:latin typeface="微软雅黑" panose="020B0503020204020204" charset="-122"/>
                    <a:ea typeface="微软雅黑" panose="020B0503020204020204" charset="-122"/>
                    <a:cs typeface="+mn-cs"/>
                  </a:rPr>
                  <a:t>×</a:t>
                </a:r>
                <a:r>
                  <a:rPr lang="zh-CN" altLang="en-US" sz="1600" b="0" i="0" kern="1200">
                    <a:solidFill>
                      <a:schemeClr val="tx1"/>
                    </a:solidFill>
                    <a:latin typeface="微软雅黑" panose="020B0503020204020204" charset="-122"/>
                    <a:ea typeface="微软雅黑" panose="020B0503020204020204" charset="-122"/>
                    <a:cs typeface="+mn-cs"/>
                  </a:rPr>
                  <a:t>𝑊)</a:t>
                </a:r>
                <a:r>
                  <a:rPr lang="zh-CN" altLang="zh-CN" sz="1600" b="0" i="0" kern="1200">
                    <a:solidFill>
                      <a:schemeClr val="tx1"/>
                    </a:solidFill>
                    <a:effectLst/>
                    <a:latin typeface="微软雅黑" panose="020B0503020204020204" charset="-122"/>
                    <a:ea typeface="微软雅黑" panose="020B0503020204020204" charset="-122"/>
                    <a:cs typeface="+mn-cs"/>
                  </a:rPr>
                  <a:t>，周期长度为 </a:t>
                </a:r>
                <a:r>
                  <a:rPr lang="zh-CN" altLang="en-US" sz="1600" i="0" kern="1200">
                    <a:solidFill>
                      <a:schemeClr val="tx1"/>
                    </a:solidFill>
                    <a:latin typeface="微软雅黑" panose="020B0503020204020204" charset="-122"/>
                    <a:ea typeface="微软雅黑" panose="020B0503020204020204" charset="-122"/>
                    <a:cs typeface="+mn-cs"/>
                  </a:rPr>
                  <a:t>𝑊</a:t>
                </a:r>
                <a:r>
                  <a:rPr lang="zh-CN" altLang="zh-CN" sz="1600" b="0" i="0" kern="1200">
                    <a:solidFill>
                      <a:schemeClr val="tx1"/>
                    </a:solidFill>
                    <a:effectLst/>
                    <a:latin typeface="微软雅黑" panose="020B0503020204020204" charset="-122"/>
                    <a:ea typeface="微软雅黑" panose="020B0503020204020204" charset="-122"/>
                    <a:cs typeface="+mn-cs"/>
                  </a:rPr>
                  <a:t>。在时刻 </a:t>
                </a:r>
                <a:r>
                  <a:rPr lang="zh-CN" altLang="en-US" sz="1600" i="0" kern="1200">
                    <a:solidFill>
                      <a:schemeClr val="tx1"/>
                    </a:solidFill>
                    <a:latin typeface="微软雅黑" panose="020B0503020204020204" charset="-122"/>
                    <a:ea typeface="微软雅黑" panose="020B0503020204020204" charset="-122"/>
                    <a:cs typeface="+mn-cs"/>
                  </a:rPr>
                  <a:t>𝑡</a:t>
                </a:r>
                <a:r>
                  <a:rPr lang="zh-CN" altLang="zh-CN" sz="1600" b="0" i="0" kern="1200">
                    <a:solidFill>
                      <a:schemeClr val="tx1"/>
                    </a:solidFill>
                    <a:effectLst/>
                    <a:latin typeface="微软雅黑" panose="020B0503020204020204" charset="-122"/>
                    <a:ea typeface="微软雅黑" panose="020B0503020204020204" charset="-122"/>
                    <a:cs typeface="+mn-cs"/>
                  </a:rPr>
                  <a:t>，将 </a:t>
                </a:r>
                <a:r>
                  <a:rPr lang="zh-CN" altLang="en-US" sz="1600" b="1" i="0" kern="1200">
                    <a:solidFill>
                      <a:schemeClr val="tx1"/>
                    </a:solidFill>
                    <a:latin typeface="微软雅黑" panose="020B0503020204020204" charset="-122"/>
                    <a:ea typeface="微软雅黑" panose="020B0503020204020204" charset="-122"/>
                    <a:cs typeface="+mn-cs"/>
                  </a:rPr>
                  <a:t>𝐩</a:t>
                </a:r>
                <a:r>
                  <a:rPr lang="zh-CN" altLang="zh-CN" sz="1600" b="0" i="0" kern="1200">
                    <a:solidFill>
                      <a:schemeClr val="tx1"/>
                    </a:solidFill>
                    <a:effectLst/>
                    <a:latin typeface="微软雅黑" panose="020B0503020204020204" charset="-122"/>
                    <a:ea typeface="微软雅黑" panose="020B0503020204020204" charset="-122"/>
                    <a:cs typeface="+mn-cs"/>
                  </a:rPr>
                  <a:t>按 </a:t>
                </a:r>
                <a:r>
                  <a:rPr lang="zh-CN" altLang="en-US" sz="1600" i="0" kern="1200">
                    <a:solidFill>
                      <a:schemeClr val="tx1"/>
                    </a:solidFill>
                    <a:latin typeface="微软雅黑" panose="020B0503020204020204" charset="-122"/>
                    <a:ea typeface="微软雅黑" panose="020B0503020204020204" charset="-122"/>
                    <a:cs typeface="+mn-cs"/>
                  </a:rPr>
                  <a:t>𝑡</a:t>
                </a:r>
                <a:r>
                  <a:rPr lang="zh-CN" altLang="en-US" sz="1600" b="0" i="0" kern="1200">
                    <a:solidFill>
                      <a:schemeClr val="tx1"/>
                    </a:solidFill>
                    <a:latin typeface="Cambria Math" panose="02040503050406030204" pitchFamily="18" charset="0"/>
                    <a:ea typeface="微软雅黑" panose="020B0503020204020204" charset="-122"/>
                    <a:cs typeface="+mn-cs"/>
                  </a:rPr>
                  <a:t>"  </a:t>
                </a:r>
                <a:r>
                  <a:rPr lang="zh-CN" altLang="en-US" sz="1600" b="0" i="0" kern="1200">
                    <a:solidFill>
                      <a:schemeClr val="tx1"/>
                    </a:solidFill>
                    <a:latin typeface="微软雅黑" panose="020B0503020204020204" charset="-122"/>
                    <a:ea typeface="微软雅黑" panose="020B0503020204020204" charset="-122"/>
                    <a:cs typeface="+mn-cs"/>
                  </a:rPr>
                  <a:t>" 𝑊</a:t>
                </a:r>
                <a:r>
                  <a:rPr lang="zh-CN" altLang="zh-CN" sz="1600" b="0" i="0" kern="1200">
                    <a:solidFill>
                      <a:schemeClr val="tx1"/>
                    </a:solidFill>
                    <a:effectLst/>
                    <a:latin typeface="微软雅黑" panose="020B0503020204020204" charset="-122"/>
                    <a:ea typeface="微软雅黑" panose="020B0503020204020204" charset="-122"/>
                    <a:cs typeface="+mn-cs"/>
                  </a:rPr>
                  <a:t>相位对齐，重复 </a:t>
                </a:r>
                <a:r>
                  <a:rPr lang="zh-CN" altLang="en-US" sz="1600" i="0" kern="1200">
                    <a:solidFill>
                      <a:schemeClr val="tx1"/>
                    </a:solidFill>
                    <a:latin typeface="微软雅黑" panose="020B0503020204020204" charset="-122"/>
                    <a:ea typeface="微软雅黑" panose="020B0503020204020204" charset="-122"/>
                    <a:cs typeface="+mn-cs"/>
                  </a:rPr>
                  <a:t>⌊𝐿</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𝑊⌋</a:t>
                </a:r>
                <a:r>
                  <a:rPr lang="zh-CN" altLang="zh-CN" sz="1600" b="0" i="0" kern="1200">
                    <a:solidFill>
                      <a:schemeClr val="tx1"/>
                    </a:solidFill>
                    <a:effectLst/>
                    <a:latin typeface="微软雅黑" panose="020B0503020204020204" charset="-122"/>
                    <a:ea typeface="微软雅黑" panose="020B0503020204020204" charset="-122"/>
                    <a:cs typeface="+mn-cs"/>
                  </a:rPr>
                  <a:t>次并截断至长度 </a:t>
                </a:r>
                <a:r>
                  <a:rPr lang="zh-CN" altLang="en-US" sz="1600" i="0" kern="1200">
                    <a:solidFill>
                      <a:schemeClr val="tx1"/>
                    </a:solidFill>
                    <a:latin typeface="微软雅黑" panose="020B0503020204020204" charset="-122"/>
                    <a:ea typeface="微软雅黑" panose="020B0503020204020204" charset="-122"/>
                    <a:cs typeface="+mn-cs"/>
                  </a:rPr>
                  <a:t>𝐿</a:t>
                </a:r>
                <a:r>
                  <a:rPr lang="zh-CN" altLang="en-US" sz="1600" i="0" kern="1200">
                    <a:solidFill>
                      <a:schemeClr val="tx1"/>
                    </a:solidFill>
                    <a:latin typeface="Cambria Math" panose="02040503050406030204" pitchFamily="18" charset="0"/>
                    <a:ea typeface="微软雅黑" panose="020B0503020204020204" charset="-122"/>
                    <a:cs typeface="+mn-cs"/>
                  </a:rPr>
                  <a:t>，</a:t>
                </a:r>
                <a:r>
                  <a:rPr lang="zh-CN" altLang="zh-CN" sz="1600" b="0" i="0" kern="1200">
                    <a:solidFill>
                      <a:schemeClr val="tx1"/>
                    </a:solidFill>
                    <a:effectLst/>
                    <a:latin typeface="微软雅黑" panose="020B0503020204020204" charset="-122"/>
                    <a:ea typeface="微软雅黑" panose="020B0503020204020204" charset="-122"/>
                    <a:cs typeface="+mn-cs"/>
                  </a:rPr>
                  <a:t>为后续量子电路提供相位一致的周期先验。</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Fallback>
      </mc:AlternateContent>
      <p:sp>
        <p:nvSpPr>
          <p:cNvPr id="1049126" name="灯片编号占位符 3"/>
          <p:cNvSpPr>
            <a:spLocks noGrp="1"/>
          </p:cNvSpPr>
          <p:nvPr>
            <p:ph type="sldNum" sz="quarter" idx="10"/>
          </p:nvPr>
        </p:nvSpPr>
        <p:spPr/>
        <p:txBody>
          <a:bodyPr/>
          <a:lstStyle/>
          <a:p>
            <a:fld id="{677A2CBA-E486-4DC8-8696-C7854B0A28FD}"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3"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49134"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子序列映射为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维嵌入向量</a:t>
                </a:r>
                <a:r>
                  <a:rPr lang="zh-CN" altLang="en-US" sz="1600" b="0" i="0" kern="1200">
                    <a:solidFill>
                      <a:schemeClr val="tx1"/>
                    </a:solidFill>
                    <a:effectLst/>
                    <a:latin typeface="微软雅黑" panose="020B0503020204020204" charset="-122"/>
                    <a:ea typeface="微软雅黑" panose="020B0503020204020204" charset="-122"/>
                    <a:cs typeface="+mn-cs"/>
                  </a:rPr>
                  <a:t>。之后进行</a:t>
                </a:r>
                <a:r>
                  <a:rPr lang="en-US" altLang="zh-CN" sz="1600" b="0" i="0" kern="1200">
                    <a:solidFill>
                      <a:schemeClr val="tx1"/>
                    </a:solidFill>
                    <a:effectLst/>
                    <a:latin typeface="微软雅黑" panose="020B0503020204020204" charset="-122"/>
                    <a:ea typeface="微软雅黑" panose="020B0503020204020204" charset="-122"/>
                    <a:cs typeface="+mn-cs"/>
                  </a:rPr>
                  <a:t>X</a:t>
                </a:r>
                <a:r>
                  <a:rPr lang="zh-CN" altLang="en-US" sz="1600" b="0" i="0" kern="1200">
                    <a:solidFill>
                      <a:schemeClr val="tx1"/>
                    </a:solidFill>
                    <a:effectLst/>
                    <a:latin typeface="微软雅黑" panose="020B0503020204020204" charset="-122"/>
                    <a:ea typeface="微软雅黑" panose="020B0503020204020204" charset="-122"/>
                    <a:cs typeface="+mn-cs"/>
                  </a:rPr>
                  <a:t>方向的旋转门编码和纠缠，</a:t>
                </a:r>
                <a:r>
                  <a:rPr lang="zh-CN" altLang="zh-CN" sz="1600" b="0" i="0" kern="1200">
                    <a:solidFill>
                      <a:schemeClr val="tx1"/>
                    </a:solidFill>
                    <a:effectLst/>
                    <a:latin typeface="微软雅黑" panose="020B0503020204020204" charset="-122"/>
                    <a:ea typeface="微软雅黑" panose="020B0503020204020204" charset="-122"/>
                    <a:cs typeface="+mn-cs"/>
                  </a:rPr>
                  <a:t>包含单比特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𝑅</m:t>
                        </m:r>
                      </m:e>
                      <m:sub>
                        <m:r>
                          <a:rPr lang="zh-CN" altLang="en-US" sz="1600" i="1" kern="1200">
                            <a:solidFill>
                              <a:schemeClr val="tx1"/>
                            </a:solidFill>
                            <a:latin typeface="Cambria Math" panose="02040503050406030204" pitchFamily="18" charset="0"/>
                            <a:ea typeface="微软雅黑" panose="020B0503020204020204" charset="-122"/>
                            <a:cs typeface="+mn-cs"/>
                          </a:rPr>
                          <m:t>𝑋</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旋转和对称 CNOT 纠缠层，</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𝛼</m:t>
                        </m:r>
                      </m:e>
                      <m:sub>
                        <m:r>
                          <a:rPr lang="zh-CN" altLang="en-US" sz="1600" i="1" kern="1200">
                            <a:solidFill>
                              <a:schemeClr val="tx1"/>
                            </a:solidFill>
                            <a:latin typeface="Cambria Math" panose="02040503050406030204" pitchFamily="18" charset="0"/>
                            <a:ea typeface="微软雅黑" panose="020B0503020204020204" charset="-122"/>
                            <a:cs typeface="+mn-cs"/>
                          </a:rPr>
                          <m:t>𝑖</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𝑛</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为可学习角度。将经典数据 </a:t>
                </a:r>
                <a14:m>
                  <m:oMath xmlns:m="http://schemas.openxmlformats.org/officeDocument/2006/math">
                    <m:sSub>
                      <m:sSubPr>
                        <m:ctrlPr>
                          <a:rPr lang="en-US" altLang="zh-CN" sz="1600" i="1" kern="1200">
                            <a:solidFill>
                              <a:schemeClr val="tx1"/>
                            </a:solidFill>
                            <a:latin typeface="Cambria Math" panose="02040503050406030204" pitchFamily="18" charset="0"/>
                            <a:ea typeface="微软雅黑" panose="020B0503020204020204" charset="-122"/>
                            <a:cs typeface="+mn-cs"/>
                          </a:rPr>
                        </m:ctrlPr>
                      </m:sSubPr>
                      <m:e>
                        <m:r>
                          <a:rPr lang="en-US" altLang="zh-CN" sz="1600" i="1" kern="1200">
                            <a:solidFill>
                              <a:schemeClr val="tx1"/>
                            </a:solidFill>
                            <a:latin typeface="Cambria Math" panose="02040503050406030204" pitchFamily="18" charset="0"/>
                            <a:ea typeface="微软雅黑" panose="020B0503020204020204" charset="-122"/>
                            <a:cs typeface="+mn-cs"/>
                          </a:rPr>
                          <m:t>ℎ</m:t>
                        </m:r>
                      </m:e>
                      <m:sub>
                        <m:r>
                          <a:rPr lang="zh-CN" altLang="en-US" sz="1600" i="1" kern="1200">
                            <a:solidFill>
                              <a:schemeClr val="tx1"/>
                            </a:solidFill>
                            <a:latin typeface="Cambria Math" panose="02040503050406030204" pitchFamily="18" charset="0"/>
                            <a:ea typeface="微软雅黑" panose="020B0503020204020204" charset="-122"/>
                            <a:cs typeface="+mn-cs"/>
                          </a:rPr>
                          <m:t>𝑡</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𝑛</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以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𝑅</m:t>
                        </m:r>
                      </m:e>
                      <m:sub>
                        <m:r>
                          <a:rPr lang="zh-CN" altLang="en-US" sz="1600" i="1" kern="1200">
                            <a:solidFill>
                              <a:schemeClr val="tx1"/>
                            </a:solidFill>
                            <a:latin typeface="Cambria Math" panose="02040503050406030204" pitchFamily="18" charset="0"/>
                            <a:ea typeface="微软雅黑" panose="020B0503020204020204" charset="-122"/>
                            <a:cs typeface="+mn-cs"/>
                          </a:rPr>
                          <m:t>𝑍</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旋转编码到量子态，</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𝛽</m:t>
                        </m:r>
                      </m:e>
                      <m:sub>
                        <m:r>
                          <a:rPr lang="zh-CN" altLang="en-US" sz="1600" i="1" kern="1200">
                            <a:solidFill>
                              <a:schemeClr val="tx1"/>
                            </a:solidFill>
                            <a:latin typeface="Cambria Math" panose="02040503050406030204" pitchFamily="18" charset="0"/>
                            <a:ea typeface="微软雅黑" panose="020B0503020204020204" charset="-122"/>
                            <a:cs typeface="+mn-cs"/>
                          </a:rPr>
                          <m:t>𝑖</m:t>
                        </m:r>
                        <m:r>
                          <a:rPr lang="en-US" altLang="zh-CN" sz="1600" i="0" kern="1200">
                            <a:solidFill>
                              <a:schemeClr val="tx1"/>
                            </a:solidFill>
                            <a:latin typeface="Cambria Math" panose="02040503050406030204" pitchFamily="18" charset="0"/>
                            <a:ea typeface="微软雅黑" panose="020B0503020204020204" charset="-122"/>
                            <a:cs typeface="+mn-cs"/>
                          </a:rPr>
                          <m:t>,</m:t>
                        </m:r>
                        <m:r>
                          <a:rPr lang="zh-CN" altLang="en-US" sz="1600" i="1" kern="1200">
                            <a:solidFill>
                              <a:schemeClr val="tx1"/>
                            </a:solidFill>
                            <a:latin typeface="Cambria Math" panose="02040503050406030204" pitchFamily="18" charset="0"/>
                            <a:ea typeface="微软雅黑" panose="020B0503020204020204" charset="-122"/>
                            <a:cs typeface="+mn-cs"/>
                          </a:rPr>
                          <m:t>𝑛</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为可学习缩放。经过深度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𝐷</m:t>
                    </m:r>
                  </m:oMath>
                </a14:m>
                <a:r>
                  <a:rPr lang="zh-CN" altLang="zh-CN" sz="1600" b="0" i="0" kern="1200">
                    <a:solidFill>
                      <a:schemeClr val="tx1"/>
                    </a:solidFill>
                    <a:effectLst/>
                    <a:latin typeface="微软雅黑" panose="020B0503020204020204" charset="-122"/>
                    <a:ea typeface="微软雅黑" panose="020B0503020204020204" charset="-122"/>
                    <a:cs typeface="+mn-cs"/>
                  </a:rPr>
                  <a:t>后，对每个量子比特测量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𝑍</m:t>
                    </m:r>
                  </m:oMath>
                </a14:m>
                <a:r>
                  <a:rPr lang="zh-CN" altLang="zh-CN" sz="1600" b="0" i="0" kern="1200">
                    <a:solidFill>
                      <a:schemeClr val="tx1"/>
                    </a:solidFill>
                    <a:effectLst/>
                    <a:latin typeface="微软雅黑" panose="020B0503020204020204" charset="-122"/>
                    <a:ea typeface="微软雅黑" panose="020B0503020204020204" charset="-122"/>
                    <a:cs typeface="+mn-cs"/>
                  </a:rPr>
                  <a:t>期望：</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Choice>
        <mc:Fallback xmlns="">
          <p:sp>
            <p:nvSpPr>
              <p:cNvPr id="1049134" name="备注占位符 2"/>
              <p:cNvSpPr>
                <a:spLocks noGrp="1"/>
              </p:cNvSpPr>
              <p:nvPr>
                <p:ph type="body" idx="1"/>
              </p:nvPr>
            </p:nvSpPr>
            <p:spPr/>
            <p:txBody>
              <a:bodyPr/>
              <a:lstStyle/>
              <a:p>
                <a:pPr algn="just"/>
                <a:r>
                  <a:rPr lang="zh-CN" altLang="zh-CN" sz="1600" b="0" i="0" kern="1200">
                    <a:solidFill>
                      <a:schemeClr val="tx1"/>
                    </a:solidFill>
                    <a:effectLst/>
                    <a:latin typeface="微软雅黑" panose="020B0503020204020204" charset="-122"/>
                    <a:ea typeface="微软雅黑" panose="020B0503020204020204" charset="-122"/>
                    <a:cs typeface="+mn-cs"/>
                  </a:rPr>
                  <a:t>子序列映射为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维嵌入向量</a:t>
                </a:r>
                <a:r>
                  <a:rPr lang="zh-CN" altLang="en-US" sz="1600" b="0" i="0" kern="1200">
                    <a:solidFill>
                      <a:schemeClr val="tx1"/>
                    </a:solidFill>
                    <a:effectLst/>
                    <a:latin typeface="微软雅黑" panose="020B0503020204020204" charset="-122"/>
                    <a:ea typeface="微软雅黑" panose="020B0503020204020204" charset="-122"/>
                    <a:cs typeface="+mn-cs"/>
                  </a:rPr>
                  <a:t>。之后进行</a:t>
                </a:r>
                <a:r>
                  <a:rPr lang="en-US" altLang="zh-CN" sz="1600" b="0" i="0" kern="1200">
                    <a:solidFill>
                      <a:schemeClr val="tx1"/>
                    </a:solidFill>
                    <a:effectLst/>
                    <a:latin typeface="微软雅黑" panose="020B0503020204020204" charset="-122"/>
                    <a:ea typeface="微软雅黑" panose="020B0503020204020204" charset="-122"/>
                    <a:cs typeface="+mn-cs"/>
                  </a:rPr>
                  <a:t>X</a:t>
                </a:r>
                <a:r>
                  <a:rPr lang="zh-CN" altLang="en-US" sz="1600" b="0" i="0" kern="1200">
                    <a:solidFill>
                      <a:schemeClr val="tx1"/>
                    </a:solidFill>
                    <a:effectLst/>
                    <a:latin typeface="微软雅黑" panose="020B0503020204020204" charset="-122"/>
                    <a:ea typeface="微软雅黑" panose="020B0503020204020204" charset="-122"/>
                    <a:cs typeface="+mn-cs"/>
                  </a:rPr>
                  <a:t>方向的旋转门编码和纠缠，</a:t>
                </a:r>
                <a:r>
                  <a:rPr lang="zh-CN" altLang="zh-CN" sz="1600" b="0" i="0" kern="1200">
                    <a:solidFill>
                      <a:schemeClr val="tx1"/>
                    </a:solidFill>
                    <a:effectLst/>
                    <a:latin typeface="微软雅黑" panose="020B0503020204020204" charset="-122"/>
                    <a:ea typeface="微软雅黑" panose="020B0503020204020204" charset="-122"/>
                    <a:cs typeface="+mn-cs"/>
                  </a:rPr>
                  <a:t>包含单比特 </a:t>
                </a:r>
                <a:r>
                  <a:rPr lang="zh-CN" altLang="en-US" sz="1600" i="0" kern="1200">
                    <a:solidFill>
                      <a:schemeClr val="tx1"/>
                    </a:solidFill>
                    <a:latin typeface="微软雅黑" panose="020B0503020204020204" charset="-122"/>
                    <a:ea typeface="微软雅黑" panose="020B0503020204020204" charset="-122"/>
                    <a:cs typeface="+mn-cs"/>
                  </a:rPr>
                  <a:t>𝑅_𝑋</a:t>
                </a:r>
                <a:r>
                  <a:rPr lang="zh-CN" altLang="zh-CN" sz="1600" b="0" i="0" kern="1200">
                    <a:solidFill>
                      <a:schemeClr val="tx1"/>
                    </a:solidFill>
                    <a:effectLst/>
                    <a:latin typeface="微软雅黑" panose="020B0503020204020204" charset="-122"/>
                    <a:ea typeface="微软雅黑" panose="020B0503020204020204" charset="-122"/>
                    <a:cs typeface="+mn-cs"/>
                  </a:rPr>
                  <a:t>旋转和对称 CNOT 纠缠层，</a:t>
                </a:r>
                <a:r>
                  <a:rPr lang="zh-CN" altLang="en-US" sz="1600" i="0" kern="1200">
                    <a:solidFill>
                      <a:schemeClr val="tx1"/>
                    </a:solidFill>
                    <a:latin typeface="微软雅黑" panose="020B0503020204020204" charset="-122"/>
                    <a:ea typeface="微软雅黑" panose="020B0503020204020204" charset="-122"/>
                    <a:cs typeface="+mn-cs"/>
                  </a:rPr>
                  <a:t>𝛼_(𝑖</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 为可学习角度。将经典数据 </a:t>
                </a:r>
                <a:r>
                  <a:rPr lang="en-US" altLang="zh-CN" sz="1600" i="0" kern="1200">
                    <a:solidFill>
                      <a:schemeClr val="tx1"/>
                    </a:solidFill>
                    <a:latin typeface="微软雅黑" panose="020B0503020204020204" charset="-122"/>
                    <a:ea typeface="微软雅黑" panose="020B0503020204020204" charset="-122"/>
                    <a:cs typeface="+mn-cs"/>
                  </a:rPr>
                  <a:t>ℎ</a:t>
                </a:r>
                <a:r>
                  <a:rPr lang="zh-CN" altLang="en-US" sz="1600" i="0" kern="1200">
                    <a:solidFill>
                      <a:schemeClr val="tx1"/>
                    </a:solidFill>
                    <a:latin typeface="微软雅黑" panose="020B0503020204020204" charset="-122"/>
                    <a:ea typeface="微软雅黑" panose="020B0503020204020204" charset="-122"/>
                    <a:cs typeface="+mn-cs"/>
                  </a:rPr>
                  <a:t>_(𝑡</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以 </a:t>
                </a:r>
                <a:r>
                  <a:rPr lang="zh-CN" altLang="en-US" sz="1600" i="0" kern="1200">
                    <a:solidFill>
                      <a:schemeClr val="tx1"/>
                    </a:solidFill>
                    <a:latin typeface="微软雅黑" panose="020B0503020204020204" charset="-122"/>
                    <a:ea typeface="微软雅黑" panose="020B0503020204020204" charset="-122"/>
                    <a:cs typeface="+mn-cs"/>
                  </a:rPr>
                  <a:t>𝑅_𝑍</a:t>
                </a:r>
                <a:r>
                  <a:rPr lang="zh-CN" altLang="zh-CN" sz="1600" b="0" i="0" kern="1200">
                    <a:solidFill>
                      <a:schemeClr val="tx1"/>
                    </a:solidFill>
                    <a:effectLst/>
                    <a:latin typeface="微软雅黑" panose="020B0503020204020204" charset="-122"/>
                    <a:ea typeface="微软雅黑" panose="020B0503020204020204" charset="-122"/>
                    <a:cs typeface="+mn-cs"/>
                  </a:rPr>
                  <a:t>旋转编码到量子态，</a:t>
                </a:r>
                <a:r>
                  <a:rPr lang="zh-CN" altLang="en-US" sz="1600" i="0" kern="1200">
                    <a:solidFill>
                      <a:schemeClr val="tx1"/>
                    </a:solidFill>
                    <a:latin typeface="微软雅黑" panose="020B0503020204020204" charset="-122"/>
                    <a:ea typeface="微软雅黑" panose="020B0503020204020204" charset="-122"/>
                    <a:cs typeface="+mn-cs"/>
                  </a:rPr>
                  <a:t>𝛽_(𝑖</a:t>
                </a:r>
                <a:r>
                  <a:rPr lang="en-US" altLang="zh-CN" sz="1600" i="0" kern="1200">
                    <a:solidFill>
                      <a:schemeClr val="tx1"/>
                    </a:solidFill>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 为可学习缩放。经过深度 </a:t>
                </a:r>
                <a:r>
                  <a:rPr lang="zh-CN" altLang="en-US" sz="1600" i="0" kern="1200">
                    <a:solidFill>
                      <a:schemeClr val="tx1"/>
                    </a:solidFill>
                    <a:latin typeface="微软雅黑" panose="020B0503020204020204" charset="-122"/>
                    <a:ea typeface="微软雅黑" panose="020B0503020204020204" charset="-122"/>
                    <a:cs typeface="+mn-cs"/>
                  </a:rPr>
                  <a:t>𝐷</a:t>
                </a:r>
                <a:r>
                  <a:rPr lang="zh-CN" altLang="zh-CN" sz="1600" b="0" i="0" kern="1200">
                    <a:solidFill>
                      <a:schemeClr val="tx1"/>
                    </a:solidFill>
                    <a:effectLst/>
                    <a:latin typeface="微软雅黑" panose="020B0503020204020204" charset="-122"/>
                    <a:ea typeface="微软雅黑" panose="020B0503020204020204" charset="-122"/>
                    <a:cs typeface="+mn-cs"/>
                  </a:rPr>
                  <a:t>后，对每个量子比特测量 </a:t>
                </a:r>
                <a:r>
                  <a:rPr lang="zh-CN" altLang="en-US" sz="1600" i="0" kern="1200">
                    <a:solidFill>
                      <a:schemeClr val="tx1"/>
                    </a:solidFill>
                    <a:latin typeface="微软雅黑" panose="020B0503020204020204" charset="-122"/>
                    <a:ea typeface="微软雅黑" panose="020B0503020204020204" charset="-122"/>
                    <a:cs typeface="+mn-cs"/>
                  </a:rPr>
                  <a:t>𝑍</a:t>
                </a:r>
                <a:r>
                  <a:rPr lang="zh-CN" altLang="zh-CN" sz="1600" b="0" i="0" kern="1200">
                    <a:solidFill>
                      <a:schemeClr val="tx1"/>
                    </a:solidFill>
                    <a:effectLst/>
                    <a:latin typeface="微软雅黑" panose="020B0503020204020204" charset="-122"/>
                    <a:ea typeface="微软雅黑" panose="020B0503020204020204" charset="-122"/>
                    <a:cs typeface="+mn-cs"/>
                  </a:rPr>
                  <a:t>期望：</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Fallback>
      </mc:AlternateContent>
      <p:sp>
        <p:nvSpPr>
          <p:cNvPr id="1049135" name="灯片编号占位符 3"/>
          <p:cNvSpPr>
            <a:spLocks noGrp="1"/>
          </p:cNvSpPr>
          <p:nvPr>
            <p:ph type="sldNum" sz="quarter" idx="10"/>
          </p:nvPr>
        </p:nvSpPr>
        <p:spPr/>
        <p:txBody>
          <a:bodyPr/>
          <a:lstStyle/>
          <a:p>
            <a:fld id="{677A2CBA-E486-4DC8-8696-C7854B0A28FD}"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2" name="幻灯片图像占位符 1"/>
          <p:cNvSpPr>
            <a:spLocks noGrp="1" noRot="1" noChangeAspect="1"/>
          </p:cNvSpPr>
          <p:nvPr>
            <p:ph type="sldImg"/>
          </p:nvPr>
        </p:nvSpPr>
        <p:spPr>
          <a:xfrm>
            <a:off x="685800" y="1143000"/>
            <a:ext cx="5486400" cy="3086100"/>
          </a:xfrm>
        </p:spPr>
      </p:sp>
      <p:sp>
        <p:nvSpPr>
          <p:cNvPr id="1049143"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44" name="灯片编号占位符 3"/>
          <p:cNvSpPr>
            <a:spLocks noGrp="1"/>
          </p:cNvSpPr>
          <p:nvPr>
            <p:ph type="sldNum" sz="quarter" idx="10"/>
          </p:nvPr>
        </p:nvSpPr>
        <p:spPr/>
        <p:txBody>
          <a:bodyPr/>
          <a:lstStyle/>
          <a:p>
            <a:fld id="{677A2CBA-E486-4DC8-8696-C7854B0A28FD}"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1" name="幻灯片图像占位符 1"/>
          <p:cNvSpPr>
            <a:spLocks noGrp="1" noRot="1" noChangeAspect="1"/>
          </p:cNvSpPr>
          <p:nvPr>
            <p:ph type="sldImg"/>
          </p:nvPr>
        </p:nvSpPr>
        <p:spPr>
          <a:xfrm>
            <a:off x="685800" y="1143000"/>
            <a:ext cx="5486400" cy="3086100"/>
          </a:xfrm>
        </p:spPr>
      </p:sp>
      <p:sp>
        <p:nvSpPr>
          <p:cNvPr id="1049152"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53" name="灯片编号占位符 3"/>
          <p:cNvSpPr>
            <a:spLocks noGrp="1"/>
          </p:cNvSpPr>
          <p:nvPr>
            <p:ph type="sldNum" sz="quarter" idx="10"/>
          </p:nvPr>
        </p:nvSpPr>
        <p:spPr/>
        <p:txBody>
          <a:bodyPr/>
          <a:lstStyle/>
          <a:p>
            <a:fld id="{677A2CBA-E486-4DC8-8696-C7854B0A28FD}"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0" name="幻灯片图像占位符 1"/>
          <p:cNvSpPr>
            <a:spLocks noGrp="1" noRot="1" noChangeAspect="1"/>
          </p:cNvSpPr>
          <p:nvPr>
            <p:ph type="sldImg"/>
          </p:nvPr>
        </p:nvSpPr>
        <p:spPr>
          <a:xfrm>
            <a:off x="685800" y="1143000"/>
            <a:ext cx="5486400" cy="3086100"/>
          </a:xfrm>
        </p:spPr>
      </p:sp>
      <p:sp>
        <p:nvSpPr>
          <p:cNvPr id="1049161"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62" name="灯片编号占位符 3"/>
          <p:cNvSpPr>
            <a:spLocks noGrp="1"/>
          </p:cNvSpPr>
          <p:nvPr>
            <p:ph type="sldNum" sz="quarter" idx="10"/>
          </p:nvPr>
        </p:nvSpPr>
        <p:spPr/>
        <p:txBody>
          <a:bodyPr/>
          <a:lstStyle/>
          <a:p>
            <a:fld id="{677A2CBA-E486-4DC8-8696-C7854B0A28F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31A11-4A5A-C6DD-BBA3-2B30A7CE5EEB}"/>
            </a:ext>
          </a:extLst>
        </p:cNvPr>
        <p:cNvGrpSpPr/>
        <p:nvPr/>
      </p:nvGrpSpPr>
      <p:grpSpPr>
        <a:xfrm>
          <a:off x="0" y="0"/>
          <a:ext cx="0" cy="0"/>
          <a:chOff x="0" y="0"/>
          <a:chExt cx="0" cy="0"/>
        </a:xfrm>
      </p:grpSpPr>
      <p:sp>
        <p:nvSpPr>
          <p:cNvPr id="1049160" name="幻灯片图像占位符 1">
            <a:extLst>
              <a:ext uri="{FF2B5EF4-FFF2-40B4-BE49-F238E27FC236}">
                <a16:creationId xmlns:a16="http://schemas.microsoft.com/office/drawing/2014/main" id="{99B7414A-1B66-7B79-1A9C-90D3EFD7F8B6}"/>
              </a:ext>
            </a:extLst>
          </p:cNvPr>
          <p:cNvSpPr>
            <a:spLocks noGrp="1" noRot="1" noChangeAspect="1"/>
          </p:cNvSpPr>
          <p:nvPr>
            <p:ph type="sldImg"/>
          </p:nvPr>
        </p:nvSpPr>
        <p:spPr>
          <a:xfrm>
            <a:off x="685800" y="1143000"/>
            <a:ext cx="5486400" cy="3086100"/>
          </a:xfrm>
        </p:spPr>
      </p:sp>
      <p:sp>
        <p:nvSpPr>
          <p:cNvPr id="1049161" name="备注占位符 2">
            <a:extLst>
              <a:ext uri="{FF2B5EF4-FFF2-40B4-BE49-F238E27FC236}">
                <a16:creationId xmlns:a16="http://schemas.microsoft.com/office/drawing/2014/main" id="{39D781E2-DDE0-FA0C-A674-54BB4748D234}"/>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600" kern="1200">
                <a:solidFill>
                  <a:schemeClr val="tx1"/>
                </a:solidFill>
                <a:effectLst/>
                <a:latin typeface="微软雅黑" panose="020B0503020204020204" charset="-122"/>
                <a:ea typeface="微软雅黑" panose="020B0503020204020204" charset="-122"/>
                <a:cs typeface="+mn-cs"/>
              </a:rPr>
              <a:t>在允许的频段范围内，量子神经网络还可具有软谱偏置。这本质上可通过考察将傅里叶系数与参数 </a:t>
            </a:r>
            <a:r>
              <a:rPr lang="en-US" altLang="zh-CN" sz="1600" kern="1200">
                <a:solidFill>
                  <a:schemeClr val="tx1"/>
                </a:solidFill>
                <a:effectLst/>
                <a:latin typeface="微软雅黑" panose="020B0503020204020204" charset="-122"/>
                <a:ea typeface="微软雅黑" panose="020B0503020204020204" charset="-122"/>
                <a:cs typeface="+mn-cs"/>
              </a:rPr>
              <a:t>aj</a:t>
            </a:r>
            <a:r>
              <a:rPr lang="zh-CN" altLang="en-US" sz="1600" kern="1200">
                <a:solidFill>
                  <a:schemeClr val="tx1"/>
                </a:solidFill>
                <a:effectLst/>
                <a:latin typeface="微软雅黑" panose="020B0503020204020204" charset="-122"/>
                <a:ea typeface="微软雅黑" panose="020B0503020204020204" charset="-122"/>
                <a:cs typeface="+mn-cs"/>
              </a:rPr>
              <a:t>，</a:t>
            </a:r>
            <a:r>
              <a:rPr lang="en-US" altLang="zh-CN" sz="1600" kern="1200">
                <a:solidFill>
                  <a:schemeClr val="tx1"/>
                </a:solidFill>
                <a:effectLst/>
                <a:latin typeface="微软雅黑" panose="020B0503020204020204" charset="-122"/>
                <a:ea typeface="微软雅黑" panose="020B0503020204020204" charset="-122"/>
                <a:cs typeface="+mn-cs"/>
              </a:rPr>
              <a:t>k </a:t>
            </a:r>
            <a:r>
              <a:rPr lang="zh-CN" altLang="en-US" sz="1600" kern="1200">
                <a:solidFill>
                  <a:schemeClr val="tx1"/>
                </a:solidFill>
                <a:effectLst/>
                <a:latin typeface="微软雅黑" panose="020B0503020204020204" charset="-122"/>
                <a:ea typeface="微软雅黑" panose="020B0503020204020204" charset="-122"/>
                <a:cs typeface="+mn-cs"/>
              </a:rPr>
              <a:t>相关联的组合表达式来理解；这些参数取决于电路中所采用的门操作和测量方式。</a:t>
            </a:r>
          </a:p>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62" name="灯片编号占位符 3">
            <a:extLst>
              <a:ext uri="{FF2B5EF4-FFF2-40B4-BE49-F238E27FC236}">
                <a16:creationId xmlns:a16="http://schemas.microsoft.com/office/drawing/2014/main" id="{7043BC00-C79E-6294-CB19-75FB58207C28}"/>
              </a:ext>
            </a:extLst>
          </p:cNvPr>
          <p:cNvSpPr>
            <a:spLocks noGrp="1"/>
          </p:cNvSpPr>
          <p:nvPr>
            <p:ph type="sldNum" sz="quarter" idx="10"/>
          </p:nvPr>
        </p:nvSpPr>
        <p:spPr/>
        <p:txBody>
          <a:bodyPr/>
          <a:lstStyle/>
          <a:p>
            <a:fld id="{677A2CBA-E486-4DC8-8696-C7854B0A28FD}" type="slidenum">
              <a:rPr lang="zh-CN" altLang="en-US" smtClean="0"/>
              <a:t>38</a:t>
            </a:fld>
            <a:endParaRPr lang="zh-CN" altLang="en-US"/>
          </a:p>
        </p:txBody>
      </p:sp>
    </p:spTree>
    <p:extLst>
      <p:ext uri="{BB962C8B-B14F-4D97-AF65-F5344CB8AC3E}">
        <p14:creationId xmlns:p14="http://schemas.microsoft.com/office/powerpoint/2010/main" val="10072909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9" name="幻灯片图像占位符 1"/>
          <p:cNvSpPr>
            <a:spLocks noGrp="1" noRot="1" noChangeAspect="1"/>
          </p:cNvSpPr>
          <p:nvPr>
            <p:ph type="sldImg"/>
          </p:nvPr>
        </p:nvSpPr>
        <p:spPr>
          <a:xfrm>
            <a:off x="685800" y="1143000"/>
            <a:ext cx="5486400" cy="3086100"/>
          </a:xfrm>
        </p:spPr>
      </p:sp>
      <p:sp>
        <p:nvSpPr>
          <p:cNvPr id="1049170" name="备注占位符 2"/>
          <p:cNvSpPr>
            <a:spLocks noGrp="1"/>
          </p:cNvSpPr>
          <p:nvPr>
            <p:ph type="body" idx="1"/>
          </p:nvPr>
        </p:nvSpPr>
        <p:spPr/>
        <p:txBody>
          <a:bodyPr/>
          <a:lstStyle/>
          <a:p>
            <a:pPr algn="just"/>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171" name="灯片编号占位符 3"/>
          <p:cNvSpPr>
            <a:spLocks noGrp="1"/>
          </p:cNvSpPr>
          <p:nvPr>
            <p:ph type="sldNum" sz="quarter" idx="10"/>
          </p:nvPr>
        </p:nvSpPr>
        <p:spPr/>
        <p:txBody>
          <a:bodyPr/>
          <a:lstStyle/>
          <a:p>
            <a:fld id="{677A2CBA-E486-4DC8-8696-C7854B0A28FD}"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5" name="幻灯片图像占位符 1"/>
          <p:cNvSpPr>
            <a:spLocks noGrp="1" noRot="1" noChangeAspect="1"/>
          </p:cNvSpPr>
          <p:nvPr>
            <p:ph type="sldImg"/>
          </p:nvPr>
        </p:nvSpPr>
        <p:spPr>
          <a:xfrm>
            <a:off x="685800" y="1143000"/>
            <a:ext cx="5486400" cy="3086100"/>
          </a:xfrm>
        </p:spPr>
      </p:sp>
      <p:sp>
        <p:nvSpPr>
          <p:cNvPr id="1049206" name="备注占位符 2"/>
          <p:cNvSpPr>
            <a:spLocks noGrp="1"/>
          </p:cNvSpPr>
          <p:nvPr>
            <p:ph type="body" idx="1"/>
          </p:nvPr>
        </p:nvSpPr>
        <p:spPr/>
        <p:txBody>
          <a:bodyPr/>
          <a:lstStyle/>
          <a:p>
            <a:endParaRPr lang="zh-CN" altLang="en-US" dirty="0"/>
          </a:p>
        </p:txBody>
      </p:sp>
      <p:sp>
        <p:nvSpPr>
          <p:cNvPr id="1049207" name="灯片编号占位符 3"/>
          <p:cNvSpPr>
            <a:spLocks noGrp="1"/>
          </p:cNvSpPr>
          <p:nvPr>
            <p:ph type="sldNum" sz="quarter" idx="10"/>
          </p:nvPr>
        </p:nvSpPr>
        <p:spPr/>
        <p:txBody>
          <a:bodyPr/>
          <a:lstStyle/>
          <a:p>
            <a:fld id="{677A2CBA-E486-4DC8-8696-C7854B0A28FD}"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13" name="幻灯片图像占位符 1"/>
          <p:cNvSpPr>
            <a:spLocks noGrp="1" noRot="1" noChangeAspect="1"/>
          </p:cNvSpPr>
          <p:nvPr>
            <p:ph type="sldImg"/>
          </p:nvPr>
        </p:nvSpPr>
        <p:spPr>
          <a:xfrm>
            <a:off x="685800" y="1143000"/>
            <a:ext cx="5486400" cy="3086100"/>
          </a:xfrm>
        </p:spPr>
      </p:sp>
      <p:sp>
        <p:nvSpPr>
          <p:cNvPr id="1049214"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预测时域区间</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215"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41</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21" name="幻灯片图像占位符 1"/>
          <p:cNvSpPr>
            <a:spLocks noGrp="1" noRot="1" noChangeAspect="1"/>
          </p:cNvSpPr>
          <p:nvPr>
            <p:ph type="sldImg"/>
          </p:nvPr>
        </p:nvSpPr>
        <p:spPr>
          <a:xfrm>
            <a:off x="685800" y="1143000"/>
            <a:ext cx="5486400" cy="3086100"/>
          </a:xfrm>
        </p:spPr>
      </p:sp>
      <p:sp>
        <p:nvSpPr>
          <p:cNvPr id="104922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600" kern="1200">
              <a:solidFill>
                <a:schemeClr val="tx1"/>
              </a:solidFill>
              <a:effectLst/>
              <a:latin typeface="微软雅黑" panose="020B0503020204020204" charset="-122"/>
              <a:ea typeface="微软雅黑" panose="020B0503020204020204" charset="-122"/>
              <a:cs typeface="+mn-cs"/>
            </a:endParaRPr>
          </a:p>
        </p:txBody>
      </p:sp>
      <p:sp>
        <p:nvSpPr>
          <p:cNvPr id="1049223"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77A2CBA-E486-4DC8-8696-C7854B0A28FD}"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charset="-122"/>
                <a:ea typeface="微软雅黑" panose="020B0503020204020204" charset="-122"/>
                <a:cs typeface="+mn-cs"/>
              </a:rPr>
              <a:t>42</a:t>
            </a:fld>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2" name="幻灯片图像占位符 1"/>
          <p:cNvSpPr>
            <a:spLocks noGrp="1" noRot="1" noChangeAspect="1"/>
          </p:cNvSpPr>
          <p:nvPr>
            <p:ph type="sldImg"/>
          </p:nvPr>
        </p:nvSpPr>
        <p:spPr>
          <a:xfrm>
            <a:off x="685800" y="1143000"/>
            <a:ext cx="5486400" cy="3086100"/>
          </a:xfrm>
        </p:spPr>
      </p:sp>
      <p:sp>
        <p:nvSpPr>
          <p:cNvPr id="1049263" name="备注占位符 2"/>
          <p:cNvSpPr>
            <a:spLocks noGrp="1"/>
          </p:cNvSpPr>
          <p:nvPr>
            <p:ph type="body" idx="1"/>
          </p:nvPr>
        </p:nvSpPr>
        <p:spPr/>
        <p:txBody>
          <a:bodyPr/>
          <a:lstStyle/>
          <a:p>
            <a:endParaRPr lang="zh-CN" altLang="en-US" dirty="0"/>
          </a:p>
        </p:txBody>
      </p:sp>
      <p:sp>
        <p:nvSpPr>
          <p:cNvPr id="1049264" name="灯片编号占位符 3"/>
          <p:cNvSpPr>
            <a:spLocks noGrp="1"/>
          </p:cNvSpPr>
          <p:nvPr>
            <p:ph type="sldNum" sz="quarter" idx="10"/>
          </p:nvPr>
        </p:nvSpPr>
        <p:spPr/>
        <p:txBody>
          <a:bodyPr/>
          <a:lstStyle/>
          <a:p>
            <a:fld id="{677A2CBA-E486-4DC8-8696-C7854B0A28FD}"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73" name="幻灯片图像占位符 1"/>
          <p:cNvSpPr>
            <a:spLocks noGrp="1" noRot="1" noChangeAspect="1"/>
          </p:cNvSpPr>
          <p:nvPr>
            <p:ph type="sldImg"/>
          </p:nvPr>
        </p:nvSpPr>
        <p:spPr>
          <a:xfrm>
            <a:off x="685800" y="1143000"/>
            <a:ext cx="5486400" cy="3086100"/>
          </a:xfrm>
        </p:spPr>
      </p:sp>
      <p:sp>
        <p:nvSpPr>
          <p:cNvPr id="1049274"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本文对量子联合学习领域做出了几项重要贡献。首先，本文介绍了一种新颖的纠缠量子神经网络（</a:t>
            </a:r>
            <a:r>
              <a:rPr lang="en-US" altLang="zh-CN" sz="1600" kern="1200">
                <a:solidFill>
                  <a:schemeClr val="tx1"/>
                </a:solidFill>
                <a:effectLst/>
                <a:latin typeface="微软雅黑" panose="020B0503020204020204" charset="-122"/>
                <a:ea typeface="微软雅黑" panose="020B0503020204020204" charset="-122"/>
                <a:cs typeface="+mn-cs"/>
              </a:rPr>
              <a:t>eSQNN</a:t>
            </a:r>
            <a:r>
              <a:rPr lang="zh-CN" altLang="en-US" sz="1600" kern="1200">
                <a:solidFill>
                  <a:schemeClr val="tx1"/>
                </a:solidFill>
                <a:effectLst/>
                <a:latin typeface="微软雅黑" panose="020B0503020204020204" charset="-122"/>
                <a:ea typeface="微软雅黑" panose="020B0503020204020204" charset="-122"/>
                <a:cs typeface="+mn-cs"/>
              </a:rPr>
              <a:t>）架构，它允许深度可控的量子神经网络，并通过（</a:t>
            </a:r>
            <a:r>
              <a:rPr lang="en-US" altLang="zh-CN" sz="1600" kern="1200">
                <a:solidFill>
                  <a:schemeClr val="tx1"/>
                </a:solidFill>
                <a:effectLst/>
                <a:latin typeface="微软雅黑" panose="020B0503020204020204" charset="-122"/>
                <a:ea typeface="微软雅黑" panose="020B0503020204020204" charset="-122"/>
                <a:cs typeface="+mn-cs"/>
              </a:rPr>
              <a:t>CU</a:t>
            </a:r>
            <a:r>
              <a:rPr lang="zh-CN" altLang="en-US" sz="1600" kern="1200">
                <a:solidFill>
                  <a:schemeClr val="tx1"/>
                </a:solidFill>
                <a:effectLst/>
                <a:latin typeface="微软雅黑" panose="020B0503020204020204" charset="-122"/>
                <a:ea typeface="微软雅黑" panose="020B0503020204020204" charset="-122"/>
                <a:cs typeface="+mn-cs"/>
              </a:rPr>
              <a:t>）门有效控制纠缠水平。其次，本文对 </a:t>
            </a:r>
            <a:r>
              <a:rPr lang="en-US" altLang="zh-CN" sz="1600" kern="1200">
                <a:solidFill>
                  <a:schemeClr val="tx1"/>
                </a:solidFill>
                <a:effectLst/>
                <a:latin typeface="微软雅黑" panose="020B0503020204020204" charset="-122"/>
                <a:ea typeface="微软雅黑" panose="020B0503020204020204" charset="-122"/>
                <a:cs typeface="+mn-cs"/>
              </a:rPr>
              <a:t>eSQFL </a:t>
            </a:r>
            <a:r>
              <a:rPr lang="zh-CN" altLang="en-US" sz="1600" kern="1200">
                <a:solidFill>
                  <a:schemeClr val="tx1"/>
                </a:solidFill>
                <a:effectLst/>
                <a:latin typeface="微软雅黑" panose="020B0503020204020204" charset="-122"/>
                <a:ea typeface="微软雅黑" panose="020B0503020204020204" charset="-122"/>
                <a:cs typeface="+mn-cs"/>
              </a:rPr>
              <a:t>算法进行了收敛性分析，并通过仿真验证了该算法的优越性能，表明在不同信道条件和数据分布下，该算法的预测精度和鲁棒性均优于现有方法。</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275" name="灯片编号占位符 3"/>
          <p:cNvSpPr>
            <a:spLocks noGrp="1"/>
          </p:cNvSpPr>
          <p:nvPr>
            <p:ph type="sldNum" sz="quarter" idx="10"/>
          </p:nvPr>
        </p:nvSpPr>
        <p:spPr/>
        <p:txBody>
          <a:bodyPr/>
          <a:lstStyle/>
          <a:p>
            <a:fld id="{677A2CBA-E486-4DC8-8696-C7854B0A28FD}"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85" name="幻灯片图像占位符 1"/>
          <p:cNvSpPr>
            <a:spLocks noGrp="1" noRot="1" noChangeAspect="1"/>
          </p:cNvSpPr>
          <p:nvPr>
            <p:ph type="sldImg"/>
          </p:nvPr>
        </p:nvSpPr>
        <p:spPr>
          <a:xfrm>
            <a:off x="685800" y="1143000"/>
            <a:ext cx="5486400" cy="3086100"/>
          </a:xfrm>
        </p:spPr>
      </p:sp>
      <p:sp>
        <p:nvSpPr>
          <p:cNvPr id="104928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9287" name="灯片编号占位符 3"/>
          <p:cNvSpPr>
            <a:spLocks noGrp="1"/>
          </p:cNvSpPr>
          <p:nvPr>
            <p:ph type="sldNum" sz="quarter" idx="10"/>
          </p:nvPr>
        </p:nvSpPr>
        <p:spPr/>
        <p:txBody>
          <a:bodyPr/>
          <a:lstStyle/>
          <a:p>
            <a:fld id="{677A2CBA-E486-4DC8-8696-C7854B0A28F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21" name="幻灯片图像占位符 1"/>
          <p:cNvSpPr>
            <a:spLocks noGrp="1" noRot="1" noChangeAspect="1"/>
          </p:cNvSpPr>
          <p:nvPr>
            <p:ph type="sldImg"/>
          </p:nvPr>
        </p:nvSpPr>
        <p:spPr>
          <a:xfrm>
            <a:off x="685800" y="1143000"/>
            <a:ext cx="5486400" cy="3086100"/>
          </a:xfrm>
        </p:spPr>
      </p:sp>
      <p:sp>
        <p:nvSpPr>
          <p:cNvPr id="1049322" name="备注占位符 2"/>
          <p:cNvSpPr>
            <a:spLocks noGrp="1"/>
          </p:cNvSpPr>
          <p:nvPr>
            <p:ph type="body" idx="1"/>
          </p:nvPr>
        </p:nvSpPr>
        <p:spPr/>
        <p:txBody>
          <a:bodyPr/>
          <a:lstStyle/>
          <a:p>
            <a:r>
              <a:rPr lang="zh-CN" altLang="en-US" dirty="0"/>
              <a:t>主要分为以下四个部分</a:t>
            </a:r>
          </a:p>
        </p:txBody>
      </p:sp>
      <p:sp>
        <p:nvSpPr>
          <p:cNvPr id="1049323" name="灯片编号占位符 3"/>
          <p:cNvSpPr>
            <a:spLocks noGrp="1"/>
          </p:cNvSpPr>
          <p:nvPr>
            <p:ph type="sldNum" sz="quarter" idx="10"/>
          </p:nvPr>
        </p:nvSpPr>
        <p:spPr/>
        <p:txBody>
          <a:bodyPr/>
          <a:lstStyle/>
          <a:p>
            <a:fld id="{677A2CBA-E486-4DC8-8696-C7854B0A28FD}"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57" name="幻灯片图像占位符 1"/>
          <p:cNvSpPr>
            <a:spLocks noGrp="1" noRot="1" noChangeAspect="1"/>
          </p:cNvSpPr>
          <p:nvPr>
            <p:ph type="sldImg"/>
          </p:nvPr>
        </p:nvSpPr>
        <p:spPr>
          <a:xfrm>
            <a:off x="685800" y="1143000"/>
            <a:ext cx="5486400" cy="3086100"/>
          </a:xfrm>
        </p:spPr>
      </p:sp>
      <p:sp>
        <p:nvSpPr>
          <p:cNvPr id="1049358" name="备注占位符 2"/>
          <p:cNvSpPr>
            <a:spLocks noGrp="1"/>
          </p:cNvSpPr>
          <p:nvPr>
            <p:ph type="body" idx="1"/>
          </p:nvPr>
        </p:nvSpPr>
        <p:spPr/>
        <p:txBody>
          <a:bodyPr/>
          <a:lstStyle/>
          <a:p>
            <a:r>
              <a:rPr lang="zh-CN" altLang="en-US" dirty="0"/>
              <a:t>首先是问题描述</a:t>
            </a:r>
          </a:p>
        </p:txBody>
      </p:sp>
      <p:sp>
        <p:nvSpPr>
          <p:cNvPr id="1049359" name="灯片编号占位符 3"/>
          <p:cNvSpPr>
            <a:spLocks noGrp="1"/>
          </p:cNvSpPr>
          <p:nvPr>
            <p:ph type="sldNum" sz="quarter" idx="10"/>
          </p:nvPr>
        </p:nvSpPr>
        <p:spPr/>
        <p:txBody>
          <a:bodyPr/>
          <a:lstStyle/>
          <a:p>
            <a:fld id="{677A2CBA-E486-4DC8-8696-C7854B0A28FD}"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66" name="幻灯片图像占位符 1"/>
          <p:cNvSpPr>
            <a:spLocks noGrp="1" noRot="1" noChangeAspect="1"/>
          </p:cNvSpPr>
          <p:nvPr>
            <p:ph type="sldImg"/>
          </p:nvPr>
        </p:nvSpPr>
        <p:spPr>
          <a:xfrm>
            <a:off x="685800" y="1143000"/>
            <a:ext cx="5486400" cy="3086100"/>
          </a:xfrm>
        </p:spPr>
      </p:sp>
      <p:sp>
        <p:nvSpPr>
          <p:cNvPr id="1049367"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本研究提出了一种基于量子傅里叶变换（</a:t>
            </a:r>
            <a:r>
              <a:rPr lang="en-US" altLang="zh-CN" sz="1600" kern="1200" dirty="0">
                <a:solidFill>
                  <a:schemeClr val="tx1"/>
                </a:solidFill>
                <a:effectLst/>
                <a:latin typeface="微软雅黑" panose="020B0503020204020204" charset="-122"/>
                <a:ea typeface="微软雅黑" panose="020B0503020204020204" charset="-122"/>
                <a:cs typeface="+mn-cs"/>
              </a:rPr>
              <a:t>QFT</a:t>
            </a:r>
            <a:r>
              <a:rPr lang="zh-CN" altLang="en-US" sz="1600" kern="1200" dirty="0">
                <a:solidFill>
                  <a:schemeClr val="tx1"/>
                </a:solidFill>
                <a:effectLst/>
                <a:latin typeface="微软雅黑" panose="020B0503020204020204" charset="-122"/>
                <a:ea typeface="微软雅黑" panose="020B0503020204020204" charset="-122"/>
                <a:cs typeface="+mn-cs"/>
              </a:rPr>
              <a:t>）的量子增强特征提取方法，并将其集成到图卷积神经网络（</a:t>
            </a:r>
            <a:r>
              <a:rPr lang="en-US" altLang="zh-CN" sz="1600" kern="1200" dirty="0">
                <a:solidFill>
                  <a:schemeClr val="tx1"/>
                </a:solidFill>
                <a:effectLst/>
                <a:latin typeface="微软雅黑" panose="020B0503020204020204" charset="-122"/>
                <a:ea typeface="微软雅黑" panose="020B0503020204020204" charset="-122"/>
                <a:cs typeface="+mn-cs"/>
              </a:rPr>
              <a:t>GCN</a:t>
            </a:r>
            <a:r>
              <a:rPr lang="zh-CN" altLang="en-US" sz="1600" kern="1200" dirty="0">
                <a:solidFill>
                  <a:schemeClr val="tx1"/>
                </a:solidFill>
                <a:effectLst/>
                <a:latin typeface="微软雅黑" panose="020B0503020204020204" charset="-122"/>
                <a:ea typeface="微软雅黑" panose="020B0503020204020204" charset="-122"/>
                <a:cs typeface="+mn-cs"/>
              </a:rPr>
              <a:t>）架构中。</a:t>
            </a:r>
            <a:r>
              <a:rPr lang="en-US" altLang="zh-CN" sz="1600" kern="1200" dirty="0">
                <a:solidFill>
                  <a:schemeClr val="tx1"/>
                </a:solidFill>
                <a:effectLst/>
                <a:latin typeface="微软雅黑" panose="020B0503020204020204" charset="-122"/>
                <a:ea typeface="微软雅黑" panose="020B0503020204020204" charset="-122"/>
                <a:cs typeface="+mn-cs"/>
              </a:rPr>
              <a:t> QFT </a:t>
            </a:r>
            <a:r>
              <a:rPr lang="zh-CN" altLang="en-US" sz="1600" kern="1200" dirty="0">
                <a:solidFill>
                  <a:schemeClr val="tx1"/>
                </a:solidFill>
                <a:effectLst/>
                <a:latin typeface="微软雅黑" panose="020B0503020204020204" charset="-122"/>
                <a:ea typeface="微软雅黑" panose="020B0503020204020204" charset="-122"/>
                <a:cs typeface="+mn-cs"/>
              </a:rPr>
              <a:t>模块的主要功能是将时序数据转换至量子空间，从而捕获对后续图卷积运算有益的频域特征。该模块通过三个基本阶段运行：振幅编码、量子傅里叶变换以及测量与后处理阶段。</a:t>
            </a:r>
          </a:p>
        </p:txBody>
      </p:sp>
      <p:sp>
        <p:nvSpPr>
          <p:cNvPr id="1049368" name="灯片编号占位符 3"/>
          <p:cNvSpPr>
            <a:spLocks noGrp="1"/>
          </p:cNvSpPr>
          <p:nvPr>
            <p:ph type="sldNum" sz="quarter" idx="10"/>
          </p:nvPr>
        </p:nvSpPr>
        <p:spPr/>
        <p:txBody>
          <a:bodyPr/>
          <a:lstStyle/>
          <a:p>
            <a:fld id="{677A2CBA-E486-4DC8-8696-C7854B0A28FD}"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02" name="幻灯片图像占位符 1"/>
          <p:cNvSpPr>
            <a:spLocks noGrp="1" noRot="1" noChangeAspect="1"/>
          </p:cNvSpPr>
          <p:nvPr>
            <p:ph type="sldImg"/>
          </p:nvPr>
        </p:nvSpPr>
        <p:spPr>
          <a:xfrm>
            <a:off x="685800" y="1143000"/>
            <a:ext cx="5486400" cy="3086100"/>
          </a:xfrm>
        </p:spPr>
      </p:sp>
      <p:sp>
        <p:nvSpPr>
          <p:cNvPr id="1049403" name="备注占位符 2"/>
          <p:cNvSpPr>
            <a:spLocks noGrp="1"/>
          </p:cNvSpPr>
          <p:nvPr>
            <p:ph type="body" idx="1"/>
          </p:nvPr>
        </p:nvSpPr>
        <p:spPr/>
        <p:txBody>
          <a:bodyPr/>
          <a:lstStyle/>
          <a:p>
            <a:r>
              <a:rPr lang="zh-CN" altLang="en-US" dirty="0"/>
              <a:t>研究现状</a:t>
            </a:r>
          </a:p>
        </p:txBody>
      </p:sp>
      <p:sp>
        <p:nvSpPr>
          <p:cNvPr id="1049404" name="灯片编号占位符 3"/>
          <p:cNvSpPr>
            <a:spLocks noGrp="1"/>
          </p:cNvSpPr>
          <p:nvPr>
            <p:ph type="sldNum" sz="quarter" idx="10"/>
          </p:nvPr>
        </p:nvSpPr>
        <p:spPr/>
        <p:txBody>
          <a:bodyPr/>
          <a:lstStyle/>
          <a:p>
            <a:fld id="{677A2CBA-E486-4DC8-8696-C7854B0A28FD}"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0" name="幻灯片图像占位符 1"/>
          <p:cNvSpPr>
            <a:spLocks noGrp="1" noRot="1" noChangeAspect="1"/>
          </p:cNvSpPr>
          <p:nvPr>
            <p:ph type="sldImg"/>
          </p:nvPr>
        </p:nvSpPr>
        <p:spPr>
          <a:xfrm>
            <a:off x="685800" y="1143000"/>
            <a:ext cx="5486400" cy="3086100"/>
          </a:xfrm>
        </p:spPr>
      </p:sp>
      <p:sp>
        <p:nvSpPr>
          <p:cNvPr id="1049411" name="备注占位符 2"/>
          <p:cNvSpPr>
            <a:spLocks noGrp="1"/>
          </p:cNvSpPr>
          <p:nvPr>
            <p:ph type="body" idx="1"/>
          </p:nvPr>
        </p:nvSpPr>
        <p:spPr/>
        <p:txBody>
          <a:bodyPr/>
          <a:lstStyle/>
          <a:p>
            <a:r>
              <a:rPr lang="zh-CN" altLang="en-US" sz="1600" kern="1200">
                <a:solidFill>
                  <a:schemeClr val="tx1"/>
                </a:solidFill>
                <a:effectLst/>
                <a:latin typeface="微软雅黑" panose="020B0503020204020204" charset="-122"/>
                <a:ea typeface="微软雅黑" panose="020B0503020204020204" charset="-122"/>
                <a:cs typeface="+mn-cs"/>
              </a:rPr>
              <a:t>定义一种预测方式</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12" name="灯片编号占位符 3"/>
          <p:cNvSpPr>
            <a:spLocks noGrp="1"/>
          </p:cNvSpPr>
          <p:nvPr>
            <p:ph type="sldNum" sz="quarter" idx="10"/>
          </p:nvPr>
        </p:nvSpPr>
        <p:spPr/>
        <p:txBody>
          <a:bodyPr/>
          <a:lstStyle/>
          <a:p>
            <a:fld id="{677A2CBA-E486-4DC8-8696-C7854B0A28FD}"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9" name="幻灯片图像占位符 1"/>
          <p:cNvSpPr>
            <a:spLocks noGrp="1" noRot="1" noChangeAspect="1"/>
          </p:cNvSpPr>
          <p:nvPr>
            <p:ph type="sldImg"/>
          </p:nvPr>
        </p:nvSpPr>
        <p:spPr>
          <a:xfrm>
            <a:off x="685800" y="1143000"/>
            <a:ext cx="5486400" cy="3086100"/>
          </a:xfrm>
        </p:spPr>
      </p:sp>
      <p:sp>
        <p:nvSpPr>
          <p:cNvPr id="104942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21" name="灯片编号占位符 3"/>
          <p:cNvSpPr>
            <a:spLocks noGrp="1"/>
          </p:cNvSpPr>
          <p:nvPr>
            <p:ph type="sldNum" sz="quarter" idx="10"/>
          </p:nvPr>
        </p:nvSpPr>
        <p:spPr/>
        <p:txBody>
          <a:bodyPr/>
          <a:lstStyle/>
          <a:p>
            <a:fld id="{677A2CBA-E486-4DC8-8696-C7854B0A28FD}"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27" name="幻灯片图像占位符 1"/>
          <p:cNvSpPr>
            <a:spLocks noGrp="1" noRot="1" noChangeAspect="1"/>
          </p:cNvSpPr>
          <p:nvPr>
            <p:ph type="sldImg"/>
          </p:nvPr>
        </p:nvSpPr>
        <p:spPr>
          <a:xfrm>
            <a:off x="685800" y="1143000"/>
            <a:ext cx="5486400" cy="3086100"/>
          </a:xfrm>
        </p:spPr>
      </p:sp>
      <p:sp>
        <p:nvSpPr>
          <p:cNvPr id="1049428"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29" name="灯片编号占位符 3"/>
          <p:cNvSpPr>
            <a:spLocks noGrp="1"/>
          </p:cNvSpPr>
          <p:nvPr>
            <p:ph type="sldNum" sz="quarter" idx="10"/>
          </p:nvPr>
        </p:nvSpPr>
        <p:spPr/>
        <p:txBody>
          <a:bodyPr/>
          <a:lstStyle/>
          <a:p>
            <a:fld id="{677A2CBA-E486-4DC8-8696-C7854B0A28FD}"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35" name="幻灯片图像占位符 1"/>
          <p:cNvSpPr>
            <a:spLocks noGrp="1" noRot="1" noChangeAspect="1"/>
          </p:cNvSpPr>
          <p:nvPr>
            <p:ph type="sldImg"/>
          </p:nvPr>
        </p:nvSpPr>
        <p:spPr>
          <a:xfrm>
            <a:off x="685800" y="1143000"/>
            <a:ext cx="5486400" cy="3086100"/>
          </a:xfrm>
        </p:spPr>
      </p:sp>
      <p:sp>
        <p:nvSpPr>
          <p:cNvPr id="1049436"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37" name="灯片编号占位符 3"/>
          <p:cNvSpPr>
            <a:spLocks noGrp="1"/>
          </p:cNvSpPr>
          <p:nvPr>
            <p:ph type="sldNum" sz="quarter" idx="10"/>
          </p:nvPr>
        </p:nvSpPr>
        <p:spPr/>
        <p:txBody>
          <a:bodyPr/>
          <a:lstStyle/>
          <a:p>
            <a:fld id="{677A2CBA-E486-4DC8-8696-C7854B0A28FD}"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53" name="幻灯片图像占位符 1"/>
          <p:cNvSpPr>
            <a:spLocks noGrp="1" noRot="1" noChangeAspect="1"/>
          </p:cNvSpPr>
          <p:nvPr>
            <p:ph type="sldImg"/>
          </p:nvPr>
        </p:nvSpPr>
        <p:spPr>
          <a:xfrm>
            <a:off x="685800" y="1143000"/>
            <a:ext cx="5486400" cy="3086100"/>
          </a:xfrm>
        </p:spPr>
      </p:sp>
      <p:sp>
        <p:nvSpPr>
          <p:cNvPr id="1049454" name="备注占位符 2"/>
          <p:cNvSpPr>
            <a:spLocks noGrp="1"/>
          </p:cNvSpPr>
          <p:nvPr>
            <p:ph type="body" idx="1"/>
          </p:nvPr>
        </p:nvSpPr>
        <p:spPr/>
        <p:txBody>
          <a:bodyPr/>
          <a:lstStyle/>
          <a:p>
            <a:r>
              <a:rPr lang="zh-CN" altLang="en-US" sz="1600" kern="1200">
                <a:solidFill>
                  <a:schemeClr val="tx1"/>
                </a:solidFill>
                <a:effectLst/>
                <a:latin typeface="微软雅黑" panose="020B0503020204020204" charset="-122"/>
                <a:ea typeface="微软雅黑" panose="020B0503020204020204" charset="-122"/>
                <a:cs typeface="+mn-cs"/>
              </a:rPr>
              <a:t>该模型的基本原理基于双层图卷积的实现，这种结构设计能够有效捕捉节点特征之间的复杂关系。通过采用两层图卷积结构，该模型能够依次通过邻接矩阵</a:t>
            </a:r>
            <a:r>
              <a:rPr lang="en-US" altLang="zh-CN" sz="1600" kern="1200">
                <a:solidFill>
                  <a:schemeClr val="tx1"/>
                </a:solidFill>
                <a:effectLst/>
                <a:latin typeface="微软雅黑" panose="020B0503020204020204" charset="-122"/>
                <a:ea typeface="微软雅黑" panose="020B0503020204020204" charset="-122"/>
                <a:cs typeface="+mn-cs"/>
              </a:rPr>
              <a:t>A(0)</a:t>
            </a:r>
            <a:r>
              <a:rPr lang="zh-CN" altLang="en-US" sz="1600" kern="1200">
                <a:solidFill>
                  <a:schemeClr val="tx1"/>
                </a:solidFill>
                <a:effectLst/>
                <a:latin typeface="微软雅黑" panose="020B0503020204020204" charset="-122"/>
                <a:ea typeface="微软雅黑" panose="020B0503020204020204" charset="-122"/>
                <a:cs typeface="+mn-cs"/>
              </a:rPr>
              <a:t>和</a:t>
            </a:r>
            <a:r>
              <a:rPr lang="en-US" altLang="zh-CN" sz="1600" kern="1200">
                <a:solidFill>
                  <a:schemeClr val="tx1"/>
                </a:solidFill>
                <a:effectLst/>
                <a:latin typeface="微软雅黑" panose="020B0503020204020204" charset="-122"/>
                <a:ea typeface="微软雅黑" panose="020B0503020204020204" charset="-122"/>
                <a:cs typeface="+mn-cs"/>
              </a:rPr>
              <a:t>A(1)</a:t>
            </a:r>
            <a:r>
              <a:rPr lang="zh-CN" altLang="en-US" sz="1600" kern="1200">
                <a:solidFill>
                  <a:schemeClr val="tx1"/>
                </a:solidFill>
                <a:effectLst/>
                <a:latin typeface="微软雅黑" panose="020B0503020204020204" charset="-122"/>
                <a:ea typeface="微软雅黑" panose="020B0503020204020204" charset="-122"/>
                <a:cs typeface="+mn-cs"/>
              </a:rPr>
              <a:t>传递节点信息。图卷积的第二层进一步传播第一层的特征，这一过程能够捕捉节点之间全局范围内的深层关系。</a:t>
            </a:r>
            <a:endParaRPr lang="en-US" altLang="zh-CN" sz="1600" kern="1200">
              <a:solidFill>
                <a:schemeClr val="tx1"/>
              </a:solidFill>
              <a:effectLst/>
              <a:latin typeface="微软雅黑" panose="020B0503020204020204" charset="-122"/>
              <a:ea typeface="微软雅黑" panose="020B0503020204020204" charset="-122"/>
              <a:cs typeface="+mn-cs"/>
            </a:endParaRPr>
          </a:p>
          <a:p>
            <a:endParaRPr lang="en-US" altLang="zh-CN" sz="160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第一层通过构建同一频段内各组件之间的图结构来关注同频域内的交互作用，从而实现对局部时间模式的精细建模；第二层则通过在高频与低频子图之间建立信息传递机制来捕捉跨频域关联，进而整合全局上下文信息。节点表示通过注意力加权聚合和残差连接进行优化，使模型能够以频率感知的方式有效编码局部与全局依赖关系。</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55" name="灯片编号占位符 3"/>
          <p:cNvSpPr>
            <a:spLocks noGrp="1"/>
          </p:cNvSpPr>
          <p:nvPr>
            <p:ph type="sldNum" sz="quarter" idx="10"/>
          </p:nvPr>
        </p:nvSpPr>
        <p:spPr/>
        <p:txBody>
          <a:bodyPr/>
          <a:lstStyle/>
          <a:p>
            <a:fld id="{677A2CBA-E486-4DC8-8696-C7854B0A28FD}"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1" name="幻灯片图像占位符 1"/>
          <p:cNvSpPr>
            <a:spLocks noGrp="1" noRot="1" noChangeAspect="1"/>
          </p:cNvSpPr>
          <p:nvPr>
            <p:ph type="sldImg"/>
          </p:nvPr>
        </p:nvSpPr>
        <p:spPr>
          <a:xfrm>
            <a:off x="685800" y="1143000"/>
            <a:ext cx="5486400" cy="3086100"/>
          </a:xfrm>
        </p:spPr>
      </p:sp>
      <p:sp>
        <p:nvSpPr>
          <p:cNvPr id="1049462" name="备注占位符 2"/>
          <p:cNvSpPr>
            <a:spLocks noGrp="1"/>
          </p:cNvSpPr>
          <p:nvPr>
            <p:ph type="body" idx="1"/>
          </p:nvPr>
        </p:nvSpPr>
        <p:spPr/>
        <p:txBody>
          <a:bodyPr/>
          <a:lstStyle/>
          <a:p>
            <a:r>
              <a:rPr lang="zh-CN" altLang="en-US" dirty="0">
                <a:effectLst/>
                <a:sym typeface="+mn-ea"/>
              </a:rPr>
              <a:t>所提出的基于双层注意力机制的图卷积模块架构如图</a:t>
            </a:r>
            <a:r>
              <a:rPr lang="en-US" altLang="zh-CN" dirty="0">
                <a:effectLst/>
                <a:sym typeface="+mn-ea"/>
              </a:rPr>
              <a:t>1</a:t>
            </a:r>
            <a:r>
              <a:rPr lang="zh-CN" altLang="en-US" dirty="0">
                <a:effectLst/>
                <a:sym typeface="+mn-ea"/>
              </a:rPr>
              <a:t>所示。</a:t>
            </a:r>
            <a:r>
              <a:rPr lang="en-US" altLang="zh-CN" dirty="0">
                <a:effectLst/>
                <a:sym typeface="+mn-ea"/>
              </a:rPr>
              <a:t>D-PAD</a:t>
            </a:r>
            <a:r>
              <a:rPr lang="zh-CN" altLang="en-US" dirty="0">
                <a:effectLst/>
                <a:sym typeface="+mn-ea"/>
              </a:rPr>
              <a:t>模块由两个级联的图注意力层组成，旨在建模频域中的层次化依赖关系。第一层通过在同频段内组件之间构建图结构来关注同频交互，从而实现对局部时间模式的精细建模；第二层则通过在高频与低频子图之间建立信息传递机制来捕捉跨频关系，进而整合全局上下文信息。节点表示通过注意力加权聚合和残差连接进行优化，使模型能够以频率感知的方式有效编码局部与全局依赖关系。</a:t>
            </a:r>
            <a:endParaRPr lang="zh-CN" altLang="en-US" kern="1200" dirty="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63" name="灯片编号占位符 3"/>
          <p:cNvSpPr>
            <a:spLocks noGrp="1"/>
          </p:cNvSpPr>
          <p:nvPr>
            <p:ph type="sldNum" sz="quarter" idx="10"/>
          </p:nvPr>
        </p:nvSpPr>
        <p:spPr/>
        <p:txBody>
          <a:bodyPr/>
          <a:lstStyle/>
          <a:p>
            <a:fld id="{677A2CBA-E486-4DC8-8696-C7854B0A28FD}"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9" name="幻灯片图像占位符 1"/>
          <p:cNvSpPr>
            <a:spLocks noGrp="1" noRot="1" noChangeAspect="1"/>
          </p:cNvSpPr>
          <p:nvPr>
            <p:ph type="sldImg"/>
          </p:nvPr>
        </p:nvSpPr>
        <p:spPr>
          <a:xfrm>
            <a:off x="685800" y="1143000"/>
            <a:ext cx="5486400" cy="3086100"/>
          </a:xfrm>
        </p:spPr>
      </p:sp>
      <p:sp>
        <p:nvSpPr>
          <p:cNvPr id="1049470" name="备注占位符 2"/>
          <p:cNvSpPr>
            <a:spLocks noGrp="1"/>
          </p:cNvSpPr>
          <p:nvPr>
            <p:ph type="body" idx="1"/>
          </p:nvPr>
        </p:nvSpPr>
        <p:spPr/>
        <p:txBody>
          <a:bodyPr/>
          <a:lstStyle/>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471" name="灯片编号占位符 3"/>
          <p:cNvSpPr>
            <a:spLocks noGrp="1"/>
          </p:cNvSpPr>
          <p:nvPr>
            <p:ph type="sldNum" sz="quarter" idx="10"/>
          </p:nvPr>
        </p:nvSpPr>
        <p:spPr/>
        <p:txBody>
          <a:bodyPr/>
          <a:lstStyle/>
          <a:p>
            <a:fld id="{677A2CBA-E486-4DC8-8696-C7854B0A28FD}"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05" name="幻灯片图像占位符 1"/>
          <p:cNvSpPr>
            <a:spLocks noGrp="1" noRot="1" noChangeAspect="1"/>
          </p:cNvSpPr>
          <p:nvPr>
            <p:ph type="sldImg"/>
          </p:nvPr>
        </p:nvSpPr>
        <p:spPr>
          <a:xfrm>
            <a:off x="685800" y="1143000"/>
            <a:ext cx="5486400" cy="3086100"/>
          </a:xfrm>
        </p:spPr>
      </p:sp>
      <p:sp>
        <p:nvSpPr>
          <p:cNvPr id="1049506" name="备注占位符 2"/>
          <p:cNvSpPr>
            <a:spLocks noGrp="1"/>
          </p:cNvSpPr>
          <p:nvPr>
            <p:ph type="body" idx="1"/>
          </p:nvPr>
        </p:nvSpPr>
        <p:spPr/>
        <p:txBody>
          <a:bodyPr/>
          <a:lstStyle/>
          <a:p>
            <a:endParaRPr lang="zh-CN" altLang="en-US" dirty="0"/>
          </a:p>
        </p:txBody>
      </p:sp>
      <p:sp>
        <p:nvSpPr>
          <p:cNvPr id="1049507" name="灯片编号占位符 3"/>
          <p:cNvSpPr>
            <a:spLocks noGrp="1"/>
          </p:cNvSpPr>
          <p:nvPr>
            <p:ph type="sldNum" sz="quarter" idx="10"/>
          </p:nvPr>
        </p:nvSpPr>
        <p:spPr/>
        <p:txBody>
          <a:bodyPr/>
          <a:lstStyle/>
          <a:p>
            <a:fld id="{677A2CBA-E486-4DC8-8696-C7854B0A28FD}"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13" name="幻灯片图像占位符 1"/>
          <p:cNvSpPr>
            <a:spLocks noGrp="1" noRot="1" noChangeAspect="1"/>
          </p:cNvSpPr>
          <p:nvPr>
            <p:ph type="sldImg"/>
          </p:nvPr>
        </p:nvSpPr>
        <p:spPr>
          <a:xfrm>
            <a:off x="685800" y="1143000"/>
            <a:ext cx="5486400" cy="3086100"/>
          </a:xfrm>
        </p:spPr>
      </p:sp>
      <p:sp>
        <p:nvSpPr>
          <p:cNvPr id="1049514" name="备注占位符 2"/>
          <p:cNvSpPr>
            <a:spLocks noGrp="1"/>
          </p:cNvSpPr>
          <p:nvPr>
            <p:ph type="body" idx="1"/>
          </p:nvPr>
        </p:nvSpPr>
        <p:spPr/>
        <p:txBody>
          <a:bodyPr/>
          <a:lstStyle/>
          <a:p>
            <a:br>
              <a:rPr lang="zh-CN" altLang="en-US"/>
            </a:br>
            <a:r>
              <a:rPr lang="zh-CN" altLang="en-US"/>
              <a:t>我们针对五个常用的长期预测基准数据集（天气、交通、电力及 </a:t>
            </a:r>
            <a:r>
              <a:rPr lang="en-US" altLang="zh-CN"/>
              <a:t>ETT </a:t>
            </a:r>
            <a:r>
              <a:rPr lang="zh-CN" altLang="en-US"/>
              <a:t>数据集；其中 </a:t>
            </a:r>
            <a:r>
              <a:rPr lang="en-US" altLang="zh-CN"/>
              <a:t>ETT </a:t>
            </a:r>
            <a:r>
              <a:rPr lang="zh-CN" altLang="en-US"/>
              <a:t>数据集选用 </a:t>
            </a:r>
            <a:r>
              <a:rPr lang="en-US" altLang="zh-CN"/>
              <a:t>ETT h1</a:t>
            </a:r>
            <a:r>
              <a:rPr lang="zh-CN" altLang="en-US"/>
              <a:t>和 </a:t>
            </a:r>
            <a:r>
              <a:rPr lang="en-US" altLang="zh-CN"/>
              <a:t>ETT m1</a:t>
            </a:r>
            <a:r>
              <a:rPr lang="zh-CN" altLang="en-US"/>
              <a:t>）评估了所提出的</a:t>
            </a:r>
            <a:r>
              <a:rPr lang="en-US" altLang="zh-CN"/>
              <a:t>QFreqFormer</a:t>
            </a:r>
            <a:r>
              <a:rPr lang="zh-CN" altLang="en-US"/>
              <a:t>模型性能。需注意，</a:t>
            </a:r>
            <a:r>
              <a:rPr lang="en-US" altLang="zh-CN"/>
              <a:t>ETTh1</a:t>
            </a:r>
            <a:r>
              <a:rPr lang="zh-CN" altLang="en-US"/>
              <a:t>数据集相较于其他数据集规模较小，而</a:t>
            </a:r>
            <a:r>
              <a:rPr lang="en-US" altLang="zh-CN"/>
              <a:t>ETTm1</a:t>
            </a:r>
            <a:r>
              <a:rPr lang="zh-CN" altLang="en-US"/>
              <a:t>和</a:t>
            </a:r>
            <a:r>
              <a:rPr lang="en-US" altLang="zh-CN"/>
              <a:t>weather</a:t>
            </a:r>
            <a:r>
              <a:rPr lang="zh-CN" altLang="en-US"/>
              <a:t>数据集则属于中等规模；交通与电力数据集分别包含超过</a:t>
            </a:r>
            <a:r>
              <a:rPr lang="en-US" altLang="zh-CN"/>
              <a:t>800</a:t>
            </a:r>
            <a:r>
              <a:rPr lang="zh-CN" altLang="en-US"/>
              <a:t>个和</a:t>
            </a:r>
            <a:r>
              <a:rPr lang="en-US" altLang="zh-CN"/>
              <a:t>300</a:t>
            </a:r>
            <a:r>
              <a:rPr lang="zh-CN" altLang="en-US"/>
              <a:t>个变量，每个数据集均包含数万个时间点，属于大规模数据集。</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15" name="灯片编号占位符 3"/>
          <p:cNvSpPr>
            <a:spLocks noGrp="1"/>
          </p:cNvSpPr>
          <p:nvPr>
            <p:ph type="sldNum" sz="quarter" idx="10"/>
          </p:nvPr>
        </p:nvSpPr>
        <p:spPr/>
        <p:txBody>
          <a:bodyPr/>
          <a:lstStyle/>
          <a:p>
            <a:fld id="{677A2CBA-E486-4DC8-8696-C7854B0A28FD}"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1" name="幻灯片图像占位符 1"/>
          <p:cNvSpPr>
            <a:spLocks noGrp="1" noRot="1" noChangeAspect="1"/>
          </p:cNvSpPr>
          <p:nvPr>
            <p:ph type="sldImg"/>
          </p:nvPr>
        </p:nvSpPr>
        <p:spPr>
          <a:xfrm>
            <a:off x="685800" y="1143000"/>
            <a:ext cx="5486400" cy="3086100"/>
          </a:xfrm>
        </p:spPr>
      </p:sp>
      <p:sp>
        <p:nvSpPr>
          <p:cNvPr id="1049522" name="备注占位符 2"/>
          <p:cNvSpPr>
            <a:spLocks noGrp="1"/>
          </p:cNvSpPr>
          <p:nvPr>
            <p:ph type="body" idx="1"/>
          </p:nvPr>
        </p:nvSpPr>
        <p:spPr/>
        <p:txBody>
          <a:bodyPr/>
          <a:lstStyle/>
          <a:p>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23" name="灯片编号占位符 3"/>
          <p:cNvSpPr>
            <a:spLocks noGrp="1"/>
          </p:cNvSpPr>
          <p:nvPr>
            <p:ph type="sldNum" sz="quarter" idx="10"/>
          </p:nvPr>
        </p:nvSpPr>
        <p:spPr/>
        <p:txBody>
          <a:bodyPr/>
          <a:lstStyle/>
          <a:p>
            <a:fld id="{677A2CBA-E486-4DC8-8696-C7854B0A28FD}"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9" name="幻灯片图像占位符 1"/>
          <p:cNvSpPr>
            <a:spLocks noGrp="1" noRot="1" noChangeAspect="1"/>
          </p:cNvSpPr>
          <p:nvPr>
            <p:ph type="sldImg"/>
          </p:nvPr>
        </p:nvSpPr>
        <p:spPr>
          <a:xfrm>
            <a:off x="685800" y="1143000"/>
            <a:ext cx="5486400" cy="3086100"/>
          </a:xfrm>
        </p:spPr>
      </p:sp>
      <p:sp>
        <p:nvSpPr>
          <p:cNvPr id="1049530" name="备注占位符 2"/>
          <p:cNvSpPr>
            <a:spLocks noGrp="1"/>
          </p:cNvSpPr>
          <p:nvPr>
            <p:ph type="body" idx="1"/>
          </p:nvPr>
        </p:nvSpPr>
        <p:spPr/>
        <p:txBody>
          <a:bodyPr/>
          <a:lstStyle/>
          <a:p>
            <a:br>
              <a:rPr lang="zh-CN" altLang="en-US" dirty="0"/>
            </a:br>
            <a:r>
              <a:rPr lang="zh-CN" altLang="en-US" dirty="0"/>
              <a:t>首先，我们研究了一个模型，该模型具有</a:t>
            </a:r>
            <a:r>
              <a:rPr lang="en-US" altLang="zh-CN" dirty="0"/>
              <a:t>700</a:t>
            </a:r>
            <a:r>
              <a:rPr lang="zh-CN" altLang="en-US" dirty="0"/>
              <a:t>万个可训练参数，用于区分</a:t>
            </a:r>
            <a:r>
              <a:rPr lang="en-US" altLang="zh-CN" dirty="0"/>
              <a:t>100</a:t>
            </a:r>
            <a:r>
              <a:rPr lang="zh-CN" altLang="en-US" dirty="0"/>
              <a:t>个类别的图像。为了获得稀疏输出模型，我们在稀疏训练过程中记录了</a:t>
            </a:r>
            <a:r>
              <a:rPr lang="en-US" altLang="zh-CN" dirty="0"/>
              <a:t>Hessian</a:t>
            </a:r>
            <a:r>
              <a:rPr lang="zh-CN" altLang="en-US" dirty="0"/>
              <a:t>谱，这使我们能够跟踪与误差界相关量的演变，由式</a:t>
            </a:r>
            <a:r>
              <a:rPr lang="en-US" altLang="zh-CN" dirty="0"/>
              <a:t>(7)</a:t>
            </a:r>
            <a:r>
              <a:rPr lang="zh-CN" altLang="en-US" dirty="0"/>
              <a:t>给出。公式</a:t>
            </a:r>
            <a:r>
              <a:rPr lang="en-US" altLang="zh-CN" dirty="0"/>
              <a:t>8</a:t>
            </a:r>
            <a:r>
              <a:rPr lang="zh-CN" altLang="en-US" dirty="0"/>
              <a:t>通过丢弃小幅度的</a:t>
            </a:r>
            <a:r>
              <a:rPr lang="en-US" altLang="zh-CN" dirty="0"/>
              <a:t>Hessian</a:t>
            </a:r>
            <a:r>
              <a:rPr lang="zh-CN" altLang="en-US" dirty="0"/>
              <a:t>特征值（</a:t>
            </a:r>
            <a:r>
              <a:rPr lang="en-US" altLang="zh-CN" dirty="0"/>
              <a:t>-0.4—0.4</a:t>
            </a:r>
            <a:r>
              <a:rPr lang="zh-CN" altLang="en-US" dirty="0"/>
              <a:t>之间），因为它们接近</a:t>
            </a:r>
            <a:r>
              <a:rPr lang="en-US" altLang="zh-CN" dirty="0"/>
              <a:t>0</a:t>
            </a:r>
            <a:r>
              <a:rPr lang="zh-CN" altLang="en-US" dirty="0"/>
              <a:t>，防止</a:t>
            </a:r>
            <a:r>
              <a:rPr lang="en-US" altLang="zh-CN" dirty="0"/>
              <a:t>Hessian</a:t>
            </a:r>
            <a:r>
              <a:rPr lang="zh-CN" altLang="en-US" dirty="0"/>
              <a:t>谱出现奇异情况。</a:t>
            </a:r>
            <a:endParaRPr lang="en-US" altLang="zh-CN" dirty="0"/>
          </a:p>
          <a:p>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apple-system"/>
              </a:rPr>
              <a:t>图</a:t>
            </a:r>
            <a:r>
              <a:rPr lang="en-US" altLang="zh-CN" b="0" i="0" dirty="0">
                <a:effectLst/>
                <a:latin typeface="-apple-system"/>
              </a:rPr>
              <a:t>2(a)</a:t>
            </a:r>
            <a:r>
              <a:rPr lang="zh-CN" altLang="en-US" b="0" i="0" dirty="0">
                <a:effectLst/>
                <a:latin typeface="-apple-system"/>
              </a:rPr>
              <a:t>展示了</a:t>
            </a:r>
            <a:r>
              <a:rPr lang="en-US" altLang="zh-CN" b="0" i="0" dirty="0" err="1">
                <a:effectLst/>
                <a:latin typeface="-apple-system"/>
              </a:rPr>
              <a:t>ResNet</a:t>
            </a:r>
            <a:r>
              <a:rPr lang="zh-CN" altLang="en-US" b="0" i="0" dirty="0">
                <a:effectLst/>
                <a:latin typeface="-apple-system"/>
              </a:rPr>
              <a:t>模型在训练过程中的</a:t>
            </a:r>
            <a:r>
              <a:rPr lang="en-US" altLang="zh-CN" b="0" i="0" dirty="0">
                <a:effectLst/>
                <a:latin typeface="-apple-system"/>
              </a:rPr>
              <a:t>Hessian</a:t>
            </a:r>
            <a:r>
              <a:rPr lang="zh-CN" altLang="en-US" b="0" i="0" dirty="0">
                <a:effectLst/>
                <a:latin typeface="-apple-system"/>
              </a:rPr>
              <a:t>矩阵的特征值分布（即</a:t>
            </a:r>
            <a:r>
              <a:rPr lang="en-US" altLang="zh-CN" b="0" i="0" dirty="0">
                <a:effectLst/>
                <a:latin typeface="-apple-system"/>
              </a:rPr>
              <a:t>Hessian</a:t>
            </a:r>
            <a:r>
              <a:rPr lang="zh-CN" altLang="en-US" b="0" i="0" dirty="0">
                <a:effectLst/>
                <a:latin typeface="-apple-system"/>
              </a:rPr>
              <a:t>光谱）。</a:t>
            </a:r>
            <a:r>
              <a:rPr lang="en-US" altLang="zh-CN" b="0" i="0" dirty="0">
                <a:effectLst/>
                <a:latin typeface="-apple-system"/>
              </a:rPr>
              <a:t>Hessian</a:t>
            </a:r>
            <a:r>
              <a:rPr lang="zh-CN" altLang="en-US" b="0" i="0" dirty="0">
                <a:effectLst/>
                <a:latin typeface="-apple-system"/>
              </a:rPr>
              <a:t>矩阵的特征值反映了损失函数在权重空间的曲率信息。</a:t>
            </a:r>
            <a:r>
              <a:rPr lang="zh-CN" altLang="en-US" b="0" i="0" dirty="0">
                <a:effectLst/>
                <a:latin typeface="inherit"/>
              </a:rPr>
              <a:t>训练初期，</a:t>
            </a:r>
            <a:r>
              <a:rPr lang="en-US" altLang="zh-CN" b="0" i="0" dirty="0">
                <a:effectLst/>
                <a:latin typeface="inherit"/>
              </a:rPr>
              <a:t>Hessian</a:t>
            </a:r>
            <a:r>
              <a:rPr lang="zh-CN" altLang="en-US" b="0" i="0" dirty="0">
                <a:effectLst/>
                <a:latin typeface="inherit"/>
              </a:rPr>
              <a:t>矩阵的特征值分布显示出较多的正特征值（耗散模式），这表明系统具有耗散性，有利于量子算法的应用。</a:t>
            </a:r>
            <a:r>
              <a:rPr lang="zh-CN" altLang="en-US" b="0" i="0" dirty="0">
                <a:effectLst/>
                <a:latin typeface="-apple-system"/>
              </a:rPr>
              <a:t>耗散性确保了线性化误差可以被很好地控制。</a:t>
            </a:r>
            <a:endParaRPr lang="zh-CN" altLang="en-US" b="0" i="0" dirty="0">
              <a:effectLst/>
              <a:latin typeface="inherit"/>
            </a:endParaRPr>
          </a:p>
          <a:p>
            <a:endParaRPr lang="en-US" altLang="zh-CN" sz="1600" kern="1200" dirty="0">
              <a:solidFill>
                <a:schemeClr val="tx1"/>
              </a:solidFill>
              <a:effectLst/>
              <a:latin typeface="微软雅黑" panose="020B0503020204020204" charset="-122"/>
              <a:ea typeface="微软雅黑" panose="020B0503020204020204" charset="-122"/>
              <a:cs typeface="+mn-cs"/>
            </a:endParaRPr>
          </a:p>
          <a:p>
            <a:r>
              <a:rPr lang="zh-CN" altLang="en-US" b="0" i="0" dirty="0">
                <a:effectLst/>
                <a:latin typeface="-apple-system"/>
              </a:rPr>
              <a:t>图</a:t>
            </a:r>
            <a:r>
              <a:rPr lang="en-US" altLang="zh-CN" b="0" i="0" dirty="0">
                <a:effectLst/>
                <a:latin typeface="-apple-system"/>
              </a:rPr>
              <a:t>2(b)</a:t>
            </a:r>
            <a:r>
              <a:rPr lang="zh-CN" altLang="en-US" b="0" i="0" dirty="0">
                <a:effectLst/>
                <a:latin typeface="-apple-system"/>
              </a:rPr>
              <a:t>展示了训练过程中误差代理（</a:t>
            </a:r>
            <a:r>
              <a:rPr lang="en-US" altLang="zh-CN" b="0" i="0" dirty="0">
                <a:effectLst/>
                <a:latin typeface="-apple-system"/>
              </a:rPr>
              <a:t>error proxy</a:t>
            </a:r>
            <a:r>
              <a:rPr lang="zh-CN" altLang="en-US" b="0" i="0" dirty="0">
                <a:effectLst/>
                <a:latin typeface="-apple-system"/>
              </a:rPr>
              <a:t>）的变化情况。误差代理是基于</a:t>
            </a:r>
            <a:r>
              <a:rPr lang="en-US" altLang="zh-CN" b="0" i="0" dirty="0">
                <a:effectLst/>
                <a:latin typeface="-apple-system"/>
              </a:rPr>
              <a:t>Hessian</a:t>
            </a:r>
            <a:r>
              <a:rPr lang="zh-CN" altLang="en-US" b="0" i="0" dirty="0">
                <a:effectLst/>
                <a:latin typeface="-apple-system"/>
              </a:rPr>
              <a:t>矩阵的特征值计算的一个量，用于估计训练误差的</a:t>
            </a:r>
            <a:r>
              <a:rPr lang="zh-CN" altLang="en-US" b="0" i="0">
                <a:effectLst/>
                <a:latin typeface="-apple-system"/>
              </a:rPr>
              <a:t>增长。并发现量子算法有可能在学习初期实现量子加速（紫色区域）。</a:t>
            </a:r>
            <a:endParaRPr lang="en-US" altLang="zh-CN" sz="1600" b="0" i="0" kern="1200" dirty="0">
              <a:solidFill>
                <a:schemeClr val="tx1"/>
              </a:solidFill>
              <a:effectLst/>
              <a:latin typeface="微软雅黑" panose="020B0503020204020204" charset="-122"/>
              <a:ea typeface="微软雅黑" panose="020B0503020204020204" charset="-122"/>
              <a:cs typeface="+mn-cs"/>
            </a:endParaRPr>
          </a:p>
          <a:p>
            <a:endParaRPr lang="en-US" altLang="zh-CN" sz="1600" b="0" i="0" kern="1200" dirty="0">
              <a:solidFill>
                <a:schemeClr val="tx1"/>
              </a:solidFill>
              <a:effectLst/>
              <a:latin typeface="微软雅黑" panose="020B0503020204020204" charset="-122"/>
              <a:ea typeface="微软雅黑" panose="020B0503020204020204" charset="-122"/>
              <a:cs typeface="+mn-cs"/>
            </a:endParaRPr>
          </a:p>
          <a:p>
            <a:pPr algn="l" fontAlgn="base">
              <a:lnSpc>
                <a:spcPts val="1950"/>
              </a:lnSpc>
              <a:spcAft>
                <a:spcPts val="900"/>
              </a:spcAft>
              <a:buFont typeface="Arial" panose="020B0604020202020204" pitchFamily="34" charset="0"/>
              <a:buChar char="•"/>
            </a:pPr>
            <a:r>
              <a:rPr lang="zh-CN" altLang="en-US" b="0" i="0" dirty="0">
                <a:effectLst/>
                <a:latin typeface="-apple-system"/>
              </a:rPr>
              <a:t>图</a:t>
            </a:r>
            <a:r>
              <a:rPr lang="en-US" altLang="zh-CN" b="0" i="0" dirty="0">
                <a:effectLst/>
                <a:latin typeface="-apple-system"/>
              </a:rPr>
              <a:t>2(c)</a:t>
            </a:r>
            <a:r>
              <a:rPr lang="zh-CN" altLang="en-US" b="0" i="0" dirty="0">
                <a:effectLst/>
                <a:latin typeface="-apple-system"/>
              </a:rPr>
              <a:t>展示了训练过程中模型训练准确率的变化情况。</a:t>
            </a:r>
            <a:r>
              <a:rPr lang="zh-CN" altLang="en-US" b="0" i="0" dirty="0">
                <a:effectLst/>
                <a:latin typeface="inherit"/>
              </a:rPr>
              <a:t>训练初期，准确率逐渐提高，表明模型在学习并改进其预测能力。</a:t>
            </a:r>
            <a:r>
              <a:rPr lang="zh-CN" altLang="en-US" b="0" i="0" dirty="0">
                <a:effectLst/>
                <a:latin typeface="-apple-system"/>
              </a:rPr>
              <a:t>随着训练的进行，准确率在达到峰值后可能会有所下降，这与误差代理的指数增长相对应。</a:t>
            </a:r>
            <a:endParaRPr lang="zh-CN" altLang="en-US" b="0" i="0" dirty="0">
              <a:effectLst/>
              <a:latin typeface="inherit"/>
            </a:endParaRPr>
          </a:p>
          <a:p>
            <a:pPr>
              <a:buNone/>
            </a:pPr>
            <a:r>
              <a:rPr lang="zh-CN" altLang="en-US" b="0" i="0" dirty="0">
                <a:effectLst/>
                <a:latin typeface="-apple-system"/>
              </a:rPr>
              <a:t>图</a:t>
            </a:r>
            <a:r>
              <a:rPr lang="en-US" altLang="zh-CN" b="0" i="0" dirty="0">
                <a:effectLst/>
                <a:latin typeface="-apple-system"/>
              </a:rPr>
              <a:t>2</a:t>
            </a:r>
            <a:r>
              <a:rPr lang="zh-CN" altLang="en-US" b="0" i="0" dirty="0">
                <a:effectLst/>
                <a:latin typeface="-apple-system"/>
              </a:rPr>
              <a:t>表明在训练的早期阶段，模型具有较强的耗散性，此时误差代理较小且准确率在提高，是应用量子增强的最佳时机。这个阶段量子算法可以有效地处理训练问题。</a:t>
            </a:r>
            <a:br>
              <a:rPr lang="zh-CN" altLang="en-US"/>
            </a:br>
            <a:r>
              <a:rPr lang="zh-CN" altLang="en-US"/>
              <a:t>图</a:t>
            </a:r>
            <a:r>
              <a:rPr lang="en-US" altLang="zh-CN"/>
              <a:t>3</a:t>
            </a:r>
            <a:r>
              <a:rPr lang="zh-CN" altLang="en-US"/>
              <a:t>为对数曲线图，衡量了增长过程的指数变化规律。</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31" name="灯片编号占位符 3"/>
          <p:cNvSpPr>
            <a:spLocks noGrp="1"/>
          </p:cNvSpPr>
          <p:nvPr>
            <p:ph type="sldNum" sz="quarter" idx="10"/>
          </p:nvPr>
        </p:nvSpPr>
        <p:spPr/>
        <p:txBody>
          <a:bodyPr/>
          <a:lstStyle/>
          <a:p>
            <a:fld id="{677A2CBA-E486-4DC8-8696-C7854B0A28FD}"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37" name="幻灯片图像占位符 1"/>
          <p:cNvSpPr>
            <a:spLocks noGrp="1" noRot="1" noChangeAspect="1"/>
          </p:cNvSpPr>
          <p:nvPr>
            <p:ph type="sldImg"/>
          </p:nvPr>
        </p:nvSpPr>
        <p:spPr>
          <a:xfrm>
            <a:off x="685800" y="1143000"/>
            <a:ext cx="5486400" cy="3086100"/>
          </a:xfrm>
        </p:spPr>
      </p:sp>
      <p:sp>
        <p:nvSpPr>
          <p:cNvPr id="1049538" name="备注占位符 2"/>
          <p:cNvSpPr>
            <a:spLocks noGrp="1"/>
          </p:cNvSpPr>
          <p:nvPr>
            <p:ph type="body" idx="1"/>
          </p:nvPr>
        </p:nvSpPr>
        <p:spPr/>
        <p:txBody>
          <a:bodyPr/>
          <a:lstStyle/>
          <a:p>
            <a:br>
              <a:rPr lang="zh-CN" altLang="en-US"/>
            </a:br>
            <a:r>
              <a:rPr lang="zh-CN" altLang="en-US"/>
              <a:t>仅使用传统傅里叶变换的模型性能显著逊于那些结合量子增强特征提取方法（仅 </a:t>
            </a:r>
            <a:r>
              <a:rPr lang="en-US" altLang="zh-CN"/>
              <a:t>QFT </a:t>
            </a:r>
            <a:r>
              <a:rPr lang="zh-CN" altLang="en-US"/>
              <a:t>、仅</a:t>
            </a:r>
            <a:r>
              <a:rPr lang="en-US" altLang="zh-CN"/>
              <a:t>Q-FR-Q</a:t>
            </a:r>
            <a:r>
              <a:rPr lang="zh-CN" altLang="en-US"/>
              <a:t>及仅</a:t>
            </a:r>
            <a:r>
              <a:rPr lang="en-US" altLang="zh-CN"/>
              <a:t>GAN</a:t>
            </a:r>
            <a:r>
              <a:rPr lang="zh-CN" altLang="en-US"/>
              <a:t>）的模型。具体而言，加入 </a:t>
            </a:r>
            <a:r>
              <a:rPr lang="en-US" altLang="zh-CN"/>
              <a:t>QFT </a:t>
            </a:r>
            <a:r>
              <a:rPr lang="zh-CN" altLang="en-US"/>
              <a:t>模块（仅 </a:t>
            </a:r>
            <a:r>
              <a:rPr lang="en-US" altLang="zh-CN"/>
              <a:t>QFT</a:t>
            </a:r>
            <a:r>
              <a:rPr lang="zh-CN" altLang="en-US"/>
              <a:t>）可显著提升 </a:t>
            </a:r>
            <a:r>
              <a:rPr lang="en-US" altLang="zh-CN"/>
              <a:t>MSE </a:t>
            </a:r>
            <a:r>
              <a:rPr lang="zh-CN" altLang="en-US"/>
              <a:t>和</a:t>
            </a:r>
            <a:r>
              <a:rPr lang="en-US" altLang="zh-CN"/>
              <a:t>MAE</a:t>
            </a:r>
            <a:r>
              <a:rPr lang="zh-CN" altLang="en-US"/>
              <a:t>指标，充分体现了量子傅里叶变换在提取频域特征方面的优势</a:t>
            </a:r>
            <a:r>
              <a:rPr lang="en-US" altLang="zh-CN"/>
              <a:t>——</a:t>
            </a:r>
            <a:r>
              <a:rPr lang="zh-CN" altLang="en-US"/>
              <a:t>尤其擅长捕捉时间序列数据中固有的多频率模式。 </a:t>
            </a:r>
            <a:r>
              <a:rPr lang="en-US" altLang="zh-CN"/>
              <a:t>QFT </a:t>
            </a:r>
            <a:r>
              <a:rPr lang="zh-CN" altLang="en-US"/>
              <a:t>与</a:t>
            </a:r>
            <a:r>
              <a:rPr lang="en-US" altLang="zh-CN"/>
              <a:t>Q-FR-Q</a:t>
            </a:r>
            <a:r>
              <a:rPr lang="zh-CN" altLang="en-US"/>
              <a:t>的组合方案表现优于单独使用 </a:t>
            </a:r>
            <a:r>
              <a:rPr lang="en-US" altLang="zh-CN"/>
              <a:t>QFT </a:t>
            </a:r>
            <a:r>
              <a:rPr lang="zh-CN" altLang="en-US"/>
              <a:t>的方法，尤其在交通流量和电力消耗等具有复杂频率特征的数据集中更为明显。通过高效分离高频与低频成分，显著提升了模型捕捉复杂时序模式的能力。</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39" name="灯片编号占位符 3"/>
          <p:cNvSpPr>
            <a:spLocks noGrp="1"/>
          </p:cNvSpPr>
          <p:nvPr>
            <p:ph type="sldNum" sz="quarter" idx="10"/>
          </p:nvPr>
        </p:nvSpPr>
        <p:spPr/>
        <p:txBody>
          <a:bodyPr/>
          <a:lstStyle/>
          <a:p>
            <a:fld id="{677A2CBA-E486-4DC8-8696-C7854B0A28FD}"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5" name="幻灯片图像占位符 1"/>
          <p:cNvSpPr>
            <a:spLocks noGrp="1" noRot="1" noChangeAspect="1"/>
          </p:cNvSpPr>
          <p:nvPr>
            <p:ph type="sldImg"/>
          </p:nvPr>
        </p:nvSpPr>
        <p:spPr>
          <a:xfrm>
            <a:off x="685800" y="1143000"/>
            <a:ext cx="5486400" cy="3086100"/>
          </a:xfrm>
        </p:spPr>
      </p:sp>
      <p:sp>
        <p:nvSpPr>
          <p:cNvPr id="1049546" name="备注占位符 2"/>
          <p:cNvSpPr>
            <a:spLocks noGrp="1"/>
          </p:cNvSpPr>
          <p:nvPr>
            <p:ph type="body" idx="1"/>
          </p:nvPr>
        </p:nvSpPr>
        <p:spPr/>
        <p:txBody>
          <a:bodyPr/>
          <a:lstStyle/>
          <a:p>
            <a:r>
              <a:rPr lang="zh-CN" altLang="en-US"/>
              <a:t>我们采用两种广泛使用的统计方法：配对</a:t>
            </a:r>
            <a:r>
              <a:rPr lang="en-US" altLang="zh-CN"/>
              <a:t>t</a:t>
            </a:r>
            <a:r>
              <a:rPr lang="zh-CN" altLang="en-US"/>
              <a:t>检验和</a:t>
            </a:r>
            <a:r>
              <a:rPr lang="en-US" altLang="zh-CN"/>
              <a:t>Wilcoxon</a:t>
            </a:r>
            <a:r>
              <a:rPr lang="zh-CN" altLang="en-US"/>
              <a:t>符号秩检验，用于评估</a:t>
            </a:r>
            <a:r>
              <a:rPr lang="en-US" altLang="zh-CN"/>
              <a:t>QFreqFormer</a:t>
            </a:r>
            <a:r>
              <a:rPr lang="zh-CN" altLang="en-US"/>
              <a:t>模型与基线模型之间的性能差异是否具有统计学显著性。配对</a:t>
            </a:r>
            <a:r>
              <a:rPr lang="en-US" altLang="zh-CN"/>
              <a:t>t</a:t>
            </a:r>
            <a:r>
              <a:rPr lang="zh-CN" altLang="en-US"/>
              <a:t>检验适用于正态分布的配对差异；而</a:t>
            </a:r>
            <a:r>
              <a:rPr lang="en-US" altLang="zh-CN"/>
              <a:t>Wilcoxon</a:t>
            </a:r>
            <a:r>
              <a:rPr lang="zh-CN" altLang="en-US"/>
              <a:t>检验则在无法假设数据服从正态分布时作为稳健的非参数替代方法。我们针对每个模型使用不同的随机种子进行了</a:t>
            </a:r>
            <a:r>
              <a:rPr lang="en-US" altLang="zh-CN"/>
              <a:t>10</a:t>
            </a:r>
            <a:r>
              <a:rPr lang="zh-CN" altLang="en-US"/>
              <a:t>次独立训练，重点考察</a:t>
            </a:r>
            <a:r>
              <a:rPr lang="en-US" altLang="zh-CN"/>
              <a:t>336</a:t>
            </a:r>
            <a:r>
              <a:rPr lang="zh-CN" altLang="en-US"/>
              <a:t>步预测范围内的性能表现。将</a:t>
            </a:r>
            <a:r>
              <a:rPr lang="en-US" altLang="zh-CN"/>
              <a:t>QFreqFormer</a:t>
            </a:r>
            <a:r>
              <a:rPr lang="zh-CN" altLang="en-US"/>
              <a:t>的</a:t>
            </a:r>
            <a:r>
              <a:rPr lang="en-US" altLang="zh-CN"/>
              <a:t>MAE</a:t>
            </a:r>
            <a:r>
              <a:rPr lang="zh-CN" altLang="en-US"/>
              <a:t>和 </a:t>
            </a:r>
            <a:r>
              <a:rPr lang="en-US" altLang="zh-CN"/>
              <a:t>MSE </a:t>
            </a:r>
            <a:r>
              <a:rPr lang="zh-CN" altLang="en-US"/>
              <a:t>值与五种主流基线模型（</a:t>
            </a:r>
            <a:r>
              <a:rPr lang="en-US" altLang="zh-CN"/>
              <a:t>PatchTST</a:t>
            </a:r>
            <a:r>
              <a:rPr lang="zh-CN" altLang="en-US"/>
              <a:t>、</a:t>
            </a:r>
            <a:r>
              <a:rPr lang="en-US" altLang="zh-CN"/>
              <a:t>DLinear</a:t>
            </a:r>
            <a:r>
              <a:rPr lang="zh-CN" altLang="en-US"/>
              <a:t>、</a:t>
            </a:r>
            <a:r>
              <a:rPr lang="en-US" altLang="zh-CN"/>
              <a:t>Informer</a:t>
            </a:r>
            <a:r>
              <a:rPr lang="zh-CN" altLang="en-US"/>
              <a:t>、</a:t>
            </a:r>
            <a:r>
              <a:rPr lang="en-US" altLang="zh-CN"/>
              <a:t>FEDformer</a:t>
            </a:r>
            <a:r>
              <a:rPr lang="zh-CN" altLang="en-US"/>
              <a:t>及</a:t>
            </a:r>
            <a:r>
              <a:rPr lang="en-US" altLang="zh-CN"/>
              <a:t>Autoformer</a:t>
            </a:r>
            <a:r>
              <a:rPr lang="zh-CN" altLang="en-US"/>
              <a:t>）的结果进行对比，所得</a:t>
            </a:r>
            <a:r>
              <a:rPr lang="en-US" altLang="zh-CN"/>
              <a:t>p</a:t>
            </a:r>
            <a:r>
              <a:rPr lang="zh-CN" altLang="en-US"/>
              <a:t>值列于表</a:t>
            </a:r>
            <a:r>
              <a:rPr lang="en-US" altLang="zh-CN"/>
              <a:t>6</a:t>
            </a:r>
            <a:r>
              <a:rPr lang="zh-CN" altLang="en-US"/>
              <a:t>中。所有</a:t>
            </a:r>
            <a:r>
              <a:rPr lang="en-US" altLang="zh-CN"/>
              <a:t>p</a:t>
            </a:r>
            <a:r>
              <a:rPr lang="zh-CN" altLang="en-US"/>
              <a:t>值均低于常用的</a:t>
            </a:r>
            <a:r>
              <a:rPr lang="en-US" altLang="zh-CN"/>
              <a:t>0.05</a:t>
            </a:r>
            <a:r>
              <a:rPr lang="zh-CN" altLang="en-US"/>
              <a:t>阈值，表明</a:t>
            </a:r>
            <a:r>
              <a:rPr lang="en-US" altLang="zh-CN"/>
              <a:t>QFreqFormer</a:t>
            </a:r>
            <a:r>
              <a:rPr lang="zh-CN" altLang="en-US"/>
              <a:t>带来的性能提升具有统计学显著性，这证实了我们提出的量子增强架构在多次实验中均具备稳健性和有效性。</a:t>
            </a:r>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47" name="灯片编号占位符 3"/>
          <p:cNvSpPr>
            <a:spLocks noGrp="1"/>
          </p:cNvSpPr>
          <p:nvPr>
            <p:ph type="sldNum" sz="quarter" idx="10"/>
          </p:nvPr>
        </p:nvSpPr>
        <p:spPr/>
        <p:txBody>
          <a:bodyPr/>
          <a:lstStyle/>
          <a:p>
            <a:fld id="{677A2CBA-E486-4DC8-8696-C7854B0A28FD}"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53" name="幻灯片图像占位符 1"/>
          <p:cNvSpPr>
            <a:spLocks noGrp="1" noRot="1" noChangeAspect="1"/>
          </p:cNvSpPr>
          <p:nvPr>
            <p:ph type="sldImg"/>
          </p:nvPr>
        </p:nvSpPr>
        <p:spPr>
          <a:xfrm>
            <a:off x="685800" y="1143000"/>
            <a:ext cx="5486400" cy="3086100"/>
          </a:xfrm>
        </p:spPr>
      </p:sp>
      <p:sp>
        <p:nvSpPr>
          <p:cNvPr id="1049554" name="备注占位符 2"/>
          <p:cNvSpPr>
            <a:spLocks noGrp="1"/>
          </p:cNvSpPr>
          <p:nvPr>
            <p:ph type="body" idx="1"/>
          </p:nvPr>
        </p:nvSpPr>
        <p:spPr/>
        <p:txBody>
          <a:bodyPr/>
          <a:lstStyle/>
          <a:p>
            <a:r>
              <a:rPr lang="zh-CN" altLang="en-US"/>
              <a:t>为评估</a:t>
            </a:r>
            <a:r>
              <a:rPr lang="en-US" altLang="zh-CN"/>
              <a:t>QFreqFormer</a:t>
            </a:r>
            <a:r>
              <a:rPr lang="zh-CN" altLang="en-US"/>
              <a:t>的实际部署可行性，我们对其计算效率和内存消耗进行了详细分析。本文在统一硬件配置下开展实验，采用单块 </a:t>
            </a:r>
            <a:r>
              <a:rPr lang="en-US" altLang="zh-CN"/>
              <a:t>NVIDIA RTX 3080Ti</a:t>
            </a:r>
            <a:r>
              <a:rPr lang="zh-CN" altLang="en-US"/>
              <a:t>（</a:t>
            </a:r>
            <a:r>
              <a:rPr lang="en-US" altLang="zh-CN"/>
              <a:t>12GB</a:t>
            </a:r>
            <a:r>
              <a:rPr lang="zh-CN" altLang="en-US"/>
              <a:t>显存）和</a:t>
            </a:r>
            <a:r>
              <a:rPr lang="en-US" altLang="zh-CN"/>
              <a:t>IntelCorei9-13900K</a:t>
            </a:r>
            <a:r>
              <a:rPr lang="zh-CN" altLang="en-US"/>
              <a:t>处理器，输入长度</a:t>
            </a:r>
            <a:r>
              <a:rPr lang="en-US" altLang="zh-CN"/>
              <a:t>H=336</a:t>
            </a:r>
            <a:r>
              <a:rPr lang="zh-CN" altLang="en-US"/>
              <a:t>、批量大小为</a:t>
            </a:r>
            <a:r>
              <a:rPr lang="en-US" altLang="zh-CN"/>
              <a:t>32</a:t>
            </a:r>
            <a:r>
              <a:rPr lang="zh-CN" altLang="en-US"/>
              <a:t>。报告了三项关键指标，并与五种代表性基线方法（</a:t>
            </a:r>
            <a:r>
              <a:rPr lang="en-US" altLang="zh-CN"/>
              <a:t>DLinear</a:t>
            </a:r>
            <a:r>
              <a:rPr lang="zh-CN" altLang="en-US"/>
              <a:t>、</a:t>
            </a:r>
            <a:r>
              <a:rPr lang="en-US" altLang="zh-CN"/>
              <a:t>PatchTST</a:t>
            </a:r>
            <a:r>
              <a:rPr lang="zh-CN" altLang="en-US"/>
              <a:t>、</a:t>
            </a:r>
            <a:r>
              <a:rPr lang="en-US" altLang="zh-CN"/>
              <a:t>Informer</a:t>
            </a:r>
            <a:r>
              <a:rPr lang="zh-CN" altLang="en-US"/>
              <a:t>、</a:t>
            </a:r>
            <a:r>
              <a:rPr lang="en-US" altLang="zh-CN"/>
              <a:t>FEDformer</a:t>
            </a:r>
            <a:r>
              <a:rPr lang="zh-CN" altLang="en-US"/>
              <a:t>及</a:t>
            </a:r>
            <a:r>
              <a:rPr lang="en-US" altLang="zh-CN"/>
              <a:t>Autoformer</a:t>
            </a:r>
            <a:r>
              <a:rPr lang="zh-CN" altLang="en-US"/>
              <a:t>）进行对比：每轮训练的平均耗时（秒）、每个样本的推理延迟（毫秒）以及</a:t>
            </a:r>
            <a:r>
              <a:rPr lang="en-US" altLang="zh-CN"/>
              <a:t>GPU</a:t>
            </a:r>
            <a:r>
              <a:rPr lang="zh-CN" altLang="en-US"/>
              <a:t>峰值内存占用量（</a:t>
            </a:r>
            <a:r>
              <a:rPr lang="en-US" altLang="zh-CN"/>
              <a:t>GB</a:t>
            </a:r>
            <a:r>
              <a:rPr lang="zh-CN" altLang="en-US"/>
              <a:t>）。</a:t>
            </a:r>
            <a:endParaRPr lang="en-US" altLang="zh-CN"/>
          </a:p>
          <a:p>
            <a:endParaRPr lang="en-US" altLang="zh-CN"/>
          </a:p>
          <a:p>
            <a:r>
              <a:rPr lang="zh-CN" altLang="en-US"/>
              <a:t>如表</a:t>
            </a:r>
            <a:r>
              <a:rPr lang="en-US" altLang="zh-CN"/>
              <a:t>7</a:t>
            </a:r>
            <a:r>
              <a:rPr lang="zh-CN" altLang="en-US"/>
              <a:t>所示，</a:t>
            </a:r>
            <a:r>
              <a:rPr lang="en-US" altLang="zh-CN"/>
              <a:t>QFreqFormer</a:t>
            </a:r>
            <a:r>
              <a:rPr lang="zh-CN" altLang="en-US"/>
              <a:t>模型的计算开销适中（</a:t>
            </a:r>
            <a:r>
              <a:rPr lang="en-US" altLang="zh-CN"/>
              <a:t>23.4</a:t>
            </a:r>
            <a:r>
              <a:rPr lang="zh-CN" altLang="en-US"/>
              <a:t>秒</a:t>
            </a:r>
            <a:r>
              <a:rPr lang="en-US" altLang="zh-CN"/>
              <a:t>/0.68</a:t>
            </a:r>
            <a:r>
              <a:rPr lang="zh-CN" altLang="en-US"/>
              <a:t>毫秒</a:t>
            </a:r>
            <a:r>
              <a:rPr lang="en-US" altLang="zh-CN"/>
              <a:t>/3.5GB</a:t>
            </a:r>
            <a:r>
              <a:rPr lang="zh-CN" altLang="en-US"/>
              <a:t>），虽略高于</a:t>
            </a:r>
            <a:r>
              <a:rPr lang="en-US" altLang="zh-CN"/>
              <a:t>DLinear</a:t>
            </a:r>
            <a:r>
              <a:rPr lang="zh-CN" altLang="en-US"/>
              <a:t>等轻量级模型，但相较于</a:t>
            </a:r>
            <a:r>
              <a:rPr lang="en-US" altLang="zh-CN"/>
              <a:t>Informer</a:t>
            </a:r>
            <a:r>
              <a:rPr lang="zh-CN" altLang="en-US"/>
              <a:t>、</a:t>
            </a:r>
            <a:r>
              <a:rPr lang="en-US" altLang="zh-CN"/>
              <a:t>FEDformer</a:t>
            </a:r>
            <a:r>
              <a:rPr lang="zh-CN" altLang="en-US"/>
              <a:t>和</a:t>
            </a:r>
            <a:r>
              <a:rPr lang="en-US" altLang="zh-CN"/>
              <a:t>Autoformer</a:t>
            </a:r>
            <a:r>
              <a:rPr lang="zh-CN" altLang="en-US"/>
              <a:t>等基于注意力机制的基线模型则显著更高效。这表明尽管</a:t>
            </a:r>
            <a:r>
              <a:rPr lang="en-US" altLang="zh-CN"/>
              <a:t>QFreqFormer</a:t>
            </a:r>
            <a:r>
              <a:rPr lang="zh-CN" altLang="en-US"/>
              <a:t>引入了额外的复杂性，其仍具备可计算处理能力。需要特别指出的是，这些效率指标应结合</a:t>
            </a:r>
            <a:r>
              <a:rPr lang="en-US" altLang="zh-CN"/>
              <a:t>QFreqFormer</a:t>
            </a:r>
            <a:r>
              <a:rPr lang="zh-CN" altLang="en-US"/>
              <a:t>始终优异的预测精度来解读。此外，该模型完全采用向量化</a:t>
            </a:r>
            <a:r>
              <a:rPr lang="en-US" altLang="zh-CN"/>
              <a:t>PyTorch</a:t>
            </a:r>
            <a:r>
              <a:rPr lang="zh-CN" altLang="en-US"/>
              <a:t>操作实现，支持高效的</a:t>
            </a:r>
            <a:r>
              <a:rPr lang="en-US" altLang="zh-CN"/>
              <a:t>GPU</a:t>
            </a:r>
            <a:r>
              <a:rPr lang="zh-CN" altLang="en-US"/>
              <a:t>加速并具备良好的扩展性。</a:t>
            </a:r>
            <a:br>
              <a:rPr lang="zh-CN" altLang="en-US"/>
            </a:b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555" name="灯片编号占位符 3"/>
          <p:cNvSpPr>
            <a:spLocks noGrp="1"/>
          </p:cNvSpPr>
          <p:nvPr>
            <p:ph type="sldNum" sz="quarter" idx="10"/>
          </p:nvPr>
        </p:nvSpPr>
        <p:spPr/>
        <p:txBody>
          <a:bodyPr/>
          <a:lstStyle/>
          <a:p>
            <a:fld id="{677A2CBA-E486-4DC8-8696-C7854B0A28FD}"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94" name="幻灯片图像占位符 1"/>
          <p:cNvSpPr>
            <a:spLocks noGrp="1" noRot="1" noChangeAspect="1"/>
          </p:cNvSpPr>
          <p:nvPr>
            <p:ph type="sldImg"/>
          </p:nvPr>
        </p:nvSpPr>
        <p:spPr>
          <a:xfrm>
            <a:off x="685800" y="1143000"/>
            <a:ext cx="5486400" cy="3086100"/>
          </a:xfrm>
        </p:spPr>
      </p:sp>
      <p:sp>
        <p:nvSpPr>
          <p:cNvPr id="1049595" name="备注占位符 2"/>
          <p:cNvSpPr>
            <a:spLocks noGrp="1"/>
          </p:cNvSpPr>
          <p:nvPr>
            <p:ph type="body" idx="1"/>
          </p:nvPr>
        </p:nvSpPr>
        <p:spPr/>
        <p:txBody>
          <a:bodyPr/>
          <a:lstStyle/>
          <a:p>
            <a:endParaRPr lang="zh-CN" altLang="en-US" dirty="0"/>
          </a:p>
        </p:txBody>
      </p:sp>
      <p:sp>
        <p:nvSpPr>
          <p:cNvPr id="1049596" name="灯片编号占位符 3"/>
          <p:cNvSpPr>
            <a:spLocks noGrp="1"/>
          </p:cNvSpPr>
          <p:nvPr>
            <p:ph type="sldNum" sz="quarter" idx="10"/>
          </p:nvPr>
        </p:nvSpPr>
        <p:spPr/>
        <p:txBody>
          <a:bodyPr/>
          <a:lstStyle/>
          <a:p>
            <a:fld id="{677A2CBA-E486-4DC8-8696-C7854B0A28FD}"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08" name="幻灯片图像占位符 1"/>
          <p:cNvSpPr>
            <a:spLocks noGrp="1" noRot="1" noChangeAspect="1"/>
          </p:cNvSpPr>
          <p:nvPr>
            <p:ph type="sldImg"/>
          </p:nvPr>
        </p:nvSpPr>
        <p:spPr>
          <a:xfrm>
            <a:off x="685800" y="1143000"/>
            <a:ext cx="5486400" cy="3086100"/>
          </a:xfrm>
        </p:spPr>
      </p:sp>
      <p:sp>
        <p:nvSpPr>
          <p:cNvPr id="1049609" name="备注占位符 2"/>
          <p:cNvSpPr>
            <a:spLocks noGrp="1"/>
          </p:cNvSpPr>
          <p:nvPr>
            <p:ph type="body" idx="1"/>
          </p:nvPr>
        </p:nvSpPr>
        <p:spPr/>
        <p:txBody>
          <a:bodyPr/>
          <a:lstStyle/>
          <a:p>
            <a:pPr algn="just"/>
            <a:r>
              <a:rPr lang="zh-CN" altLang="en-US" sz="1600" kern="1200" dirty="0">
                <a:solidFill>
                  <a:schemeClr val="tx1"/>
                </a:solidFill>
                <a:effectLst/>
                <a:latin typeface="微软雅黑" panose="020B0503020204020204" charset="-122"/>
                <a:ea typeface="微软雅黑" panose="020B0503020204020204" charset="-122"/>
                <a:cs typeface="+mn-cs"/>
              </a:rPr>
              <a:t>本研究提出了一种用于多元时间序列分析的量子增强型预测框架，该框架融合了量子傅里叶变换（</a:t>
            </a:r>
            <a:r>
              <a:rPr lang="en-US" altLang="zh-CN" sz="1600" kern="1200" dirty="0">
                <a:solidFill>
                  <a:schemeClr val="tx1"/>
                </a:solidFill>
                <a:effectLst/>
                <a:latin typeface="微软雅黑" panose="020B0503020204020204" charset="-122"/>
                <a:ea typeface="微软雅黑" panose="020B0503020204020204" charset="-122"/>
                <a:cs typeface="+mn-cs"/>
              </a:rPr>
              <a:t>QFT</a:t>
            </a:r>
            <a:r>
              <a:rPr lang="zh-CN" altLang="en-US" sz="1600" kern="1200" dirty="0">
                <a:solidFill>
                  <a:schemeClr val="tx1"/>
                </a:solidFill>
                <a:effectLst/>
                <a:latin typeface="微软雅黑" panose="020B0503020204020204" charset="-122"/>
                <a:ea typeface="微软雅黑" panose="020B0503020204020204" charset="-122"/>
                <a:cs typeface="+mn-cs"/>
              </a:rPr>
              <a:t>）、量子频率分解</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重构</a:t>
            </a:r>
            <a:r>
              <a:rPr lang="en-US" altLang="zh-CN" sz="1600" kern="1200" dirty="0">
                <a:solidFill>
                  <a:schemeClr val="tx1"/>
                </a:solidFill>
                <a:effectLst/>
                <a:latin typeface="微软雅黑" panose="020B0503020204020204" charset="-122"/>
                <a:ea typeface="微软雅黑" panose="020B0503020204020204" charset="-122"/>
                <a:cs typeface="+mn-cs"/>
              </a:rPr>
              <a:t>-</a:t>
            </a:r>
            <a:r>
              <a:rPr lang="zh-CN" altLang="en-US" sz="1600" kern="1200" dirty="0">
                <a:solidFill>
                  <a:schemeClr val="tx1"/>
                </a:solidFill>
                <a:effectLst/>
                <a:latin typeface="微软雅黑" panose="020B0503020204020204" charset="-122"/>
                <a:ea typeface="微软雅黑" panose="020B0503020204020204" charset="-122"/>
                <a:cs typeface="+mn-cs"/>
              </a:rPr>
              <a:t>再分解（</a:t>
            </a:r>
            <a:r>
              <a:rPr lang="en-US" altLang="zh-CN" sz="1600" kern="1200" dirty="0">
                <a:solidFill>
                  <a:schemeClr val="tx1"/>
                </a:solidFill>
                <a:effectLst/>
                <a:latin typeface="微软雅黑" panose="020B0503020204020204" charset="-122"/>
                <a:ea typeface="微软雅黑" panose="020B0503020204020204" charset="-122"/>
                <a:cs typeface="+mn-cs"/>
              </a:rPr>
              <a:t>Q-FR-Q</a:t>
            </a:r>
            <a:r>
              <a:rPr lang="zh-CN" altLang="en-US" sz="1600" kern="1200" dirty="0">
                <a:solidFill>
                  <a:schemeClr val="tx1"/>
                </a:solidFill>
                <a:effectLst/>
                <a:latin typeface="微软雅黑" panose="020B0503020204020204" charset="-122"/>
                <a:ea typeface="微软雅黑" panose="020B0503020204020204" charset="-122"/>
                <a:cs typeface="+mn-cs"/>
              </a:rPr>
              <a:t>）机制以及双层图注意力网络（</a:t>
            </a:r>
            <a:r>
              <a:rPr lang="en-US" altLang="zh-CN" sz="1600" kern="1200" dirty="0">
                <a:solidFill>
                  <a:schemeClr val="tx1"/>
                </a:solidFill>
                <a:effectLst/>
                <a:latin typeface="微软雅黑" panose="020B0503020204020204" charset="-122"/>
                <a:ea typeface="微软雅黑" panose="020B0503020204020204" charset="-122"/>
                <a:cs typeface="+mn-cs"/>
              </a:rPr>
              <a:t>DL-GAN</a:t>
            </a:r>
            <a:r>
              <a:rPr lang="zh-CN" altLang="en-US" sz="1600" kern="1200" dirty="0">
                <a:solidFill>
                  <a:schemeClr val="tx1"/>
                </a:solidFill>
                <a:effectLst/>
                <a:latin typeface="微软雅黑" panose="020B0503020204020204" charset="-122"/>
                <a:ea typeface="微软雅黑" panose="020B0503020204020204" charset="-122"/>
                <a:cs typeface="+mn-cs"/>
              </a:rPr>
              <a:t>）。通过引入频域变换和基于图的关系建模方法，该框架构建了能够同时捕捉全局周期性模式与局部时序依赖性的结构化处理流程。在多个基准数据集上进行的定量评估表明，在标准化条件下，该框架相较于代表性基线模型均能显著提升预测精度。</a:t>
            </a:r>
          </a:p>
        </p:txBody>
      </p:sp>
      <p:sp>
        <p:nvSpPr>
          <p:cNvPr id="1049610" name="灯片编号占位符 3"/>
          <p:cNvSpPr>
            <a:spLocks noGrp="1"/>
          </p:cNvSpPr>
          <p:nvPr>
            <p:ph type="sldNum" sz="quarter" idx="10"/>
          </p:nvPr>
        </p:nvSpPr>
        <p:spPr/>
        <p:txBody>
          <a:bodyPr/>
          <a:lstStyle/>
          <a:p>
            <a:fld id="{677A2CBA-E486-4DC8-8696-C7854B0A28FD}"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20" name="幻灯片图像占位符 1"/>
          <p:cNvSpPr>
            <a:spLocks noGrp="1" noRot="1" noChangeAspect="1"/>
          </p:cNvSpPr>
          <p:nvPr>
            <p:ph type="sldImg"/>
          </p:nvPr>
        </p:nvSpPr>
        <p:spPr>
          <a:xfrm>
            <a:off x="685800" y="1143000"/>
            <a:ext cx="5486400" cy="3086100"/>
          </a:xfrm>
        </p:spPr>
      </p:sp>
      <p:sp>
        <p:nvSpPr>
          <p:cNvPr id="104962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9622" name="灯片编号占位符 3"/>
          <p:cNvSpPr>
            <a:spLocks noGrp="1"/>
          </p:cNvSpPr>
          <p:nvPr>
            <p:ph type="sldNum" sz="quarter" idx="10"/>
          </p:nvPr>
        </p:nvSpPr>
        <p:spPr/>
        <p:txBody>
          <a:bodyPr/>
          <a:lstStyle/>
          <a:p>
            <a:fld id="{677A2CBA-E486-4DC8-8696-C7854B0A28FD}"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56" name="幻灯片图像占位符 1"/>
          <p:cNvSpPr>
            <a:spLocks noGrp="1" noRot="1" noChangeAspect="1"/>
          </p:cNvSpPr>
          <p:nvPr>
            <p:ph type="sldImg"/>
          </p:nvPr>
        </p:nvSpPr>
        <p:spPr>
          <a:xfrm>
            <a:off x="685800" y="1143000"/>
            <a:ext cx="5486400" cy="3086100"/>
          </a:xfrm>
        </p:spPr>
      </p:sp>
      <p:sp>
        <p:nvSpPr>
          <p:cNvPr id="1049657" name="备注占位符 2"/>
          <p:cNvSpPr>
            <a:spLocks noGrp="1"/>
          </p:cNvSpPr>
          <p:nvPr>
            <p:ph type="body" idx="1"/>
          </p:nvPr>
        </p:nvSpPr>
        <p:spPr/>
        <p:txBody>
          <a:bodyPr/>
          <a:lstStyle/>
          <a:p>
            <a:r>
              <a:rPr lang="zh-CN" altLang="en-US" dirty="0"/>
              <a:t>主要分为以下四个部分</a:t>
            </a:r>
          </a:p>
        </p:txBody>
      </p:sp>
      <p:sp>
        <p:nvSpPr>
          <p:cNvPr id="1049658" name="灯片编号占位符 3"/>
          <p:cNvSpPr>
            <a:spLocks noGrp="1"/>
          </p:cNvSpPr>
          <p:nvPr>
            <p:ph type="sldNum" sz="quarter" idx="10"/>
          </p:nvPr>
        </p:nvSpPr>
        <p:spPr/>
        <p:txBody>
          <a:bodyPr/>
          <a:lstStyle/>
          <a:p>
            <a:fld id="{677A2CBA-E486-4DC8-8696-C7854B0A28FD}"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2" name="幻灯片图像占位符 1"/>
          <p:cNvSpPr>
            <a:spLocks noGrp="1" noRot="1" noChangeAspect="1"/>
          </p:cNvSpPr>
          <p:nvPr>
            <p:ph type="sldImg"/>
          </p:nvPr>
        </p:nvSpPr>
        <p:spPr>
          <a:xfrm>
            <a:off x="685800" y="1143000"/>
            <a:ext cx="5486400" cy="3086100"/>
          </a:xfrm>
        </p:spPr>
      </p:sp>
      <p:sp>
        <p:nvSpPr>
          <p:cNvPr id="1049693" name="备注占位符 2"/>
          <p:cNvSpPr>
            <a:spLocks noGrp="1"/>
          </p:cNvSpPr>
          <p:nvPr>
            <p:ph type="body" idx="1"/>
          </p:nvPr>
        </p:nvSpPr>
        <p:spPr/>
        <p:txBody>
          <a:bodyPr/>
          <a:lstStyle/>
          <a:p>
            <a:r>
              <a:rPr lang="zh-CN" altLang="en-US" dirty="0"/>
              <a:t>首先是问题描述</a:t>
            </a:r>
          </a:p>
        </p:txBody>
      </p:sp>
      <p:sp>
        <p:nvSpPr>
          <p:cNvPr id="1049694" name="灯片编号占位符 3"/>
          <p:cNvSpPr>
            <a:spLocks noGrp="1"/>
          </p:cNvSpPr>
          <p:nvPr>
            <p:ph type="sldNum" sz="quarter" idx="10"/>
          </p:nvPr>
        </p:nvSpPr>
        <p:spPr/>
        <p:txBody>
          <a:bodyPr/>
          <a:lstStyle/>
          <a:p>
            <a:fld id="{677A2CBA-E486-4DC8-8696-C7854B0A28FD}"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01" name="幻灯片图像占位符 1"/>
          <p:cNvSpPr>
            <a:spLocks noGrp="1" noRot="1" noChangeAspect="1"/>
          </p:cNvSpPr>
          <p:nvPr>
            <p:ph type="sldImg"/>
          </p:nvPr>
        </p:nvSpPr>
        <p:spPr>
          <a:xfrm>
            <a:off x="685800" y="1143000"/>
            <a:ext cx="5486400" cy="3086100"/>
          </a:xfrm>
        </p:spPr>
      </p:sp>
      <p:sp>
        <p:nvSpPr>
          <p:cNvPr id="1049702"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本文首先证明了量子计算机在一定规模下的计算效率，之后说明了容错量子计算在随机梯度下降领域应用的可行性。在实践中，我们对从 </a:t>
            </a:r>
            <a:r>
              <a:rPr lang="en-US" altLang="zh-CN" sz="1600" kern="1200" dirty="0">
                <a:solidFill>
                  <a:schemeClr val="tx1"/>
                </a:solidFill>
                <a:effectLst/>
                <a:latin typeface="微软雅黑" panose="020B0503020204020204" charset="-122"/>
                <a:ea typeface="微软雅黑" panose="020B0503020204020204" charset="-122"/>
                <a:cs typeface="+mn-cs"/>
              </a:rPr>
              <a:t>700 </a:t>
            </a:r>
            <a:r>
              <a:rPr lang="zh-CN" altLang="en-US" sz="1600" kern="1200" dirty="0">
                <a:solidFill>
                  <a:schemeClr val="tx1"/>
                </a:solidFill>
                <a:effectLst/>
                <a:latin typeface="微软雅黑" panose="020B0503020204020204" charset="-122"/>
                <a:ea typeface="微软雅黑" panose="020B0503020204020204" charset="-122"/>
                <a:cs typeface="+mn-cs"/>
              </a:rPr>
              <a:t>万到 </a:t>
            </a:r>
            <a:r>
              <a:rPr lang="en-US" altLang="zh-CN" sz="1600" kern="1200" dirty="0">
                <a:solidFill>
                  <a:schemeClr val="tx1"/>
                </a:solidFill>
                <a:effectLst/>
                <a:latin typeface="微软雅黑" panose="020B0503020204020204" charset="-122"/>
                <a:ea typeface="微软雅黑" panose="020B0503020204020204" charset="-122"/>
                <a:cs typeface="+mn-cs"/>
              </a:rPr>
              <a:t>1.03 </a:t>
            </a:r>
            <a:r>
              <a:rPr lang="zh-CN" altLang="en-US" sz="1600" kern="1200" dirty="0">
                <a:solidFill>
                  <a:schemeClr val="tx1"/>
                </a:solidFill>
                <a:effectLst/>
                <a:latin typeface="微软雅黑" panose="020B0503020204020204" charset="-122"/>
                <a:ea typeface="微软雅黑" panose="020B0503020204020204" charset="-122"/>
                <a:cs typeface="+mn-cs"/>
              </a:rPr>
              <a:t>亿个参数的大型机器学习模型实例进行了基准测试。</a:t>
            </a: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indent="0" algn="l" defTabSz="914400" rtl="0" eaLnBrk="1" fontAlgn="auto" latinLnBrk="0" hangingPunct="1">
              <a:lnSpc>
                <a:spcPct val="100000"/>
              </a:lnSpc>
              <a:spcBef>
                <a:spcPts val="0"/>
              </a:spcBef>
              <a:spcAft>
                <a:spcPts val="0"/>
              </a:spcAft>
              <a:buClrTx/>
              <a:buSzTx/>
              <a:buFontTx/>
              <a:buNone/>
            </a:pPr>
            <a:r>
              <a:rPr lang="zh-CN" altLang="en-US" sz="1600" kern="1200" dirty="0">
                <a:solidFill>
                  <a:schemeClr val="tx1"/>
                </a:solidFill>
                <a:effectLst/>
                <a:latin typeface="微软雅黑" panose="020B0503020204020204" charset="-122"/>
                <a:ea typeface="微软雅黑" panose="020B0503020204020204" charset="-122"/>
                <a:cs typeface="+mn-cs"/>
              </a:rPr>
              <a:t>本文利用量子</a:t>
            </a:r>
            <a:r>
              <a:rPr lang="en-US" altLang="zh-CN" sz="1600" kern="1200" dirty="0" err="1">
                <a:solidFill>
                  <a:schemeClr val="tx1"/>
                </a:solidFill>
                <a:effectLst/>
                <a:latin typeface="微软雅黑" panose="020B0503020204020204" charset="-122"/>
                <a:ea typeface="微软雅黑" panose="020B0503020204020204" charset="-122"/>
                <a:cs typeface="+mn-cs"/>
              </a:rPr>
              <a:t>Carleman</a:t>
            </a:r>
            <a:r>
              <a:rPr lang="zh-CN" altLang="en-US" sz="1600" kern="1200" dirty="0">
                <a:solidFill>
                  <a:schemeClr val="tx1"/>
                </a:solidFill>
                <a:effectLst/>
                <a:latin typeface="微软雅黑" panose="020B0503020204020204" charset="-122"/>
                <a:ea typeface="微软雅黑" panose="020B0503020204020204" charset="-122"/>
                <a:cs typeface="+mn-cs"/>
              </a:rPr>
              <a:t>线性化将非线性梯度下降过程线性化，转换为无限维的线性方程组，然后通过截断来适应数字量子系统的求解。之后利用变体的</a:t>
            </a:r>
            <a:r>
              <a:rPr lang="en-US" altLang="zh-CN" sz="1600" kern="1200" dirty="0">
                <a:solidFill>
                  <a:schemeClr val="tx1"/>
                </a:solidFill>
                <a:effectLst/>
                <a:latin typeface="微软雅黑" panose="020B0503020204020204" charset="-122"/>
                <a:ea typeface="微软雅黑" panose="020B0503020204020204" charset="-122"/>
                <a:cs typeface="+mn-cs"/>
              </a:rPr>
              <a:t>HHL</a:t>
            </a:r>
            <a:r>
              <a:rPr lang="zh-CN" altLang="en-US" sz="1600" kern="1200" dirty="0">
                <a:solidFill>
                  <a:schemeClr val="tx1"/>
                </a:solidFill>
                <a:effectLst/>
                <a:latin typeface="微软雅黑" panose="020B0503020204020204" charset="-122"/>
                <a:ea typeface="微软雅黑" panose="020B0503020204020204" charset="-122"/>
                <a:cs typeface="+mn-cs"/>
              </a:rPr>
              <a:t>算法解决线性化后的矩阵求逆问题，从而在量子计算机上实现梯度下降 </a:t>
            </a:r>
            <a:r>
              <a:rPr lang="en-US" altLang="zh-CN" sz="1600" kern="1200" dirty="0">
                <a:solidFill>
                  <a:schemeClr val="tx1"/>
                </a:solidFill>
                <a:effectLst/>
                <a:latin typeface="微软雅黑" panose="020B0503020204020204" charset="-122"/>
                <a:ea typeface="微软雅黑" panose="020B0503020204020204" charset="-122"/>
                <a:cs typeface="+mn-cs"/>
              </a:rPr>
              <a:t>dynamics </a:t>
            </a:r>
            <a:r>
              <a:rPr lang="zh-CN" altLang="en-US" sz="1600" kern="1200" dirty="0">
                <a:solidFill>
                  <a:schemeClr val="tx1"/>
                </a:solidFill>
                <a:effectLst/>
                <a:latin typeface="微软雅黑" panose="020B0503020204020204" charset="-122"/>
                <a:ea typeface="微软雅黑" panose="020B0503020204020204" charset="-122"/>
                <a:cs typeface="+mn-cs"/>
              </a:rPr>
              <a:t>的求解。</a:t>
            </a:r>
          </a:p>
        </p:txBody>
      </p:sp>
      <p:sp>
        <p:nvSpPr>
          <p:cNvPr id="1049703" name="灯片编号占位符 3"/>
          <p:cNvSpPr>
            <a:spLocks noGrp="1"/>
          </p:cNvSpPr>
          <p:nvPr>
            <p:ph type="sldNum" sz="quarter" idx="10"/>
          </p:nvPr>
        </p:nvSpPr>
        <p:spPr/>
        <p:txBody>
          <a:bodyPr/>
          <a:lstStyle/>
          <a:p>
            <a:fld id="{677A2CBA-E486-4DC8-8696-C7854B0A28FD}"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37" name="幻灯片图像占位符 1"/>
          <p:cNvSpPr>
            <a:spLocks noGrp="1" noRot="1" noChangeAspect="1"/>
          </p:cNvSpPr>
          <p:nvPr>
            <p:ph type="sldImg"/>
          </p:nvPr>
        </p:nvSpPr>
        <p:spPr>
          <a:xfrm>
            <a:off x="685800" y="1143000"/>
            <a:ext cx="5486400" cy="3086100"/>
          </a:xfrm>
        </p:spPr>
      </p:sp>
      <p:sp>
        <p:nvSpPr>
          <p:cNvPr id="1049738" name="备注占位符 2"/>
          <p:cNvSpPr>
            <a:spLocks noGrp="1"/>
          </p:cNvSpPr>
          <p:nvPr>
            <p:ph type="body" idx="1"/>
          </p:nvPr>
        </p:nvSpPr>
        <p:spPr/>
        <p:txBody>
          <a:bodyPr/>
          <a:lstStyle/>
          <a:p>
            <a:r>
              <a:rPr lang="zh-CN" altLang="en-US" dirty="0"/>
              <a:t>研究现状</a:t>
            </a:r>
          </a:p>
        </p:txBody>
      </p:sp>
      <p:sp>
        <p:nvSpPr>
          <p:cNvPr id="1049739" name="灯片编号占位符 3"/>
          <p:cNvSpPr>
            <a:spLocks noGrp="1"/>
          </p:cNvSpPr>
          <p:nvPr>
            <p:ph type="sldNum" sz="quarter" idx="10"/>
          </p:nvPr>
        </p:nvSpPr>
        <p:spPr/>
        <p:txBody>
          <a:bodyPr/>
          <a:lstStyle/>
          <a:p>
            <a:fld id="{677A2CBA-E486-4DC8-8696-C7854B0A28FD}"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47" name="幻灯片图像占位符 1"/>
          <p:cNvSpPr>
            <a:spLocks noGrp="1" noRot="1" noChangeAspect="1"/>
          </p:cNvSpPr>
          <p:nvPr>
            <p:ph type="sldImg"/>
          </p:nvPr>
        </p:nvSpPr>
        <p:spPr>
          <a:xfrm>
            <a:off x="685800" y="1143000"/>
            <a:ext cx="5486400" cy="3086100"/>
          </a:xfrm>
        </p:spPr>
      </p:sp>
      <p:sp>
        <p:nvSpPr>
          <p:cNvPr id="1049748" name="备注占位符 2"/>
          <p:cNvSpPr>
            <a:spLocks noGrp="1"/>
          </p:cNvSpPr>
          <p:nvPr>
            <p:ph type="body" idx="1"/>
          </p:nvPr>
        </p:nvSpPr>
        <p:spPr/>
        <p:txBody>
          <a:bodyPr/>
          <a:lstStyle/>
          <a:p>
            <a:r>
              <a:rPr lang="zh-CN" altLang="en-US" b="0" i="0" dirty="0">
                <a:effectLst/>
                <a:latin typeface="-apple-system"/>
              </a:rPr>
              <a:t>量子算法的运行时间与 </a:t>
            </a:r>
            <a:r>
              <a:rPr lang="en-US" altLang="zh-CN" b="0" i="1" dirty="0">
                <a:effectLst/>
                <a:latin typeface="KaTeX_Math"/>
              </a:rPr>
              <a:t>T</a:t>
            </a:r>
            <a:r>
              <a:rPr lang="zh-CN" altLang="en-US" b="0" i="0" dirty="0">
                <a:effectLst/>
                <a:latin typeface="-apple-system"/>
              </a:rPr>
              <a:t> 成线性关系，与 </a:t>
            </a:r>
            <a:r>
              <a:rPr lang="en-US" altLang="zh-CN" b="0" i="1" dirty="0">
                <a:effectLst/>
                <a:latin typeface="KaTeX_Math"/>
              </a:rPr>
              <a:t>n</a:t>
            </a:r>
            <a:r>
              <a:rPr lang="zh-CN" altLang="en-US" b="0" i="0" dirty="0">
                <a:effectLst/>
                <a:latin typeface="-apple-system"/>
              </a:rPr>
              <a:t> 的对数多项式关系。通过展示算法在时间复杂度上的优势，可以证明该算法在处理大规模机器学习模型时的潜在效率</a:t>
            </a:r>
            <a:r>
              <a:rPr lang="en-US" altLang="zh-CN" b="0" i="0" dirty="0">
                <a:effectLst/>
                <a:latin typeface="-apple-system"/>
              </a:rPr>
              <a:t>.</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749" name="灯片编号占位符 3"/>
          <p:cNvSpPr>
            <a:spLocks noGrp="1"/>
          </p:cNvSpPr>
          <p:nvPr>
            <p:ph type="sldNum" sz="quarter" idx="10"/>
          </p:nvPr>
        </p:nvSpPr>
        <p:spPr/>
        <p:txBody>
          <a:bodyPr/>
          <a:lstStyle/>
          <a:p>
            <a:fld id="{677A2CBA-E486-4DC8-8696-C7854B0A28FD}"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62" name="幻灯片图像占位符 1"/>
          <p:cNvSpPr>
            <a:spLocks noGrp="1" noRot="1" noChangeAspect="1"/>
          </p:cNvSpPr>
          <p:nvPr>
            <p:ph type="sldImg"/>
          </p:nvPr>
        </p:nvSpPr>
        <p:spPr>
          <a:xfrm>
            <a:off x="685800" y="1143000"/>
            <a:ext cx="5486400" cy="3086100"/>
          </a:xfrm>
        </p:spPr>
      </p:sp>
      <p:sp>
        <p:nvSpPr>
          <p:cNvPr id="104976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apple-system"/>
              </a:rPr>
              <a:t>与定理</a:t>
            </a:r>
            <a:r>
              <a:rPr lang="en-US" altLang="zh-CN" b="0" i="0" dirty="0">
                <a:effectLst/>
                <a:latin typeface="-apple-system"/>
              </a:rPr>
              <a:t>1</a:t>
            </a:r>
            <a:r>
              <a:rPr lang="zh-CN" altLang="en-US" b="0" i="0" dirty="0">
                <a:effectLst/>
                <a:latin typeface="-apple-system"/>
              </a:rPr>
              <a:t>的意义：量子算法可以高效地解决大规模机器学习模型中的（随机）梯度下降问题。线性化方法是实现这一环节的关键技术手段。</a:t>
            </a:r>
            <a:endParaRPr lang="en-US" altLang="zh-CN" b="0" i="0"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pPr>
            <a:endParaRPr lang="en-US" altLang="zh-CN" b="0" i="0" dirty="0">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inherit"/>
              </a:rPr>
              <a:t>假设始终假设可以获取梯度下降方程的显式形式，以便构建卡勒曼线性化。</a:t>
            </a:r>
            <a:endParaRPr lang="en-US" altLang="zh-CN" b="0" i="0" dirty="0">
              <a:effectLst/>
              <a:latin typeface="inherit"/>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inherit"/>
              </a:rPr>
              <a:t>通过量子</a:t>
            </a:r>
            <a:r>
              <a:rPr lang="en-US" altLang="zh-CN" b="0" i="0" dirty="0" err="1">
                <a:effectLst/>
                <a:latin typeface="inherit"/>
              </a:rPr>
              <a:t>Carleman</a:t>
            </a:r>
            <a:r>
              <a:rPr lang="zh-CN" altLang="en-US" b="0" i="0" dirty="0">
                <a:effectLst/>
                <a:latin typeface="inherit"/>
              </a:rPr>
              <a:t>线性化，</a:t>
            </a:r>
            <a:r>
              <a:rPr lang="zh-CN" altLang="en-US" b="0" i="0" dirty="0">
                <a:effectLst/>
                <a:latin typeface="-apple-system"/>
              </a:rPr>
              <a:t>这种方法通过引入高阶张量积来线性化非线性动态。因此</a:t>
            </a:r>
            <a:r>
              <a:rPr lang="zh-CN" altLang="en-US" b="0" i="0" dirty="0">
                <a:effectLst/>
                <a:latin typeface="inherit"/>
              </a:rPr>
              <a:t>非线性递归关系被转换为一个无限维的线性方程组。为了在数字量子系统上求解这个无限维的线性方程组，需要进行截断。对于稀疏且耗散的系统，截断误差可以被很好地控制。最终，这个线性方程组可以表示为一个矩阵求逆问题，从而可以使用</a:t>
            </a:r>
            <a:r>
              <a:rPr lang="en-US" altLang="zh-CN" b="0" i="0" dirty="0">
                <a:effectLst/>
                <a:latin typeface="inherit"/>
              </a:rPr>
              <a:t>HHL</a:t>
            </a:r>
            <a:r>
              <a:rPr lang="zh-CN" altLang="en-US" b="0" i="0" dirty="0">
                <a:effectLst/>
                <a:latin typeface="inherit"/>
              </a:rPr>
              <a:t>算法在量子计算机上求解。</a:t>
            </a:r>
          </a:p>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764" name="灯片编号占位符 3"/>
          <p:cNvSpPr>
            <a:spLocks noGrp="1"/>
          </p:cNvSpPr>
          <p:nvPr>
            <p:ph type="sldNum" sz="quarter" idx="10"/>
          </p:nvPr>
        </p:nvSpPr>
        <p:spPr/>
        <p:txBody>
          <a:bodyPr/>
          <a:lstStyle/>
          <a:p>
            <a:fld id="{677A2CBA-E486-4DC8-8696-C7854B0A28FD}"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98" name="幻灯片图像占位符 1"/>
          <p:cNvSpPr>
            <a:spLocks noGrp="1" noRot="1" noChangeAspect="1"/>
          </p:cNvSpPr>
          <p:nvPr>
            <p:ph type="sldImg"/>
          </p:nvPr>
        </p:nvSpPr>
        <p:spPr>
          <a:xfrm>
            <a:off x="685800" y="1143000"/>
            <a:ext cx="5486400" cy="3086100"/>
          </a:xfrm>
        </p:spPr>
      </p:sp>
      <p:sp>
        <p:nvSpPr>
          <p:cNvPr id="1049799" name="备注占位符 2"/>
          <p:cNvSpPr>
            <a:spLocks noGrp="1"/>
          </p:cNvSpPr>
          <p:nvPr>
            <p:ph type="body" idx="1"/>
          </p:nvPr>
        </p:nvSpPr>
        <p:spPr/>
        <p:txBody>
          <a:bodyPr/>
          <a:lstStyle/>
          <a:p>
            <a:endParaRPr lang="zh-CN" altLang="en-US" dirty="0"/>
          </a:p>
        </p:txBody>
      </p:sp>
      <p:sp>
        <p:nvSpPr>
          <p:cNvPr id="1049800" name="灯片编号占位符 3"/>
          <p:cNvSpPr>
            <a:spLocks noGrp="1"/>
          </p:cNvSpPr>
          <p:nvPr>
            <p:ph type="sldNum" sz="quarter" idx="10"/>
          </p:nvPr>
        </p:nvSpPr>
        <p:spPr/>
        <p:txBody>
          <a:bodyPr/>
          <a:lstStyle/>
          <a:p>
            <a:fld id="{677A2CBA-E486-4DC8-8696-C7854B0A28FD}"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07" name="幻灯片图像占位符 1"/>
          <p:cNvSpPr>
            <a:spLocks noGrp="1" noRot="1" noChangeAspect="1"/>
          </p:cNvSpPr>
          <p:nvPr>
            <p:ph type="sldImg"/>
          </p:nvPr>
        </p:nvSpPr>
        <p:spPr>
          <a:xfrm>
            <a:off x="685800" y="1143000"/>
            <a:ext cx="5486400" cy="3086100"/>
          </a:xfrm>
        </p:spPr>
      </p:sp>
      <p:sp>
        <p:nvSpPr>
          <p:cNvPr id="1049808" name="备注占位符 2"/>
          <p:cNvSpPr>
            <a:spLocks noGrp="1"/>
          </p:cNvSpPr>
          <p:nvPr>
            <p:ph type="body" idx="1"/>
          </p:nvPr>
        </p:nvSpPr>
        <p:spPr/>
        <p:txBody>
          <a:bodyPr/>
          <a:lstStyle/>
          <a:p>
            <a:br>
              <a:rPr lang="zh-CN" altLang="en-US" dirty="0"/>
            </a:br>
            <a:r>
              <a:rPr lang="zh-CN" altLang="en-US" dirty="0"/>
              <a:t>首先，我们研究了一个模型，该模型具有</a:t>
            </a:r>
            <a:r>
              <a:rPr lang="en-US" altLang="zh-CN" dirty="0"/>
              <a:t>700</a:t>
            </a:r>
            <a:r>
              <a:rPr lang="zh-CN" altLang="en-US" dirty="0"/>
              <a:t>万个可训练参数，用于区分</a:t>
            </a:r>
            <a:r>
              <a:rPr lang="en-US" altLang="zh-CN" dirty="0"/>
              <a:t>100</a:t>
            </a:r>
            <a:r>
              <a:rPr lang="zh-CN" altLang="en-US" dirty="0"/>
              <a:t>个类别的图像。为了获得稀疏输出模型，我们在稀疏训练过程中记录了</a:t>
            </a:r>
            <a:r>
              <a:rPr lang="en-US" altLang="zh-CN" dirty="0"/>
              <a:t>Hessian</a:t>
            </a:r>
            <a:r>
              <a:rPr lang="zh-CN" altLang="en-US" dirty="0"/>
              <a:t>谱，这使我们能够跟踪与误差界相关量的演变，由式</a:t>
            </a:r>
            <a:r>
              <a:rPr lang="en-US" altLang="zh-CN" dirty="0"/>
              <a:t>(7)</a:t>
            </a:r>
            <a:r>
              <a:rPr lang="zh-CN" altLang="en-US" dirty="0"/>
              <a:t>给出。公式</a:t>
            </a:r>
            <a:r>
              <a:rPr lang="en-US" altLang="zh-CN" dirty="0"/>
              <a:t>8</a:t>
            </a:r>
            <a:r>
              <a:rPr lang="zh-CN" altLang="en-US" dirty="0"/>
              <a:t>通过丢弃小幅度的</a:t>
            </a:r>
            <a:r>
              <a:rPr lang="en-US" altLang="zh-CN" dirty="0"/>
              <a:t>Hessian</a:t>
            </a:r>
            <a:r>
              <a:rPr lang="zh-CN" altLang="en-US" dirty="0"/>
              <a:t>特征值（</a:t>
            </a:r>
            <a:r>
              <a:rPr lang="en-US" altLang="zh-CN" dirty="0"/>
              <a:t>-0.4—0.4</a:t>
            </a:r>
            <a:r>
              <a:rPr lang="zh-CN" altLang="en-US" dirty="0"/>
              <a:t>之间），因为它们接近</a:t>
            </a:r>
            <a:r>
              <a:rPr lang="en-US" altLang="zh-CN" dirty="0"/>
              <a:t>0</a:t>
            </a:r>
            <a:r>
              <a:rPr lang="zh-CN" altLang="en-US" dirty="0"/>
              <a:t>，防止</a:t>
            </a:r>
            <a:r>
              <a:rPr lang="en-US" altLang="zh-CN" dirty="0"/>
              <a:t>Hessian</a:t>
            </a:r>
            <a:r>
              <a:rPr lang="zh-CN" altLang="en-US" dirty="0"/>
              <a:t>谱出现奇异情况。</a:t>
            </a:r>
            <a:endParaRPr lang="en-US" altLang="zh-CN" dirty="0"/>
          </a:p>
          <a:p>
            <a:endParaRPr lang="en-US" altLang="zh-CN" sz="1600" kern="1200" dirty="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pPr>
            <a:r>
              <a:rPr lang="zh-CN" altLang="en-US" b="0" i="0" dirty="0">
                <a:effectLst/>
                <a:latin typeface="-apple-system"/>
              </a:rPr>
              <a:t>图</a:t>
            </a:r>
            <a:r>
              <a:rPr lang="en-US" altLang="zh-CN" b="0" i="0" dirty="0">
                <a:effectLst/>
                <a:latin typeface="-apple-system"/>
              </a:rPr>
              <a:t>2(a)</a:t>
            </a:r>
            <a:r>
              <a:rPr lang="zh-CN" altLang="en-US" b="0" i="0" dirty="0">
                <a:effectLst/>
                <a:latin typeface="-apple-system"/>
              </a:rPr>
              <a:t>展示了</a:t>
            </a:r>
            <a:r>
              <a:rPr lang="en-US" altLang="zh-CN" b="0" i="0" dirty="0" err="1">
                <a:effectLst/>
                <a:latin typeface="-apple-system"/>
              </a:rPr>
              <a:t>ResNet</a:t>
            </a:r>
            <a:r>
              <a:rPr lang="zh-CN" altLang="en-US" b="0" i="0" dirty="0">
                <a:effectLst/>
                <a:latin typeface="-apple-system"/>
              </a:rPr>
              <a:t>模型在训练过程中的</a:t>
            </a:r>
            <a:r>
              <a:rPr lang="en-US" altLang="zh-CN" b="0" i="0" dirty="0">
                <a:effectLst/>
                <a:latin typeface="-apple-system"/>
              </a:rPr>
              <a:t>Hessian</a:t>
            </a:r>
            <a:r>
              <a:rPr lang="zh-CN" altLang="en-US" b="0" i="0" dirty="0">
                <a:effectLst/>
                <a:latin typeface="-apple-system"/>
              </a:rPr>
              <a:t>矩阵的特征值分布（即</a:t>
            </a:r>
            <a:r>
              <a:rPr lang="en-US" altLang="zh-CN" b="0" i="0" dirty="0">
                <a:effectLst/>
                <a:latin typeface="-apple-system"/>
              </a:rPr>
              <a:t>Hessian</a:t>
            </a:r>
            <a:r>
              <a:rPr lang="zh-CN" altLang="en-US" b="0" i="0" dirty="0">
                <a:effectLst/>
                <a:latin typeface="-apple-system"/>
              </a:rPr>
              <a:t>光谱）。</a:t>
            </a:r>
            <a:r>
              <a:rPr lang="en-US" altLang="zh-CN" b="0" i="0" dirty="0">
                <a:effectLst/>
                <a:latin typeface="-apple-system"/>
              </a:rPr>
              <a:t>Hessian</a:t>
            </a:r>
            <a:r>
              <a:rPr lang="zh-CN" altLang="en-US" b="0" i="0" dirty="0">
                <a:effectLst/>
                <a:latin typeface="-apple-system"/>
              </a:rPr>
              <a:t>矩阵的特征值反映了损失函数在权重空间的曲率信息。</a:t>
            </a:r>
            <a:r>
              <a:rPr lang="zh-CN" altLang="en-US" b="0" i="0" dirty="0">
                <a:effectLst/>
                <a:latin typeface="inherit"/>
              </a:rPr>
              <a:t>训练初期，</a:t>
            </a:r>
            <a:r>
              <a:rPr lang="en-US" altLang="zh-CN" b="0" i="0" dirty="0">
                <a:effectLst/>
                <a:latin typeface="inherit"/>
              </a:rPr>
              <a:t>Hessian</a:t>
            </a:r>
            <a:r>
              <a:rPr lang="zh-CN" altLang="en-US" b="0" i="0" dirty="0">
                <a:effectLst/>
                <a:latin typeface="inherit"/>
              </a:rPr>
              <a:t>矩阵的特征值分布显示出较多的正特征值（耗散模式），这表明系统具有耗散性，有利于量子算法的应用。</a:t>
            </a:r>
            <a:r>
              <a:rPr lang="zh-CN" altLang="en-US" b="0" i="0" dirty="0">
                <a:effectLst/>
                <a:latin typeface="-apple-system"/>
              </a:rPr>
              <a:t>耗散性确保了线性化误差可以被很好地控制。</a:t>
            </a:r>
            <a:endParaRPr lang="zh-CN" altLang="en-US" b="0" i="0" dirty="0">
              <a:effectLst/>
              <a:latin typeface="inherit"/>
            </a:endParaRPr>
          </a:p>
          <a:p>
            <a:endParaRPr lang="en-US" altLang="zh-CN" sz="1600" kern="1200" dirty="0">
              <a:solidFill>
                <a:schemeClr val="tx1"/>
              </a:solidFill>
              <a:effectLst/>
              <a:latin typeface="微软雅黑" panose="020B0503020204020204" charset="-122"/>
              <a:ea typeface="微软雅黑" panose="020B0503020204020204" charset="-122"/>
              <a:cs typeface="+mn-cs"/>
            </a:endParaRPr>
          </a:p>
          <a:p>
            <a:r>
              <a:rPr lang="zh-CN" altLang="en-US" b="0" i="0" dirty="0">
                <a:effectLst/>
                <a:latin typeface="-apple-system"/>
              </a:rPr>
              <a:t>图</a:t>
            </a:r>
            <a:r>
              <a:rPr lang="en-US" altLang="zh-CN" b="0" i="0" dirty="0">
                <a:effectLst/>
                <a:latin typeface="-apple-system"/>
              </a:rPr>
              <a:t>2(b)</a:t>
            </a:r>
            <a:r>
              <a:rPr lang="zh-CN" altLang="en-US" b="0" i="0" dirty="0">
                <a:effectLst/>
                <a:latin typeface="-apple-system"/>
              </a:rPr>
              <a:t>展示了训练过程中误差代理（</a:t>
            </a:r>
            <a:r>
              <a:rPr lang="en-US" altLang="zh-CN" b="0" i="0" dirty="0">
                <a:effectLst/>
                <a:latin typeface="-apple-system"/>
              </a:rPr>
              <a:t>error proxy</a:t>
            </a:r>
            <a:r>
              <a:rPr lang="zh-CN" altLang="en-US" b="0" i="0" dirty="0">
                <a:effectLst/>
                <a:latin typeface="-apple-system"/>
              </a:rPr>
              <a:t>）的变化情况。误差代理是基于</a:t>
            </a:r>
            <a:r>
              <a:rPr lang="en-US" altLang="zh-CN" b="0" i="0" dirty="0">
                <a:effectLst/>
                <a:latin typeface="-apple-system"/>
              </a:rPr>
              <a:t>Hessian</a:t>
            </a:r>
            <a:r>
              <a:rPr lang="zh-CN" altLang="en-US" b="0" i="0" dirty="0">
                <a:effectLst/>
                <a:latin typeface="-apple-system"/>
              </a:rPr>
              <a:t>矩阵的特征值计算的一个量，用于估计训练误差的</a:t>
            </a:r>
            <a:r>
              <a:rPr lang="zh-CN" altLang="en-US" b="0" i="0">
                <a:effectLst/>
                <a:latin typeface="-apple-system"/>
              </a:rPr>
              <a:t>增长。并发现量子算法有可能在学习初期实现量子加速（紫色区域）。</a:t>
            </a:r>
            <a:endParaRPr lang="en-US" altLang="zh-CN" sz="1600" b="0" i="0" kern="1200" dirty="0">
              <a:solidFill>
                <a:schemeClr val="tx1"/>
              </a:solidFill>
              <a:effectLst/>
              <a:latin typeface="微软雅黑" panose="020B0503020204020204" charset="-122"/>
              <a:ea typeface="微软雅黑" panose="020B0503020204020204" charset="-122"/>
              <a:cs typeface="+mn-cs"/>
            </a:endParaRPr>
          </a:p>
          <a:p>
            <a:endParaRPr lang="en-US" altLang="zh-CN" sz="1600" b="0" i="0" kern="1200" dirty="0">
              <a:solidFill>
                <a:schemeClr val="tx1"/>
              </a:solidFill>
              <a:effectLst/>
              <a:latin typeface="微软雅黑" panose="020B0503020204020204" charset="-122"/>
              <a:ea typeface="微软雅黑" panose="020B0503020204020204" charset="-122"/>
              <a:cs typeface="+mn-cs"/>
            </a:endParaRPr>
          </a:p>
          <a:p>
            <a:pPr algn="l" fontAlgn="base">
              <a:lnSpc>
                <a:spcPts val="1950"/>
              </a:lnSpc>
              <a:spcAft>
                <a:spcPts val="900"/>
              </a:spcAft>
              <a:buFont typeface="Arial" panose="020B0604020202020204" pitchFamily="34" charset="0"/>
              <a:buChar char="•"/>
            </a:pPr>
            <a:r>
              <a:rPr lang="zh-CN" altLang="en-US" b="0" i="0" dirty="0">
                <a:effectLst/>
                <a:latin typeface="-apple-system"/>
              </a:rPr>
              <a:t>图</a:t>
            </a:r>
            <a:r>
              <a:rPr lang="en-US" altLang="zh-CN" b="0" i="0" dirty="0">
                <a:effectLst/>
                <a:latin typeface="-apple-system"/>
              </a:rPr>
              <a:t>2(c)</a:t>
            </a:r>
            <a:r>
              <a:rPr lang="zh-CN" altLang="en-US" b="0" i="0" dirty="0">
                <a:effectLst/>
                <a:latin typeface="-apple-system"/>
              </a:rPr>
              <a:t>展示了训练过程中模型训练准确率的变化情况。</a:t>
            </a:r>
            <a:r>
              <a:rPr lang="zh-CN" altLang="en-US" b="0" i="0" dirty="0">
                <a:effectLst/>
                <a:latin typeface="inherit"/>
              </a:rPr>
              <a:t>训练初期，准确率逐渐提高，表明模型在学习并改进其预测能力。</a:t>
            </a:r>
            <a:r>
              <a:rPr lang="zh-CN" altLang="en-US" b="0" i="0" dirty="0">
                <a:effectLst/>
                <a:latin typeface="-apple-system"/>
              </a:rPr>
              <a:t>随着训练的进行，准确率在达到峰值后可能会有所下降，这与误差代理的指数增长相对应。</a:t>
            </a:r>
            <a:endParaRPr lang="zh-CN" altLang="en-US" b="0" i="0" dirty="0">
              <a:effectLst/>
              <a:latin typeface="inherit"/>
            </a:endParaRPr>
          </a:p>
          <a:p>
            <a:pPr>
              <a:buNone/>
            </a:pPr>
            <a:r>
              <a:rPr lang="zh-CN" altLang="en-US" b="0" i="0" dirty="0">
                <a:effectLst/>
                <a:latin typeface="-apple-system"/>
              </a:rPr>
              <a:t>图</a:t>
            </a:r>
            <a:r>
              <a:rPr lang="en-US" altLang="zh-CN" b="0" i="0" dirty="0">
                <a:effectLst/>
                <a:latin typeface="-apple-system"/>
              </a:rPr>
              <a:t>2</a:t>
            </a:r>
            <a:r>
              <a:rPr lang="zh-CN" altLang="en-US" b="0" i="0" dirty="0">
                <a:effectLst/>
                <a:latin typeface="-apple-system"/>
              </a:rPr>
              <a:t>表明在训练的早期阶段，模型具有较强的耗散性，此时误差代理较小且准确率在提高，是应用量子增强的最佳时机。这个阶段量子算法可以有效地处理训练问题。</a:t>
            </a:r>
            <a:br>
              <a:rPr lang="zh-CN" altLang="en-US"/>
            </a:br>
            <a:r>
              <a:rPr lang="zh-CN" altLang="en-US"/>
              <a:t>图</a:t>
            </a:r>
            <a:r>
              <a:rPr lang="en-US" altLang="zh-CN"/>
              <a:t>3</a:t>
            </a:r>
            <a:r>
              <a:rPr lang="zh-CN" altLang="en-US"/>
              <a:t>为对数曲线图，衡量了增长过程的指数变化规律。</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49809" name="灯片编号占位符 3"/>
          <p:cNvSpPr>
            <a:spLocks noGrp="1"/>
          </p:cNvSpPr>
          <p:nvPr>
            <p:ph type="sldNum" sz="quarter" idx="10"/>
          </p:nvPr>
        </p:nvSpPr>
        <p:spPr/>
        <p:txBody>
          <a:bodyPr/>
          <a:lstStyle/>
          <a:p>
            <a:fld id="{677A2CBA-E486-4DC8-8696-C7854B0A28FD}"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48" name="幻灯片图像占位符 1"/>
          <p:cNvSpPr>
            <a:spLocks noGrp="1" noRot="1" noChangeAspect="1"/>
          </p:cNvSpPr>
          <p:nvPr>
            <p:ph type="sldImg"/>
          </p:nvPr>
        </p:nvSpPr>
        <p:spPr>
          <a:xfrm>
            <a:off x="685800" y="1143000"/>
            <a:ext cx="5486400" cy="3086100"/>
          </a:xfrm>
        </p:spPr>
      </p:sp>
      <p:sp>
        <p:nvSpPr>
          <p:cNvPr id="1049849" name="备注占位符 2"/>
          <p:cNvSpPr>
            <a:spLocks noGrp="1"/>
          </p:cNvSpPr>
          <p:nvPr>
            <p:ph type="body" idx="1"/>
          </p:nvPr>
        </p:nvSpPr>
        <p:spPr/>
        <p:txBody>
          <a:bodyPr/>
          <a:lstStyle/>
          <a:p>
            <a:endParaRPr lang="zh-CN" altLang="en-US" dirty="0"/>
          </a:p>
        </p:txBody>
      </p:sp>
      <p:sp>
        <p:nvSpPr>
          <p:cNvPr id="1049850" name="灯片编号占位符 3"/>
          <p:cNvSpPr>
            <a:spLocks noGrp="1"/>
          </p:cNvSpPr>
          <p:nvPr>
            <p:ph type="sldNum" sz="quarter" idx="10"/>
          </p:nvPr>
        </p:nvSpPr>
        <p:spPr/>
        <p:txBody>
          <a:bodyPr/>
          <a:lstStyle/>
          <a:p>
            <a:fld id="{677A2CBA-E486-4DC8-8696-C7854B0A28FD}"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60" name="幻灯片图像占位符 1"/>
          <p:cNvSpPr>
            <a:spLocks noGrp="1" noRot="1" noChangeAspect="1"/>
          </p:cNvSpPr>
          <p:nvPr>
            <p:ph type="sldImg"/>
          </p:nvPr>
        </p:nvSpPr>
        <p:spPr>
          <a:xfrm>
            <a:off x="685800" y="1143000"/>
            <a:ext cx="5486400" cy="3086100"/>
          </a:xfrm>
        </p:spPr>
      </p:sp>
      <p:sp>
        <p:nvSpPr>
          <p:cNvPr id="1049861"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dirty="0"/>
          </a:p>
        </p:txBody>
      </p:sp>
      <p:sp>
        <p:nvSpPr>
          <p:cNvPr id="1049862" name="灯片编号占位符 3"/>
          <p:cNvSpPr>
            <a:spLocks noGrp="1"/>
          </p:cNvSpPr>
          <p:nvPr>
            <p:ph type="sldNum" sz="quarter" idx="10"/>
          </p:nvPr>
        </p:nvSpPr>
        <p:spPr/>
        <p:txBody>
          <a:bodyPr/>
          <a:lstStyle/>
          <a:p>
            <a:fld id="{677A2CBA-E486-4DC8-8696-C7854B0A28FD}"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96" name="幻灯片图像占位符 1"/>
          <p:cNvSpPr>
            <a:spLocks noGrp="1" noRot="1" noChangeAspect="1"/>
          </p:cNvSpPr>
          <p:nvPr>
            <p:ph type="sldImg"/>
          </p:nvPr>
        </p:nvSpPr>
        <p:spPr>
          <a:xfrm>
            <a:off x="685800" y="1143000"/>
            <a:ext cx="5486400" cy="3086100"/>
          </a:xfrm>
        </p:spPr>
      </p:sp>
      <p:sp>
        <p:nvSpPr>
          <p:cNvPr id="1049897" name="备注占位符 2"/>
          <p:cNvSpPr>
            <a:spLocks noGrp="1"/>
          </p:cNvSpPr>
          <p:nvPr>
            <p:ph type="body" idx="1"/>
          </p:nvPr>
        </p:nvSpPr>
        <p:spPr/>
        <p:txBody>
          <a:bodyPr/>
          <a:lstStyle/>
          <a:p>
            <a:r>
              <a:rPr lang="zh-CN" altLang="en-US" dirty="0"/>
              <a:t>主要分为以下四个部分</a:t>
            </a:r>
          </a:p>
        </p:txBody>
      </p:sp>
      <p:sp>
        <p:nvSpPr>
          <p:cNvPr id="1049898" name="灯片编号占位符 3"/>
          <p:cNvSpPr>
            <a:spLocks noGrp="1"/>
          </p:cNvSpPr>
          <p:nvPr>
            <p:ph type="sldNum" sz="quarter" idx="10"/>
          </p:nvPr>
        </p:nvSpPr>
        <p:spPr/>
        <p:txBody>
          <a:bodyPr/>
          <a:lstStyle/>
          <a:p>
            <a:fld id="{677A2CBA-E486-4DC8-8696-C7854B0A28FD}"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32" name="幻灯片图像占位符 1"/>
          <p:cNvSpPr>
            <a:spLocks noGrp="1" noRot="1" noChangeAspect="1"/>
          </p:cNvSpPr>
          <p:nvPr>
            <p:ph type="sldImg"/>
          </p:nvPr>
        </p:nvSpPr>
        <p:spPr>
          <a:xfrm>
            <a:off x="685800" y="1143000"/>
            <a:ext cx="5486400" cy="3086100"/>
          </a:xfrm>
        </p:spPr>
      </p:sp>
      <p:sp>
        <p:nvSpPr>
          <p:cNvPr id="1049933" name="备注占位符 2"/>
          <p:cNvSpPr>
            <a:spLocks noGrp="1"/>
          </p:cNvSpPr>
          <p:nvPr>
            <p:ph type="body" idx="1"/>
          </p:nvPr>
        </p:nvSpPr>
        <p:spPr/>
        <p:txBody>
          <a:bodyPr/>
          <a:lstStyle/>
          <a:p>
            <a:r>
              <a:rPr lang="zh-CN" altLang="en-US" dirty="0"/>
              <a:t>首先是问题描述</a:t>
            </a:r>
          </a:p>
        </p:txBody>
      </p:sp>
      <p:sp>
        <p:nvSpPr>
          <p:cNvPr id="1049934" name="灯片编号占位符 3"/>
          <p:cNvSpPr>
            <a:spLocks noGrp="1"/>
          </p:cNvSpPr>
          <p:nvPr>
            <p:ph type="sldNum" sz="quarter" idx="10"/>
          </p:nvPr>
        </p:nvSpPr>
        <p:spPr/>
        <p:txBody>
          <a:bodyPr/>
          <a:lstStyle/>
          <a:p>
            <a:fld id="{677A2CBA-E486-4DC8-8696-C7854B0A28FD}"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41" name="幻灯片图像占位符 1"/>
          <p:cNvSpPr>
            <a:spLocks noGrp="1" noRot="1" noChangeAspect="1"/>
          </p:cNvSpPr>
          <p:nvPr>
            <p:ph type="sldImg"/>
          </p:nvPr>
        </p:nvSpPr>
        <p:spPr>
          <a:xfrm>
            <a:off x="685800" y="1143000"/>
            <a:ext cx="5486400" cy="3086100"/>
          </a:xfrm>
        </p:spPr>
      </p:sp>
      <p:sp>
        <p:nvSpPr>
          <p:cNvPr id="1049942"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pPr>
            <a:r>
              <a:rPr lang="zh-CN" altLang="en-US" sz="1600" kern="1200">
                <a:solidFill>
                  <a:schemeClr val="tx1"/>
                </a:solidFill>
                <a:effectLst/>
                <a:latin typeface="微软雅黑" panose="020B0503020204020204" charset="-122"/>
                <a:ea typeface="微软雅黑" panose="020B0503020204020204" charset="-122"/>
                <a:cs typeface="+mn-cs"/>
              </a:rPr>
              <a:t>在本工作中，我们证明了变分量子机器学习（</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）泛化误差的极高泛化理论界限泛化误差大致受</a:t>
            </a:r>
            <a:r>
              <a:rPr lang="en-US" altLang="zh-CN" sz="1600" kern="1200">
                <a:solidFill>
                  <a:schemeClr val="tx1"/>
                </a:solidFill>
                <a:effectLst/>
                <a:latin typeface="微软雅黑" panose="020B0503020204020204" charset="-122"/>
                <a:ea typeface="微软雅黑" panose="020B0503020204020204" charset="-122"/>
                <a:cs typeface="+mn-cs"/>
              </a:rPr>
              <a:t>T/N</a:t>
            </a:r>
            <a:r>
              <a:rPr lang="zh-CN" altLang="en-US" sz="1600" kern="1200">
                <a:solidFill>
                  <a:schemeClr val="tx1"/>
                </a:solidFill>
                <a:effectLst/>
                <a:latin typeface="微软雅黑" panose="020B0503020204020204" charset="-122"/>
                <a:ea typeface="微软雅黑" panose="020B0503020204020204" charset="-122"/>
                <a:cs typeface="+mn-cs"/>
              </a:rPr>
              <a:t>的上限约束。在证明过程中，我们首先为变分量子机器学习（</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）模型可实现的量子操作类建立覆盖数界。随后利用随机过程的链接技术，从这些界推导出泛化误差界。研究结果的一个关键推论是：当</a:t>
            </a:r>
            <a:r>
              <a:rPr lang="en-US" altLang="zh-CN" sz="1600" kern="1200">
                <a:solidFill>
                  <a:schemeClr val="tx1"/>
                </a:solidFill>
                <a:effectLst/>
                <a:latin typeface="微软雅黑" panose="020B0503020204020204" charset="-122"/>
                <a:ea typeface="微软雅黑" panose="020B0503020204020204" charset="-122"/>
                <a:cs typeface="+mn-cs"/>
              </a:rPr>
              <a:t>T</a:t>
            </a:r>
            <a:r>
              <a:rPr lang="zh-CN" altLang="en-US" sz="1600" kern="1200">
                <a:solidFill>
                  <a:schemeClr val="tx1"/>
                </a:solidFill>
                <a:effectLst/>
                <a:latin typeface="微软雅黑" panose="020B0503020204020204" charset="-122"/>
                <a:ea typeface="微软雅黑" panose="020B0503020204020204" charset="-122"/>
                <a:cs typeface="+mn-cs"/>
              </a:rPr>
              <a:t>属于多项式复杂度</a:t>
            </a:r>
            <a:r>
              <a:rPr lang="en-US" altLang="zh-CN" sz="1600" kern="1200">
                <a:solidFill>
                  <a:schemeClr val="tx1"/>
                </a:solidFill>
                <a:effectLst/>
                <a:latin typeface="微软雅黑" panose="020B0503020204020204" charset="-122"/>
                <a:ea typeface="微软雅黑" panose="020B0503020204020204" charset="-122"/>
                <a:cs typeface="+mn-cs"/>
              </a:rPr>
              <a:t>O(poly n)</a:t>
            </a:r>
            <a:r>
              <a:rPr lang="zh-CN" altLang="en-US" sz="1600" kern="1200">
                <a:solidFill>
                  <a:schemeClr val="tx1"/>
                </a:solidFill>
                <a:effectLst/>
                <a:latin typeface="微软雅黑" panose="020B0503020204020204" charset="-122"/>
                <a:ea typeface="微软雅黑" panose="020B0503020204020204" charset="-122"/>
                <a:cs typeface="+mn-cs"/>
              </a:rPr>
              <a:t>时，即存在高效可实现的</a:t>
            </a:r>
            <a:r>
              <a:rPr lang="en-US" altLang="zh-CN" sz="1600" kern="1200">
                <a:solidFill>
                  <a:schemeClr val="tx1"/>
                </a:solidFill>
                <a:effectLst/>
                <a:latin typeface="微软雅黑" panose="020B0503020204020204" charset="-122"/>
                <a:ea typeface="微软雅黑" panose="020B0503020204020204" charset="-122"/>
                <a:cs typeface="+mn-cs"/>
              </a:rPr>
              <a:t>QML</a:t>
            </a:r>
            <a:r>
              <a:rPr lang="zh-CN" altLang="en-US" sz="1600" kern="1200">
                <a:solidFill>
                  <a:schemeClr val="tx1"/>
                </a:solidFill>
                <a:effectLst/>
                <a:latin typeface="微软雅黑" panose="020B0503020204020204" charset="-122"/>
                <a:ea typeface="微软雅黑" panose="020B0503020204020204" charset="-122"/>
                <a:cs typeface="+mn-cs"/>
              </a:rPr>
              <a:t>模型，仅需</a:t>
            </a:r>
            <a:r>
              <a:rPr lang="en-US" altLang="zh-CN" sz="1600" kern="1200">
                <a:solidFill>
                  <a:schemeClr val="tx1"/>
                </a:solidFill>
                <a:effectLst/>
                <a:latin typeface="微软雅黑" panose="020B0503020204020204" charset="-122"/>
                <a:ea typeface="微软雅黑" panose="020B0503020204020204" charset="-122"/>
                <a:cs typeface="+mn-cs"/>
              </a:rPr>
              <a:t>O(poly n)</a:t>
            </a:r>
            <a:r>
              <a:rPr lang="zh-CN" altLang="en-US" sz="1600" kern="1200">
                <a:solidFill>
                  <a:schemeClr val="tx1"/>
                </a:solidFill>
                <a:effectLst/>
                <a:latin typeface="微软雅黑" panose="020B0503020204020204" charset="-122"/>
                <a:ea typeface="微软雅黑" panose="020B0503020204020204" charset="-122"/>
                <a:cs typeface="+mn-cs"/>
              </a:rPr>
              <a:t>数量级的训练数据</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即可获得良好泛化性能。这一推论本身将提升采用训练数据的变分量子算法（如量子自编码器、量子生成对抗网络、变分量子纠错、变分量子编译及变分动力学模拟）的效率保证。 </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943" name="灯片编号占位符 3"/>
          <p:cNvSpPr>
            <a:spLocks noGrp="1"/>
          </p:cNvSpPr>
          <p:nvPr>
            <p:ph type="sldNum" sz="quarter" idx="10"/>
          </p:nvPr>
        </p:nvSpPr>
        <p:spPr/>
        <p:txBody>
          <a:bodyPr/>
          <a:lstStyle/>
          <a:p>
            <a:fld id="{677A2CBA-E486-4DC8-8696-C7854B0A28FD}"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77" name="幻灯片图像占位符 1"/>
          <p:cNvSpPr>
            <a:spLocks noGrp="1" noRot="1" noChangeAspect="1"/>
          </p:cNvSpPr>
          <p:nvPr>
            <p:ph type="sldImg"/>
          </p:nvPr>
        </p:nvSpPr>
        <p:spPr>
          <a:xfrm>
            <a:off x="685800" y="1143000"/>
            <a:ext cx="5486400" cy="3086100"/>
          </a:xfrm>
        </p:spPr>
      </p:sp>
      <p:sp>
        <p:nvSpPr>
          <p:cNvPr id="1049978" name="备注占位符 2"/>
          <p:cNvSpPr>
            <a:spLocks noGrp="1"/>
          </p:cNvSpPr>
          <p:nvPr>
            <p:ph type="body" idx="1"/>
          </p:nvPr>
        </p:nvSpPr>
        <p:spPr/>
        <p:txBody>
          <a:bodyPr/>
          <a:lstStyle/>
          <a:p>
            <a:r>
              <a:rPr lang="zh-CN" altLang="en-US" dirty="0"/>
              <a:t>研究现状</a:t>
            </a:r>
          </a:p>
        </p:txBody>
      </p:sp>
      <p:sp>
        <p:nvSpPr>
          <p:cNvPr id="1049979" name="灯片编号占位符 3"/>
          <p:cNvSpPr>
            <a:spLocks noGrp="1"/>
          </p:cNvSpPr>
          <p:nvPr>
            <p:ph type="sldNum" sz="quarter" idx="10"/>
          </p:nvPr>
        </p:nvSpPr>
        <p:spPr/>
        <p:txBody>
          <a:bodyPr/>
          <a:lstStyle/>
          <a:p>
            <a:fld id="{677A2CBA-E486-4DC8-8696-C7854B0A28FD}"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5" name="幻灯片图像占位符 1"/>
          <p:cNvSpPr>
            <a:spLocks noGrp="1" noRot="1" noChangeAspect="1"/>
          </p:cNvSpPr>
          <p:nvPr>
            <p:ph type="sldImg"/>
          </p:nvPr>
        </p:nvSpPr>
        <p:spPr>
          <a:xfrm>
            <a:off x="685800" y="1143000"/>
            <a:ext cx="5486400" cy="3086100"/>
          </a:xfrm>
        </p:spPr>
      </p:sp>
      <p:sp>
        <p:nvSpPr>
          <p:cNvPr id="1049986"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987" name="灯片编号占位符 3"/>
          <p:cNvSpPr>
            <a:spLocks noGrp="1"/>
          </p:cNvSpPr>
          <p:nvPr>
            <p:ph type="sldNum" sz="quarter" idx="10"/>
          </p:nvPr>
        </p:nvSpPr>
        <p:spPr/>
        <p:txBody>
          <a:bodyPr/>
          <a:lstStyle/>
          <a:p>
            <a:fld id="{677A2CBA-E486-4DC8-8696-C7854B0A28FD}"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93" name="幻灯片图像占位符 1"/>
          <p:cNvSpPr>
            <a:spLocks noGrp="1" noRot="1" noChangeAspect="1"/>
          </p:cNvSpPr>
          <p:nvPr>
            <p:ph type="sldImg"/>
          </p:nvPr>
        </p:nvSpPr>
        <p:spPr>
          <a:xfrm>
            <a:off x="685800" y="1143000"/>
            <a:ext cx="5486400" cy="3086100"/>
          </a:xfrm>
        </p:spPr>
      </p:sp>
      <p:sp>
        <p:nvSpPr>
          <p:cNvPr id="1049994"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49995" name="灯片编号占位符 3"/>
          <p:cNvSpPr>
            <a:spLocks noGrp="1"/>
          </p:cNvSpPr>
          <p:nvPr>
            <p:ph type="sldNum" sz="quarter" idx="10"/>
          </p:nvPr>
        </p:nvSpPr>
        <p:spPr/>
        <p:txBody>
          <a:bodyPr/>
          <a:lstStyle/>
          <a:p>
            <a:fld id="{677A2CBA-E486-4DC8-8696-C7854B0A28FD}"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01" name="幻灯片图像占位符 1"/>
          <p:cNvSpPr>
            <a:spLocks noGrp="1" noRot="1" noChangeAspect="1"/>
          </p:cNvSpPr>
          <p:nvPr>
            <p:ph type="sldImg"/>
          </p:nvPr>
        </p:nvSpPr>
        <p:spPr>
          <a:xfrm>
            <a:off x="685800" y="1143000"/>
            <a:ext cx="5486400" cy="3086100"/>
          </a:xfrm>
        </p:spPr>
      </p:sp>
      <p:sp>
        <p:nvSpPr>
          <p:cNvPr id="105000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03" name="灯片编号占位符 3"/>
          <p:cNvSpPr>
            <a:spLocks noGrp="1"/>
          </p:cNvSpPr>
          <p:nvPr>
            <p:ph type="sldNum" sz="quarter" idx="10"/>
          </p:nvPr>
        </p:nvSpPr>
        <p:spPr/>
        <p:txBody>
          <a:bodyPr/>
          <a:lstStyle/>
          <a:p>
            <a:fld id="{677A2CBA-E486-4DC8-8696-C7854B0A28FD}"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09" name="幻灯片图像占位符 1"/>
          <p:cNvSpPr>
            <a:spLocks noGrp="1" noRot="1" noChangeAspect="1"/>
          </p:cNvSpPr>
          <p:nvPr>
            <p:ph type="sldImg"/>
          </p:nvPr>
        </p:nvSpPr>
        <p:spPr>
          <a:xfrm>
            <a:off x="685800" y="1143000"/>
            <a:ext cx="5486400" cy="3086100"/>
          </a:xfrm>
        </p:spPr>
      </p:sp>
      <p:sp>
        <p:nvSpPr>
          <p:cNvPr id="105001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11" name="灯片编号占位符 3"/>
          <p:cNvSpPr>
            <a:spLocks noGrp="1"/>
          </p:cNvSpPr>
          <p:nvPr>
            <p:ph type="sldNum" sz="quarter" idx="10"/>
          </p:nvPr>
        </p:nvSpPr>
        <p:spPr/>
        <p:txBody>
          <a:bodyPr/>
          <a:lstStyle/>
          <a:p>
            <a:fld id="{677A2CBA-E486-4DC8-8696-C7854B0A28FD}"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17" name="幻灯片图像占位符 1"/>
          <p:cNvSpPr>
            <a:spLocks noGrp="1" noRot="1" noChangeAspect="1"/>
          </p:cNvSpPr>
          <p:nvPr>
            <p:ph type="sldImg"/>
          </p:nvPr>
        </p:nvSpPr>
        <p:spPr>
          <a:xfrm>
            <a:off x="685800" y="1143000"/>
            <a:ext cx="5486400" cy="3086100"/>
          </a:xfrm>
        </p:spPr>
      </p:sp>
      <p:sp>
        <p:nvSpPr>
          <p:cNvPr id="105001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19" name="灯片编号占位符 3"/>
          <p:cNvSpPr>
            <a:spLocks noGrp="1"/>
          </p:cNvSpPr>
          <p:nvPr>
            <p:ph type="sldNum" sz="quarter" idx="10"/>
          </p:nvPr>
        </p:nvSpPr>
        <p:spPr/>
        <p:txBody>
          <a:bodyPr/>
          <a:lstStyle/>
          <a:p>
            <a:fld id="{677A2CBA-E486-4DC8-8696-C7854B0A28FD}"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53" name="幻灯片图像占位符 1"/>
          <p:cNvSpPr>
            <a:spLocks noGrp="1" noRot="1" noChangeAspect="1"/>
          </p:cNvSpPr>
          <p:nvPr>
            <p:ph type="sldImg"/>
          </p:nvPr>
        </p:nvSpPr>
        <p:spPr>
          <a:xfrm>
            <a:off x="685800" y="1143000"/>
            <a:ext cx="5486400" cy="3086100"/>
          </a:xfrm>
        </p:spPr>
      </p:sp>
      <p:sp>
        <p:nvSpPr>
          <p:cNvPr id="1050054" name="备注占位符 2"/>
          <p:cNvSpPr>
            <a:spLocks noGrp="1"/>
          </p:cNvSpPr>
          <p:nvPr>
            <p:ph type="body" idx="1"/>
          </p:nvPr>
        </p:nvSpPr>
        <p:spPr/>
        <p:txBody>
          <a:bodyPr/>
          <a:lstStyle/>
          <a:p>
            <a:endParaRPr lang="zh-CN" altLang="en-US" dirty="0"/>
          </a:p>
        </p:txBody>
      </p:sp>
      <p:sp>
        <p:nvSpPr>
          <p:cNvPr id="1050055" name="灯片编号占位符 3"/>
          <p:cNvSpPr>
            <a:spLocks noGrp="1"/>
          </p:cNvSpPr>
          <p:nvPr>
            <p:ph type="sldNum" sz="quarter" idx="10"/>
          </p:nvPr>
        </p:nvSpPr>
        <p:spPr/>
        <p:txBody>
          <a:bodyPr/>
          <a:lstStyle/>
          <a:p>
            <a:fld id="{677A2CBA-E486-4DC8-8696-C7854B0A28FD}"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61" name="幻灯片图像占位符 1"/>
          <p:cNvSpPr>
            <a:spLocks noGrp="1" noRot="1" noChangeAspect="1"/>
          </p:cNvSpPr>
          <p:nvPr>
            <p:ph type="sldImg"/>
          </p:nvPr>
        </p:nvSpPr>
        <p:spPr>
          <a:xfrm>
            <a:off x="685800" y="1143000"/>
            <a:ext cx="5486400" cy="3086100"/>
          </a:xfrm>
        </p:spPr>
      </p:sp>
      <p:sp>
        <p:nvSpPr>
          <p:cNvPr id="105006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r>
              <a:rPr lang="zh-CN" altLang="en-US" sz="1600" kern="1200">
                <a:solidFill>
                  <a:schemeClr val="tx1"/>
                </a:solidFill>
                <a:effectLst/>
                <a:latin typeface="微软雅黑" panose="020B0503020204020204" charset="-122"/>
                <a:ea typeface="微软雅黑" panose="020B0503020204020204" charset="-122"/>
                <a:cs typeface="+mn-cs"/>
              </a:rPr>
              <a:t>本论文验证了算法在量子相位识别的泛化性能。</a:t>
            </a:r>
            <a:r>
              <a:rPr lang="zh-CN" altLang="zh-CN" sz="1600" b="1" i="0" kern="1200">
                <a:solidFill>
                  <a:schemeClr val="tx1"/>
                </a:solidFill>
                <a:effectLst/>
                <a:latin typeface="微软雅黑" panose="020B0503020204020204" charset="-122"/>
                <a:ea typeface="微软雅黑" panose="020B0503020204020204" charset="-122"/>
                <a:cs typeface="+mn-cs"/>
              </a:rPr>
              <a:t>量子卷积神经网络（QCNN）</a:t>
            </a:r>
            <a:r>
              <a:rPr lang="zh-CN" altLang="zh-CN" sz="1600" b="0" i="0" kern="1200">
                <a:solidFill>
                  <a:schemeClr val="tx1"/>
                </a:solidFill>
                <a:effectLst/>
                <a:latin typeface="微软雅黑" panose="020B0503020204020204" charset="-122"/>
                <a:ea typeface="微软雅黑" panose="020B0503020204020204" charset="-122"/>
                <a:cs typeface="+mn-cs"/>
              </a:rPr>
              <a:t> 对广义 cluster Hamiltonian 的基态进行相分类，系统有 16 个量子比特，训练数据为 30 个基态及其相标签。</a:t>
            </a:r>
            <a:endParaRPr lang="en-US" altLang="zh-CN" sz="1600" b="0" i="0" kern="1200">
              <a:solidFill>
                <a:schemeClr val="tx1"/>
              </a:solidFill>
              <a:effectLst/>
              <a:latin typeface="微软雅黑" panose="020B0503020204020204" charset="-122"/>
              <a:ea typeface="微软雅黑" panose="020B0503020204020204" charset="-122"/>
              <a:cs typeface="+mn-cs"/>
            </a:endParaRPr>
          </a:p>
          <a:p>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我们通过采样</a:t>
            </a:r>
            <a:r>
              <a:rPr lang="en-US" altLang="zh-CN" sz="1600" kern="1200">
                <a:solidFill>
                  <a:schemeClr val="tx1"/>
                </a:solidFill>
                <a:effectLst/>
                <a:latin typeface="微软雅黑" panose="020B0503020204020204" charset="-122"/>
                <a:ea typeface="微软雅黑" panose="020B0503020204020204" charset="-122"/>
                <a:cs typeface="+mn-cs"/>
              </a:rPr>
              <a:t>8192</a:t>
            </a:r>
            <a:r>
              <a:rPr lang="zh-CN" altLang="en-US" sz="1600" kern="1200">
                <a:solidFill>
                  <a:schemeClr val="tx1"/>
                </a:solidFill>
                <a:effectLst/>
                <a:latin typeface="微软雅黑" panose="020B0503020204020204" charset="-122"/>
                <a:ea typeface="微软雅黑" panose="020B0503020204020204" charset="-122"/>
                <a:cs typeface="+mn-cs"/>
              </a:rPr>
              <a:t>个计算基测量结果，并将出现频率最低的结果作为预测相位，来评估在不同相平面中某一点赋予的相位。图（</a:t>
            </a:r>
            <a:r>
              <a:rPr lang="en-US" altLang="zh-CN" sz="1600" kern="1200">
                <a:solidFill>
                  <a:schemeClr val="tx1"/>
                </a:solidFill>
                <a:effectLst/>
                <a:latin typeface="微软雅黑" panose="020B0503020204020204" charset="-122"/>
                <a:ea typeface="微软雅黑" panose="020B0503020204020204" charset="-122"/>
                <a:cs typeface="+mn-cs"/>
              </a:rPr>
              <a:t>a</a:t>
            </a:r>
            <a:r>
              <a:rPr lang="zh-CN" altLang="en-US" sz="1600" kern="1200">
                <a:solidFill>
                  <a:schemeClr val="tx1"/>
                </a:solidFill>
                <a:effectLst/>
                <a:latin typeface="微软雅黑" panose="020B0503020204020204" charset="-122"/>
                <a:ea typeface="微软雅黑" panose="020B0503020204020204" charset="-122"/>
                <a:cs typeface="+mn-cs"/>
              </a:rPr>
              <a:t>）展示了</a:t>
            </a:r>
            <a:r>
              <a:rPr lang="en-US" altLang="zh-CN" sz="1600" kern="1200">
                <a:solidFill>
                  <a:schemeClr val="tx1"/>
                </a:solidFill>
                <a:effectLst/>
                <a:latin typeface="微软雅黑" panose="020B0503020204020204" charset="-122"/>
                <a:ea typeface="微软雅黑" panose="020B0503020204020204" charset="-122"/>
                <a:cs typeface="+mn-cs"/>
              </a:rPr>
              <a:t>16</a:t>
            </a:r>
            <a:r>
              <a:rPr lang="zh-CN" altLang="en-US" sz="1600" kern="1200">
                <a:solidFill>
                  <a:schemeClr val="tx1"/>
                </a:solidFill>
                <a:effectLst/>
                <a:latin typeface="微软雅黑" panose="020B0503020204020204" charset="-122"/>
                <a:ea typeface="微软雅黑" panose="020B0503020204020204" charset="-122"/>
                <a:cs typeface="+mn-cs"/>
              </a:rPr>
              <a:t>量子比特</a:t>
            </a:r>
            <a:r>
              <a:rPr lang="en-US" altLang="zh-CN" sz="1600" kern="1200">
                <a:solidFill>
                  <a:schemeClr val="tx1"/>
                </a:solidFill>
                <a:effectLst/>
                <a:latin typeface="微软雅黑" panose="020B0503020204020204" charset="-122"/>
                <a:ea typeface="微软雅黑" panose="020B0503020204020204" charset="-122"/>
                <a:cs typeface="+mn-cs"/>
              </a:rPr>
              <a:t>QCNN</a:t>
            </a:r>
            <a:r>
              <a:rPr lang="zh-CN" altLang="en-US" sz="1600" kern="1200">
                <a:solidFill>
                  <a:schemeClr val="tx1"/>
                </a:solidFill>
                <a:effectLst/>
                <a:latin typeface="微软雅黑" panose="020B0503020204020204" charset="-122"/>
                <a:ea typeface="微软雅黑" panose="020B0503020204020204" charset="-122"/>
                <a:cs typeface="+mn-cs"/>
              </a:rPr>
              <a:t>的性能，该模型使用</a:t>
            </a:r>
            <a:r>
              <a:rPr lang="en-US" altLang="zh-CN" sz="1600" kern="1200">
                <a:solidFill>
                  <a:schemeClr val="tx1"/>
                </a:solidFill>
                <a:effectLst/>
                <a:latin typeface="微软雅黑" panose="020B0503020204020204" charset="-122"/>
                <a:ea typeface="微软雅黑" panose="020B0503020204020204" charset="-122"/>
                <a:cs typeface="+mn-cs"/>
              </a:rPr>
              <a:t>30</a:t>
            </a:r>
            <a:r>
              <a:rPr lang="zh-CN" altLang="en-US" sz="1600" kern="1200">
                <a:solidFill>
                  <a:schemeClr val="tx1"/>
                </a:solidFill>
                <a:effectLst/>
                <a:latin typeface="微软雅黑" panose="020B0503020204020204" charset="-122"/>
                <a:ea typeface="微软雅黑" panose="020B0503020204020204" charset="-122"/>
                <a:cs typeface="+mn-cs"/>
              </a:rPr>
              <a:t>个数据点进行训练，这些数据点是根据解析确定的相图进行标注的。蓝色十字表示训练数据点（未显示全部</a:t>
            </a:r>
            <a:r>
              <a:rPr lang="en-US" altLang="zh-CN" sz="1600" kern="1200">
                <a:solidFill>
                  <a:schemeClr val="tx1"/>
                </a:solidFill>
                <a:effectLst/>
                <a:latin typeface="微软雅黑" panose="020B0503020204020204" charset="-122"/>
                <a:ea typeface="微软雅黑" panose="020B0503020204020204" charset="-122"/>
                <a:cs typeface="+mn-cs"/>
              </a:rPr>
              <a:t>30</a:t>
            </a:r>
            <a:r>
              <a:rPr lang="zh-CN" altLang="en-US" sz="1600" kern="1200">
                <a:solidFill>
                  <a:schemeClr val="tx1"/>
                </a:solidFill>
                <a:effectLst/>
                <a:latin typeface="微软雅黑" panose="020B0503020204020204" charset="-122"/>
                <a:ea typeface="微软雅黑" panose="020B0503020204020204" charset="-122"/>
                <a:cs typeface="+mn-cs"/>
              </a:rPr>
              <a:t>个）。蓝色（红色）圆圈分别表示分类正确的（错误的）点。图（</a:t>
            </a:r>
            <a:r>
              <a:rPr lang="en-US" altLang="zh-CN" sz="1600" kern="1200">
                <a:solidFill>
                  <a:schemeClr val="tx1"/>
                </a:solidFill>
                <a:effectLst/>
                <a:latin typeface="微软雅黑" panose="020B0503020204020204" charset="-122"/>
                <a:ea typeface="微软雅黑" panose="020B0503020204020204" charset="-122"/>
                <a:cs typeface="+mn-cs"/>
              </a:rPr>
              <a:t>b</a:t>
            </a:r>
            <a:r>
              <a:rPr lang="zh-CN" altLang="en-US" sz="1600" kern="1200">
                <a:solidFill>
                  <a:schemeClr val="tx1"/>
                </a:solidFill>
                <a:effectLst/>
                <a:latin typeface="微软雅黑" panose="020B0503020204020204" charset="-122"/>
                <a:ea typeface="微软雅黑" panose="020B0503020204020204" charset="-122"/>
                <a:cs typeface="+mn-cs"/>
              </a:rPr>
              <a:t>）显示，随着训练 </a:t>
            </a:r>
          </a:p>
          <a:p>
            <a:r>
              <a:rPr lang="zh-CN" altLang="en-US" sz="1600" kern="1200">
                <a:solidFill>
                  <a:schemeClr val="tx1"/>
                </a:solidFill>
                <a:effectLst/>
                <a:latin typeface="微软雅黑" panose="020B0503020204020204" charset="-122"/>
                <a:ea typeface="微软雅黑" panose="020B0503020204020204" charset="-122"/>
                <a:cs typeface="+mn-cs"/>
              </a:rPr>
              <a:t>数据规模的增大，测试准确率对训练准确率的依赖关系近似呈线性，且斜率随</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增加而增大。</a:t>
            </a:r>
            <a:endParaRPr lang="en-US" altLang="zh-CN" sz="1600" kern="1200">
              <a:solidFill>
                <a:schemeClr val="tx1"/>
              </a:solidFill>
              <a:effectLst/>
              <a:latin typeface="微软雅黑" panose="020B0503020204020204" charset="-122"/>
              <a:ea typeface="微软雅黑" panose="020B0503020204020204" charset="-122"/>
              <a:cs typeface="+mn-cs"/>
            </a:endParaRPr>
          </a:p>
          <a:p>
            <a:r>
              <a:rPr lang="zh-CN" altLang="en-US" sz="1600" kern="1200">
                <a:solidFill>
                  <a:schemeClr val="tx1"/>
                </a:solidFill>
                <a:effectLst/>
                <a:latin typeface="微软雅黑" panose="020B0503020204020204" charset="-122"/>
                <a:ea typeface="微软雅黑" panose="020B0503020204020204" charset="-122"/>
                <a:cs typeface="+mn-cs"/>
              </a:rPr>
              <a:t>图中 的不同数据点对应于优化过程中算法的不同参数设置。虚线 灰色线显示了随机猜测所达到的</a:t>
            </a:r>
            <a:r>
              <a:rPr lang="en-US" altLang="zh-CN" sz="1600" kern="1200">
                <a:solidFill>
                  <a:schemeClr val="tx1"/>
                </a:solidFill>
                <a:effectLst/>
                <a:latin typeface="微软雅黑" panose="020B0503020204020204" charset="-122"/>
                <a:ea typeface="微软雅黑" panose="020B0503020204020204" charset="-122"/>
                <a:cs typeface="+mn-cs"/>
              </a:rPr>
              <a:t>25%</a:t>
            </a:r>
            <a:r>
              <a:rPr lang="zh-CN" altLang="en-US" sz="1600" kern="1200">
                <a:solidFill>
                  <a:schemeClr val="tx1"/>
                </a:solidFill>
                <a:effectLst/>
                <a:latin typeface="微软雅黑" panose="020B0503020204020204" charset="-122"/>
                <a:ea typeface="微软雅黑" panose="020B0503020204020204" charset="-122"/>
                <a:cs typeface="+mn-cs"/>
              </a:rPr>
              <a:t>基准准确率。图（</a:t>
            </a:r>
            <a:r>
              <a:rPr lang="en-US" altLang="zh-CN" sz="1600" kern="1200">
                <a:solidFill>
                  <a:schemeClr val="tx1"/>
                </a:solidFill>
                <a:effectLst/>
                <a:latin typeface="微软雅黑" panose="020B0503020204020204" charset="-122"/>
                <a:ea typeface="微软雅黑" panose="020B0503020204020204" charset="-122"/>
                <a:cs typeface="+mn-cs"/>
              </a:rPr>
              <a:t>c</a:t>
            </a:r>
            <a:r>
              <a:rPr lang="zh-CN" altLang="en-US" sz="1600" kern="1200">
                <a:solidFill>
                  <a:schemeClr val="tx1"/>
                </a:solidFill>
                <a:effectLst/>
                <a:latin typeface="微软雅黑" panose="020B0503020204020204" charset="-122"/>
                <a:ea typeface="微软雅黑" panose="020B0503020204020204" charset="-122"/>
                <a:cs typeface="+mn-cs"/>
              </a:rPr>
              <a:t>）显示，随着训练数据规模的增长，斜率的提升 在不同量子比特数量下表现相似，这反映了我们的界限所预测的 </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对</a:t>
            </a:r>
            <a:r>
              <a:rPr lang="en-US" altLang="zh-CN" sz="1600" kern="1200">
                <a:solidFill>
                  <a:schemeClr val="tx1"/>
                </a:solidFill>
                <a:effectLst/>
                <a:latin typeface="微软雅黑" panose="020B0503020204020204" charset="-122"/>
                <a:ea typeface="微软雅黑" panose="020B0503020204020204" charset="-122"/>
                <a:cs typeface="+mn-cs"/>
              </a:rPr>
              <a:t>n</a:t>
            </a:r>
            <a:r>
              <a:rPr lang="zh-CN" altLang="en-US" sz="1600" kern="1200">
                <a:solidFill>
                  <a:schemeClr val="tx1"/>
                </a:solidFill>
                <a:effectLst/>
                <a:latin typeface="微软雅黑" panose="020B0503020204020204" charset="-122"/>
                <a:ea typeface="微软雅黑" panose="020B0503020204020204" charset="-122"/>
                <a:cs typeface="+mn-cs"/>
              </a:rPr>
              <a:t>的最坏情况多对数依赖关系。通过</a:t>
            </a:r>
            <a:r>
              <a:rPr lang="en-US" altLang="zh-CN" sz="1600" kern="1200">
                <a:solidFill>
                  <a:schemeClr val="tx1"/>
                </a:solidFill>
                <a:effectLst/>
                <a:latin typeface="微软雅黑" panose="020B0503020204020204" charset="-122"/>
                <a:ea typeface="微软雅黑" panose="020B0503020204020204" charset="-122"/>
                <a:cs typeface="+mn-cs"/>
              </a:rPr>
              <a:t>DeepL.com</a:t>
            </a:r>
            <a:r>
              <a:rPr lang="zh-CN" altLang="en-US" sz="1600" kern="1200">
                <a:solidFill>
                  <a:schemeClr val="tx1"/>
                </a:solidFill>
                <a:effectLst/>
                <a:latin typeface="微软雅黑" panose="020B0503020204020204" charset="-122"/>
                <a:ea typeface="微软雅黑" panose="020B0503020204020204" charset="-122"/>
                <a:cs typeface="+mn-cs"/>
              </a:rPr>
              <a:t>（免费版）翻译</a:t>
            </a:r>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63" name="灯片编号占位符 3"/>
          <p:cNvSpPr>
            <a:spLocks noGrp="1"/>
          </p:cNvSpPr>
          <p:nvPr>
            <p:ph type="sldNum" sz="quarter" idx="10"/>
          </p:nvPr>
        </p:nvSpPr>
        <p:spPr/>
        <p:txBody>
          <a:bodyPr/>
          <a:lstStyle/>
          <a:p>
            <a:fld id="{677A2CBA-E486-4DC8-8696-C7854B0A28FD}"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69" name="幻灯片图像占位符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105007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r>
                  <a:rPr lang="zh-CN" altLang="zh-CN" sz="1600" b="0" i="0" kern="1200">
                    <a:solidFill>
                      <a:schemeClr val="tx1"/>
                    </a:solidFill>
                    <a:effectLst/>
                    <a:latin typeface="微软雅黑" panose="020B0503020204020204" charset="-122"/>
                    <a:ea typeface="微软雅黑" panose="020B0503020204020204" charset="-122"/>
                    <a:cs typeface="+mn-cs"/>
                  </a:rPr>
                  <a:t>图3 使用 </a:t>
                </a:r>
                <a:r>
                  <a:rPr lang="zh-CN" altLang="zh-CN" sz="1600" b="1" i="0" kern="1200">
                    <a:solidFill>
                      <a:schemeClr val="tx1"/>
                    </a:solidFill>
                    <a:effectLst/>
                    <a:latin typeface="微软雅黑" panose="020B0503020204020204" charset="-122"/>
                    <a:ea typeface="微软雅黑" panose="020B0503020204020204" charset="-122"/>
                    <a:cs typeface="+mn-cs"/>
                  </a:rPr>
                  <a:t>量子卷积神经网络（QCNN）</a:t>
                </a:r>
                <a:r>
                  <a:rPr lang="zh-CN" altLang="zh-CN" sz="1600" b="0" i="0" kern="1200">
                    <a:solidFill>
                      <a:schemeClr val="tx1"/>
                    </a:solidFill>
                    <a:effectLst/>
                    <a:latin typeface="微软雅黑" panose="020B0503020204020204" charset="-122"/>
                    <a:ea typeface="微软雅黑" panose="020B0503020204020204" charset="-122"/>
                    <a:cs typeface="+mn-cs"/>
                  </a:rPr>
                  <a:t> 对广义 cluster Hamiltonian 的基态进行相分类，系统有 16 个量子比特，训练数据为 30 个基态及其相标签。</a:t>
                </a:r>
              </a:p>
              <a:p>
                <a:r>
                  <a:rPr lang="zh-CN" altLang="zh-CN" sz="1600" b="1" kern="1200">
                    <a:solidFill>
                      <a:schemeClr val="tx1"/>
                    </a:solidFill>
                    <a:effectLst/>
                    <a:latin typeface="微软雅黑" panose="020B0503020204020204" charset="-122"/>
                    <a:ea typeface="微软雅黑" panose="020B0503020204020204" charset="-122"/>
                    <a:cs typeface="+mn-cs"/>
                  </a:rPr>
                  <a:t>(a) 相图上的分类表现</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蓝色叉号</a:t>
                </a:r>
                <a:r>
                  <a:rPr lang="zh-CN" altLang="zh-CN" sz="1600" b="0" i="0" kern="1200">
                    <a:solidFill>
                      <a:schemeClr val="tx1"/>
                    </a:solidFill>
                    <a:effectLst/>
                    <a:latin typeface="微软雅黑" panose="020B0503020204020204" charset="-122"/>
                    <a:ea typeface="微软雅黑" panose="020B0503020204020204" charset="-122"/>
                    <a:cs typeface="+mn-cs"/>
                  </a:rPr>
                  <a:t>：训练数据点（位于 </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𝐽</m:t>
                        </m:r>
                      </m:e>
                      <m:sub>
                        <m:r>
                          <a:rPr lang="en-US" altLang="zh-CN" sz="1600" i="0" kern="1200">
                            <a:solidFill>
                              <a:schemeClr val="tx1"/>
                            </a:solidFill>
                            <a:latin typeface="Cambria Math" panose="02040503050406030204" pitchFamily="18" charset="0"/>
                            <a:ea typeface="微软雅黑" panose="020B0503020204020204" charset="-122"/>
                            <a:cs typeface="+mn-cs"/>
                          </a:rPr>
                          <m:t>1</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a:t>
                </a:r>
                <a14:m>
                  <m:oMath xmlns:m="http://schemas.openxmlformats.org/officeDocument/2006/math">
                    <m:sSub>
                      <m:sSubPr>
                        <m:ctrlPr>
                          <a:rPr lang="zh-CN" altLang="en-US" sz="1600" i="1" kern="1200">
                            <a:solidFill>
                              <a:schemeClr val="tx1"/>
                            </a:solidFill>
                            <a:latin typeface="Cambria Math" panose="02040503050406030204" pitchFamily="18" charset="0"/>
                            <a:ea typeface="微软雅黑" panose="020B0503020204020204" charset="-122"/>
                            <a:cs typeface="+mn-cs"/>
                          </a:rPr>
                        </m:ctrlPr>
                      </m:sSubPr>
                      <m:e>
                        <m:r>
                          <a:rPr lang="zh-CN" altLang="en-US" sz="1600" i="1" kern="1200">
                            <a:solidFill>
                              <a:schemeClr val="tx1"/>
                            </a:solidFill>
                            <a:latin typeface="Cambria Math" panose="02040503050406030204" pitchFamily="18" charset="0"/>
                            <a:ea typeface="微软雅黑" panose="020B0503020204020204" charset="-122"/>
                            <a:cs typeface="+mn-cs"/>
                          </a:rPr>
                          <m:t>𝐽</m:t>
                        </m:r>
                      </m:e>
                      <m:sub>
                        <m:r>
                          <a:rPr lang="en-US" altLang="zh-CN" sz="1600" i="0" kern="1200">
                            <a:solidFill>
                              <a:schemeClr val="tx1"/>
                            </a:solidFill>
                            <a:latin typeface="Cambria Math" panose="02040503050406030204" pitchFamily="18" charset="0"/>
                            <a:ea typeface="微软雅黑" panose="020B0503020204020204" charset="-122"/>
                            <a:cs typeface="+mn-cs"/>
                          </a:rPr>
                          <m:t>2</m:t>
                        </m:r>
                      </m:sub>
                    </m:sSub>
                  </m:oMath>
                </a14:m>
                <a:r>
                  <a:rPr lang="zh-CN" altLang="zh-CN" sz="1600" b="0" i="0" kern="1200">
                    <a:solidFill>
                      <a:schemeClr val="tx1"/>
                    </a:solidFill>
                    <a:effectLst/>
                    <a:latin typeface="微软雅黑" panose="020B0503020204020204" charset="-122"/>
                    <a:ea typeface="微软雅黑" panose="020B0503020204020204" charset="-122"/>
                    <a:cs typeface="+mn-cs"/>
                  </a:rPr>
                  <a:t> 平面上），标签由解析相图给出。</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蓝色圆圈</a:t>
                </a:r>
                <a:r>
                  <a:rPr lang="zh-CN" altLang="zh-CN" sz="1600" b="0" i="0" kern="1200">
                    <a:solidFill>
                      <a:schemeClr val="tx1"/>
                    </a:solidFill>
                    <a:effectLst/>
                    <a:latin typeface="微软雅黑" panose="020B0503020204020204" charset="-122"/>
                    <a:ea typeface="微软雅黑" panose="020B0503020204020204" charset="-122"/>
                    <a:cs typeface="+mn-cs"/>
                  </a:rPr>
                  <a:t>：QCNN 正确分类的点。</a:t>
                </a:r>
              </a:p>
              <a:p>
                <a:pPr lvl="0"/>
                <a:r>
                  <a:rPr lang="zh-CN" altLang="zh-CN" sz="1600" b="1" i="0" kern="1200">
                    <a:solidFill>
                      <a:schemeClr val="tx1"/>
                    </a:solidFill>
                    <a:effectLst/>
                    <a:latin typeface="微软雅黑" panose="020B0503020204020204" charset="-122"/>
                    <a:ea typeface="微软雅黑" panose="020B0503020204020204" charset="-122"/>
                    <a:cs typeface="+mn-cs"/>
                  </a:rPr>
                  <a:t>红色圆圈</a:t>
                </a:r>
                <a:r>
                  <a:rPr lang="zh-CN" altLang="zh-CN" sz="1600" b="0" i="0" kern="1200">
                    <a:solidFill>
                      <a:schemeClr val="tx1"/>
                    </a:solidFill>
                    <a:effectLst/>
                    <a:latin typeface="微软雅黑" panose="020B0503020204020204" charset="-122"/>
                    <a:ea typeface="微软雅黑" panose="020B0503020204020204" charset="-122"/>
                    <a:cs typeface="+mn-cs"/>
                  </a:rPr>
                  <a:t>：QCNN 错误分类的点。</a:t>
                </a:r>
              </a:p>
              <a:p>
                <a:pPr lvl="0"/>
                <a:r>
                  <a:rPr lang="zh-CN" altLang="zh-CN" sz="1600" b="0" i="0" kern="1200">
                    <a:solidFill>
                      <a:schemeClr val="tx1"/>
                    </a:solidFill>
                    <a:effectLst/>
                    <a:latin typeface="微软雅黑" panose="020B0503020204020204" charset="-122"/>
                    <a:ea typeface="微软雅黑" panose="020B0503020204020204" charset="-122"/>
                    <a:cs typeface="+mn-cs"/>
                  </a:rPr>
                  <a:t>可以看出，仅用 30 个训练点，QCNN 就能在相图上正确区分出四个相（对称保护拓扑相、铁磁相、反铁磁相、平庸相）。</a:t>
                </a:r>
              </a:p>
              <a:p>
                <a:r>
                  <a:rPr lang="zh-CN" altLang="zh-CN" sz="1600" b="1" kern="1200">
                    <a:solidFill>
                      <a:schemeClr val="tx1"/>
                    </a:solidFill>
                    <a:effectLst/>
                    <a:latin typeface="微软雅黑" panose="020B0503020204020204" charset="-122"/>
                    <a:ea typeface="微软雅黑" panose="020B0503020204020204" charset="-122"/>
                    <a:cs typeface="+mn-cs"/>
                  </a:rPr>
                  <a:t>(b) 训练准确率与测试准确率的关系</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横轴是训练准确率，纵轴是测试准确率（在 10000 个随机采样点上评估）。</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不同颜色的点对应不同的训练数据量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随着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增加，训练准确率与测试准确率的关系越来越接近线性，且斜率增大。</a:t>
                </a:r>
              </a:p>
              <a:p>
                <a:pPr lvl="0"/>
                <a:r>
                  <a:rPr lang="zh-CN" altLang="zh-CN" sz="1600" b="0" i="0" kern="1200">
                    <a:solidFill>
                      <a:schemeClr val="tx1"/>
                    </a:solidFill>
                    <a:effectLst/>
                    <a:latin typeface="微软雅黑" panose="020B0503020204020204" charset="-122"/>
                    <a:ea typeface="微软雅黑" panose="020B0503020204020204" charset="-122"/>
                    <a:cs typeface="+mn-cs"/>
                  </a:rPr>
                  <a:t>灰色虚线是随机猜测的基线（25%）。</a:t>
                </a:r>
              </a:p>
              <a:p>
                <a:pPr lvl="0"/>
                <a:r>
                  <a:rPr lang="zh-CN" altLang="zh-CN" sz="1600" b="0" i="0" kern="1200">
                    <a:solidFill>
                      <a:schemeClr val="tx1"/>
                    </a:solidFill>
                    <a:effectLst/>
                    <a:latin typeface="微软雅黑" panose="020B0503020204020204" charset="-122"/>
                    <a:ea typeface="微软雅黑" panose="020B0503020204020204" charset="-122"/>
                    <a:cs typeface="+mn-cs"/>
                  </a:rPr>
                  <a:t>这表明：</a:t>
                </a:r>
                <a:r>
                  <a:rPr lang="zh-CN" altLang="zh-CN" sz="1600" b="1" i="0" kern="1200">
                    <a:solidFill>
                      <a:schemeClr val="tx1"/>
                    </a:solidFill>
                    <a:effectLst/>
                    <a:latin typeface="微软雅黑" panose="020B0503020204020204" charset="-122"/>
                    <a:ea typeface="微软雅黑" panose="020B0503020204020204" charset="-122"/>
                    <a:cs typeface="+mn-cs"/>
                  </a:rPr>
                  <a:t>训练准确率可以很好地预测测试准确率</a:t>
                </a:r>
                <a:r>
                  <a:rPr lang="zh-CN" altLang="zh-CN" sz="1600" b="0" i="0" kern="1200">
                    <a:solidFill>
                      <a:schemeClr val="tx1"/>
                    </a:solidFill>
                    <a:effectLst/>
                    <a:latin typeface="微软雅黑" panose="020B0503020204020204" charset="-122"/>
                    <a:ea typeface="微软雅黑" panose="020B0503020204020204" charset="-122"/>
                    <a:cs typeface="+mn-cs"/>
                  </a:rPr>
                  <a:t>，且训练数据越多，泛化越好。</a:t>
                </a:r>
              </a:p>
              <a:p>
                <a:r>
                  <a:rPr lang="zh-CN" altLang="zh-CN" sz="1600" b="1" kern="1200">
                    <a:solidFill>
                      <a:schemeClr val="tx1"/>
                    </a:solidFill>
                    <a:effectLst/>
                    <a:latin typeface="微软雅黑" panose="020B0503020204020204" charset="-122"/>
                    <a:ea typeface="微软雅黑" panose="020B0503020204020204" charset="-122"/>
                    <a:cs typeface="+mn-cs"/>
                  </a:rPr>
                  <a:t>(c) 不同量子比特数下的泛化改善</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横轴是训练数据量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，纵轴是测试准确率随训练准确率变化的斜率。</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不同曲线对应不同的量子比特数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𝑛</m:t>
                    </m:r>
                  </m:oMath>
                </a14:m>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结果显示：不同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𝑛</m:t>
                    </m:r>
                  </m:oMath>
                </a14:m>
                <a:r>
                  <a:rPr lang="zh-CN" altLang="zh-CN" sz="1600" b="0" i="0" kern="1200">
                    <a:solidFill>
                      <a:schemeClr val="tx1"/>
                    </a:solidFill>
                    <a:effectLst/>
                    <a:latin typeface="微软雅黑" panose="020B0503020204020204" charset="-122"/>
                    <a:ea typeface="微软雅黑" panose="020B0503020204020204" charset="-122"/>
                    <a:cs typeface="+mn-cs"/>
                  </a:rPr>
                  <a:t>下，斜率随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的改善趋势相似，说明所需的训练数据量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𝑁</m:t>
                    </m:r>
                  </m:oMath>
                </a14:m>
                <a:r>
                  <a:rPr lang="zh-CN" altLang="zh-CN" sz="1600" b="0" i="0" kern="1200">
                    <a:solidFill>
                      <a:schemeClr val="tx1"/>
                    </a:solidFill>
                    <a:effectLst/>
                    <a:latin typeface="微软雅黑" panose="020B0503020204020204" charset="-122"/>
                    <a:ea typeface="微软雅黑" panose="020B0503020204020204" charset="-122"/>
                    <a:cs typeface="+mn-cs"/>
                  </a:rPr>
                  <a:t>随量子比特数 </a:t>
                </a:r>
                <a14:m>
                  <m:oMath xmlns:m="http://schemas.openxmlformats.org/officeDocument/2006/math">
                    <m:r>
                      <a:rPr lang="zh-CN" altLang="en-US" sz="1600" i="1" kern="1200">
                        <a:solidFill>
                          <a:schemeClr val="tx1"/>
                        </a:solidFill>
                        <a:latin typeface="Cambria Math" panose="02040503050406030204" pitchFamily="18" charset="0"/>
                        <a:ea typeface="微软雅黑" panose="020B0503020204020204" charset="-122"/>
                        <a:cs typeface="+mn-cs"/>
                      </a:rPr>
                      <m:t>𝑛</m:t>
                    </m:r>
                  </m:oMath>
                </a14:m>
                <a:r>
                  <a:rPr lang="zh-CN" altLang="zh-CN" sz="1600" b="0" i="0" kern="1200">
                    <a:solidFill>
                      <a:schemeClr val="tx1"/>
                    </a:solidFill>
                    <a:effectLst/>
                    <a:latin typeface="微软雅黑" panose="020B0503020204020204" charset="-122"/>
                    <a:ea typeface="微软雅黑" panose="020B0503020204020204" charset="-122"/>
                    <a:cs typeface="+mn-cs"/>
                  </a:rPr>
                  <a:t>仅呈 </a:t>
                </a:r>
                <a:r>
                  <a:rPr lang="zh-CN" altLang="zh-CN" sz="1600" b="1" i="0" kern="1200">
                    <a:solidFill>
                      <a:schemeClr val="tx1"/>
                    </a:solidFill>
                    <a:effectLst/>
                    <a:latin typeface="微软雅黑" panose="020B0503020204020204" charset="-122"/>
                    <a:ea typeface="微软雅黑" panose="020B0503020204020204" charset="-122"/>
                    <a:cs typeface="+mn-cs"/>
                  </a:rPr>
                  <a:t>多对数（polylogarithmic）增长</a:t>
                </a:r>
                <a:endParaRPr lang="zh-CN" altLang="zh-CN" sz="1600" b="0" i="0" kern="120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Choice>
        <mc:Fallback xmlns="">
          <p:sp>
            <p:nvSpPr>
              <p:cNvPr id="1050070"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r>
                  <a:rPr lang="zh-CN" altLang="zh-CN" sz="1600" b="0" i="0" kern="1200">
                    <a:solidFill>
                      <a:schemeClr val="tx1"/>
                    </a:solidFill>
                    <a:effectLst/>
                    <a:latin typeface="微软雅黑" panose="020B0503020204020204" charset="-122"/>
                    <a:ea typeface="微软雅黑" panose="020B0503020204020204" charset="-122"/>
                    <a:cs typeface="+mn-cs"/>
                  </a:rPr>
                  <a:t>图3 使用 </a:t>
                </a:r>
                <a:r>
                  <a:rPr lang="zh-CN" altLang="zh-CN" sz="1600" b="1" i="0" kern="1200">
                    <a:solidFill>
                      <a:schemeClr val="tx1"/>
                    </a:solidFill>
                    <a:effectLst/>
                    <a:latin typeface="微软雅黑" panose="020B0503020204020204" charset="-122"/>
                    <a:ea typeface="微软雅黑" panose="020B0503020204020204" charset="-122"/>
                    <a:cs typeface="+mn-cs"/>
                  </a:rPr>
                  <a:t>量子卷积神经网络（QCNN）</a:t>
                </a:r>
                <a:r>
                  <a:rPr lang="zh-CN" altLang="zh-CN" sz="1600" b="0" i="0" kern="1200">
                    <a:solidFill>
                      <a:schemeClr val="tx1"/>
                    </a:solidFill>
                    <a:effectLst/>
                    <a:latin typeface="微软雅黑" panose="020B0503020204020204" charset="-122"/>
                    <a:ea typeface="微软雅黑" panose="020B0503020204020204" charset="-122"/>
                    <a:cs typeface="+mn-cs"/>
                  </a:rPr>
                  <a:t> 对广义 cluster Hamiltonian 的基态进行相分类，系统有 16 个量子比特，训练数据为 30 个基态及其相标签。</a:t>
                </a:r>
              </a:p>
              <a:p>
                <a:r>
                  <a:rPr lang="zh-CN" altLang="zh-CN" sz="1600" b="1" kern="1200">
                    <a:solidFill>
                      <a:schemeClr val="tx1"/>
                    </a:solidFill>
                    <a:effectLst/>
                    <a:latin typeface="微软雅黑" panose="020B0503020204020204" charset="-122"/>
                    <a:ea typeface="微软雅黑" panose="020B0503020204020204" charset="-122"/>
                    <a:cs typeface="+mn-cs"/>
                  </a:rPr>
                  <a:t>(a) 相图上的分类表现</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蓝色叉号</a:t>
                </a:r>
                <a:r>
                  <a:rPr lang="zh-CN" altLang="zh-CN" sz="1600" b="0" i="0" kern="1200">
                    <a:solidFill>
                      <a:schemeClr val="tx1"/>
                    </a:solidFill>
                    <a:effectLst/>
                    <a:latin typeface="微软雅黑" panose="020B0503020204020204" charset="-122"/>
                    <a:ea typeface="微软雅黑" panose="020B0503020204020204" charset="-122"/>
                    <a:cs typeface="+mn-cs"/>
                  </a:rPr>
                  <a:t>：训练数据点（位于 </a:t>
                </a:r>
                <a:r>
                  <a:rPr lang="zh-CN" altLang="en-US" sz="1600" i="0" kern="1200">
                    <a:solidFill>
                      <a:schemeClr val="tx1"/>
                    </a:solidFill>
                    <a:latin typeface="微软雅黑" panose="020B0503020204020204" charset="-122"/>
                    <a:ea typeface="微软雅黑" panose="020B0503020204020204" charset="-122"/>
                    <a:cs typeface="+mn-cs"/>
                  </a:rPr>
                  <a:t>𝐽_</a:t>
                </a:r>
                <a:r>
                  <a:rPr lang="en-US" altLang="zh-CN" sz="1600" i="0" kern="1200">
                    <a:solidFill>
                      <a:schemeClr val="tx1"/>
                    </a:solidFill>
                    <a:latin typeface="微软雅黑" panose="020B0503020204020204" charset="-122"/>
                    <a:ea typeface="微软雅黑" panose="020B0503020204020204" charset="-122"/>
                    <a:cs typeface="+mn-cs"/>
                  </a:rPr>
                  <a:t>1</a:t>
                </a:r>
                <a:r>
                  <a:rPr lang="zh-CN" altLang="zh-CN" sz="1600" b="0" i="0" kern="1200">
                    <a:solidFill>
                      <a:schemeClr val="tx1"/>
                    </a:solidFill>
                    <a:effectLst/>
                    <a:latin typeface="微软雅黑" panose="020B0503020204020204" charset="-122"/>
                    <a:ea typeface="微软雅黑" panose="020B0503020204020204" charset="-122"/>
                    <a:cs typeface="+mn-cs"/>
                  </a:rPr>
                  <a:t>-</a:t>
                </a:r>
                <a:r>
                  <a:rPr lang="zh-CN" altLang="en-US" sz="1600" i="0" kern="1200">
                    <a:solidFill>
                      <a:schemeClr val="tx1"/>
                    </a:solidFill>
                    <a:latin typeface="微软雅黑" panose="020B0503020204020204" charset="-122"/>
                    <a:ea typeface="微软雅黑" panose="020B0503020204020204" charset="-122"/>
                    <a:cs typeface="+mn-cs"/>
                  </a:rPr>
                  <a:t>𝐽_</a:t>
                </a:r>
                <a:r>
                  <a:rPr lang="en-US" altLang="zh-CN" sz="1600" i="0" kern="1200">
                    <a:solidFill>
                      <a:schemeClr val="tx1"/>
                    </a:solidFill>
                    <a:latin typeface="微软雅黑" panose="020B0503020204020204" charset="-122"/>
                    <a:ea typeface="微软雅黑" panose="020B0503020204020204" charset="-122"/>
                    <a:cs typeface="+mn-cs"/>
                  </a:rPr>
                  <a:t>2</a:t>
                </a:r>
                <a:r>
                  <a:rPr lang="zh-CN" altLang="zh-CN" sz="1600" b="0" i="0" kern="1200">
                    <a:solidFill>
                      <a:schemeClr val="tx1"/>
                    </a:solidFill>
                    <a:effectLst/>
                    <a:latin typeface="微软雅黑" panose="020B0503020204020204" charset="-122"/>
                    <a:ea typeface="微软雅黑" panose="020B0503020204020204" charset="-122"/>
                    <a:cs typeface="+mn-cs"/>
                  </a:rPr>
                  <a:t> 平面上），标签由解析相图给出。</a:t>
                </a:r>
              </a:p>
              <a:p>
                <a:pPr lvl="0"/>
                <a:r>
                  <a:rPr lang="zh-CN" altLang="zh-CN" sz="1600" b="1" i="0" kern="1200">
                    <a:solidFill>
                      <a:schemeClr val="tx1"/>
                    </a:solidFill>
                    <a:effectLst/>
                    <a:latin typeface="微软雅黑" panose="020B0503020204020204" charset="-122"/>
                    <a:ea typeface="微软雅黑" panose="020B0503020204020204" charset="-122"/>
                    <a:cs typeface="+mn-cs"/>
                  </a:rPr>
                  <a:t>蓝色圆圈</a:t>
                </a:r>
                <a:r>
                  <a:rPr lang="zh-CN" altLang="zh-CN" sz="1600" b="0" i="0" kern="1200">
                    <a:solidFill>
                      <a:schemeClr val="tx1"/>
                    </a:solidFill>
                    <a:effectLst/>
                    <a:latin typeface="微软雅黑" panose="020B0503020204020204" charset="-122"/>
                    <a:ea typeface="微软雅黑" panose="020B0503020204020204" charset="-122"/>
                    <a:cs typeface="+mn-cs"/>
                  </a:rPr>
                  <a:t>：QCNN 正确分类的点。</a:t>
                </a:r>
              </a:p>
              <a:p>
                <a:pPr lvl="0"/>
                <a:r>
                  <a:rPr lang="zh-CN" altLang="zh-CN" sz="1600" b="1" i="0" kern="1200">
                    <a:solidFill>
                      <a:schemeClr val="tx1"/>
                    </a:solidFill>
                    <a:effectLst/>
                    <a:latin typeface="微软雅黑" panose="020B0503020204020204" charset="-122"/>
                    <a:ea typeface="微软雅黑" panose="020B0503020204020204" charset="-122"/>
                    <a:cs typeface="+mn-cs"/>
                  </a:rPr>
                  <a:t>红色圆圈</a:t>
                </a:r>
                <a:r>
                  <a:rPr lang="zh-CN" altLang="zh-CN" sz="1600" b="0" i="0" kern="1200">
                    <a:solidFill>
                      <a:schemeClr val="tx1"/>
                    </a:solidFill>
                    <a:effectLst/>
                    <a:latin typeface="微软雅黑" panose="020B0503020204020204" charset="-122"/>
                    <a:ea typeface="微软雅黑" panose="020B0503020204020204" charset="-122"/>
                    <a:cs typeface="+mn-cs"/>
                  </a:rPr>
                  <a:t>：QCNN 错误分类的点。</a:t>
                </a:r>
              </a:p>
              <a:p>
                <a:pPr lvl="0"/>
                <a:r>
                  <a:rPr lang="zh-CN" altLang="zh-CN" sz="1600" b="0" i="0" kern="1200">
                    <a:solidFill>
                      <a:schemeClr val="tx1"/>
                    </a:solidFill>
                    <a:effectLst/>
                    <a:latin typeface="微软雅黑" panose="020B0503020204020204" charset="-122"/>
                    <a:ea typeface="微软雅黑" panose="020B0503020204020204" charset="-122"/>
                    <a:cs typeface="+mn-cs"/>
                  </a:rPr>
                  <a:t>可以看出，仅用 30 个训练点，QCNN 就能在相图上正确区分出四个相（对称保护拓扑相、铁磁相、反铁磁相、平庸相）。</a:t>
                </a:r>
              </a:p>
              <a:p>
                <a:r>
                  <a:rPr lang="zh-CN" altLang="zh-CN" sz="1600" b="1" kern="1200">
                    <a:solidFill>
                      <a:schemeClr val="tx1"/>
                    </a:solidFill>
                    <a:effectLst/>
                    <a:latin typeface="微软雅黑" panose="020B0503020204020204" charset="-122"/>
                    <a:ea typeface="微软雅黑" panose="020B0503020204020204" charset="-122"/>
                    <a:cs typeface="+mn-cs"/>
                  </a:rPr>
                  <a:t>(b) 训练准确率与测试准确率的关系</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横轴是训练准确率，纵轴是测试准确率（在 10000 个随机采样点上评估）。</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不同颜色的点对应不同的训练数据量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随着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增加，训练准确率与测试准确率的关系越来越接近线性，且斜率增大。</a:t>
                </a:r>
              </a:p>
              <a:p>
                <a:pPr lvl="0"/>
                <a:r>
                  <a:rPr lang="zh-CN" altLang="zh-CN" sz="1600" b="0" i="0" kern="1200">
                    <a:solidFill>
                      <a:schemeClr val="tx1"/>
                    </a:solidFill>
                    <a:effectLst/>
                    <a:latin typeface="微软雅黑" panose="020B0503020204020204" charset="-122"/>
                    <a:ea typeface="微软雅黑" panose="020B0503020204020204" charset="-122"/>
                    <a:cs typeface="+mn-cs"/>
                  </a:rPr>
                  <a:t>灰色虚线是随机猜测的基线（25%）。</a:t>
                </a:r>
              </a:p>
              <a:p>
                <a:pPr lvl="0"/>
                <a:r>
                  <a:rPr lang="zh-CN" altLang="zh-CN" sz="1600" b="0" i="0" kern="1200">
                    <a:solidFill>
                      <a:schemeClr val="tx1"/>
                    </a:solidFill>
                    <a:effectLst/>
                    <a:latin typeface="微软雅黑" panose="020B0503020204020204" charset="-122"/>
                    <a:ea typeface="微软雅黑" panose="020B0503020204020204" charset="-122"/>
                    <a:cs typeface="+mn-cs"/>
                  </a:rPr>
                  <a:t>这表明：</a:t>
                </a:r>
                <a:r>
                  <a:rPr lang="zh-CN" altLang="zh-CN" sz="1600" b="1" i="0" kern="1200">
                    <a:solidFill>
                      <a:schemeClr val="tx1"/>
                    </a:solidFill>
                    <a:effectLst/>
                    <a:latin typeface="微软雅黑" panose="020B0503020204020204" charset="-122"/>
                    <a:ea typeface="微软雅黑" panose="020B0503020204020204" charset="-122"/>
                    <a:cs typeface="+mn-cs"/>
                  </a:rPr>
                  <a:t>训练准确率可以很好地预测测试准确率</a:t>
                </a:r>
                <a:r>
                  <a:rPr lang="zh-CN" altLang="zh-CN" sz="1600" b="0" i="0" kern="1200">
                    <a:solidFill>
                      <a:schemeClr val="tx1"/>
                    </a:solidFill>
                    <a:effectLst/>
                    <a:latin typeface="微软雅黑" panose="020B0503020204020204" charset="-122"/>
                    <a:ea typeface="微软雅黑" panose="020B0503020204020204" charset="-122"/>
                    <a:cs typeface="+mn-cs"/>
                  </a:rPr>
                  <a:t>，且训练数据越多，泛化越好。</a:t>
                </a:r>
              </a:p>
              <a:p>
                <a:r>
                  <a:rPr lang="zh-CN" altLang="zh-CN" sz="1600" b="1" kern="1200">
                    <a:solidFill>
                      <a:schemeClr val="tx1"/>
                    </a:solidFill>
                    <a:effectLst/>
                    <a:latin typeface="微软雅黑" panose="020B0503020204020204" charset="-122"/>
                    <a:ea typeface="微软雅黑" panose="020B0503020204020204" charset="-122"/>
                    <a:cs typeface="+mn-cs"/>
                  </a:rPr>
                  <a:t>(c) 不同量子比特数下的泛化改善</a:t>
                </a:r>
              </a:p>
              <a:p>
                <a:pPr lvl="0"/>
                <a:r>
                  <a:rPr lang="zh-CN" altLang="zh-CN" sz="1600" b="0" i="0" kern="1200">
                    <a:solidFill>
                      <a:schemeClr val="tx1"/>
                    </a:solidFill>
                    <a:effectLst/>
                    <a:latin typeface="微软雅黑" panose="020B0503020204020204" charset="-122"/>
                    <a:ea typeface="微软雅黑" panose="020B0503020204020204" charset="-122"/>
                    <a:cs typeface="+mn-cs"/>
                  </a:rPr>
                  <a:t>横轴是训练数据量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，纵轴是测试准确率随训练准确率变化的斜率。</a:t>
                </a:r>
              </a:p>
              <a:p>
                <a:pPr lvl="0"/>
                <a:r>
                  <a:rPr lang="zh-CN" altLang="zh-CN" sz="1600" b="0" i="0" kern="1200">
                    <a:solidFill>
                      <a:schemeClr val="tx1"/>
                    </a:solidFill>
                    <a:effectLst/>
                    <a:latin typeface="微软雅黑" panose="020B0503020204020204" charset="-122"/>
                    <a:ea typeface="微软雅黑" panose="020B0503020204020204" charset="-122"/>
                    <a:cs typeface="+mn-cs"/>
                  </a:rPr>
                  <a:t>不同曲线对应不同的量子比特数 </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a:t>
                </a:r>
              </a:p>
              <a:p>
                <a:pPr lvl="0"/>
                <a:r>
                  <a:rPr lang="zh-CN" altLang="zh-CN" sz="1600" b="0" i="0" kern="1200">
                    <a:solidFill>
                      <a:schemeClr val="tx1"/>
                    </a:solidFill>
                    <a:effectLst/>
                    <a:latin typeface="微软雅黑" panose="020B0503020204020204" charset="-122"/>
                    <a:ea typeface="微软雅黑" panose="020B0503020204020204" charset="-122"/>
                    <a:cs typeface="+mn-cs"/>
                  </a:rPr>
                  <a:t>结果显示：不同 </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下，斜率随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的改善趋势相似，说明所需的训练数据量 </a:t>
                </a:r>
                <a:r>
                  <a:rPr lang="zh-CN" altLang="en-US" sz="1600" i="0" kern="1200">
                    <a:solidFill>
                      <a:schemeClr val="tx1"/>
                    </a:solidFill>
                    <a:latin typeface="微软雅黑" panose="020B0503020204020204" charset="-122"/>
                    <a:ea typeface="微软雅黑" panose="020B0503020204020204" charset="-122"/>
                    <a:cs typeface="+mn-cs"/>
                  </a:rPr>
                  <a:t>𝑁</a:t>
                </a:r>
                <a:r>
                  <a:rPr lang="zh-CN" altLang="zh-CN" sz="1600" b="0" i="0" kern="1200">
                    <a:solidFill>
                      <a:schemeClr val="tx1"/>
                    </a:solidFill>
                    <a:effectLst/>
                    <a:latin typeface="微软雅黑" panose="020B0503020204020204" charset="-122"/>
                    <a:ea typeface="微软雅黑" panose="020B0503020204020204" charset="-122"/>
                    <a:cs typeface="+mn-cs"/>
                  </a:rPr>
                  <a:t>随量子比特数 </a:t>
                </a:r>
                <a:r>
                  <a:rPr lang="zh-CN" altLang="en-US" sz="1600" i="0" kern="1200">
                    <a:solidFill>
                      <a:schemeClr val="tx1"/>
                    </a:solidFill>
                    <a:latin typeface="微软雅黑" panose="020B0503020204020204" charset="-122"/>
                    <a:ea typeface="微软雅黑" panose="020B0503020204020204" charset="-122"/>
                    <a:cs typeface="+mn-cs"/>
                  </a:rPr>
                  <a:t>𝑛</a:t>
                </a:r>
                <a:r>
                  <a:rPr lang="zh-CN" altLang="zh-CN" sz="1600" b="0" i="0" kern="1200">
                    <a:solidFill>
                      <a:schemeClr val="tx1"/>
                    </a:solidFill>
                    <a:effectLst/>
                    <a:latin typeface="微软雅黑" panose="020B0503020204020204" charset="-122"/>
                    <a:ea typeface="微软雅黑" panose="020B0503020204020204" charset="-122"/>
                    <a:cs typeface="+mn-cs"/>
                  </a:rPr>
                  <a:t>仅呈 </a:t>
                </a:r>
                <a:r>
                  <a:rPr lang="zh-CN" altLang="zh-CN" sz="1600" b="1" i="0" kern="1200">
                    <a:solidFill>
                      <a:schemeClr val="tx1"/>
                    </a:solidFill>
                    <a:effectLst/>
                    <a:latin typeface="微软雅黑" panose="020B0503020204020204" charset="-122"/>
                    <a:ea typeface="微软雅黑" panose="020B0503020204020204" charset="-122"/>
                    <a:cs typeface="+mn-cs"/>
                  </a:rPr>
                  <a:t>多对数（polylogarithmic）增长</a:t>
                </a:r>
                <a:endParaRPr lang="zh-CN" altLang="zh-CN" sz="1600" b="0" i="0" kern="1200">
                  <a:solidFill>
                    <a:schemeClr val="tx1"/>
                  </a:solidFill>
                  <a:effectLst/>
                  <a:latin typeface="微软雅黑" panose="020B0503020204020204" charset="-122"/>
                  <a:ea typeface="微软雅黑" panose="020B0503020204020204" charset="-122"/>
                  <a:cs typeface="+mn-cs"/>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mc:Fallback>
      </mc:AlternateContent>
      <p:sp>
        <p:nvSpPr>
          <p:cNvPr id="1050071" name="灯片编号占位符 3"/>
          <p:cNvSpPr>
            <a:spLocks noGrp="1"/>
          </p:cNvSpPr>
          <p:nvPr>
            <p:ph type="sldNum" sz="quarter" idx="10"/>
          </p:nvPr>
        </p:nvSpPr>
        <p:spPr/>
        <p:txBody>
          <a:bodyPr/>
          <a:lstStyle/>
          <a:p>
            <a:fld id="{677A2CBA-E486-4DC8-8696-C7854B0A28FD}"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77" name="幻灯片图像占位符 1"/>
          <p:cNvSpPr>
            <a:spLocks noGrp="1" noRot="1" noChangeAspect="1"/>
          </p:cNvSpPr>
          <p:nvPr>
            <p:ph type="sldImg"/>
          </p:nvPr>
        </p:nvSpPr>
        <p:spPr>
          <a:xfrm>
            <a:off x="685800" y="1143000"/>
            <a:ext cx="5486400" cy="3086100"/>
          </a:xfrm>
        </p:spPr>
      </p:sp>
      <p:sp>
        <p:nvSpPr>
          <p:cNvPr id="1050078"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zh-CN" altLang="en-US" b="0" i="0" dirty="0">
              <a:effectLst/>
              <a:latin typeface="inherit"/>
            </a:endParaRPr>
          </a:p>
          <a:p>
            <a:endParaRPr lang="zh-CN" altLang="en-US" sz="1600" kern="1200" dirty="0">
              <a:solidFill>
                <a:schemeClr val="tx1"/>
              </a:solidFill>
              <a:effectLst/>
              <a:latin typeface="微软雅黑" panose="020B0503020204020204" charset="-122"/>
              <a:ea typeface="微软雅黑" panose="020B0503020204020204" charset="-122"/>
              <a:cs typeface="+mn-cs"/>
            </a:endParaRPr>
          </a:p>
        </p:txBody>
      </p:sp>
      <p:sp>
        <p:nvSpPr>
          <p:cNvPr id="1050079" name="灯片编号占位符 3"/>
          <p:cNvSpPr>
            <a:spLocks noGrp="1"/>
          </p:cNvSpPr>
          <p:nvPr>
            <p:ph type="sldNum" sz="quarter" idx="10"/>
          </p:nvPr>
        </p:nvSpPr>
        <p:spPr/>
        <p:txBody>
          <a:bodyPr/>
          <a:lstStyle/>
          <a:p>
            <a:fld id="{677A2CBA-E486-4DC8-8696-C7854B0A28FD}"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91" name="幻灯片图像占位符 1"/>
          <p:cNvSpPr>
            <a:spLocks noGrp="1" noRot="1" noChangeAspect="1"/>
          </p:cNvSpPr>
          <p:nvPr>
            <p:ph type="sldImg"/>
          </p:nvPr>
        </p:nvSpPr>
        <p:spPr>
          <a:xfrm>
            <a:off x="685800" y="1143000"/>
            <a:ext cx="5486400" cy="3086100"/>
          </a:xfrm>
        </p:spPr>
      </p:sp>
      <p:sp>
        <p:nvSpPr>
          <p:cNvPr id="1050092"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本文介绍了一种新型量子算法，旨在提高大规模机器学习模型的效率。首先证明量子计算有可能为梯度下降算法提供高效的解决方案。这是通过利用量子卡勒曼线性化将非线性梯度下降过程转换为线性系统来实现的，然后可以使用量子线性系统求解器（如 </a:t>
            </a:r>
            <a:r>
              <a:rPr lang="en-US" altLang="zh-CN" sz="1600" kern="1200">
                <a:solidFill>
                  <a:schemeClr val="tx1"/>
                </a:solidFill>
                <a:effectLst/>
                <a:latin typeface="微软雅黑" panose="020B0503020204020204" charset="-122"/>
                <a:ea typeface="微软雅黑" panose="020B0503020204020204" charset="-122"/>
                <a:cs typeface="+mn-cs"/>
              </a:rPr>
              <a:t>HHL </a:t>
            </a:r>
            <a:r>
              <a:rPr lang="zh-CN" altLang="en-US" sz="1600" kern="1200">
                <a:solidFill>
                  <a:schemeClr val="tx1"/>
                </a:solidFill>
                <a:effectLst/>
                <a:latin typeface="微软雅黑" panose="020B0503020204020204" charset="-122"/>
                <a:ea typeface="微软雅黑" panose="020B0503020204020204" charset="-122"/>
                <a:cs typeface="+mn-cs"/>
              </a:rPr>
              <a:t>算法）来求解。</a:t>
            </a:r>
            <a:endParaRPr lang="en-US" altLang="zh-CN" sz="1600" kern="1200">
              <a:solidFill>
                <a:schemeClr val="tx1"/>
              </a:solidFill>
              <a:effectLst/>
              <a:latin typeface="微软雅黑" panose="020B0503020204020204" charset="-122"/>
              <a:ea typeface="微软雅黑" panose="020B0503020204020204" charset="-122"/>
              <a:cs typeface="+mn-cs"/>
            </a:endParaRPr>
          </a:p>
          <a:p>
            <a:pPr algn="just"/>
            <a:endParaRPr lang="en-US" altLang="zh-CN" sz="1600" kern="1200">
              <a:solidFill>
                <a:schemeClr val="tx1"/>
              </a:solidFill>
              <a:effectLst/>
              <a:latin typeface="微软雅黑" panose="020B0503020204020204" charset="-122"/>
              <a:ea typeface="微软雅黑" panose="020B0503020204020204" charset="-122"/>
              <a:cs typeface="+mn-cs"/>
            </a:endParaRPr>
          </a:p>
          <a:p>
            <a:pPr algn="just"/>
            <a:r>
              <a:rPr lang="zh-CN" altLang="en-US" sz="1600" kern="1200">
                <a:solidFill>
                  <a:schemeClr val="tx1"/>
                </a:solidFill>
                <a:effectLst/>
                <a:latin typeface="微软雅黑" panose="020B0503020204020204" charset="-122"/>
                <a:ea typeface="微软雅黑" panose="020B0503020204020204" charset="-122"/>
                <a:cs typeface="+mn-cs"/>
              </a:rPr>
              <a:t>未来研究包括在梯度下降轨迹中开发替代的时间依赖，识别更好的耗散形式标准，并试图对截断</a:t>
            </a:r>
            <a:r>
              <a:rPr lang="en-US" altLang="zh-CN" sz="1600" kern="1200">
                <a:solidFill>
                  <a:schemeClr val="tx1"/>
                </a:solidFill>
                <a:effectLst/>
                <a:latin typeface="微软雅黑" panose="020B0503020204020204" charset="-122"/>
                <a:ea typeface="微软雅黑" panose="020B0503020204020204" charset="-122"/>
                <a:cs typeface="+mn-cs"/>
              </a:rPr>
              <a:t>HHL</a:t>
            </a:r>
            <a:r>
              <a:rPr lang="zh-CN" altLang="en-US" sz="1600" kern="1200">
                <a:solidFill>
                  <a:schemeClr val="tx1"/>
                </a:solidFill>
                <a:effectLst/>
                <a:latin typeface="微软雅黑" panose="020B0503020204020204" charset="-122"/>
                <a:ea typeface="微软雅黑" panose="020B0503020204020204" charset="-122"/>
                <a:cs typeface="+mn-cs"/>
              </a:rPr>
              <a:t>算法的理论改进，以及识别超越耗散概念的可能量子加速机制。</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50093" name="灯片编号占位符 3"/>
          <p:cNvSpPr>
            <a:spLocks noGrp="1"/>
          </p:cNvSpPr>
          <p:nvPr>
            <p:ph type="sldNum" sz="quarter" idx="10"/>
          </p:nvPr>
        </p:nvSpPr>
        <p:spPr/>
        <p:txBody>
          <a:bodyPr/>
          <a:lstStyle/>
          <a:p>
            <a:fld id="{677A2CBA-E486-4DC8-8696-C7854B0A28FD}"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101" name="幻灯片图像占位符 1"/>
          <p:cNvSpPr>
            <a:spLocks noGrp="1" noRot="1" noChangeAspect="1"/>
          </p:cNvSpPr>
          <p:nvPr>
            <p:ph type="sldImg"/>
          </p:nvPr>
        </p:nvSpPr>
        <p:spPr>
          <a:xfrm>
            <a:off x="685800" y="1143000"/>
            <a:ext cx="5486400" cy="3086100"/>
          </a:xfrm>
        </p:spPr>
      </p:sp>
      <p:sp>
        <p:nvSpPr>
          <p:cNvPr id="1050102" name="备注占位符 2"/>
          <p:cNvSpPr>
            <a:spLocks noGrp="1"/>
          </p:cNvSpPr>
          <p:nvPr>
            <p:ph type="body" idx="1"/>
          </p:nvPr>
        </p:nvSpPr>
        <p:spPr/>
        <p:txBody>
          <a:bodyPr/>
          <a:lstStyle/>
          <a:p>
            <a:pPr algn="just"/>
            <a:r>
              <a:rPr lang="zh-CN" altLang="en-US" sz="1600" kern="1200">
                <a:solidFill>
                  <a:schemeClr val="tx1"/>
                </a:solidFill>
                <a:effectLst/>
                <a:latin typeface="微软雅黑" panose="020B0503020204020204" charset="-122"/>
                <a:ea typeface="微软雅黑" panose="020B0503020204020204" charset="-122"/>
                <a:cs typeface="+mn-cs"/>
              </a:rPr>
              <a:t>未来工作将引入量子谱编码方法，利用其增强的时序表示能力，表征铝结晶过程数据中的多物理场耦合、非线性</a:t>
            </a:r>
            <a:r>
              <a:rPr lang="en-US" altLang="zh-CN" sz="1600" kern="1200">
                <a:solidFill>
                  <a:schemeClr val="tx1"/>
                </a:solidFill>
                <a:effectLst/>
                <a:latin typeface="微软雅黑" panose="020B0503020204020204" charset="-122"/>
                <a:ea typeface="微软雅黑" panose="020B0503020204020204" charset="-122"/>
                <a:cs typeface="+mn-cs"/>
              </a:rPr>
              <a:t>/</a:t>
            </a:r>
            <a:r>
              <a:rPr lang="zh-CN" altLang="en-US" sz="1600" kern="1200">
                <a:solidFill>
                  <a:schemeClr val="tx1"/>
                </a:solidFill>
                <a:effectLst/>
                <a:latin typeface="微软雅黑" panose="020B0503020204020204" charset="-122"/>
                <a:ea typeface="微软雅黑" panose="020B0503020204020204" charset="-122"/>
                <a:cs typeface="+mn-cs"/>
              </a:rPr>
              <a:t>非平稳动态、多尺度演化、强噪声等特征，用于自适应状态估计中的不确定性量化；同时，将量子神经网络（</a:t>
            </a:r>
            <a:r>
              <a:rPr lang="en-US" altLang="zh-CN" sz="1600" kern="1200">
                <a:solidFill>
                  <a:schemeClr val="tx1"/>
                </a:solidFill>
                <a:effectLst/>
                <a:latin typeface="微软雅黑" panose="020B0503020204020204" charset="-122"/>
                <a:ea typeface="微软雅黑" panose="020B0503020204020204" charset="-122"/>
                <a:cs typeface="+mn-cs"/>
              </a:rPr>
              <a:t>QNNs</a:t>
            </a:r>
            <a:r>
              <a:rPr lang="zh-CN" altLang="en-US" sz="1600" kern="1200">
                <a:solidFill>
                  <a:schemeClr val="tx1"/>
                </a:solidFill>
                <a:effectLst/>
                <a:latin typeface="微软雅黑" panose="020B0503020204020204" charset="-122"/>
                <a:ea typeface="微软雅黑" panose="020B0503020204020204" charset="-122"/>
                <a:cs typeface="+mn-cs"/>
              </a:rPr>
              <a:t>）作为优化模块与估计器结合，以提高此类复杂数据条件下的状态估计精度。</a:t>
            </a:r>
            <a:endParaRPr lang="en-US" altLang="zh-CN" sz="1600" kern="1200" dirty="0">
              <a:solidFill>
                <a:schemeClr val="tx1"/>
              </a:solidFill>
              <a:effectLst/>
              <a:latin typeface="微软雅黑" panose="020B0503020204020204" charset="-122"/>
              <a:ea typeface="微软雅黑" panose="020B0503020204020204" charset="-122"/>
              <a:cs typeface="+mn-cs"/>
            </a:endParaRPr>
          </a:p>
        </p:txBody>
      </p:sp>
      <p:sp>
        <p:nvSpPr>
          <p:cNvPr id="1050103" name="灯片编号占位符 3"/>
          <p:cNvSpPr>
            <a:spLocks noGrp="1"/>
          </p:cNvSpPr>
          <p:nvPr>
            <p:ph type="sldNum" sz="quarter" idx="10"/>
          </p:nvPr>
        </p:nvSpPr>
        <p:spPr/>
        <p:txBody>
          <a:bodyPr/>
          <a:lstStyle/>
          <a:p>
            <a:fld id="{677A2CBA-E486-4DC8-8696-C7854B0A28FD}"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106" name="幻灯片图像占位符 1"/>
          <p:cNvSpPr>
            <a:spLocks noGrp="1" noRot="1" noChangeAspect="1"/>
          </p:cNvSpPr>
          <p:nvPr>
            <p:ph type="sldImg"/>
          </p:nvPr>
        </p:nvSpPr>
        <p:spPr>
          <a:xfrm>
            <a:off x="685800" y="1143000"/>
            <a:ext cx="5486400" cy="3086100"/>
          </a:xfrm>
        </p:spPr>
      </p:sp>
      <p:sp>
        <p:nvSpPr>
          <p:cNvPr id="1050107" name="备注占位符 2"/>
          <p:cNvSpPr>
            <a:spLocks noGrp="1"/>
          </p:cNvSpPr>
          <p:nvPr>
            <p:ph type="body" idx="1"/>
          </p:nvPr>
        </p:nvSpPr>
        <p:spPr/>
        <p:txBody>
          <a:bodyPr/>
          <a:lstStyle/>
          <a:p>
            <a:endParaRPr lang="zh-CN" altLang="en-US" dirty="0"/>
          </a:p>
        </p:txBody>
      </p:sp>
      <p:sp>
        <p:nvSpPr>
          <p:cNvPr id="1050108" name="灯片编号占位符 3"/>
          <p:cNvSpPr>
            <a:spLocks noGrp="1"/>
          </p:cNvSpPr>
          <p:nvPr>
            <p:ph type="sldNum" sz="quarter" idx="10"/>
          </p:nvPr>
        </p:nvSpPr>
        <p:spPr/>
        <p:txBody>
          <a:bodyPr/>
          <a:lstStyle/>
          <a:p>
            <a:fld id="{677A2CBA-E486-4DC8-8696-C7854B0A28FD}" type="slidenum">
              <a:rPr lang="zh-CN" altLang="en-US" smtClean="0"/>
              <a:t>92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104858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048584" name="Footer Placeholder 4"/>
          <p:cNvSpPr>
            <a:spLocks noGrp="1"/>
          </p:cNvSpPr>
          <p:nvPr>
            <p:ph type="ftr" sz="quarter" idx="11"/>
          </p:nvPr>
        </p:nvSpPr>
        <p:spPr/>
        <p:txBody>
          <a:bodyPr/>
          <a:lstStyle/>
          <a:p>
            <a:endParaRPr lang="zh-HK" altLang="en-US"/>
          </a:p>
        </p:txBody>
      </p:sp>
      <p:grpSp>
        <p:nvGrpSpPr>
          <p:cNvPr id="28" name="组合 6"/>
          <p:cNvGrpSpPr/>
          <p:nvPr userDrawn="1"/>
        </p:nvGrpSpPr>
        <p:grpSpPr>
          <a:xfrm>
            <a:off x="-1" y="6548011"/>
            <a:ext cx="12192001" cy="304799"/>
            <a:chOff x="0" y="6564501"/>
            <a:chExt cx="9144000" cy="288000"/>
          </a:xfrm>
        </p:grpSpPr>
        <p:sp>
          <p:nvSpPr>
            <p:cNvPr id="1048585" name="矩形 7"/>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586" name="矩形 8"/>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587" name="灯片编号占位符 5"/>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50168" name="Title 1"/>
          <p:cNvSpPr>
            <a:spLocks noGrp="1"/>
          </p:cNvSpPr>
          <p:nvPr>
            <p:ph type="title"/>
          </p:nvPr>
        </p:nvSpPr>
        <p:spPr/>
        <p:txBody>
          <a:bodyPr/>
          <a:lstStyle/>
          <a:p>
            <a:r>
              <a:rPr lang="zh-CN" altLang="en-US"/>
              <a:t>单击此处编辑母版标题样式</a:t>
            </a:r>
            <a:endParaRPr lang="en-US" dirty="0"/>
          </a:p>
        </p:txBody>
      </p:sp>
      <p:sp>
        <p:nvSpPr>
          <p:cNvPr id="1050169"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70" name="Footer Placeholder 4"/>
          <p:cNvSpPr>
            <a:spLocks noGrp="1"/>
          </p:cNvSpPr>
          <p:nvPr>
            <p:ph type="ftr" sz="quarter" idx="11"/>
          </p:nvPr>
        </p:nvSpPr>
        <p:spPr/>
        <p:txBody>
          <a:bodyPr/>
          <a:lstStyle/>
          <a:p>
            <a:endParaRPr lang="zh-HK" altLang="en-US" dirty="0"/>
          </a:p>
        </p:txBody>
      </p:sp>
      <p:pic>
        <p:nvPicPr>
          <p:cNvPr id="2097261" name="图片 6"/>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018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105018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50184" name="Date Placeholder 3"/>
          <p:cNvSpPr>
            <a:spLocks noGrp="1"/>
          </p:cNvSpPr>
          <p:nvPr>
            <p:ph type="dt" sz="half" idx="10"/>
          </p:nvPr>
        </p:nvSpPr>
        <p:spPr>
          <a:xfrm>
            <a:off x="838200" y="6356350"/>
            <a:ext cx="2743200" cy="365125"/>
          </a:xfrm>
          <a:prstGeom prst="rect">
            <a:avLst/>
          </a:prstGeom>
        </p:spPr>
        <p:txBody>
          <a:bodyPr/>
          <a:lstStyle/>
          <a:p>
            <a:fld id="{B3FA986A-FE73-4398-9AE5-9B401A3A8672}" type="datetime1">
              <a:rPr lang="zh-HK" altLang="en-US" smtClean="0"/>
              <a:t>12/10/2026</a:t>
            </a:fld>
            <a:endParaRPr lang="zh-HK" altLang="en-US"/>
          </a:p>
        </p:txBody>
      </p:sp>
      <p:sp>
        <p:nvSpPr>
          <p:cNvPr id="1050185" name="Footer Placeholder 4"/>
          <p:cNvSpPr>
            <a:spLocks noGrp="1"/>
          </p:cNvSpPr>
          <p:nvPr>
            <p:ph type="ftr" sz="quarter" idx="11"/>
          </p:nvPr>
        </p:nvSpPr>
        <p:spPr/>
        <p:txBody>
          <a:bodyPr/>
          <a:lstStyle/>
          <a:p>
            <a:endParaRPr lang="zh-HK" altLang="en-US"/>
          </a:p>
        </p:txBody>
      </p:sp>
      <p:sp>
        <p:nvSpPr>
          <p:cNvPr id="1050186"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0187" name="Title 1"/>
          <p:cNvSpPr>
            <a:spLocks noGrp="1"/>
          </p:cNvSpPr>
          <p:nvPr>
            <p:ph type="title"/>
          </p:nvPr>
        </p:nvSpPr>
        <p:spPr/>
        <p:txBody>
          <a:bodyPr/>
          <a:lstStyle/>
          <a:p>
            <a:r>
              <a:rPr lang="zh-CN" altLang="en-US"/>
              <a:t>单击此处编辑母版标题样式</a:t>
            </a:r>
            <a:endParaRPr lang="en-US" dirty="0"/>
          </a:p>
        </p:txBody>
      </p:sp>
      <p:sp>
        <p:nvSpPr>
          <p:cNvPr id="1050188"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89"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90" name="Date Placeholder 4"/>
          <p:cNvSpPr>
            <a:spLocks noGrp="1"/>
          </p:cNvSpPr>
          <p:nvPr>
            <p:ph type="dt" sz="half" idx="10"/>
          </p:nvPr>
        </p:nvSpPr>
        <p:spPr>
          <a:xfrm>
            <a:off x="838200" y="6356350"/>
            <a:ext cx="2743200" cy="365125"/>
          </a:xfrm>
          <a:prstGeom prst="rect">
            <a:avLst/>
          </a:prstGeom>
        </p:spPr>
        <p:txBody>
          <a:bodyPr/>
          <a:lstStyle/>
          <a:p>
            <a:fld id="{02CEBE9A-D6CF-409F-8B35-536E38E32E00}" type="datetime1">
              <a:rPr lang="zh-HK" altLang="en-US" smtClean="0"/>
              <a:t>12/10/2026</a:t>
            </a:fld>
            <a:endParaRPr lang="zh-HK" altLang="en-US"/>
          </a:p>
        </p:txBody>
      </p:sp>
      <p:sp>
        <p:nvSpPr>
          <p:cNvPr id="1050191" name="Footer Placeholder 5"/>
          <p:cNvSpPr>
            <a:spLocks noGrp="1"/>
          </p:cNvSpPr>
          <p:nvPr>
            <p:ph type="ftr" sz="quarter" idx="11"/>
          </p:nvPr>
        </p:nvSpPr>
        <p:spPr/>
        <p:txBody>
          <a:bodyPr/>
          <a:lstStyle/>
          <a:p>
            <a:endParaRPr lang="zh-HK" altLang="en-US"/>
          </a:p>
        </p:txBody>
      </p:sp>
      <p:sp>
        <p:nvSpPr>
          <p:cNvPr id="1050192"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0193"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1050194"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95"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96"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97"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98" name="Date Placeholder 6"/>
          <p:cNvSpPr>
            <a:spLocks noGrp="1"/>
          </p:cNvSpPr>
          <p:nvPr>
            <p:ph type="dt" sz="half" idx="10"/>
          </p:nvPr>
        </p:nvSpPr>
        <p:spPr>
          <a:xfrm>
            <a:off x="838200" y="6356350"/>
            <a:ext cx="2743200" cy="365125"/>
          </a:xfrm>
          <a:prstGeom prst="rect">
            <a:avLst/>
          </a:prstGeom>
        </p:spPr>
        <p:txBody>
          <a:bodyPr/>
          <a:lstStyle/>
          <a:p>
            <a:fld id="{2860B113-B6BB-456A-948C-909854A2CE25}" type="datetime1">
              <a:rPr lang="zh-HK" altLang="en-US" smtClean="0"/>
              <a:t>12/10/2026</a:t>
            </a:fld>
            <a:endParaRPr lang="zh-HK" altLang="en-US"/>
          </a:p>
        </p:txBody>
      </p:sp>
      <p:sp>
        <p:nvSpPr>
          <p:cNvPr id="1050199" name="Footer Placeholder 7"/>
          <p:cNvSpPr>
            <a:spLocks noGrp="1"/>
          </p:cNvSpPr>
          <p:nvPr>
            <p:ph type="ftr" sz="quarter" idx="11"/>
          </p:nvPr>
        </p:nvSpPr>
        <p:spPr/>
        <p:txBody>
          <a:bodyPr/>
          <a:lstStyle/>
          <a:p>
            <a:endParaRPr lang="zh-HK" altLang="en-US"/>
          </a:p>
        </p:txBody>
      </p:sp>
      <p:sp>
        <p:nvSpPr>
          <p:cNvPr id="1050200" name="Slide Number Placeholder 8"/>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0159" name="Title 1"/>
          <p:cNvSpPr>
            <a:spLocks noGrp="1"/>
          </p:cNvSpPr>
          <p:nvPr>
            <p:ph type="title"/>
          </p:nvPr>
        </p:nvSpPr>
        <p:spPr/>
        <p:txBody>
          <a:bodyPr/>
          <a:lstStyle/>
          <a:p>
            <a:r>
              <a:rPr lang="zh-CN" altLang="en-US"/>
              <a:t>单击此处编辑母版标题样式</a:t>
            </a:r>
            <a:endParaRPr lang="en-US" dirty="0"/>
          </a:p>
        </p:txBody>
      </p:sp>
      <p:sp>
        <p:nvSpPr>
          <p:cNvPr id="1050160" name="Date Placeholder 2"/>
          <p:cNvSpPr>
            <a:spLocks noGrp="1"/>
          </p:cNvSpPr>
          <p:nvPr>
            <p:ph type="dt" sz="half" idx="10"/>
          </p:nvPr>
        </p:nvSpPr>
        <p:spPr>
          <a:xfrm>
            <a:off x="838200" y="6356350"/>
            <a:ext cx="2743200" cy="365125"/>
          </a:xfrm>
          <a:prstGeom prst="rect">
            <a:avLst/>
          </a:prstGeom>
        </p:spPr>
        <p:txBody>
          <a:bodyPr/>
          <a:lstStyle/>
          <a:p>
            <a:fld id="{AAF73846-97E0-4FFF-B076-3986A5617372}" type="datetime1">
              <a:rPr lang="zh-HK" altLang="en-US" smtClean="0"/>
              <a:t>12/10/2026</a:t>
            </a:fld>
            <a:endParaRPr lang="zh-HK" altLang="en-US"/>
          </a:p>
        </p:txBody>
      </p:sp>
      <p:sp>
        <p:nvSpPr>
          <p:cNvPr id="1050161" name="Footer Placeholder 3"/>
          <p:cNvSpPr>
            <a:spLocks noGrp="1"/>
          </p:cNvSpPr>
          <p:nvPr>
            <p:ph type="ftr" sz="quarter" idx="11"/>
          </p:nvPr>
        </p:nvSpPr>
        <p:spPr/>
        <p:txBody>
          <a:bodyPr/>
          <a:lstStyle/>
          <a:p>
            <a:endParaRPr lang="zh-HK" altLang="en-US"/>
          </a:p>
        </p:txBody>
      </p:sp>
      <p:sp>
        <p:nvSpPr>
          <p:cNvPr id="1050162" name="Slide Number Placeholder 4"/>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50201" name="Date Placeholder 1"/>
          <p:cNvSpPr>
            <a:spLocks noGrp="1"/>
          </p:cNvSpPr>
          <p:nvPr>
            <p:ph type="dt" sz="half" idx="10"/>
          </p:nvPr>
        </p:nvSpPr>
        <p:spPr>
          <a:xfrm>
            <a:off x="838200" y="6356350"/>
            <a:ext cx="2743200" cy="365125"/>
          </a:xfrm>
          <a:prstGeom prst="rect">
            <a:avLst/>
          </a:prstGeom>
        </p:spPr>
        <p:txBody>
          <a:bodyPr/>
          <a:lstStyle/>
          <a:p>
            <a:fld id="{F883798C-AF67-42D6-828B-2970DD555736}" type="datetime1">
              <a:rPr lang="zh-HK" altLang="en-US" smtClean="0"/>
              <a:t>12/10/2026</a:t>
            </a:fld>
            <a:endParaRPr lang="zh-HK" altLang="en-US"/>
          </a:p>
        </p:txBody>
      </p:sp>
      <p:sp>
        <p:nvSpPr>
          <p:cNvPr id="1050202" name="Footer Placeholder 2"/>
          <p:cNvSpPr>
            <a:spLocks noGrp="1"/>
          </p:cNvSpPr>
          <p:nvPr>
            <p:ph type="ftr" sz="quarter" idx="11"/>
          </p:nvPr>
        </p:nvSpPr>
        <p:spPr/>
        <p:txBody>
          <a:bodyPr/>
          <a:lstStyle/>
          <a:p>
            <a:endParaRPr lang="zh-HK" altLang="en-US"/>
          </a:p>
        </p:txBody>
      </p:sp>
      <p:sp>
        <p:nvSpPr>
          <p:cNvPr id="1050203" name="Slide Number Placeholder 3"/>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0204"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205"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206"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207" name="Date Placeholder 4"/>
          <p:cNvSpPr>
            <a:spLocks noGrp="1"/>
          </p:cNvSpPr>
          <p:nvPr>
            <p:ph type="dt" sz="half" idx="10"/>
          </p:nvPr>
        </p:nvSpPr>
        <p:spPr>
          <a:xfrm>
            <a:off x="838200" y="6356350"/>
            <a:ext cx="2743200" cy="365125"/>
          </a:xfrm>
          <a:prstGeom prst="rect">
            <a:avLst/>
          </a:prstGeom>
        </p:spPr>
        <p:txBody>
          <a:bodyPr/>
          <a:lstStyle/>
          <a:p>
            <a:fld id="{721BB204-8DBB-4C44-9B30-9DD9D703E0DA}" type="datetime1">
              <a:rPr lang="zh-HK" altLang="en-US" smtClean="0"/>
              <a:t>12/10/2026</a:t>
            </a:fld>
            <a:endParaRPr lang="zh-HK" altLang="en-US"/>
          </a:p>
        </p:txBody>
      </p:sp>
      <p:sp>
        <p:nvSpPr>
          <p:cNvPr id="1050208" name="Footer Placeholder 5"/>
          <p:cNvSpPr>
            <a:spLocks noGrp="1"/>
          </p:cNvSpPr>
          <p:nvPr>
            <p:ph type="ftr" sz="quarter" idx="11"/>
          </p:nvPr>
        </p:nvSpPr>
        <p:spPr/>
        <p:txBody>
          <a:bodyPr/>
          <a:lstStyle/>
          <a:p>
            <a:endParaRPr lang="zh-HK" altLang="en-US"/>
          </a:p>
        </p:txBody>
      </p:sp>
      <p:sp>
        <p:nvSpPr>
          <p:cNvPr id="1050209"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0171"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172"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50173"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174" name="Date Placeholder 4"/>
          <p:cNvSpPr>
            <a:spLocks noGrp="1"/>
          </p:cNvSpPr>
          <p:nvPr>
            <p:ph type="dt" sz="half" idx="10"/>
          </p:nvPr>
        </p:nvSpPr>
        <p:spPr>
          <a:xfrm>
            <a:off x="838200" y="6356350"/>
            <a:ext cx="2743200" cy="365125"/>
          </a:xfrm>
          <a:prstGeom prst="rect">
            <a:avLst/>
          </a:prstGeom>
        </p:spPr>
        <p:txBody>
          <a:bodyPr/>
          <a:lstStyle/>
          <a:p>
            <a:fld id="{0DC8259E-C15E-44C8-BC29-FA4578202D53}" type="datetime1">
              <a:rPr lang="zh-HK" altLang="en-US" smtClean="0"/>
              <a:t>12/10/2026</a:t>
            </a:fld>
            <a:endParaRPr lang="zh-HK" altLang="en-US"/>
          </a:p>
        </p:txBody>
      </p:sp>
      <p:sp>
        <p:nvSpPr>
          <p:cNvPr id="1050175" name="Footer Placeholder 5"/>
          <p:cNvSpPr>
            <a:spLocks noGrp="1"/>
          </p:cNvSpPr>
          <p:nvPr>
            <p:ph type="ftr" sz="quarter" idx="11"/>
          </p:nvPr>
        </p:nvSpPr>
        <p:spPr/>
        <p:txBody>
          <a:bodyPr/>
          <a:lstStyle/>
          <a:p>
            <a:endParaRPr lang="zh-HK" altLang="en-US"/>
          </a:p>
        </p:txBody>
      </p:sp>
      <p:sp>
        <p:nvSpPr>
          <p:cNvPr id="1050176" name="Slide Number Placeholder 6"/>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0177" name="Title 1"/>
          <p:cNvSpPr>
            <a:spLocks noGrp="1"/>
          </p:cNvSpPr>
          <p:nvPr>
            <p:ph type="title"/>
          </p:nvPr>
        </p:nvSpPr>
        <p:spPr/>
        <p:txBody>
          <a:bodyPr/>
          <a:lstStyle/>
          <a:p>
            <a:r>
              <a:rPr lang="zh-CN" altLang="en-US"/>
              <a:t>单击此处编辑母版标题样式</a:t>
            </a:r>
            <a:endParaRPr lang="en-US" dirty="0"/>
          </a:p>
        </p:txBody>
      </p:sp>
      <p:sp>
        <p:nvSpPr>
          <p:cNvPr id="1050178"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79" name="Date Placeholder 3"/>
          <p:cNvSpPr>
            <a:spLocks noGrp="1"/>
          </p:cNvSpPr>
          <p:nvPr>
            <p:ph type="dt" sz="half" idx="10"/>
          </p:nvPr>
        </p:nvSpPr>
        <p:spPr>
          <a:xfrm>
            <a:off x="838200" y="6356350"/>
            <a:ext cx="2743200" cy="365125"/>
          </a:xfrm>
          <a:prstGeom prst="rect">
            <a:avLst/>
          </a:prstGeom>
        </p:spPr>
        <p:txBody>
          <a:bodyPr/>
          <a:lstStyle/>
          <a:p>
            <a:fld id="{29C0749D-2F59-4EC7-BBFF-A9307FBB7504}" type="datetime1">
              <a:rPr lang="zh-HK" altLang="en-US" smtClean="0"/>
              <a:t>12/10/2026</a:t>
            </a:fld>
            <a:endParaRPr lang="zh-HK" altLang="en-US"/>
          </a:p>
        </p:txBody>
      </p:sp>
      <p:sp>
        <p:nvSpPr>
          <p:cNvPr id="1050180" name="Footer Placeholder 4"/>
          <p:cNvSpPr>
            <a:spLocks noGrp="1"/>
          </p:cNvSpPr>
          <p:nvPr>
            <p:ph type="ftr" sz="quarter" idx="11"/>
          </p:nvPr>
        </p:nvSpPr>
        <p:spPr/>
        <p:txBody>
          <a:bodyPr/>
          <a:lstStyle/>
          <a:p>
            <a:endParaRPr lang="zh-HK" altLang="en-US"/>
          </a:p>
        </p:txBody>
      </p:sp>
      <p:sp>
        <p:nvSpPr>
          <p:cNvPr id="1050181"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50163"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1050164"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65" name="Date Placeholder 3"/>
          <p:cNvSpPr>
            <a:spLocks noGrp="1"/>
          </p:cNvSpPr>
          <p:nvPr>
            <p:ph type="dt" sz="half" idx="10"/>
          </p:nvPr>
        </p:nvSpPr>
        <p:spPr>
          <a:xfrm>
            <a:off x="838200" y="6356350"/>
            <a:ext cx="2743200" cy="365125"/>
          </a:xfrm>
          <a:prstGeom prst="rect">
            <a:avLst/>
          </a:prstGeom>
        </p:spPr>
        <p:txBody>
          <a:bodyPr/>
          <a:lstStyle/>
          <a:p>
            <a:fld id="{ED9A26AC-1923-4427-B4CD-19CD4F07AC4B}" type="datetime1">
              <a:rPr lang="zh-HK" altLang="en-US" smtClean="0"/>
              <a:t>12/10/2026</a:t>
            </a:fld>
            <a:endParaRPr lang="zh-HK" altLang="en-US"/>
          </a:p>
        </p:txBody>
      </p:sp>
      <p:sp>
        <p:nvSpPr>
          <p:cNvPr id="1050166" name="Footer Placeholder 4"/>
          <p:cNvSpPr>
            <a:spLocks noGrp="1"/>
          </p:cNvSpPr>
          <p:nvPr>
            <p:ph type="ftr" sz="quarter" idx="11"/>
          </p:nvPr>
        </p:nvSpPr>
        <p:spPr/>
        <p:txBody>
          <a:bodyPr/>
          <a:lstStyle/>
          <a:p>
            <a:endParaRPr lang="zh-HK" altLang="en-US"/>
          </a:p>
        </p:txBody>
      </p:sp>
      <p:sp>
        <p:nvSpPr>
          <p:cNvPr id="1050167" name="Slide Number Placeholder 5"/>
          <p:cNvSpPr>
            <a:spLocks noGrp="1"/>
          </p:cNvSpPr>
          <p:nvPr>
            <p:ph type="sldNum" sz="quarter" idx="12"/>
          </p:nvPr>
        </p:nvSpPr>
        <p:spPr>
          <a:xfrm>
            <a:off x="8610600" y="6356350"/>
            <a:ext cx="2743200" cy="365125"/>
          </a:xfrm>
          <a:prstGeom prst="rect">
            <a:avLst/>
          </a:prstGeom>
        </p:spPr>
        <p:txBody>
          <a:bodyPr/>
          <a:lstStyle/>
          <a:p>
            <a:fld id="{9E45C72C-05F9-42DA-A32C-E89F323A6F21}" type="slidenum">
              <a:rPr lang="zh-HK" altLang="en-US" smtClean="0"/>
              <a:t>‹#›</a:t>
            </a:fld>
            <a:endParaRPr lang="zh-HK"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50109"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10501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050111" name="Date Placeholder 3"/>
          <p:cNvSpPr>
            <a:spLocks noGrp="1"/>
          </p:cNvSpPr>
          <p:nvPr>
            <p:ph type="dt" sz="half" idx="10"/>
          </p:nvPr>
        </p:nvSpPr>
        <p:spPr/>
        <p:txBody>
          <a:bodyPr/>
          <a:lstStyle/>
          <a:p>
            <a:fld id="{460539F5-6FE0-462E-8801-6C439ED55DD0}"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12"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13"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613" name="Title 1"/>
          <p:cNvSpPr>
            <a:spLocks noGrp="1"/>
          </p:cNvSpPr>
          <p:nvPr>
            <p:ph type="title"/>
          </p:nvPr>
        </p:nvSpPr>
        <p:spPr/>
        <p:txBody>
          <a:bodyPr/>
          <a:lstStyle/>
          <a:p>
            <a:r>
              <a:rPr lang="zh-CN" altLang="en-US"/>
              <a:t>单击此处编辑母版标题样式</a:t>
            </a:r>
            <a:endParaRPr lang="en-US" dirty="0"/>
          </a:p>
        </p:txBody>
      </p:sp>
      <p:sp>
        <p:nvSpPr>
          <p:cNvPr id="1048614"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48615" name="Date Placeholder 3"/>
          <p:cNvSpPr>
            <a:spLocks noGrp="1"/>
          </p:cNvSpPr>
          <p:nvPr>
            <p:ph type="dt" sz="half" idx="10"/>
          </p:nvPr>
        </p:nvSpPr>
        <p:spPr/>
        <p:txBody>
          <a:bodyPr/>
          <a:lstStyle/>
          <a:p>
            <a:fld id="{8C47E231-8E48-434B-9644-8EFCA1F3D642}"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48616"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48617"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0136"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105013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1050138" name="Date Placeholder 3"/>
          <p:cNvSpPr>
            <a:spLocks noGrp="1"/>
          </p:cNvSpPr>
          <p:nvPr>
            <p:ph type="dt" sz="half" idx="10"/>
          </p:nvPr>
        </p:nvSpPr>
        <p:spPr/>
        <p:txBody>
          <a:bodyPr/>
          <a:lstStyle/>
          <a:p>
            <a:fld id="{CFC38EA1-C396-483E-8A5E-9E425BDFD51A}"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39"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40"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0130" name="Title 1"/>
          <p:cNvSpPr>
            <a:spLocks noGrp="1"/>
          </p:cNvSpPr>
          <p:nvPr>
            <p:ph type="title"/>
          </p:nvPr>
        </p:nvSpPr>
        <p:spPr/>
        <p:txBody>
          <a:bodyPr/>
          <a:lstStyle/>
          <a:p>
            <a:r>
              <a:rPr lang="zh-CN" altLang="en-US"/>
              <a:t>单击此处编辑母版标题样式</a:t>
            </a:r>
            <a:endParaRPr lang="en-US" dirty="0"/>
          </a:p>
        </p:txBody>
      </p:sp>
      <p:sp>
        <p:nvSpPr>
          <p:cNvPr id="1050131"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32"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33" name="Date Placeholder 4"/>
          <p:cNvSpPr>
            <a:spLocks noGrp="1"/>
          </p:cNvSpPr>
          <p:nvPr>
            <p:ph type="dt" sz="half" idx="10"/>
          </p:nvPr>
        </p:nvSpPr>
        <p:spPr/>
        <p:txBody>
          <a:bodyPr/>
          <a:lstStyle/>
          <a:p>
            <a:fld id="{800D9915-9474-4789-A728-2794EAF01914}"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34"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1050135"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0151"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1050152"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53"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54"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50155"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56" name="Date Placeholder 6"/>
          <p:cNvSpPr>
            <a:spLocks noGrp="1"/>
          </p:cNvSpPr>
          <p:nvPr>
            <p:ph type="dt" sz="half" idx="10"/>
          </p:nvPr>
        </p:nvSpPr>
        <p:spPr/>
        <p:txBody>
          <a:bodyPr/>
          <a:lstStyle/>
          <a:p>
            <a:fld id="{73671A44-F950-4B7A-AC4F-B97F35CA1D88}"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57"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1050158" name="Slide Number Placeholder 8"/>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0147" name="Title 1"/>
          <p:cNvSpPr>
            <a:spLocks noGrp="1"/>
          </p:cNvSpPr>
          <p:nvPr>
            <p:ph type="title"/>
          </p:nvPr>
        </p:nvSpPr>
        <p:spPr/>
        <p:txBody>
          <a:bodyPr/>
          <a:lstStyle/>
          <a:p>
            <a:r>
              <a:rPr lang="zh-CN" altLang="en-US"/>
              <a:t>单击此处编辑母版标题样式</a:t>
            </a:r>
            <a:endParaRPr lang="en-US" dirty="0"/>
          </a:p>
        </p:txBody>
      </p:sp>
      <p:sp>
        <p:nvSpPr>
          <p:cNvPr id="1050148" name="Date Placeholder 2"/>
          <p:cNvSpPr>
            <a:spLocks noGrp="1"/>
          </p:cNvSpPr>
          <p:nvPr>
            <p:ph type="dt" sz="half" idx="10"/>
          </p:nvPr>
        </p:nvSpPr>
        <p:spPr/>
        <p:txBody>
          <a:bodyPr/>
          <a:lstStyle/>
          <a:p>
            <a:fld id="{B9F8A491-66AD-4349-90C4-46A92855ED2C}"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49"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1050150" name="Slide Number Placeholder 4"/>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48" name="Date Placeholder 1"/>
          <p:cNvSpPr>
            <a:spLocks noGrp="1"/>
          </p:cNvSpPr>
          <p:nvPr>
            <p:ph type="dt" sz="half" idx="10"/>
          </p:nvPr>
        </p:nvSpPr>
        <p:spPr/>
        <p:txBody>
          <a:bodyPr/>
          <a:lstStyle/>
          <a:p>
            <a:fld id="{B8201FAA-338E-485B-B115-2C62AD2A5A1C}"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48649"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1048650" name="Slide Number Placeholder 3"/>
          <p:cNvSpPr>
            <a:spLocks noGrp="1"/>
          </p:cNvSpPr>
          <p:nvPr>
            <p:ph type="sldNum" sz="quarter" idx="12"/>
          </p:nvPr>
        </p:nvSpPr>
        <p:spPr>
          <a:xfrm>
            <a:off x="11784000" y="6478905"/>
            <a:ext cx="408000" cy="365125"/>
          </a:xfrm>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fld id="{8592E714-8771-4256-B120-A1444CD7D5F3}" type="slidenum">
              <a:rPr lang="zh-HK" altLang="en-US" smtClean="0"/>
              <a:t>‹#›</a:t>
            </a:fld>
            <a:endParaRPr lang="zh-HK"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0141"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142"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43"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144" name="Date Placeholder 4"/>
          <p:cNvSpPr>
            <a:spLocks noGrp="1"/>
          </p:cNvSpPr>
          <p:nvPr>
            <p:ph type="dt" sz="half" idx="10"/>
          </p:nvPr>
        </p:nvSpPr>
        <p:spPr/>
        <p:txBody>
          <a:bodyPr/>
          <a:lstStyle/>
          <a:p>
            <a:fld id="{C7A5B1DE-47B3-429F-89C9-1DFC8A28EB62}"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45"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1050146"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0114"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1050115"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50116"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1050117" name="Date Placeholder 4"/>
          <p:cNvSpPr>
            <a:spLocks noGrp="1"/>
          </p:cNvSpPr>
          <p:nvPr>
            <p:ph type="dt" sz="half" idx="10"/>
          </p:nvPr>
        </p:nvSpPr>
        <p:spPr/>
        <p:txBody>
          <a:bodyPr/>
          <a:lstStyle/>
          <a:p>
            <a:fld id="{DFC4DCC9-7DC2-4FFC-8CFA-8A291754AFD9}"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18"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1050119" name="Slide Number Placeholder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0120" name="Title 1"/>
          <p:cNvSpPr>
            <a:spLocks noGrp="1"/>
          </p:cNvSpPr>
          <p:nvPr>
            <p:ph type="title"/>
          </p:nvPr>
        </p:nvSpPr>
        <p:spPr/>
        <p:txBody>
          <a:bodyPr/>
          <a:lstStyle/>
          <a:p>
            <a:r>
              <a:rPr lang="zh-CN" altLang="en-US"/>
              <a:t>单击此处编辑母版标题样式</a:t>
            </a:r>
            <a:endParaRPr lang="en-US" dirty="0"/>
          </a:p>
        </p:txBody>
      </p:sp>
      <p:sp>
        <p:nvSpPr>
          <p:cNvPr id="1050121"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22" name="Date Placeholder 3"/>
          <p:cNvSpPr>
            <a:spLocks noGrp="1"/>
          </p:cNvSpPr>
          <p:nvPr>
            <p:ph type="dt" sz="half" idx="10"/>
          </p:nvPr>
        </p:nvSpPr>
        <p:spPr/>
        <p:txBody>
          <a:bodyPr/>
          <a:lstStyle/>
          <a:p>
            <a:fld id="{7C26E2CC-B67F-44F4-8E63-3D2110F32D98}"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23"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24"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50125"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1050126"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50127" name="Date Placeholder 3"/>
          <p:cNvSpPr>
            <a:spLocks noGrp="1"/>
          </p:cNvSpPr>
          <p:nvPr>
            <p:ph type="dt" sz="half" idx="10"/>
          </p:nvPr>
        </p:nvSpPr>
        <p:spPr/>
        <p:txBody>
          <a:bodyPr/>
          <a:lstStyle/>
          <a:p>
            <a:fld id="{E7FBA692-3A9E-4ECC-B70F-39A38E6FDC85}"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50128"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1050129" name="Slide Number Placeholder 5"/>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a:t>
            </a:fld>
            <a:endParaRPr lang="zh-HK"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048578"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grpSp>
        <p:nvGrpSpPr>
          <p:cNvPr id="15" name="组合 12"/>
          <p:cNvGrpSpPr/>
          <p:nvPr userDrawn="1"/>
        </p:nvGrpSpPr>
        <p:grpSpPr>
          <a:xfrm>
            <a:off x="-1" y="6548011"/>
            <a:ext cx="12192001" cy="304799"/>
            <a:chOff x="0" y="6564501"/>
            <a:chExt cx="9144000" cy="288000"/>
          </a:xfrm>
        </p:grpSpPr>
        <p:sp>
          <p:nvSpPr>
            <p:cNvPr id="1048579" name="矩形 13"/>
            <p:cNvSpPr/>
            <p:nvPr/>
          </p:nvSpPr>
          <p:spPr>
            <a:xfrm>
              <a:off x="8854294" y="6564501"/>
              <a:ext cx="289706" cy="288000"/>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580" name="矩形 14"/>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581" name="灯片编号占位符 5"/>
          <p:cNvSpPr txBox="1"/>
          <p:nvPr userDrawn="1"/>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a:t>
            </a:fld>
            <a:endParaRPr lang="zh-HK" altLang="en-US" sz="16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08"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1048609"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048610"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40BDA6-FB1E-4C60-AF08-640F56201863}" type="datetime1">
              <a:rPr lang="zh-HK" altLang="en-US" smtClean="0">
                <a:solidFill>
                  <a:prstClr val="black">
                    <a:tint val="75000"/>
                  </a:prstClr>
                </a:solidFill>
              </a:rPr>
              <a:t>12/10/2026</a:t>
            </a:fld>
            <a:endParaRPr lang="zh-HK" altLang="en-US">
              <a:solidFill>
                <a:prstClr val="black">
                  <a:tint val="75000"/>
                </a:prstClr>
              </a:solidFill>
            </a:endParaRPr>
          </a:p>
        </p:txBody>
      </p:sp>
      <p:sp>
        <p:nvSpPr>
          <p:cNvPr id="10486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solidFill>
                <a:prstClr val="black">
                  <a:tint val="75000"/>
                </a:prstClr>
              </a:solidFill>
            </a:endParaRPr>
          </a:p>
        </p:txBody>
      </p:sp>
      <p:sp>
        <p:nvSpPr>
          <p:cNvPr id="1048612" name="Slide Number Placeholder 5"/>
          <p:cNvSpPr>
            <a:spLocks noGrp="1"/>
          </p:cNvSpPr>
          <p:nvPr>
            <p:ph type="sldNum" sz="quarter" idx="4"/>
          </p:nvPr>
        </p:nvSpPr>
        <p:spPr>
          <a:xfrm>
            <a:off x="11712000" y="6421664"/>
            <a:ext cx="367200" cy="365125"/>
          </a:xfrm>
          <a:prstGeom prst="rect">
            <a:avLst/>
          </a:prstGeom>
        </p:spPr>
        <p:txBody>
          <a:bodyPr vert="horz" lIns="91440" tIns="45720" rIns="91440" bIns="45720" rtlCol="0" anchor="ctr"/>
          <a:lstStyle>
            <a:lvl1pPr algn="r">
              <a:defRPr sz="1200">
                <a:solidFill>
                  <a:schemeClr val="bg1"/>
                </a:solidFill>
              </a:defRPr>
            </a:lvl1pPr>
          </a:lstStyle>
          <a:p>
            <a:fld id="{8592E714-8771-4256-B120-A1444CD7D5F3}" type="slidenum">
              <a:rPr lang="zh-HK" altLang="en-US" smtClean="0"/>
              <a:t>‹#›</a:t>
            </a:fld>
            <a:endParaRPr lang="zh-HK"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4.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29" Type="http://schemas.openxmlformats.org/officeDocument/2006/relationships/slideLayout" Target="../slideLayouts/slideLayout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tags" Target="../tags/tag26.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image" Target="../media/image1.png"/><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26" Type="http://schemas.openxmlformats.org/officeDocument/2006/relationships/tags" Target="../tags/tag56.xml"/><Relationship Id="rId3" Type="http://schemas.openxmlformats.org/officeDocument/2006/relationships/tags" Target="../tags/tag33.xml"/><Relationship Id="rId21" Type="http://schemas.openxmlformats.org/officeDocument/2006/relationships/tags" Target="../tags/tag51.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5" Type="http://schemas.openxmlformats.org/officeDocument/2006/relationships/tags" Target="../tags/tag55.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tags" Target="../tags/tag50.xml"/><Relationship Id="rId29" Type="http://schemas.openxmlformats.org/officeDocument/2006/relationships/slideLayout" Target="../slideLayouts/slideLayout18.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24" Type="http://schemas.openxmlformats.org/officeDocument/2006/relationships/tags" Target="../tags/tag54.xml"/><Relationship Id="rId5" Type="http://schemas.openxmlformats.org/officeDocument/2006/relationships/tags" Target="../tags/tag35.xml"/><Relationship Id="rId15" Type="http://schemas.openxmlformats.org/officeDocument/2006/relationships/tags" Target="../tags/tag45.xml"/><Relationship Id="rId23" Type="http://schemas.openxmlformats.org/officeDocument/2006/relationships/tags" Target="../tags/tag53.xml"/><Relationship Id="rId28" Type="http://schemas.openxmlformats.org/officeDocument/2006/relationships/tags" Target="../tags/tag58.xml"/><Relationship Id="rId10" Type="http://schemas.openxmlformats.org/officeDocument/2006/relationships/tags" Target="../tags/tag40.xml"/><Relationship Id="rId19" Type="http://schemas.openxmlformats.org/officeDocument/2006/relationships/tags" Target="../tags/tag49.xml"/><Relationship Id="rId31" Type="http://schemas.openxmlformats.org/officeDocument/2006/relationships/image" Target="../media/image1.png"/><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 Id="rId22" Type="http://schemas.openxmlformats.org/officeDocument/2006/relationships/tags" Target="../tags/tag52.xml"/><Relationship Id="rId27" Type="http://schemas.openxmlformats.org/officeDocument/2006/relationships/tags" Target="../tags/tag57.xml"/><Relationship Id="rId3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26" Type="http://schemas.openxmlformats.org/officeDocument/2006/relationships/tags" Target="../tags/tag84.xml"/><Relationship Id="rId3" Type="http://schemas.openxmlformats.org/officeDocument/2006/relationships/tags" Target="../tags/tag61.xml"/><Relationship Id="rId21" Type="http://schemas.openxmlformats.org/officeDocument/2006/relationships/tags" Target="../tags/tag79.xm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5" Type="http://schemas.openxmlformats.org/officeDocument/2006/relationships/tags" Target="../tags/tag83.xml"/><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29" Type="http://schemas.openxmlformats.org/officeDocument/2006/relationships/slideLayout" Target="../slideLayouts/slideLayout18.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tags" Target="../tags/tag82.xml"/><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tags" Target="../tags/tag81.xml"/><Relationship Id="rId28" Type="http://schemas.openxmlformats.org/officeDocument/2006/relationships/tags" Target="../tags/tag86.xml"/><Relationship Id="rId10" Type="http://schemas.openxmlformats.org/officeDocument/2006/relationships/tags" Target="../tags/tag68.xml"/><Relationship Id="rId19" Type="http://schemas.openxmlformats.org/officeDocument/2006/relationships/tags" Target="../tags/tag77.xml"/><Relationship Id="rId31" Type="http://schemas.openxmlformats.org/officeDocument/2006/relationships/image" Target="../media/image1.png"/><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 Id="rId27" Type="http://schemas.openxmlformats.org/officeDocument/2006/relationships/tags" Target="../tags/tag85.xml"/><Relationship Id="rId3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customXml" Target="../ink/ink5.xml"/><Relationship Id="rId3" Type="http://schemas.openxmlformats.org/officeDocument/2006/relationships/image" Target="../media/image19.png"/><Relationship Id="rId7" Type="http://schemas.openxmlformats.org/officeDocument/2006/relationships/customXml" Target="../ink/ink2.xml"/><Relationship Id="rId12" Type="http://schemas.openxmlformats.org/officeDocument/2006/relationships/image" Target="../media/image150.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120.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140.png"/><Relationship Id="rId4" Type="http://schemas.openxmlformats.org/officeDocument/2006/relationships/image" Target="../media/image20.png"/><Relationship Id="rId9" Type="http://schemas.openxmlformats.org/officeDocument/2006/relationships/customXml" Target="../ink/ink3.xml"/><Relationship Id="rId1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29.png"/><Relationship Id="rId7" Type="http://schemas.openxmlformats.org/officeDocument/2006/relationships/customXml" Target="../ink/ink7.xml"/><Relationship Id="rId12" Type="http://schemas.openxmlformats.org/officeDocument/2006/relationships/image" Target="../media/image210.png"/><Relationship Id="rId2" Type="http://schemas.openxmlformats.org/officeDocument/2006/relationships/notesSlide" Target="../notesSlides/notesSlide20.xml"/><Relationship Id="rId1" Type="http://schemas.openxmlformats.org/officeDocument/2006/relationships/slideLayout" Target="../slideLayouts/slideLayout18.xml"/><Relationship Id="rId6" Type="http://schemas.openxmlformats.org/officeDocument/2006/relationships/image" Target="../media/image180.png"/><Relationship Id="rId11" Type="http://schemas.openxmlformats.org/officeDocument/2006/relationships/customXml" Target="../ink/ink9.xml"/><Relationship Id="rId5" Type="http://schemas.openxmlformats.org/officeDocument/2006/relationships/customXml" Target="../ink/ink6.xml"/><Relationship Id="rId10" Type="http://schemas.openxmlformats.org/officeDocument/2006/relationships/image" Target="../media/image200.png"/><Relationship Id="rId4" Type="http://schemas.openxmlformats.org/officeDocument/2006/relationships/image" Target="../media/image30.png"/><Relationship Id="rId9" Type="http://schemas.openxmlformats.org/officeDocument/2006/relationships/customXml" Target="../ink/ink8.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26" Type="http://schemas.openxmlformats.org/officeDocument/2006/relationships/tags" Target="../tags/tag112.xml"/><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5" Type="http://schemas.openxmlformats.org/officeDocument/2006/relationships/tags" Target="../tags/tag111.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29" Type="http://schemas.openxmlformats.org/officeDocument/2006/relationships/slideLayout" Target="../slideLayouts/slideLayout1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24" Type="http://schemas.openxmlformats.org/officeDocument/2006/relationships/tags" Target="../tags/tag110.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tags" Target="../tags/tag109.xml"/><Relationship Id="rId28" Type="http://schemas.openxmlformats.org/officeDocument/2006/relationships/tags" Target="../tags/tag114.xml"/><Relationship Id="rId10" Type="http://schemas.openxmlformats.org/officeDocument/2006/relationships/tags" Target="../tags/tag96.xml"/><Relationship Id="rId19" Type="http://schemas.openxmlformats.org/officeDocument/2006/relationships/tags" Target="../tags/tag105.xml"/><Relationship Id="rId31" Type="http://schemas.openxmlformats.org/officeDocument/2006/relationships/image" Target="../media/image1.png"/><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tags" Target="../tags/tag108.xml"/><Relationship Id="rId27" Type="http://schemas.openxmlformats.org/officeDocument/2006/relationships/tags" Target="../tags/tag113.xml"/><Relationship Id="rId3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3.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36.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tags" Target="../tags/tag131.xml"/><Relationship Id="rId18" Type="http://schemas.openxmlformats.org/officeDocument/2006/relationships/tags" Target="../tags/tag136.xml"/><Relationship Id="rId26" Type="http://schemas.openxmlformats.org/officeDocument/2006/relationships/tags" Target="../tags/tag144.xml"/><Relationship Id="rId3" Type="http://schemas.openxmlformats.org/officeDocument/2006/relationships/tags" Target="../tags/tag121.xml"/><Relationship Id="rId21" Type="http://schemas.openxmlformats.org/officeDocument/2006/relationships/tags" Target="../tags/tag139.xml"/><Relationship Id="rId7" Type="http://schemas.openxmlformats.org/officeDocument/2006/relationships/tags" Target="../tags/tag125.xml"/><Relationship Id="rId12" Type="http://schemas.openxmlformats.org/officeDocument/2006/relationships/tags" Target="../tags/tag130.xml"/><Relationship Id="rId17" Type="http://schemas.openxmlformats.org/officeDocument/2006/relationships/tags" Target="../tags/tag135.xml"/><Relationship Id="rId25" Type="http://schemas.openxmlformats.org/officeDocument/2006/relationships/tags" Target="../tags/tag143.xml"/><Relationship Id="rId2" Type="http://schemas.openxmlformats.org/officeDocument/2006/relationships/tags" Target="../tags/tag120.xml"/><Relationship Id="rId16" Type="http://schemas.openxmlformats.org/officeDocument/2006/relationships/tags" Target="../tags/tag134.xml"/><Relationship Id="rId20" Type="http://schemas.openxmlformats.org/officeDocument/2006/relationships/tags" Target="../tags/tag138.xml"/><Relationship Id="rId29" Type="http://schemas.openxmlformats.org/officeDocument/2006/relationships/slideLayout" Target="../slideLayouts/slideLayout18.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24" Type="http://schemas.openxmlformats.org/officeDocument/2006/relationships/tags" Target="../tags/tag142.xml"/><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tags" Target="../tags/tag141.xml"/><Relationship Id="rId28" Type="http://schemas.openxmlformats.org/officeDocument/2006/relationships/tags" Target="../tags/tag146.xml"/><Relationship Id="rId10" Type="http://schemas.openxmlformats.org/officeDocument/2006/relationships/tags" Target="../tags/tag128.xml"/><Relationship Id="rId19" Type="http://schemas.openxmlformats.org/officeDocument/2006/relationships/tags" Target="../tags/tag137.xml"/><Relationship Id="rId31" Type="http://schemas.openxmlformats.org/officeDocument/2006/relationships/image" Target="../media/image1.png"/><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tags" Target="../tags/tag140.xml"/><Relationship Id="rId27" Type="http://schemas.openxmlformats.org/officeDocument/2006/relationships/tags" Target="../tags/tag145.xml"/><Relationship Id="rId3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hyperlink" Target="https://openreview.net/profile?id=~Xiu-Shen_Wei1" TargetMode="External"/></Relationships>
</file>

<file path=ppt/slides/_rels/slide28.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tags" Target="../tags/tag164.xml"/><Relationship Id="rId26" Type="http://schemas.openxmlformats.org/officeDocument/2006/relationships/tags" Target="../tags/tag172.xml"/><Relationship Id="rId3" Type="http://schemas.openxmlformats.org/officeDocument/2006/relationships/tags" Target="../tags/tag149.xml"/><Relationship Id="rId21" Type="http://schemas.openxmlformats.org/officeDocument/2006/relationships/tags" Target="../tags/tag167.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5" Type="http://schemas.openxmlformats.org/officeDocument/2006/relationships/tags" Target="../tags/tag171.xml"/><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tags" Target="../tags/tag166.xml"/><Relationship Id="rId29" Type="http://schemas.openxmlformats.org/officeDocument/2006/relationships/slideLayout" Target="../slideLayouts/slideLayout1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24" Type="http://schemas.openxmlformats.org/officeDocument/2006/relationships/tags" Target="../tags/tag170.xml"/><Relationship Id="rId5" Type="http://schemas.openxmlformats.org/officeDocument/2006/relationships/tags" Target="../tags/tag151.xml"/><Relationship Id="rId15" Type="http://schemas.openxmlformats.org/officeDocument/2006/relationships/tags" Target="../tags/tag161.xml"/><Relationship Id="rId23" Type="http://schemas.openxmlformats.org/officeDocument/2006/relationships/tags" Target="../tags/tag169.xml"/><Relationship Id="rId28" Type="http://schemas.openxmlformats.org/officeDocument/2006/relationships/tags" Target="../tags/tag174.xml"/><Relationship Id="rId10" Type="http://schemas.openxmlformats.org/officeDocument/2006/relationships/tags" Target="../tags/tag156.xml"/><Relationship Id="rId19" Type="http://schemas.openxmlformats.org/officeDocument/2006/relationships/tags" Target="../tags/tag165.xml"/><Relationship Id="rId31" Type="http://schemas.openxmlformats.org/officeDocument/2006/relationships/image" Target="../media/image1.png"/><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 Id="rId22" Type="http://schemas.openxmlformats.org/officeDocument/2006/relationships/tags" Target="../tags/tag168.xml"/><Relationship Id="rId27" Type="http://schemas.openxmlformats.org/officeDocument/2006/relationships/tags" Target="../tags/tag173.xml"/><Relationship Id="rId3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tags" Target="../tags/tag187.xml"/><Relationship Id="rId18" Type="http://schemas.openxmlformats.org/officeDocument/2006/relationships/tags" Target="../tags/tag192.xml"/><Relationship Id="rId26" Type="http://schemas.openxmlformats.org/officeDocument/2006/relationships/tags" Target="../tags/tag200.xml"/><Relationship Id="rId3" Type="http://schemas.openxmlformats.org/officeDocument/2006/relationships/tags" Target="../tags/tag177.xml"/><Relationship Id="rId21" Type="http://schemas.openxmlformats.org/officeDocument/2006/relationships/tags" Target="../tags/tag195.xml"/><Relationship Id="rId7" Type="http://schemas.openxmlformats.org/officeDocument/2006/relationships/tags" Target="../tags/tag181.xml"/><Relationship Id="rId12" Type="http://schemas.openxmlformats.org/officeDocument/2006/relationships/tags" Target="../tags/tag186.xml"/><Relationship Id="rId17" Type="http://schemas.openxmlformats.org/officeDocument/2006/relationships/tags" Target="../tags/tag191.xml"/><Relationship Id="rId25" Type="http://schemas.openxmlformats.org/officeDocument/2006/relationships/tags" Target="../tags/tag199.xml"/><Relationship Id="rId2" Type="http://schemas.openxmlformats.org/officeDocument/2006/relationships/tags" Target="../tags/tag176.xml"/><Relationship Id="rId16" Type="http://schemas.openxmlformats.org/officeDocument/2006/relationships/tags" Target="../tags/tag190.xml"/><Relationship Id="rId20" Type="http://schemas.openxmlformats.org/officeDocument/2006/relationships/tags" Target="../tags/tag194.xml"/><Relationship Id="rId29" Type="http://schemas.openxmlformats.org/officeDocument/2006/relationships/slideLayout" Target="../slideLayouts/slideLayout18.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24" Type="http://schemas.openxmlformats.org/officeDocument/2006/relationships/tags" Target="../tags/tag198.xml"/><Relationship Id="rId5" Type="http://schemas.openxmlformats.org/officeDocument/2006/relationships/tags" Target="../tags/tag179.xml"/><Relationship Id="rId15" Type="http://schemas.openxmlformats.org/officeDocument/2006/relationships/tags" Target="../tags/tag189.xml"/><Relationship Id="rId23" Type="http://schemas.openxmlformats.org/officeDocument/2006/relationships/tags" Target="../tags/tag197.xml"/><Relationship Id="rId28" Type="http://schemas.openxmlformats.org/officeDocument/2006/relationships/tags" Target="../tags/tag202.xml"/><Relationship Id="rId10" Type="http://schemas.openxmlformats.org/officeDocument/2006/relationships/tags" Target="../tags/tag184.xml"/><Relationship Id="rId19" Type="http://schemas.openxmlformats.org/officeDocument/2006/relationships/tags" Target="../tags/tag193.xml"/><Relationship Id="rId31" Type="http://schemas.openxmlformats.org/officeDocument/2006/relationships/image" Target="../media/image1.png"/><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tags" Target="../tags/tag188.xml"/><Relationship Id="rId22" Type="http://schemas.openxmlformats.org/officeDocument/2006/relationships/tags" Target="../tags/tag196.xml"/><Relationship Id="rId27" Type="http://schemas.openxmlformats.org/officeDocument/2006/relationships/tags" Target="../tags/tag201.xml"/><Relationship Id="rId3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tags" Target="../tags/tag215.xml"/><Relationship Id="rId18" Type="http://schemas.openxmlformats.org/officeDocument/2006/relationships/tags" Target="../tags/tag220.xml"/><Relationship Id="rId26" Type="http://schemas.openxmlformats.org/officeDocument/2006/relationships/tags" Target="../tags/tag228.xml"/><Relationship Id="rId3" Type="http://schemas.openxmlformats.org/officeDocument/2006/relationships/tags" Target="../tags/tag205.xml"/><Relationship Id="rId21" Type="http://schemas.openxmlformats.org/officeDocument/2006/relationships/tags" Target="../tags/tag223.xml"/><Relationship Id="rId7" Type="http://schemas.openxmlformats.org/officeDocument/2006/relationships/tags" Target="../tags/tag209.xml"/><Relationship Id="rId12" Type="http://schemas.openxmlformats.org/officeDocument/2006/relationships/tags" Target="../tags/tag214.xml"/><Relationship Id="rId17" Type="http://schemas.openxmlformats.org/officeDocument/2006/relationships/tags" Target="../tags/tag219.xml"/><Relationship Id="rId25" Type="http://schemas.openxmlformats.org/officeDocument/2006/relationships/tags" Target="../tags/tag227.xml"/><Relationship Id="rId2" Type="http://schemas.openxmlformats.org/officeDocument/2006/relationships/tags" Target="../tags/tag204.xml"/><Relationship Id="rId16" Type="http://schemas.openxmlformats.org/officeDocument/2006/relationships/tags" Target="../tags/tag218.xml"/><Relationship Id="rId20" Type="http://schemas.openxmlformats.org/officeDocument/2006/relationships/tags" Target="../tags/tag222.xml"/><Relationship Id="rId29" Type="http://schemas.openxmlformats.org/officeDocument/2006/relationships/slideLayout" Target="../slideLayouts/slideLayout18.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tags" Target="../tags/tag213.xml"/><Relationship Id="rId24" Type="http://schemas.openxmlformats.org/officeDocument/2006/relationships/tags" Target="../tags/tag226.xml"/><Relationship Id="rId5" Type="http://schemas.openxmlformats.org/officeDocument/2006/relationships/tags" Target="../tags/tag207.xml"/><Relationship Id="rId15" Type="http://schemas.openxmlformats.org/officeDocument/2006/relationships/tags" Target="../tags/tag217.xml"/><Relationship Id="rId23" Type="http://schemas.openxmlformats.org/officeDocument/2006/relationships/tags" Target="../tags/tag225.xml"/><Relationship Id="rId28" Type="http://schemas.openxmlformats.org/officeDocument/2006/relationships/tags" Target="../tags/tag230.xml"/><Relationship Id="rId10" Type="http://schemas.openxmlformats.org/officeDocument/2006/relationships/tags" Target="../tags/tag212.xml"/><Relationship Id="rId19" Type="http://schemas.openxmlformats.org/officeDocument/2006/relationships/tags" Target="../tags/tag221.xml"/><Relationship Id="rId31" Type="http://schemas.openxmlformats.org/officeDocument/2006/relationships/image" Target="../media/image1.png"/><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tags" Target="../tags/tag216.xml"/><Relationship Id="rId22" Type="http://schemas.openxmlformats.org/officeDocument/2006/relationships/tags" Target="../tags/tag224.xml"/><Relationship Id="rId27" Type="http://schemas.openxmlformats.org/officeDocument/2006/relationships/tags" Target="../tags/tag229.xml"/><Relationship Id="rId3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8.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8.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18.xml"/><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18.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tags" Target="../tags/tag243.xml"/><Relationship Id="rId18" Type="http://schemas.openxmlformats.org/officeDocument/2006/relationships/tags" Target="../tags/tag248.xml"/><Relationship Id="rId26" Type="http://schemas.openxmlformats.org/officeDocument/2006/relationships/tags" Target="../tags/tag256.xml"/><Relationship Id="rId3" Type="http://schemas.openxmlformats.org/officeDocument/2006/relationships/tags" Target="../tags/tag233.xml"/><Relationship Id="rId21" Type="http://schemas.openxmlformats.org/officeDocument/2006/relationships/tags" Target="../tags/tag251.xml"/><Relationship Id="rId7" Type="http://schemas.openxmlformats.org/officeDocument/2006/relationships/tags" Target="../tags/tag237.xml"/><Relationship Id="rId12" Type="http://schemas.openxmlformats.org/officeDocument/2006/relationships/tags" Target="../tags/tag242.xml"/><Relationship Id="rId17" Type="http://schemas.openxmlformats.org/officeDocument/2006/relationships/tags" Target="../tags/tag247.xml"/><Relationship Id="rId25" Type="http://schemas.openxmlformats.org/officeDocument/2006/relationships/tags" Target="../tags/tag255.xml"/><Relationship Id="rId2" Type="http://schemas.openxmlformats.org/officeDocument/2006/relationships/tags" Target="../tags/tag232.xml"/><Relationship Id="rId16" Type="http://schemas.openxmlformats.org/officeDocument/2006/relationships/tags" Target="../tags/tag246.xml"/><Relationship Id="rId20" Type="http://schemas.openxmlformats.org/officeDocument/2006/relationships/tags" Target="../tags/tag250.xml"/><Relationship Id="rId29" Type="http://schemas.openxmlformats.org/officeDocument/2006/relationships/slideLayout" Target="../slideLayouts/slideLayout18.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tags" Target="../tags/tag241.xml"/><Relationship Id="rId24" Type="http://schemas.openxmlformats.org/officeDocument/2006/relationships/tags" Target="../tags/tag254.xml"/><Relationship Id="rId5" Type="http://schemas.openxmlformats.org/officeDocument/2006/relationships/tags" Target="../tags/tag235.xml"/><Relationship Id="rId15" Type="http://schemas.openxmlformats.org/officeDocument/2006/relationships/tags" Target="../tags/tag245.xml"/><Relationship Id="rId23" Type="http://schemas.openxmlformats.org/officeDocument/2006/relationships/tags" Target="../tags/tag253.xml"/><Relationship Id="rId28" Type="http://schemas.openxmlformats.org/officeDocument/2006/relationships/tags" Target="../tags/tag258.xml"/><Relationship Id="rId10" Type="http://schemas.openxmlformats.org/officeDocument/2006/relationships/tags" Target="../tags/tag240.xml"/><Relationship Id="rId19" Type="http://schemas.openxmlformats.org/officeDocument/2006/relationships/tags" Target="../tags/tag249.xml"/><Relationship Id="rId31" Type="http://schemas.openxmlformats.org/officeDocument/2006/relationships/image" Target="../media/image1.png"/><Relationship Id="rId4" Type="http://schemas.openxmlformats.org/officeDocument/2006/relationships/tags" Target="../tags/tag234.xml"/><Relationship Id="rId9" Type="http://schemas.openxmlformats.org/officeDocument/2006/relationships/tags" Target="../tags/tag239.xml"/><Relationship Id="rId14" Type="http://schemas.openxmlformats.org/officeDocument/2006/relationships/tags" Target="../tags/tag244.xml"/><Relationship Id="rId22" Type="http://schemas.openxmlformats.org/officeDocument/2006/relationships/tags" Target="../tags/tag252.xml"/><Relationship Id="rId27" Type="http://schemas.openxmlformats.org/officeDocument/2006/relationships/tags" Target="../tags/tag257.xml"/><Relationship Id="rId3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slideLayout" Target="../slideLayouts/slideLayout18.xml"/><Relationship Id="rId7" Type="http://schemas.openxmlformats.org/officeDocument/2006/relationships/image" Target="../media/image460.png"/><Relationship Id="rId2" Type="http://schemas.openxmlformats.org/officeDocument/2006/relationships/tags" Target="../tags/tag260.xml"/><Relationship Id="rId1" Type="http://schemas.openxmlformats.org/officeDocument/2006/relationships/tags" Target="../tags/tag259.xml"/><Relationship Id="rId6" Type="http://schemas.openxmlformats.org/officeDocument/2006/relationships/customXml" Target="../ink/ink10.xml"/><Relationship Id="rId5" Type="http://schemas.openxmlformats.org/officeDocument/2006/relationships/image" Target="../media/image49.png"/><Relationship Id="rId4" Type="http://schemas.openxmlformats.org/officeDocument/2006/relationships/notesSlide" Target="../notesSlides/notesSlide41.xml"/><Relationship Id="rId9" Type="http://schemas.openxmlformats.org/officeDocument/2006/relationships/image" Target="../media/image47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tags" Target="../tags/tag275.xml"/><Relationship Id="rId18" Type="http://schemas.openxmlformats.org/officeDocument/2006/relationships/tags" Target="../tags/tag280.xml"/><Relationship Id="rId26" Type="http://schemas.openxmlformats.org/officeDocument/2006/relationships/tags" Target="../tags/tag288.xml"/><Relationship Id="rId3" Type="http://schemas.openxmlformats.org/officeDocument/2006/relationships/tags" Target="../tags/tag265.xml"/><Relationship Id="rId21" Type="http://schemas.openxmlformats.org/officeDocument/2006/relationships/tags" Target="../tags/tag283.xml"/><Relationship Id="rId7" Type="http://schemas.openxmlformats.org/officeDocument/2006/relationships/tags" Target="../tags/tag269.xml"/><Relationship Id="rId12" Type="http://schemas.openxmlformats.org/officeDocument/2006/relationships/tags" Target="../tags/tag274.xml"/><Relationship Id="rId17" Type="http://schemas.openxmlformats.org/officeDocument/2006/relationships/tags" Target="../tags/tag279.xml"/><Relationship Id="rId25" Type="http://schemas.openxmlformats.org/officeDocument/2006/relationships/tags" Target="../tags/tag287.xml"/><Relationship Id="rId2" Type="http://schemas.openxmlformats.org/officeDocument/2006/relationships/tags" Target="../tags/tag264.xml"/><Relationship Id="rId16" Type="http://schemas.openxmlformats.org/officeDocument/2006/relationships/tags" Target="../tags/tag278.xml"/><Relationship Id="rId20" Type="http://schemas.openxmlformats.org/officeDocument/2006/relationships/tags" Target="../tags/tag282.xml"/><Relationship Id="rId29" Type="http://schemas.openxmlformats.org/officeDocument/2006/relationships/slideLayout" Target="../slideLayouts/slideLayout18.xm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tags" Target="../tags/tag273.xml"/><Relationship Id="rId24" Type="http://schemas.openxmlformats.org/officeDocument/2006/relationships/tags" Target="../tags/tag286.xml"/><Relationship Id="rId5" Type="http://schemas.openxmlformats.org/officeDocument/2006/relationships/tags" Target="../tags/tag267.xml"/><Relationship Id="rId15" Type="http://schemas.openxmlformats.org/officeDocument/2006/relationships/tags" Target="../tags/tag277.xml"/><Relationship Id="rId23" Type="http://schemas.openxmlformats.org/officeDocument/2006/relationships/tags" Target="../tags/tag285.xml"/><Relationship Id="rId28" Type="http://schemas.openxmlformats.org/officeDocument/2006/relationships/tags" Target="../tags/tag290.xml"/><Relationship Id="rId10" Type="http://schemas.openxmlformats.org/officeDocument/2006/relationships/tags" Target="../tags/tag272.xml"/><Relationship Id="rId19" Type="http://schemas.openxmlformats.org/officeDocument/2006/relationships/tags" Target="../tags/tag281.xml"/><Relationship Id="rId31" Type="http://schemas.openxmlformats.org/officeDocument/2006/relationships/image" Target="../media/image1.png"/><Relationship Id="rId4" Type="http://schemas.openxmlformats.org/officeDocument/2006/relationships/tags" Target="../tags/tag266.xml"/><Relationship Id="rId9" Type="http://schemas.openxmlformats.org/officeDocument/2006/relationships/tags" Target="../tags/tag271.xml"/><Relationship Id="rId14" Type="http://schemas.openxmlformats.org/officeDocument/2006/relationships/tags" Target="../tags/tag276.xml"/><Relationship Id="rId22" Type="http://schemas.openxmlformats.org/officeDocument/2006/relationships/tags" Target="../tags/tag284.xml"/><Relationship Id="rId27" Type="http://schemas.openxmlformats.org/officeDocument/2006/relationships/tags" Target="../tags/tag289.xml"/><Relationship Id="rId30"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tags" Target="../tags/tag303.xml"/><Relationship Id="rId18" Type="http://schemas.openxmlformats.org/officeDocument/2006/relationships/tags" Target="../tags/tag308.xml"/><Relationship Id="rId26" Type="http://schemas.openxmlformats.org/officeDocument/2006/relationships/tags" Target="../tags/tag316.xml"/><Relationship Id="rId3" Type="http://schemas.openxmlformats.org/officeDocument/2006/relationships/tags" Target="../tags/tag293.xml"/><Relationship Id="rId21" Type="http://schemas.openxmlformats.org/officeDocument/2006/relationships/tags" Target="../tags/tag311.xml"/><Relationship Id="rId7" Type="http://schemas.openxmlformats.org/officeDocument/2006/relationships/tags" Target="../tags/tag297.xml"/><Relationship Id="rId12" Type="http://schemas.openxmlformats.org/officeDocument/2006/relationships/tags" Target="../tags/tag302.xml"/><Relationship Id="rId17" Type="http://schemas.openxmlformats.org/officeDocument/2006/relationships/tags" Target="../tags/tag307.xml"/><Relationship Id="rId25" Type="http://schemas.openxmlformats.org/officeDocument/2006/relationships/tags" Target="../tags/tag315.xml"/><Relationship Id="rId2" Type="http://schemas.openxmlformats.org/officeDocument/2006/relationships/tags" Target="../tags/tag292.xml"/><Relationship Id="rId16" Type="http://schemas.openxmlformats.org/officeDocument/2006/relationships/tags" Target="../tags/tag306.xml"/><Relationship Id="rId20" Type="http://schemas.openxmlformats.org/officeDocument/2006/relationships/tags" Target="../tags/tag310.xml"/><Relationship Id="rId29" Type="http://schemas.openxmlformats.org/officeDocument/2006/relationships/slideLayout" Target="../slideLayouts/slideLayout18.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tags" Target="../tags/tag301.xml"/><Relationship Id="rId24" Type="http://schemas.openxmlformats.org/officeDocument/2006/relationships/tags" Target="../tags/tag314.xml"/><Relationship Id="rId5" Type="http://schemas.openxmlformats.org/officeDocument/2006/relationships/tags" Target="../tags/tag295.xml"/><Relationship Id="rId15" Type="http://schemas.openxmlformats.org/officeDocument/2006/relationships/tags" Target="../tags/tag305.xml"/><Relationship Id="rId23" Type="http://schemas.openxmlformats.org/officeDocument/2006/relationships/tags" Target="../tags/tag313.xml"/><Relationship Id="rId28" Type="http://schemas.openxmlformats.org/officeDocument/2006/relationships/tags" Target="../tags/tag318.xml"/><Relationship Id="rId10" Type="http://schemas.openxmlformats.org/officeDocument/2006/relationships/tags" Target="../tags/tag300.xml"/><Relationship Id="rId19" Type="http://schemas.openxmlformats.org/officeDocument/2006/relationships/tags" Target="../tags/tag309.xml"/><Relationship Id="rId31" Type="http://schemas.openxmlformats.org/officeDocument/2006/relationships/image" Target="../media/image1.png"/><Relationship Id="rId4" Type="http://schemas.openxmlformats.org/officeDocument/2006/relationships/tags" Target="../tags/tag294.xml"/><Relationship Id="rId9" Type="http://schemas.openxmlformats.org/officeDocument/2006/relationships/tags" Target="../tags/tag299.xml"/><Relationship Id="rId14" Type="http://schemas.openxmlformats.org/officeDocument/2006/relationships/tags" Target="../tags/tag304.xml"/><Relationship Id="rId22" Type="http://schemas.openxmlformats.org/officeDocument/2006/relationships/tags" Target="../tags/tag312.xml"/><Relationship Id="rId27" Type="http://schemas.openxmlformats.org/officeDocument/2006/relationships/tags" Target="../tags/tag317.xml"/><Relationship Id="rId3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8" Type="http://schemas.openxmlformats.org/officeDocument/2006/relationships/tags" Target="../tags/tag326.xml"/><Relationship Id="rId13" Type="http://schemas.openxmlformats.org/officeDocument/2006/relationships/tags" Target="../tags/tag331.xml"/><Relationship Id="rId18" Type="http://schemas.openxmlformats.org/officeDocument/2006/relationships/tags" Target="../tags/tag336.xml"/><Relationship Id="rId26" Type="http://schemas.openxmlformats.org/officeDocument/2006/relationships/tags" Target="../tags/tag344.xml"/><Relationship Id="rId3" Type="http://schemas.openxmlformats.org/officeDocument/2006/relationships/tags" Target="../tags/tag321.xml"/><Relationship Id="rId21" Type="http://schemas.openxmlformats.org/officeDocument/2006/relationships/tags" Target="../tags/tag339.xml"/><Relationship Id="rId7" Type="http://schemas.openxmlformats.org/officeDocument/2006/relationships/tags" Target="../tags/tag325.xml"/><Relationship Id="rId12" Type="http://schemas.openxmlformats.org/officeDocument/2006/relationships/tags" Target="../tags/tag330.xml"/><Relationship Id="rId17" Type="http://schemas.openxmlformats.org/officeDocument/2006/relationships/tags" Target="../tags/tag335.xml"/><Relationship Id="rId25" Type="http://schemas.openxmlformats.org/officeDocument/2006/relationships/tags" Target="../tags/tag343.xml"/><Relationship Id="rId2" Type="http://schemas.openxmlformats.org/officeDocument/2006/relationships/tags" Target="../tags/tag320.xml"/><Relationship Id="rId16" Type="http://schemas.openxmlformats.org/officeDocument/2006/relationships/tags" Target="../tags/tag334.xml"/><Relationship Id="rId20" Type="http://schemas.openxmlformats.org/officeDocument/2006/relationships/tags" Target="../tags/tag338.xml"/><Relationship Id="rId29" Type="http://schemas.openxmlformats.org/officeDocument/2006/relationships/slideLayout" Target="../slideLayouts/slideLayout18.xml"/><Relationship Id="rId1" Type="http://schemas.openxmlformats.org/officeDocument/2006/relationships/tags" Target="../tags/tag319.xml"/><Relationship Id="rId6" Type="http://schemas.openxmlformats.org/officeDocument/2006/relationships/tags" Target="../tags/tag324.xml"/><Relationship Id="rId11" Type="http://schemas.openxmlformats.org/officeDocument/2006/relationships/tags" Target="../tags/tag329.xml"/><Relationship Id="rId24" Type="http://schemas.openxmlformats.org/officeDocument/2006/relationships/tags" Target="../tags/tag342.xml"/><Relationship Id="rId5" Type="http://schemas.openxmlformats.org/officeDocument/2006/relationships/tags" Target="../tags/tag323.xml"/><Relationship Id="rId15" Type="http://schemas.openxmlformats.org/officeDocument/2006/relationships/tags" Target="../tags/tag333.xml"/><Relationship Id="rId23" Type="http://schemas.openxmlformats.org/officeDocument/2006/relationships/tags" Target="../tags/tag341.xml"/><Relationship Id="rId28" Type="http://schemas.openxmlformats.org/officeDocument/2006/relationships/tags" Target="../tags/tag346.xml"/><Relationship Id="rId10" Type="http://schemas.openxmlformats.org/officeDocument/2006/relationships/tags" Target="../tags/tag328.xml"/><Relationship Id="rId19" Type="http://schemas.openxmlformats.org/officeDocument/2006/relationships/tags" Target="../tags/tag337.xml"/><Relationship Id="rId31" Type="http://schemas.openxmlformats.org/officeDocument/2006/relationships/image" Target="../media/image1.png"/><Relationship Id="rId4" Type="http://schemas.openxmlformats.org/officeDocument/2006/relationships/tags" Target="../tags/tag322.xml"/><Relationship Id="rId9" Type="http://schemas.openxmlformats.org/officeDocument/2006/relationships/tags" Target="../tags/tag327.xml"/><Relationship Id="rId14" Type="http://schemas.openxmlformats.org/officeDocument/2006/relationships/tags" Target="../tags/tag332.xml"/><Relationship Id="rId22" Type="http://schemas.openxmlformats.org/officeDocument/2006/relationships/tags" Target="../tags/tag340.xml"/><Relationship Id="rId27" Type="http://schemas.openxmlformats.org/officeDocument/2006/relationships/tags" Target="../tags/tag345.xml"/><Relationship Id="rId3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8" Type="http://schemas.openxmlformats.org/officeDocument/2006/relationships/tags" Target="../tags/tag354.xml"/><Relationship Id="rId13" Type="http://schemas.openxmlformats.org/officeDocument/2006/relationships/tags" Target="../tags/tag359.xml"/><Relationship Id="rId18" Type="http://schemas.openxmlformats.org/officeDocument/2006/relationships/tags" Target="../tags/tag364.xml"/><Relationship Id="rId26" Type="http://schemas.openxmlformats.org/officeDocument/2006/relationships/tags" Target="../tags/tag372.xml"/><Relationship Id="rId3" Type="http://schemas.openxmlformats.org/officeDocument/2006/relationships/tags" Target="../tags/tag349.xml"/><Relationship Id="rId21" Type="http://schemas.openxmlformats.org/officeDocument/2006/relationships/tags" Target="../tags/tag367.xml"/><Relationship Id="rId7" Type="http://schemas.openxmlformats.org/officeDocument/2006/relationships/tags" Target="../tags/tag353.xml"/><Relationship Id="rId12" Type="http://schemas.openxmlformats.org/officeDocument/2006/relationships/tags" Target="../tags/tag358.xml"/><Relationship Id="rId17" Type="http://schemas.openxmlformats.org/officeDocument/2006/relationships/tags" Target="../tags/tag363.xml"/><Relationship Id="rId25" Type="http://schemas.openxmlformats.org/officeDocument/2006/relationships/tags" Target="../tags/tag371.xml"/><Relationship Id="rId2" Type="http://schemas.openxmlformats.org/officeDocument/2006/relationships/tags" Target="../tags/tag348.xml"/><Relationship Id="rId16" Type="http://schemas.openxmlformats.org/officeDocument/2006/relationships/tags" Target="../tags/tag362.xml"/><Relationship Id="rId20" Type="http://schemas.openxmlformats.org/officeDocument/2006/relationships/tags" Target="../tags/tag366.xml"/><Relationship Id="rId29" Type="http://schemas.openxmlformats.org/officeDocument/2006/relationships/slideLayout" Target="../slideLayouts/slideLayout18.xml"/><Relationship Id="rId1" Type="http://schemas.openxmlformats.org/officeDocument/2006/relationships/tags" Target="../tags/tag347.xml"/><Relationship Id="rId6" Type="http://schemas.openxmlformats.org/officeDocument/2006/relationships/tags" Target="../tags/tag352.xml"/><Relationship Id="rId11" Type="http://schemas.openxmlformats.org/officeDocument/2006/relationships/tags" Target="../tags/tag357.xml"/><Relationship Id="rId24" Type="http://schemas.openxmlformats.org/officeDocument/2006/relationships/tags" Target="../tags/tag370.xml"/><Relationship Id="rId5" Type="http://schemas.openxmlformats.org/officeDocument/2006/relationships/tags" Target="../tags/tag351.xml"/><Relationship Id="rId15" Type="http://schemas.openxmlformats.org/officeDocument/2006/relationships/tags" Target="../tags/tag361.xml"/><Relationship Id="rId23" Type="http://schemas.openxmlformats.org/officeDocument/2006/relationships/tags" Target="../tags/tag369.xml"/><Relationship Id="rId28" Type="http://schemas.openxmlformats.org/officeDocument/2006/relationships/tags" Target="../tags/tag374.xml"/><Relationship Id="rId10" Type="http://schemas.openxmlformats.org/officeDocument/2006/relationships/tags" Target="../tags/tag356.xml"/><Relationship Id="rId19" Type="http://schemas.openxmlformats.org/officeDocument/2006/relationships/tags" Target="../tags/tag365.xml"/><Relationship Id="rId31" Type="http://schemas.openxmlformats.org/officeDocument/2006/relationships/image" Target="../media/image1.png"/><Relationship Id="rId4" Type="http://schemas.openxmlformats.org/officeDocument/2006/relationships/tags" Target="../tags/tag350.xml"/><Relationship Id="rId9" Type="http://schemas.openxmlformats.org/officeDocument/2006/relationships/tags" Target="../tags/tag355.xml"/><Relationship Id="rId14" Type="http://schemas.openxmlformats.org/officeDocument/2006/relationships/tags" Target="../tags/tag360.xml"/><Relationship Id="rId22" Type="http://schemas.openxmlformats.org/officeDocument/2006/relationships/tags" Target="../tags/tag368.xml"/><Relationship Id="rId27" Type="http://schemas.openxmlformats.org/officeDocument/2006/relationships/tags" Target="../tags/tag373.xml"/><Relationship Id="rId3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5.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8" Type="http://schemas.openxmlformats.org/officeDocument/2006/relationships/tags" Target="../tags/tag382.xml"/><Relationship Id="rId13" Type="http://schemas.openxmlformats.org/officeDocument/2006/relationships/tags" Target="../tags/tag387.xml"/><Relationship Id="rId18" Type="http://schemas.openxmlformats.org/officeDocument/2006/relationships/tags" Target="../tags/tag392.xml"/><Relationship Id="rId26" Type="http://schemas.openxmlformats.org/officeDocument/2006/relationships/tags" Target="../tags/tag400.xml"/><Relationship Id="rId3" Type="http://schemas.openxmlformats.org/officeDocument/2006/relationships/tags" Target="../tags/tag377.xml"/><Relationship Id="rId21" Type="http://schemas.openxmlformats.org/officeDocument/2006/relationships/tags" Target="../tags/tag395.xml"/><Relationship Id="rId7" Type="http://schemas.openxmlformats.org/officeDocument/2006/relationships/tags" Target="../tags/tag381.xml"/><Relationship Id="rId12" Type="http://schemas.openxmlformats.org/officeDocument/2006/relationships/tags" Target="../tags/tag386.xml"/><Relationship Id="rId17" Type="http://schemas.openxmlformats.org/officeDocument/2006/relationships/tags" Target="../tags/tag391.xml"/><Relationship Id="rId25" Type="http://schemas.openxmlformats.org/officeDocument/2006/relationships/tags" Target="../tags/tag399.xml"/><Relationship Id="rId2" Type="http://schemas.openxmlformats.org/officeDocument/2006/relationships/tags" Target="../tags/tag376.xml"/><Relationship Id="rId16" Type="http://schemas.openxmlformats.org/officeDocument/2006/relationships/tags" Target="../tags/tag390.xml"/><Relationship Id="rId20" Type="http://schemas.openxmlformats.org/officeDocument/2006/relationships/tags" Target="../tags/tag394.xml"/><Relationship Id="rId29" Type="http://schemas.openxmlformats.org/officeDocument/2006/relationships/slideLayout" Target="../slideLayouts/slideLayout18.xml"/><Relationship Id="rId1" Type="http://schemas.openxmlformats.org/officeDocument/2006/relationships/tags" Target="../tags/tag375.xml"/><Relationship Id="rId6" Type="http://schemas.openxmlformats.org/officeDocument/2006/relationships/tags" Target="../tags/tag380.xml"/><Relationship Id="rId11" Type="http://schemas.openxmlformats.org/officeDocument/2006/relationships/tags" Target="../tags/tag385.xml"/><Relationship Id="rId24" Type="http://schemas.openxmlformats.org/officeDocument/2006/relationships/tags" Target="../tags/tag398.xml"/><Relationship Id="rId5" Type="http://schemas.openxmlformats.org/officeDocument/2006/relationships/tags" Target="../tags/tag379.xml"/><Relationship Id="rId15" Type="http://schemas.openxmlformats.org/officeDocument/2006/relationships/tags" Target="../tags/tag389.xml"/><Relationship Id="rId23" Type="http://schemas.openxmlformats.org/officeDocument/2006/relationships/tags" Target="../tags/tag397.xml"/><Relationship Id="rId28" Type="http://schemas.openxmlformats.org/officeDocument/2006/relationships/tags" Target="../tags/tag402.xml"/><Relationship Id="rId10" Type="http://schemas.openxmlformats.org/officeDocument/2006/relationships/tags" Target="../tags/tag384.xml"/><Relationship Id="rId19" Type="http://schemas.openxmlformats.org/officeDocument/2006/relationships/tags" Target="../tags/tag393.xml"/><Relationship Id="rId31" Type="http://schemas.openxmlformats.org/officeDocument/2006/relationships/image" Target="../media/image1.png"/><Relationship Id="rId4" Type="http://schemas.openxmlformats.org/officeDocument/2006/relationships/tags" Target="../tags/tag378.xml"/><Relationship Id="rId9" Type="http://schemas.openxmlformats.org/officeDocument/2006/relationships/tags" Target="../tags/tag383.xml"/><Relationship Id="rId14" Type="http://schemas.openxmlformats.org/officeDocument/2006/relationships/tags" Target="../tags/tag388.xml"/><Relationship Id="rId22" Type="http://schemas.openxmlformats.org/officeDocument/2006/relationships/tags" Target="../tags/tag396.xml"/><Relationship Id="rId27" Type="http://schemas.openxmlformats.org/officeDocument/2006/relationships/tags" Target="../tags/tag401.xml"/><Relationship Id="rId3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8.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0.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8" Type="http://schemas.openxmlformats.org/officeDocument/2006/relationships/image" Target="../media/image590.png"/><Relationship Id="rId3" Type="http://schemas.openxmlformats.org/officeDocument/2006/relationships/image" Target="../media/image63.png"/><Relationship Id="rId7" Type="http://schemas.openxmlformats.org/officeDocument/2006/relationships/customXml" Target="../ink/ink13.xml"/><Relationship Id="rId2" Type="http://schemas.openxmlformats.org/officeDocument/2006/relationships/notesSlide" Target="../notesSlides/notesSlide62.xml"/><Relationship Id="rId1" Type="http://schemas.openxmlformats.org/officeDocument/2006/relationships/slideLayout" Target="../slideLayouts/slideLayout18.xml"/><Relationship Id="rId6" Type="http://schemas.openxmlformats.org/officeDocument/2006/relationships/image" Target="../media/image580.png"/><Relationship Id="rId5" Type="http://schemas.openxmlformats.org/officeDocument/2006/relationships/customXml" Target="../ink/ink12.xml"/><Relationship Id="rId4" Type="http://schemas.openxmlformats.org/officeDocument/2006/relationships/image" Target="../media/image64.png"/></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3.xml"/><Relationship Id="rId1" Type="http://schemas.openxmlformats.org/officeDocument/2006/relationships/slideLayout" Target="../slideLayouts/slideLayout18.xml"/><Relationship Id="rId4" Type="http://schemas.openxmlformats.org/officeDocument/2006/relationships/image" Target="../media/image66.png"/></Relationships>
</file>

<file path=ppt/slides/_rels/slide64.xml.rels><?xml version="1.0" encoding="UTF-8" standalone="yes"?>
<Relationships xmlns="http://schemas.openxmlformats.org/package/2006/relationships"><Relationship Id="rId8" Type="http://schemas.openxmlformats.org/officeDocument/2006/relationships/tags" Target="../tags/tag410.xml"/><Relationship Id="rId13" Type="http://schemas.openxmlformats.org/officeDocument/2006/relationships/tags" Target="../tags/tag415.xml"/><Relationship Id="rId18" Type="http://schemas.openxmlformats.org/officeDocument/2006/relationships/tags" Target="../tags/tag420.xml"/><Relationship Id="rId26" Type="http://schemas.openxmlformats.org/officeDocument/2006/relationships/tags" Target="../tags/tag428.xml"/><Relationship Id="rId3" Type="http://schemas.openxmlformats.org/officeDocument/2006/relationships/tags" Target="../tags/tag405.xml"/><Relationship Id="rId21" Type="http://schemas.openxmlformats.org/officeDocument/2006/relationships/tags" Target="../tags/tag423.xml"/><Relationship Id="rId7" Type="http://schemas.openxmlformats.org/officeDocument/2006/relationships/tags" Target="../tags/tag409.xml"/><Relationship Id="rId12" Type="http://schemas.openxmlformats.org/officeDocument/2006/relationships/tags" Target="../tags/tag414.xml"/><Relationship Id="rId17" Type="http://schemas.openxmlformats.org/officeDocument/2006/relationships/tags" Target="../tags/tag419.xml"/><Relationship Id="rId25" Type="http://schemas.openxmlformats.org/officeDocument/2006/relationships/tags" Target="../tags/tag427.xml"/><Relationship Id="rId2" Type="http://schemas.openxmlformats.org/officeDocument/2006/relationships/tags" Target="../tags/tag404.xml"/><Relationship Id="rId16" Type="http://schemas.openxmlformats.org/officeDocument/2006/relationships/tags" Target="../tags/tag418.xml"/><Relationship Id="rId20" Type="http://schemas.openxmlformats.org/officeDocument/2006/relationships/tags" Target="../tags/tag422.xml"/><Relationship Id="rId29" Type="http://schemas.openxmlformats.org/officeDocument/2006/relationships/slideLayout" Target="../slideLayouts/slideLayout18.xml"/><Relationship Id="rId1" Type="http://schemas.openxmlformats.org/officeDocument/2006/relationships/tags" Target="../tags/tag403.xml"/><Relationship Id="rId6" Type="http://schemas.openxmlformats.org/officeDocument/2006/relationships/tags" Target="../tags/tag408.xml"/><Relationship Id="rId11" Type="http://schemas.openxmlformats.org/officeDocument/2006/relationships/tags" Target="../tags/tag413.xml"/><Relationship Id="rId24" Type="http://schemas.openxmlformats.org/officeDocument/2006/relationships/tags" Target="../tags/tag426.xml"/><Relationship Id="rId5" Type="http://schemas.openxmlformats.org/officeDocument/2006/relationships/tags" Target="../tags/tag407.xml"/><Relationship Id="rId15" Type="http://schemas.openxmlformats.org/officeDocument/2006/relationships/tags" Target="../tags/tag417.xml"/><Relationship Id="rId23" Type="http://schemas.openxmlformats.org/officeDocument/2006/relationships/tags" Target="../tags/tag425.xml"/><Relationship Id="rId28" Type="http://schemas.openxmlformats.org/officeDocument/2006/relationships/tags" Target="../tags/tag430.xml"/><Relationship Id="rId10" Type="http://schemas.openxmlformats.org/officeDocument/2006/relationships/tags" Target="../tags/tag412.xml"/><Relationship Id="rId19" Type="http://schemas.openxmlformats.org/officeDocument/2006/relationships/tags" Target="../tags/tag421.xml"/><Relationship Id="rId31" Type="http://schemas.openxmlformats.org/officeDocument/2006/relationships/image" Target="../media/image1.png"/><Relationship Id="rId4" Type="http://schemas.openxmlformats.org/officeDocument/2006/relationships/tags" Target="../tags/tag406.xml"/><Relationship Id="rId9" Type="http://schemas.openxmlformats.org/officeDocument/2006/relationships/tags" Target="../tags/tag411.xml"/><Relationship Id="rId14" Type="http://schemas.openxmlformats.org/officeDocument/2006/relationships/tags" Target="../tags/tag416.xml"/><Relationship Id="rId22" Type="http://schemas.openxmlformats.org/officeDocument/2006/relationships/tags" Target="../tags/tag424.xml"/><Relationship Id="rId27" Type="http://schemas.openxmlformats.org/officeDocument/2006/relationships/tags" Target="../tags/tag429.xml"/><Relationship Id="rId3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8" Type="http://schemas.openxmlformats.org/officeDocument/2006/relationships/tags" Target="../tags/tag438.xml"/><Relationship Id="rId13" Type="http://schemas.openxmlformats.org/officeDocument/2006/relationships/tags" Target="../tags/tag443.xml"/><Relationship Id="rId18" Type="http://schemas.openxmlformats.org/officeDocument/2006/relationships/tags" Target="../tags/tag448.xml"/><Relationship Id="rId26" Type="http://schemas.openxmlformats.org/officeDocument/2006/relationships/tags" Target="../tags/tag456.xml"/><Relationship Id="rId3" Type="http://schemas.openxmlformats.org/officeDocument/2006/relationships/tags" Target="../tags/tag433.xml"/><Relationship Id="rId21" Type="http://schemas.openxmlformats.org/officeDocument/2006/relationships/tags" Target="../tags/tag451.xml"/><Relationship Id="rId7" Type="http://schemas.openxmlformats.org/officeDocument/2006/relationships/tags" Target="../tags/tag437.xml"/><Relationship Id="rId12" Type="http://schemas.openxmlformats.org/officeDocument/2006/relationships/tags" Target="../tags/tag442.xml"/><Relationship Id="rId17" Type="http://schemas.openxmlformats.org/officeDocument/2006/relationships/tags" Target="../tags/tag447.xml"/><Relationship Id="rId25" Type="http://schemas.openxmlformats.org/officeDocument/2006/relationships/tags" Target="../tags/tag455.xml"/><Relationship Id="rId2" Type="http://schemas.openxmlformats.org/officeDocument/2006/relationships/tags" Target="../tags/tag432.xml"/><Relationship Id="rId16" Type="http://schemas.openxmlformats.org/officeDocument/2006/relationships/tags" Target="../tags/tag446.xml"/><Relationship Id="rId20" Type="http://schemas.openxmlformats.org/officeDocument/2006/relationships/tags" Target="../tags/tag450.xml"/><Relationship Id="rId29" Type="http://schemas.openxmlformats.org/officeDocument/2006/relationships/slideLayout" Target="../slideLayouts/slideLayout18.xml"/><Relationship Id="rId1" Type="http://schemas.openxmlformats.org/officeDocument/2006/relationships/tags" Target="../tags/tag431.xml"/><Relationship Id="rId6" Type="http://schemas.openxmlformats.org/officeDocument/2006/relationships/tags" Target="../tags/tag436.xml"/><Relationship Id="rId11" Type="http://schemas.openxmlformats.org/officeDocument/2006/relationships/tags" Target="../tags/tag441.xml"/><Relationship Id="rId24" Type="http://schemas.openxmlformats.org/officeDocument/2006/relationships/tags" Target="../tags/tag454.xml"/><Relationship Id="rId5" Type="http://schemas.openxmlformats.org/officeDocument/2006/relationships/tags" Target="../tags/tag435.xml"/><Relationship Id="rId15" Type="http://schemas.openxmlformats.org/officeDocument/2006/relationships/tags" Target="../tags/tag445.xml"/><Relationship Id="rId23" Type="http://schemas.openxmlformats.org/officeDocument/2006/relationships/tags" Target="../tags/tag453.xml"/><Relationship Id="rId28" Type="http://schemas.openxmlformats.org/officeDocument/2006/relationships/tags" Target="../tags/tag458.xml"/><Relationship Id="rId10" Type="http://schemas.openxmlformats.org/officeDocument/2006/relationships/tags" Target="../tags/tag440.xml"/><Relationship Id="rId19" Type="http://schemas.openxmlformats.org/officeDocument/2006/relationships/tags" Target="../tags/tag449.xml"/><Relationship Id="rId31" Type="http://schemas.openxmlformats.org/officeDocument/2006/relationships/image" Target="../media/image1.png"/><Relationship Id="rId4" Type="http://schemas.openxmlformats.org/officeDocument/2006/relationships/tags" Target="../tags/tag434.xml"/><Relationship Id="rId9" Type="http://schemas.openxmlformats.org/officeDocument/2006/relationships/tags" Target="../tags/tag439.xml"/><Relationship Id="rId14" Type="http://schemas.openxmlformats.org/officeDocument/2006/relationships/tags" Target="../tags/tag444.xml"/><Relationship Id="rId22" Type="http://schemas.openxmlformats.org/officeDocument/2006/relationships/tags" Target="../tags/tag452.xml"/><Relationship Id="rId27" Type="http://schemas.openxmlformats.org/officeDocument/2006/relationships/tags" Target="../tags/tag457.xml"/><Relationship Id="rId3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8" Type="http://schemas.openxmlformats.org/officeDocument/2006/relationships/tags" Target="../tags/tag466.xml"/><Relationship Id="rId13" Type="http://schemas.openxmlformats.org/officeDocument/2006/relationships/tags" Target="../tags/tag471.xml"/><Relationship Id="rId18" Type="http://schemas.openxmlformats.org/officeDocument/2006/relationships/tags" Target="../tags/tag476.xml"/><Relationship Id="rId26" Type="http://schemas.openxmlformats.org/officeDocument/2006/relationships/tags" Target="../tags/tag484.xml"/><Relationship Id="rId3" Type="http://schemas.openxmlformats.org/officeDocument/2006/relationships/tags" Target="../tags/tag461.xml"/><Relationship Id="rId21" Type="http://schemas.openxmlformats.org/officeDocument/2006/relationships/tags" Target="../tags/tag479.xml"/><Relationship Id="rId7" Type="http://schemas.openxmlformats.org/officeDocument/2006/relationships/tags" Target="../tags/tag465.xml"/><Relationship Id="rId12" Type="http://schemas.openxmlformats.org/officeDocument/2006/relationships/tags" Target="../tags/tag470.xml"/><Relationship Id="rId17" Type="http://schemas.openxmlformats.org/officeDocument/2006/relationships/tags" Target="../tags/tag475.xml"/><Relationship Id="rId25" Type="http://schemas.openxmlformats.org/officeDocument/2006/relationships/tags" Target="../tags/tag483.xml"/><Relationship Id="rId2" Type="http://schemas.openxmlformats.org/officeDocument/2006/relationships/tags" Target="../tags/tag460.xml"/><Relationship Id="rId16" Type="http://schemas.openxmlformats.org/officeDocument/2006/relationships/tags" Target="../tags/tag474.xml"/><Relationship Id="rId20" Type="http://schemas.openxmlformats.org/officeDocument/2006/relationships/tags" Target="../tags/tag478.xml"/><Relationship Id="rId29" Type="http://schemas.openxmlformats.org/officeDocument/2006/relationships/slideLayout" Target="../slideLayouts/slideLayout18.xml"/><Relationship Id="rId1" Type="http://schemas.openxmlformats.org/officeDocument/2006/relationships/tags" Target="../tags/tag459.xml"/><Relationship Id="rId6" Type="http://schemas.openxmlformats.org/officeDocument/2006/relationships/tags" Target="../tags/tag464.xml"/><Relationship Id="rId11" Type="http://schemas.openxmlformats.org/officeDocument/2006/relationships/tags" Target="../tags/tag469.xml"/><Relationship Id="rId24" Type="http://schemas.openxmlformats.org/officeDocument/2006/relationships/tags" Target="../tags/tag482.xml"/><Relationship Id="rId5" Type="http://schemas.openxmlformats.org/officeDocument/2006/relationships/tags" Target="../tags/tag463.xml"/><Relationship Id="rId15" Type="http://schemas.openxmlformats.org/officeDocument/2006/relationships/tags" Target="../tags/tag473.xml"/><Relationship Id="rId23" Type="http://schemas.openxmlformats.org/officeDocument/2006/relationships/tags" Target="../tags/tag481.xml"/><Relationship Id="rId28" Type="http://schemas.openxmlformats.org/officeDocument/2006/relationships/tags" Target="../tags/tag486.xml"/><Relationship Id="rId10" Type="http://schemas.openxmlformats.org/officeDocument/2006/relationships/tags" Target="../tags/tag468.xml"/><Relationship Id="rId19" Type="http://schemas.openxmlformats.org/officeDocument/2006/relationships/tags" Target="../tags/tag477.xml"/><Relationship Id="rId31" Type="http://schemas.openxmlformats.org/officeDocument/2006/relationships/image" Target="../media/image1.png"/><Relationship Id="rId4" Type="http://schemas.openxmlformats.org/officeDocument/2006/relationships/tags" Target="../tags/tag462.xml"/><Relationship Id="rId9" Type="http://schemas.openxmlformats.org/officeDocument/2006/relationships/tags" Target="../tags/tag467.xml"/><Relationship Id="rId14" Type="http://schemas.openxmlformats.org/officeDocument/2006/relationships/tags" Target="../tags/tag472.xml"/><Relationship Id="rId22" Type="http://schemas.openxmlformats.org/officeDocument/2006/relationships/tags" Target="../tags/tag480.xml"/><Relationship Id="rId27" Type="http://schemas.openxmlformats.org/officeDocument/2006/relationships/tags" Target="../tags/tag485.xml"/><Relationship Id="rId3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8" Type="http://schemas.openxmlformats.org/officeDocument/2006/relationships/tags" Target="../tags/tag494.xml"/><Relationship Id="rId13" Type="http://schemas.openxmlformats.org/officeDocument/2006/relationships/tags" Target="../tags/tag499.xml"/><Relationship Id="rId18" Type="http://schemas.openxmlformats.org/officeDocument/2006/relationships/tags" Target="../tags/tag504.xml"/><Relationship Id="rId26" Type="http://schemas.openxmlformats.org/officeDocument/2006/relationships/tags" Target="../tags/tag512.xml"/><Relationship Id="rId3" Type="http://schemas.openxmlformats.org/officeDocument/2006/relationships/tags" Target="../tags/tag489.xml"/><Relationship Id="rId21" Type="http://schemas.openxmlformats.org/officeDocument/2006/relationships/tags" Target="../tags/tag507.xml"/><Relationship Id="rId7" Type="http://schemas.openxmlformats.org/officeDocument/2006/relationships/tags" Target="../tags/tag493.xml"/><Relationship Id="rId12" Type="http://schemas.openxmlformats.org/officeDocument/2006/relationships/tags" Target="../tags/tag498.xml"/><Relationship Id="rId17" Type="http://schemas.openxmlformats.org/officeDocument/2006/relationships/tags" Target="../tags/tag503.xml"/><Relationship Id="rId25" Type="http://schemas.openxmlformats.org/officeDocument/2006/relationships/tags" Target="../tags/tag511.xml"/><Relationship Id="rId2" Type="http://schemas.openxmlformats.org/officeDocument/2006/relationships/tags" Target="../tags/tag488.xml"/><Relationship Id="rId16" Type="http://schemas.openxmlformats.org/officeDocument/2006/relationships/tags" Target="../tags/tag502.xml"/><Relationship Id="rId20" Type="http://schemas.openxmlformats.org/officeDocument/2006/relationships/tags" Target="../tags/tag506.xml"/><Relationship Id="rId29" Type="http://schemas.openxmlformats.org/officeDocument/2006/relationships/slideLayout" Target="../slideLayouts/slideLayout18.xml"/><Relationship Id="rId1" Type="http://schemas.openxmlformats.org/officeDocument/2006/relationships/tags" Target="../tags/tag487.xml"/><Relationship Id="rId6" Type="http://schemas.openxmlformats.org/officeDocument/2006/relationships/tags" Target="../tags/tag492.xml"/><Relationship Id="rId11" Type="http://schemas.openxmlformats.org/officeDocument/2006/relationships/tags" Target="../tags/tag497.xml"/><Relationship Id="rId24" Type="http://schemas.openxmlformats.org/officeDocument/2006/relationships/tags" Target="../tags/tag510.xml"/><Relationship Id="rId5" Type="http://schemas.openxmlformats.org/officeDocument/2006/relationships/tags" Target="../tags/tag491.xml"/><Relationship Id="rId15" Type="http://schemas.openxmlformats.org/officeDocument/2006/relationships/tags" Target="../tags/tag501.xml"/><Relationship Id="rId23" Type="http://schemas.openxmlformats.org/officeDocument/2006/relationships/tags" Target="../tags/tag509.xml"/><Relationship Id="rId28" Type="http://schemas.openxmlformats.org/officeDocument/2006/relationships/tags" Target="../tags/tag514.xml"/><Relationship Id="rId10" Type="http://schemas.openxmlformats.org/officeDocument/2006/relationships/tags" Target="../tags/tag496.xml"/><Relationship Id="rId19" Type="http://schemas.openxmlformats.org/officeDocument/2006/relationships/tags" Target="../tags/tag505.xml"/><Relationship Id="rId31" Type="http://schemas.openxmlformats.org/officeDocument/2006/relationships/image" Target="../media/image1.png"/><Relationship Id="rId4" Type="http://schemas.openxmlformats.org/officeDocument/2006/relationships/tags" Target="../tags/tag490.xml"/><Relationship Id="rId9" Type="http://schemas.openxmlformats.org/officeDocument/2006/relationships/tags" Target="../tags/tag495.xml"/><Relationship Id="rId14" Type="http://schemas.openxmlformats.org/officeDocument/2006/relationships/tags" Target="../tags/tag500.xml"/><Relationship Id="rId22" Type="http://schemas.openxmlformats.org/officeDocument/2006/relationships/tags" Target="../tags/tag508.xml"/><Relationship Id="rId27" Type="http://schemas.openxmlformats.org/officeDocument/2006/relationships/tags" Target="../tags/tag513.xml"/><Relationship Id="rId3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1.xml"/><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72.xml"/><Relationship Id="rId1" Type="http://schemas.openxmlformats.org/officeDocument/2006/relationships/slideLayout" Target="../slideLayouts/slideLayout18.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73.xml.rels><?xml version="1.0" encoding="UTF-8" standalone="yes"?>
<Relationships xmlns="http://schemas.openxmlformats.org/package/2006/relationships"><Relationship Id="rId8" Type="http://schemas.openxmlformats.org/officeDocument/2006/relationships/tags" Target="../tags/tag522.xml"/><Relationship Id="rId13" Type="http://schemas.openxmlformats.org/officeDocument/2006/relationships/tags" Target="../tags/tag527.xml"/><Relationship Id="rId18" Type="http://schemas.openxmlformats.org/officeDocument/2006/relationships/tags" Target="../tags/tag532.xml"/><Relationship Id="rId26" Type="http://schemas.openxmlformats.org/officeDocument/2006/relationships/tags" Target="../tags/tag540.xml"/><Relationship Id="rId3" Type="http://schemas.openxmlformats.org/officeDocument/2006/relationships/tags" Target="../tags/tag517.xml"/><Relationship Id="rId21" Type="http://schemas.openxmlformats.org/officeDocument/2006/relationships/tags" Target="../tags/tag535.xml"/><Relationship Id="rId7" Type="http://schemas.openxmlformats.org/officeDocument/2006/relationships/tags" Target="../tags/tag521.xml"/><Relationship Id="rId12" Type="http://schemas.openxmlformats.org/officeDocument/2006/relationships/tags" Target="../tags/tag526.xml"/><Relationship Id="rId17" Type="http://schemas.openxmlformats.org/officeDocument/2006/relationships/tags" Target="../tags/tag531.xml"/><Relationship Id="rId25" Type="http://schemas.openxmlformats.org/officeDocument/2006/relationships/tags" Target="../tags/tag539.xml"/><Relationship Id="rId2" Type="http://schemas.openxmlformats.org/officeDocument/2006/relationships/tags" Target="../tags/tag516.xml"/><Relationship Id="rId16" Type="http://schemas.openxmlformats.org/officeDocument/2006/relationships/tags" Target="../tags/tag530.xml"/><Relationship Id="rId20" Type="http://schemas.openxmlformats.org/officeDocument/2006/relationships/tags" Target="../tags/tag534.xml"/><Relationship Id="rId29" Type="http://schemas.openxmlformats.org/officeDocument/2006/relationships/slideLayout" Target="../slideLayouts/slideLayout18.xml"/><Relationship Id="rId1" Type="http://schemas.openxmlformats.org/officeDocument/2006/relationships/tags" Target="../tags/tag515.xml"/><Relationship Id="rId6" Type="http://schemas.openxmlformats.org/officeDocument/2006/relationships/tags" Target="../tags/tag520.xml"/><Relationship Id="rId11" Type="http://schemas.openxmlformats.org/officeDocument/2006/relationships/tags" Target="../tags/tag525.xml"/><Relationship Id="rId24" Type="http://schemas.openxmlformats.org/officeDocument/2006/relationships/tags" Target="../tags/tag538.xml"/><Relationship Id="rId5" Type="http://schemas.openxmlformats.org/officeDocument/2006/relationships/tags" Target="../tags/tag519.xml"/><Relationship Id="rId15" Type="http://schemas.openxmlformats.org/officeDocument/2006/relationships/tags" Target="../tags/tag529.xml"/><Relationship Id="rId23" Type="http://schemas.openxmlformats.org/officeDocument/2006/relationships/tags" Target="../tags/tag537.xml"/><Relationship Id="rId28" Type="http://schemas.openxmlformats.org/officeDocument/2006/relationships/tags" Target="../tags/tag542.xml"/><Relationship Id="rId10" Type="http://schemas.openxmlformats.org/officeDocument/2006/relationships/tags" Target="../tags/tag524.xml"/><Relationship Id="rId19" Type="http://schemas.openxmlformats.org/officeDocument/2006/relationships/tags" Target="../tags/tag533.xml"/><Relationship Id="rId31" Type="http://schemas.openxmlformats.org/officeDocument/2006/relationships/image" Target="../media/image1.png"/><Relationship Id="rId4" Type="http://schemas.openxmlformats.org/officeDocument/2006/relationships/tags" Target="../tags/tag518.xml"/><Relationship Id="rId9" Type="http://schemas.openxmlformats.org/officeDocument/2006/relationships/tags" Target="../tags/tag523.xml"/><Relationship Id="rId14" Type="http://schemas.openxmlformats.org/officeDocument/2006/relationships/tags" Target="../tags/tag528.xml"/><Relationship Id="rId22" Type="http://schemas.openxmlformats.org/officeDocument/2006/relationships/tags" Target="../tags/tag536.xml"/><Relationship Id="rId27" Type="http://schemas.openxmlformats.org/officeDocument/2006/relationships/tags" Target="../tags/tag541.xml"/><Relationship Id="rId3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4.xml"/><Relationship Id="rId1" Type="http://schemas.openxmlformats.org/officeDocument/2006/relationships/slideLayout" Target="../slideLayouts/slideLayout18.xml"/><Relationship Id="rId4" Type="http://schemas.openxmlformats.org/officeDocument/2006/relationships/image" Target="../media/image74.png"/></Relationships>
</file>

<file path=ppt/slides/_rels/slide75.xml.rels><?xml version="1.0" encoding="UTF-8" standalone="yes"?>
<Relationships xmlns="http://schemas.openxmlformats.org/package/2006/relationships"><Relationship Id="rId8" Type="http://schemas.openxmlformats.org/officeDocument/2006/relationships/tags" Target="../tags/tag550.xml"/><Relationship Id="rId13" Type="http://schemas.openxmlformats.org/officeDocument/2006/relationships/tags" Target="../tags/tag555.xml"/><Relationship Id="rId18" Type="http://schemas.openxmlformats.org/officeDocument/2006/relationships/tags" Target="../tags/tag560.xml"/><Relationship Id="rId26" Type="http://schemas.openxmlformats.org/officeDocument/2006/relationships/tags" Target="../tags/tag568.xml"/><Relationship Id="rId3" Type="http://schemas.openxmlformats.org/officeDocument/2006/relationships/tags" Target="../tags/tag545.xml"/><Relationship Id="rId21" Type="http://schemas.openxmlformats.org/officeDocument/2006/relationships/tags" Target="../tags/tag563.xml"/><Relationship Id="rId7" Type="http://schemas.openxmlformats.org/officeDocument/2006/relationships/tags" Target="../tags/tag549.xml"/><Relationship Id="rId12" Type="http://schemas.openxmlformats.org/officeDocument/2006/relationships/tags" Target="../tags/tag554.xml"/><Relationship Id="rId17" Type="http://schemas.openxmlformats.org/officeDocument/2006/relationships/tags" Target="../tags/tag559.xml"/><Relationship Id="rId25" Type="http://schemas.openxmlformats.org/officeDocument/2006/relationships/tags" Target="../tags/tag567.xml"/><Relationship Id="rId2" Type="http://schemas.openxmlformats.org/officeDocument/2006/relationships/tags" Target="../tags/tag544.xml"/><Relationship Id="rId16" Type="http://schemas.openxmlformats.org/officeDocument/2006/relationships/tags" Target="../tags/tag558.xml"/><Relationship Id="rId20" Type="http://schemas.openxmlformats.org/officeDocument/2006/relationships/tags" Target="../tags/tag562.xml"/><Relationship Id="rId29" Type="http://schemas.openxmlformats.org/officeDocument/2006/relationships/slideLayout" Target="../slideLayouts/slideLayout18.xml"/><Relationship Id="rId1" Type="http://schemas.openxmlformats.org/officeDocument/2006/relationships/tags" Target="../tags/tag543.xml"/><Relationship Id="rId6" Type="http://schemas.openxmlformats.org/officeDocument/2006/relationships/tags" Target="../tags/tag548.xml"/><Relationship Id="rId11" Type="http://schemas.openxmlformats.org/officeDocument/2006/relationships/tags" Target="../tags/tag553.xml"/><Relationship Id="rId24" Type="http://schemas.openxmlformats.org/officeDocument/2006/relationships/tags" Target="../tags/tag566.xml"/><Relationship Id="rId5" Type="http://schemas.openxmlformats.org/officeDocument/2006/relationships/tags" Target="../tags/tag547.xml"/><Relationship Id="rId15" Type="http://schemas.openxmlformats.org/officeDocument/2006/relationships/tags" Target="../tags/tag557.xml"/><Relationship Id="rId23" Type="http://schemas.openxmlformats.org/officeDocument/2006/relationships/tags" Target="../tags/tag565.xml"/><Relationship Id="rId28" Type="http://schemas.openxmlformats.org/officeDocument/2006/relationships/tags" Target="../tags/tag570.xml"/><Relationship Id="rId10" Type="http://schemas.openxmlformats.org/officeDocument/2006/relationships/tags" Target="../tags/tag552.xml"/><Relationship Id="rId19" Type="http://schemas.openxmlformats.org/officeDocument/2006/relationships/tags" Target="../tags/tag561.xml"/><Relationship Id="rId31" Type="http://schemas.openxmlformats.org/officeDocument/2006/relationships/image" Target="../media/image1.png"/><Relationship Id="rId4" Type="http://schemas.openxmlformats.org/officeDocument/2006/relationships/tags" Target="../tags/tag546.xml"/><Relationship Id="rId9" Type="http://schemas.openxmlformats.org/officeDocument/2006/relationships/tags" Target="../tags/tag551.xml"/><Relationship Id="rId14" Type="http://schemas.openxmlformats.org/officeDocument/2006/relationships/tags" Target="../tags/tag556.xml"/><Relationship Id="rId22" Type="http://schemas.openxmlformats.org/officeDocument/2006/relationships/tags" Target="../tags/tag564.xml"/><Relationship Id="rId27" Type="http://schemas.openxmlformats.org/officeDocument/2006/relationships/tags" Target="../tags/tag569.xml"/><Relationship Id="rId30"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8" Type="http://schemas.openxmlformats.org/officeDocument/2006/relationships/tags" Target="../tags/tag578.xml"/><Relationship Id="rId13" Type="http://schemas.openxmlformats.org/officeDocument/2006/relationships/tags" Target="../tags/tag583.xml"/><Relationship Id="rId18" Type="http://schemas.openxmlformats.org/officeDocument/2006/relationships/tags" Target="../tags/tag588.xml"/><Relationship Id="rId26" Type="http://schemas.openxmlformats.org/officeDocument/2006/relationships/tags" Target="../tags/tag596.xml"/><Relationship Id="rId3" Type="http://schemas.openxmlformats.org/officeDocument/2006/relationships/tags" Target="../tags/tag573.xml"/><Relationship Id="rId21" Type="http://schemas.openxmlformats.org/officeDocument/2006/relationships/tags" Target="../tags/tag591.xml"/><Relationship Id="rId7" Type="http://schemas.openxmlformats.org/officeDocument/2006/relationships/tags" Target="../tags/tag577.xml"/><Relationship Id="rId12" Type="http://schemas.openxmlformats.org/officeDocument/2006/relationships/tags" Target="../tags/tag582.xml"/><Relationship Id="rId17" Type="http://schemas.openxmlformats.org/officeDocument/2006/relationships/tags" Target="../tags/tag587.xml"/><Relationship Id="rId25" Type="http://schemas.openxmlformats.org/officeDocument/2006/relationships/tags" Target="../tags/tag595.xml"/><Relationship Id="rId2" Type="http://schemas.openxmlformats.org/officeDocument/2006/relationships/tags" Target="../tags/tag572.xml"/><Relationship Id="rId16" Type="http://schemas.openxmlformats.org/officeDocument/2006/relationships/tags" Target="../tags/tag586.xml"/><Relationship Id="rId20" Type="http://schemas.openxmlformats.org/officeDocument/2006/relationships/tags" Target="../tags/tag590.xml"/><Relationship Id="rId29" Type="http://schemas.openxmlformats.org/officeDocument/2006/relationships/slideLayout" Target="../slideLayouts/slideLayout18.xml"/><Relationship Id="rId1" Type="http://schemas.openxmlformats.org/officeDocument/2006/relationships/tags" Target="../tags/tag571.xml"/><Relationship Id="rId6" Type="http://schemas.openxmlformats.org/officeDocument/2006/relationships/tags" Target="../tags/tag576.xml"/><Relationship Id="rId11" Type="http://schemas.openxmlformats.org/officeDocument/2006/relationships/tags" Target="../tags/tag581.xml"/><Relationship Id="rId24" Type="http://schemas.openxmlformats.org/officeDocument/2006/relationships/tags" Target="../tags/tag594.xml"/><Relationship Id="rId5" Type="http://schemas.openxmlformats.org/officeDocument/2006/relationships/tags" Target="../tags/tag575.xml"/><Relationship Id="rId15" Type="http://schemas.openxmlformats.org/officeDocument/2006/relationships/tags" Target="../tags/tag585.xml"/><Relationship Id="rId23" Type="http://schemas.openxmlformats.org/officeDocument/2006/relationships/tags" Target="../tags/tag593.xml"/><Relationship Id="rId28" Type="http://schemas.openxmlformats.org/officeDocument/2006/relationships/tags" Target="../tags/tag598.xml"/><Relationship Id="rId10" Type="http://schemas.openxmlformats.org/officeDocument/2006/relationships/tags" Target="../tags/tag580.xml"/><Relationship Id="rId19" Type="http://schemas.openxmlformats.org/officeDocument/2006/relationships/tags" Target="../tags/tag589.xml"/><Relationship Id="rId31" Type="http://schemas.openxmlformats.org/officeDocument/2006/relationships/image" Target="../media/image1.png"/><Relationship Id="rId4" Type="http://schemas.openxmlformats.org/officeDocument/2006/relationships/tags" Target="../tags/tag574.xml"/><Relationship Id="rId9" Type="http://schemas.openxmlformats.org/officeDocument/2006/relationships/tags" Target="../tags/tag579.xml"/><Relationship Id="rId14" Type="http://schemas.openxmlformats.org/officeDocument/2006/relationships/tags" Target="../tags/tag584.xml"/><Relationship Id="rId22" Type="http://schemas.openxmlformats.org/officeDocument/2006/relationships/tags" Target="../tags/tag592.xml"/><Relationship Id="rId27" Type="http://schemas.openxmlformats.org/officeDocument/2006/relationships/tags" Target="../tags/tag597.xml"/><Relationship Id="rId30"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8" Type="http://schemas.openxmlformats.org/officeDocument/2006/relationships/tags" Target="../tags/tag606.xml"/><Relationship Id="rId13" Type="http://schemas.openxmlformats.org/officeDocument/2006/relationships/tags" Target="../tags/tag611.xml"/><Relationship Id="rId18" Type="http://schemas.openxmlformats.org/officeDocument/2006/relationships/tags" Target="../tags/tag616.xml"/><Relationship Id="rId26" Type="http://schemas.openxmlformats.org/officeDocument/2006/relationships/tags" Target="../tags/tag624.xml"/><Relationship Id="rId3" Type="http://schemas.openxmlformats.org/officeDocument/2006/relationships/tags" Target="../tags/tag601.xml"/><Relationship Id="rId21" Type="http://schemas.openxmlformats.org/officeDocument/2006/relationships/tags" Target="../tags/tag619.xml"/><Relationship Id="rId7" Type="http://schemas.openxmlformats.org/officeDocument/2006/relationships/tags" Target="../tags/tag605.xml"/><Relationship Id="rId12" Type="http://schemas.openxmlformats.org/officeDocument/2006/relationships/tags" Target="../tags/tag610.xml"/><Relationship Id="rId17" Type="http://schemas.openxmlformats.org/officeDocument/2006/relationships/tags" Target="../tags/tag615.xml"/><Relationship Id="rId25" Type="http://schemas.openxmlformats.org/officeDocument/2006/relationships/tags" Target="../tags/tag623.xml"/><Relationship Id="rId2" Type="http://schemas.openxmlformats.org/officeDocument/2006/relationships/tags" Target="../tags/tag600.xml"/><Relationship Id="rId16" Type="http://schemas.openxmlformats.org/officeDocument/2006/relationships/tags" Target="../tags/tag614.xml"/><Relationship Id="rId20" Type="http://schemas.openxmlformats.org/officeDocument/2006/relationships/tags" Target="../tags/tag618.xml"/><Relationship Id="rId29" Type="http://schemas.openxmlformats.org/officeDocument/2006/relationships/slideLayout" Target="../slideLayouts/slideLayout18.xml"/><Relationship Id="rId1" Type="http://schemas.openxmlformats.org/officeDocument/2006/relationships/tags" Target="../tags/tag599.xml"/><Relationship Id="rId6" Type="http://schemas.openxmlformats.org/officeDocument/2006/relationships/tags" Target="../tags/tag604.xml"/><Relationship Id="rId11" Type="http://schemas.openxmlformats.org/officeDocument/2006/relationships/tags" Target="../tags/tag609.xml"/><Relationship Id="rId24" Type="http://schemas.openxmlformats.org/officeDocument/2006/relationships/tags" Target="../tags/tag622.xml"/><Relationship Id="rId5" Type="http://schemas.openxmlformats.org/officeDocument/2006/relationships/tags" Target="../tags/tag603.xml"/><Relationship Id="rId15" Type="http://schemas.openxmlformats.org/officeDocument/2006/relationships/tags" Target="../tags/tag613.xml"/><Relationship Id="rId23" Type="http://schemas.openxmlformats.org/officeDocument/2006/relationships/tags" Target="../tags/tag621.xml"/><Relationship Id="rId28" Type="http://schemas.openxmlformats.org/officeDocument/2006/relationships/tags" Target="../tags/tag626.xml"/><Relationship Id="rId10" Type="http://schemas.openxmlformats.org/officeDocument/2006/relationships/tags" Target="../tags/tag608.xml"/><Relationship Id="rId19" Type="http://schemas.openxmlformats.org/officeDocument/2006/relationships/tags" Target="../tags/tag617.xml"/><Relationship Id="rId31" Type="http://schemas.openxmlformats.org/officeDocument/2006/relationships/image" Target="../media/image1.png"/><Relationship Id="rId4" Type="http://schemas.openxmlformats.org/officeDocument/2006/relationships/tags" Target="../tags/tag602.xml"/><Relationship Id="rId9" Type="http://schemas.openxmlformats.org/officeDocument/2006/relationships/tags" Target="../tags/tag607.xml"/><Relationship Id="rId14" Type="http://schemas.openxmlformats.org/officeDocument/2006/relationships/tags" Target="../tags/tag612.xml"/><Relationship Id="rId22" Type="http://schemas.openxmlformats.org/officeDocument/2006/relationships/tags" Target="../tags/tag620.xml"/><Relationship Id="rId27" Type="http://schemas.openxmlformats.org/officeDocument/2006/relationships/tags" Target="../tags/tag625.xml"/><Relationship Id="rId30"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8" Type="http://schemas.openxmlformats.org/officeDocument/2006/relationships/tags" Target="../tags/tag634.xml"/><Relationship Id="rId13" Type="http://schemas.openxmlformats.org/officeDocument/2006/relationships/tags" Target="../tags/tag639.xml"/><Relationship Id="rId18" Type="http://schemas.openxmlformats.org/officeDocument/2006/relationships/tags" Target="../tags/tag644.xml"/><Relationship Id="rId26" Type="http://schemas.openxmlformats.org/officeDocument/2006/relationships/tags" Target="../tags/tag652.xml"/><Relationship Id="rId3" Type="http://schemas.openxmlformats.org/officeDocument/2006/relationships/tags" Target="../tags/tag629.xml"/><Relationship Id="rId21" Type="http://schemas.openxmlformats.org/officeDocument/2006/relationships/tags" Target="../tags/tag647.xml"/><Relationship Id="rId7" Type="http://schemas.openxmlformats.org/officeDocument/2006/relationships/tags" Target="../tags/tag633.xml"/><Relationship Id="rId12" Type="http://schemas.openxmlformats.org/officeDocument/2006/relationships/tags" Target="../tags/tag638.xml"/><Relationship Id="rId17" Type="http://schemas.openxmlformats.org/officeDocument/2006/relationships/tags" Target="../tags/tag643.xml"/><Relationship Id="rId25" Type="http://schemas.openxmlformats.org/officeDocument/2006/relationships/tags" Target="../tags/tag651.xml"/><Relationship Id="rId2" Type="http://schemas.openxmlformats.org/officeDocument/2006/relationships/tags" Target="../tags/tag628.xml"/><Relationship Id="rId16" Type="http://schemas.openxmlformats.org/officeDocument/2006/relationships/tags" Target="../tags/tag642.xml"/><Relationship Id="rId20" Type="http://schemas.openxmlformats.org/officeDocument/2006/relationships/tags" Target="../tags/tag646.xml"/><Relationship Id="rId29" Type="http://schemas.openxmlformats.org/officeDocument/2006/relationships/slideLayout" Target="../slideLayouts/slideLayout18.xml"/><Relationship Id="rId1" Type="http://schemas.openxmlformats.org/officeDocument/2006/relationships/tags" Target="../tags/tag627.xml"/><Relationship Id="rId6" Type="http://schemas.openxmlformats.org/officeDocument/2006/relationships/tags" Target="../tags/tag632.xml"/><Relationship Id="rId11" Type="http://schemas.openxmlformats.org/officeDocument/2006/relationships/tags" Target="../tags/tag637.xml"/><Relationship Id="rId24" Type="http://schemas.openxmlformats.org/officeDocument/2006/relationships/tags" Target="../tags/tag650.xml"/><Relationship Id="rId5" Type="http://schemas.openxmlformats.org/officeDocument/2006/relationships/tags" Target="../tags/tag631.xml"/><Relationship Id="rId15" Type="http://schemas.openxmlformats.org/officeDocument/2006/relationships/tags" Target="../tags/tag641.xml"/><Relationship Id="rId23" Type="http://schemas.openxmlformats.org/officeDocument/2006/relationships/tags" Target="../tags/tag649.xml"/><Relationship Id="rId28" Type="http://schemas.openxmlformats.org/officeDocument/2006/relationships/tags" Target="../tags/tag654.xml"/><Relationship Id="rId10" Type="http://schemas.openxmlformats.org/officeDocument/2006/relationships/tags" Target="../tags/tag636.xml"/><Relationship Id="rId19" Type="http://schemas.openxmlformats.org/officeDocument/2006/relationships/tags" Target="../tags/tag645.xml"/><Relationship Id="rId31" Type="http://schemas.openxmlformats.org/officeDocument/2006/relationships/image" Target="../media/image1.png"/><Relationship Id="rId4" Type="http://schemas.openxmlformats.org/officeDocument/2006/relationships/tags" Target="../tags/tag630.xml"/><Relationship Id="rId9" Type="http://schemas.openxmlformats.org/officeDocument/2006/relationships/tags" Target="../tags/tag635.xml"/><Relationship Id="rId14" Type="http://schemas.openxmlformats.org/officeDocument/2006/relationships/tags" Target="../tags/tag640.xml"/><Relationship Id="rId22" Type="http://schemas.openxmlformats.org/officeDocument/2006/relationships/tags" Target="../tags/tag648.xml"/><Relationship Id="rId27" Type="http://schemas.openxmlformats.org/officeDocument/2006/relationships/tags" Target="../tags/tag653.xml"/><Relationship Id="rId3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1.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2.xml"/><Relationship Id="rId1" Type="http://schemas.openxmlformats.org/officeDocument/2006/relationships/slideLayout" Target="../slideLayouts/slideLayout18.xml"/><Relationship Id="rId4" Type="http://schemas.openxmlformats.org/officeDocument/2006/relationships/image" Target="../media/image77.png"/></Relationships>
</file>

<file path=ppt/slides/_rels/slide8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3.xml"/><Relationship Id="rId1" Type="http://schemas.openxmlformats.org/officeDocument/2006/relationships/slideLayout" Target="../slideLayouts/slideLayout18.xml"/><Relationship Id="rId5" Type="http://schemas.openxmlformats.org/officeDocument/2006/relationships/image" Target="../media/image80.png"/><Relationship Id="rId4" Type="http://schemas.openxmlformats.org/officeDocument/2006/relationships/image" Target="../media/image79.png"/></Relationships>
</file>

<file path=ppt/slides/_rels/slide8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5.xml"/><Relationship Id="rId1" Type="http://schemas.openxmlformats.org/officeDocument/2006/relationships/slideLayout" Target="../slideLayouts/slideLayout18.xml"/><Relationship Id="rId4" Type="http://schemas.openxmlformats.org/officeDocument/2006/relationships/image" Target="../media/image83.png"/></Relationships>
</file>

<file path=ppt/slides/_rels/slide86.xml.rels><?xml version="1.0" encoding="UTF-8" standalone="yes"?>
<Relationships xmlns="http://schemas.openxmlformats.org/package/2006/relationships"><Relationship Id="rId8" Type="http://schemas.openxmlformats.org/officeDocument/2006/relationships/tags" Target="../tags/tag662.xml"/><Relationship Id="rId13" Type="http://schemas.openxmlformats.org/officeDocument/2006/relationships/tags" Target="../tags/tag667.xml"/><Relationship Id="rId18" Type="http://schemas.openxmlformats.org/officeDocument/2006/relationships/tags" Target="../tags/tag672.xml"/><Relationship Id="rId26" Type="http://schemas.openxmlformats.org/officeDocument/2006/relationships/tags" Target="../tags/tag680.xml"/><Relationship Id="rId3" Type="http://schemas.openxmlformats.org/officeDocument/2006/relationships/tags" Target="../tags/tag657.xml"/><Relationship Id="rId21" Type="http://schemas.openxmlformats.org/officeDocument/2006/relationships/tags" Target="../tags/tag675.xml"/><Relationship Id="rId7" Type="http://schemas.openxmlformats.org/officeDocument/2006/relationships/tags" Target="../tags/tag661.xml"/><Relationship Id="rId12" Type="http://schemas.openxmlformats.org/officeDocument/2006/relationships/tags" Target="../tags/tag666.xml"/><Relationship Id="rId17" Type="http://schemas.openxmlformats.org/officeDocument/2006/relationships/tags" Target="../tags/tag671.xml"/><Relationship Id="rId25" Type="http://schemas.openxmlformats.org/officeDocument/2006/relationships/tags" Target="../tags/tag679.xml"/><Relationship Id="rId2" Type="http://schemas.openxmlformats.org/officeDocument/2006/relationships/tags" Target="../tags/tag656.xml"/><Relationship Id="rId16" Type="http://schemas.openxmlformats.org/officeDocument/2006/relationships/tags" Target="../tags/tag670.xml"/><Relationship Id="rId20" Type="http://schemas.openxmlformats.org/officeDocument/2006/relationships/tags" Target="../tags/tag674.xml"/><Relationship Id="rId29" Type="http://schemas.openxmlformats.org/officeDocument/2006/relationships/slideLayout" Target="../slideLayouts/slideLayout18.xml"/><Relationship Id="rId1" Type="http://schemas.openxmlformats.org/officeDocument/2006/relationships/tags" Target="../tags/tag655.xml"/><Relationship Id="rId6" Type="http://schemas.openxmlformats.org/officeDocument/2006/relationships/tags" Target="../tags/tag660.xml"/><Relationship Id="rId11" Type="http://schemas.openxmlformats.org/officeDocument/2006/relationships/tags" Target="../tags/tag665.xml"/><Relationship Id="rId24" Type="http://schemas.openxmlformats.org/officeDocument/2006/relationships/tags" Target="../tags/tag678.xml"/><Relationship Id="rId5" Type="http://schemas.openxmlformats.org/officeDocument/2006/relationships/tags" Target="../tags/tag659.xml"/><Relationship Id="rId15" Type="http://schemas.openxmlformats.org/officeDocument/2006/relationships/tags" Target="../tags/tag669.xml"/><Relationship Id="rId23" Type="http://schemas.openxmlformats.org/officeDocument/2006/relationships/tags" Target="../tags/tag677.xml"/><Relationship Id="rId28" Type="http://schemas.openxmlformats.org/officeDocument/2006/relationships/tags" Target="../tags/tag682.xml"/><Relationship Id="rId10" Type="http://schemas.openxmlformats.org/officeDocument/2006/relationships/tags" Target="../tags/tag664.xml"/><Relationship Id="rId19" Type="http://schemas.openxmlformats.org/officeDocument/2006/relationships/tags" Target="../tags/tag673.xml"/><Relationship Id="rId31" Type="http://schemas.openxmlformats.org/officeDocument/2006/relationships/image" Target="../media/image1.png"/><Relationship Id="rId4" Type="http://schemas.openxmlformats.org/officeDocument/2006/relationships/tags" Target="../tags/tag658.xml"/><Relationship Id="rId9" Type="http://schemas.openxmlformats.org/officeDocument/2006/relationships/tags" Target="../tags/tag663.xml"/><Relationship Id="rId14" Type="http://schemas.openxmlformats.org/officeDocument/2006/relationships/tags" Target="../tags/tag668.xml"/><Relationship Id="rId22" Type="http://schemas.openxmlformats.org/officeDocument/2006/relationships/tags" Target="../tags/tag676.xml"/><Relationship Id="rId27" Type="http://schemas.openxmlformats.org/officeDocument/2006/relationships/tags" Target="../tags/tag681.xml"/><Relationship Id="rId30"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7.xml"/><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8.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9.xml"/><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矩形 26"/>
          <p:cNvSpPr/>
          <p:nvPr/>
        </p:nvSpPr>
        <p:spPr>
          <a:xfrm>
            <a:off x="0" y="577"/>
            <a:ext cx="12239891"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631" name="圆角矩形 3"/>
          <p:cNvSpPr/>
          <p:nvPr/>
        </p:nvSpPr>
        <p:spPr>
          <a:xfrm>
            <a:off x="64336" y="2915945"/>
            <a:ext cx="4087664"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632" name="圆角矩形 4"/>
          <p:cNvSpPr/>
          <p:nvPr/>
        </p:nvSpPr>
        <p:spPr>
          <a:xfrm>
            <a:off x="4368000" y="2915753"/>
            <a:ext cx="34560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latin typeface="Arial" panose="020B0604020202020204" pitchFamily="34" charset="0"/>
                <a:cs typeface="Arial" panose="020B0604020202020204" pitchFamily="34" charset="0"/>
                <a:sym typeface="+mn-ea"/>
              </a:rPr>
              <a:t>PQ-Net Periodic Quantum Networks for Multivariate Time Series Forecasting</a:t>
            </a:r>
          </a:p>
        </p:txBody>
      </p:sp>
      <p:sp>
        <p:nvSpPr>
          <p:cNvPr id="1048633" name="圆角矩形 5"/>
          <p:cNvSpPr/>
          <p:nvPr/>
        </p:nvSpPr>
        <p:spPr>
          <a:xfrm>
            <a:off x="8246328" y="2910286"/>
            <a:ext cx="3916315"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 series forecasting</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634" name="圆角矩形 6"/>
          <p:cNvSpPr/>
          <p:nvPr/>
        </p:nvSpPr>
        <p:spPr>
          <a:xfrm>
            <a:off x="1983501" y="4789523"/>
            <a:ext cx="398191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 algorithms for large-scale machine learning models</a:t>
            </a:r>
            <a:endParaRPr lang="zh-CN" altLang="en-US" sz="1400" b="1" dirty="0">
              <a:latin typeface="Arial" panose="020B0604020202020204" pitchFamily="34" charset="0"/>
              <a:cs typeface="Arial" panose="020B0604020202020204" pitchFamily="34" charset="0"/>
              <a:sym typeface="+mn-ea"/>
            </a:endParaRPr>
          </a:p>
        </p:txBody>
      </p:sp>
      <p:sp>
        <p:nvSpPr>
          <p:cNvPr id="1048635" name="圆角矩形 7"/>
          <p:cNvSpPr/>
          <p:nvPr/>
        </p:nvSpPr>
        <p:spPr>
          <a:xfrm>
            <a:off x="6888000" y="4770816"/>
            <a:ext cx="3981911"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latin typeface="Arial" panose="020B0604020202020204" pitchFamily="34" charset="0"/>
                <a:cs typeface="Arial" panose="020B0604020202020204" pitchFamily="34" charset="0"/>
                <a:sym typeface="+mn-ea"/>
              </a:rPr>
              <a:t>Generalization in quantum machine learning from few training data</a:t>
            </a:r>
            <a:endParaRPr lang="zh-CN" altLang="en-US" sz="1400" b="1" dirty="0">
              <a:latin typeface="Arial" panose="020B0604020202020204" pitchFamily="34" charset="0"/>
              <a:cs typeface="Arial" panose="020B0604020202020204" pitchFamily="34" charset="0"/>
              <a:sym typeface="+mn-ea"/>
            </a:endParaRPr>
          </a:p>
        </p:txBody>
      </p:sp>
      <p:sp>
        <p:nvSpPr>
          <p:cNvPr id="1048636" name="文本框 16"/>
          <p:cNvSpPr txBox="1"/>
          <p:nvPr/>
        </p:nvSpPr>
        <p:spPr>
          <a:xfrm>
            <a:off x="526807" y="293199"/>
            <a:ext cx="11186276" cy="1478418"/>
          </a:xfrm>
          <a:prstGeom prst="rect">
            <a:avLst/>
          </a:prstGeom>
          <a:noFill/>
        </p:spPr>
        <p:txBody>
          <a:bodyPr wrap="square" rtlCol="0" anchor="t">
            <a:spAutoFit/>
          </a:bodyPr>
          <a:lstStyle/>
          <a:p>
            <a:pPr algn="ctr">
              <a:lnSpc>
                <a:spcPct val="150000"/>
              </a:lnSpc>
            </a:pPr>
            <a:r>
              <a:rPr lang="en-US" altLang="zh-CN" sz="3200" b="1">
                <a:solidFill>
                  <a:schemeClr val="bg1"/>
                </a:solidFill>
                <a:latin typeface="Arial" panose="020B0604020202020204" pitchFamily="34" charset="0"/>
                <a:ea typeface="微软雅黑" panose="020B0503020204020204" charset="-122"/>
                <a:cs typeface="Arial" panose="020B0604020202020204" pitchFamily="34" charset="0"/>
              </a:rPr>
              <a:t>Variational Quantum M</a:t>
            </a:r>
            <a:r>
              <a:rPr lang="en-US" altLang="zh-CN" sz="3200" b="1">
                <a:solidFill>
                  <a:schemeClr val="bg1"/>
                </a:solidFill>
                <a:latin typeface="Arial" panose="020B0604020202020204" pitchFamily="34" charset="0"/>
                <a:cs typeface="Arial" panose="020B0604020202020204" pitchFamily="34" charset="0"/>
              </a:rPr>
              <a:t>ethods for  </a:t>
            </a:r>
          </a:p>
          <a:p>
            <a:pPr algn="ctr">
              <a:lnSpc>
                <a:spcPct val="150000"/>
              </a:lnSpc>
            </a:pPr>
            <a:r>
              <a:rPr lang="en-US" altLang="zh-CN" sz="3200" b="1">
                <a:solidFill>
                  <a:schemeClr val="bg1"/>
                </a:solidFill>
                <a:latin typeface="Arial" panose="020B0604020202020204" pitchFamily="34" charset="0"/>
                <a:cs typeface="Arial" panose="020B0604020202020204" pitchFamily="34" charset="0"/>
              </a:rPr>
              <a:t>Time-Series Data Representation</a:t>
            </a:r>
            <a:endParaRPr lang="en-US" altLang="zh-CN" sz="3200" b="1" dirty="0">
              <a:solidFill>
                <a:schemeClr val="bg1"/>
              </a:solidFill>
              <a:latin typeface="Arial" panose="020B0604020202020204" pitchFamily="34" charset="0"/>
              <a:cs typeface="Arial" panose="020B0604020202020204" pitchFamily="34" charset="0"/>
            </a:endParaRPr>
          </a:p>
        </p:txBody>
      </p:sp>
      <p:sp>
        <p:nvSpPr>
          <p:cNvPr id="1048637" name="文本框 1"/>
          <p:cNvSpPr txBox="1"/>
          <p:nvPr/>
        </p:nvSpPr>
        <p:spPr>
          <a:xfrm>
            <a:off x="1789189" y="2535693"/>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1048638" name="文本框 2"/>
          <p:cNvSpPr txBox="1"/>
          <p:nvPr/>
        </p:nvSpPr>
        <p:spPr>
          <a:xfrm>
            <a:off x="5886441" y="2516286"/>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048639" name="文本框 17"/>
          <p:cNvSpPr txBox="1"/>
          <p:nvPr/>
        </p:nvSpPr>
        <p:spPr>
          <a:xfrm>
            <a:off x="9996736" y="2516286"/>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048640" name="文本框 18"/>
          <p:cNvSpPr txBox="1"/>
          <p:nvPr/>
        </p:nvSpPr>
        <p:spPr>
          <a:xfrm>
            <a:off x="3720000" y="4390029"/>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1048641" name="文本框 19"/>
          <p:cNvSpPr txBox="1"/>
          <p:nvPr/>
        </p:nvSpPr>
        <p:spPr>
          <a:xfrm>
            <a:off x="8671206" y="4366552"/>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grpSp>
        <p:nvGrpSpPr>
          <p:cNvPr id="129" name="组合 21"/>
          <p:cNvGrpSpPr/>
          <p:nvPr/>
        </p:nvGrpSpPr>
        <p:grpSpPr>
          <a:xfrm>
            <a:off x="-1" y="6559652"/>
            <a:ext cx="12192001" cy="293157"/>
            <a:chOff x="0" y="6575501"/>
            <a:chExt cx="9144000" cy="276999"/>
          </a:xfrm>
        </p:grpSpPr>
        <p:sp>
          <p:nvSpPr>
            <p:cNvPr id="1048642"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43" name="矩形 23"/>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4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a:t>
            </a:fld>
            <a:endParaRPr lang="zh-HK" altLang="en-US" sz="1600" dirty="0">
              <a:solidFill>
                <a:schemeClr val="bg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1"/>
          <p:cNvGrpSpPr/>
          <p:nvPr/>
        </p:nvGrpSpPr>
        <p:grpSpPr>
          <a:xfrm>
            <a:off x="-1" y="6559652"/>
            <a:ext cx="12192001" cy="293157"/>
            <a:chOff x="0" y="6575501"/>
            <a:chExt cx="9144000" cy="276999"/>
          </a:xfrm>
        </p:grpSpPr>
        <p:sp>
          <p:nvSpPr>
            <p:cNvPr id="1048588" name="矩形 2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589" name="矩形 23"/>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59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a:t>
            </a:fld>
            <a:endParaRPr lang="zh-HK" altLang="en-US" sz="1600" dirty="0">
              <a:solidFill>
                <a:schemeClr val="bg1"/>
              </a:solidFill>
            </a:endParaRPr>
          </a:p>
        </p:txBody>
      </p:sp>
      <p:pic>
        <p:nvPicPr>
          <p:cNvPr id="2097152" name="图片 27"/>
          <p:cNvPicPr>
            <a:picLocks noChangeAspect="1"/>
          </p:cNvPicPr>
          <p:nvPr/>
        </p:nvPicPr>
        <p:blipFill>
          <a:blip r:embed="rId4"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8591" name="圆角矩形 3"/>
          <p:cNvSpPr/>
          <p:nvPr/>
        </p:nvSpPr>
        <p:spPr>
          <a:xfrm>
            <a:off x="48000" y="2709192"/>
            <a:ext cx="3871664"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592" name="圆角矩形 4"/>
          <p:cNvSpPr/>
          <p:nvPr/>
        </p:nvSpPr>
        <p:spPr>
          <a:xfrm>
            <a:off x="4351664" y="945000"/>
            <a:ext cx="3456000"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endParaRPr lang="en-US" altLang="zh-CN" sz="1400" b="1">
              <a:latin typeface="Arial" panose="020B0604020202020204" pitchFamily="34" charset="0"/>
              <a:cs typeface="Arial" panose="020B0604020202020204" pitchFamily="34" charset="0"/>
            </a:endParaRPr>
          </a:p>
          <a:p>
            <a:pPr algn="ctr">
              <a:lnSpc>
                <a:spcPct val="150000"/>
              </a:lnSpc>
            </a:pPr>
            <a:r>
              <a:rPr lang="en-US" altLang="zh-CN" sz="1400" b="1">
                <a:latin typeface="Arial" panose="020B0604020202020204" pitchFamily="34" charset="0"/>
                <a:cs typeface="Arial" panose="020B0604020202020204" pitchFamily="34" charset="0"/>
                <a:sym typeface="+mn-ea"/>
              </a:rPr>
              <a:t>PQ-Net Periodic Quantum Networks for Multivariate Time Series Forecasting</a:t>
            </a:r>
          </a:p>
          <a:p>
            <a:pPr algn="ctr">
              <a:lnSpc>
                <a:spcPct val="150000"/>
              </a:lnSpc>
            </a:pP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593" name="圆角矩形 5"/>
          <p:cNvSpPr/>
          <p:nvPr/>
        </p:nvSpPr>
        <p:spPr>
          <a:xfrm>
            <a:off x="8229992" y="2703533"/>
            <a:ext cx="3916315"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 series forecasting</a:t>
            </a:r>
            <a:endParaRPr lang="en-US" altLang="zh-CN" sz="14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8594" name="圆角矩形 6"/>
          <p:cNvSpPr/>
          <p:nvPr/>
        </p:nvSpPr>
        <p:spPr>
          <a:xfrm>
            <a:off x="8184000" y="5004457"/>
            <a:ext cx="3962307"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r>
              <a:rPr lang="en-US" altLang="zh-CN" sz="14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 algorithms for large-scale machine learning models</a:t>
            </a:r>
            <a:endParaRPr lang="zh-CN" altLang="en-US" sz="1400" b="1" dirty="0">
              <a:latin typeface="Arial" panose="020B0604020202020204" pitchFamily="34" charset="0"/>
              <a:cs typeface="Arial" panose="020B0604020202020204" pitchFamily="34" charset="0"/>
              <a:sym typeface="+mn-ea"/>
            </a:endParaRPr>
          </a:p>
        </p:txBody>
      </p:sp>
      <p:sp>
        <p:nvSpPr>
          <p:cNvPr id="1048595" name="圆角矩形 7"/>
          <p:cNvSpPr/>
          <p:nvPr/>
        </p:nvSpPr>
        <p:spPr>
          <a:xfrm>
            <a:off x="26088" y="4946475"/>
            <a:ext cx="3981911" cy="1260000"/>
          </a:xfrm>
          <a:prstGeom prst="roundRect">
            <a:avLst/>
          </a:prstGeom>
          <a:solidFill>
            <a:srgbClr val="0174AB"/>
          </a:solidFill>
        </p:spPr>
        <p:style>
          <a:lnRef idx="0">
            <a:srgbClr val="FFFFFF"/>
          </a:lnRef>
          <a:fillRef idx="2">
            <a:schemeClr val="accent1"/>
          </a:fillRef>
          <a:effectRef idx="0">
            <a:srgbClr val="FFFFFF"/>
          </a:effectRef>
          <a:fontRef idx="minor">
            <a:schemeClr val="lt1"/>
          </a:fontRef>
        </p:style>
        <p:txBody>
          <a:bodyPr rtlCol="0" anchor="ctr"/>
          <a:lstStyle/>
          <a:p>
            <a:pPr algn="ctr">
              <a:lnSpc>
                <a:spcPct val="150000"/>
              </a:lnSpc>
            </a:pPr>
            <a:endParaRPr lang="en-US" altLang="zh-CN" sz="1400" b="1">
              <a:latin typeface="Arial" panose="020B0604020202020204" pitchFamily="34" charset="0"/>
              <a:cs typeface="Arial" panose="020B0604020202020204" pitchFamily="34" charset="0"/>
            </a:endParaRPr>
          </a:p>
          <a:p>
            <a:pPr algn="ctr">
              <a:lnSpc>
                <a:spcPct val="150000"/>
              </a:lnSpc>
            </a:pPr>
            <a:r>
              <a:rPr lang="en-US" altLang="zh-CN" sz="1400" b="1">
                <a:latin typeface="Arial" panose="020B0604020202020204" pitchFamily="34" charset="0"/>
                <a:cs typeface="Arial" panose="020B0604020202020204" pitchFamily="34" charset="0"/>
                <a:sym typeface="+mn-ea"/>
              </a:rPr>
              <a:t>Generalization in quantum machine learning from few training data</a:t>
            </a:r>
            <a:endParaRPr lang="zh-CN" altLang="en-US" sz="1400" b="1">
              <a:latin typeface="Arial" panose="020B0604020202020204" pitchFamily="34" charset="0"/>
              <a:cs typeface="Arial" panose="020B0604020202020204" pitchFamily="34" charset="0"/>
              <a:sym typeface="+mn-ea"/>
            </a:endParaRPr>
          </a:p>
          <a:p>
            <a:pPr algn="ctr">
              <a:lnSpc>
                <a:spcPct val="150000"/>
              </a:lnSpc>
            </a:pPr>
            <a:endParaRPr lang="zh-CN" altLang="en-US" sz="1400" b="1" dirty="0">
              <a:latin typeface="Arial" panose="020B0604020202020204" pitchFamily="34" charset="0"/>
              <a:cs typeface="Arial" panose="020B0604020202020204" pitchFamily="34" charset="0"/>
              <a:sym typeface="+mn-ea"/>
            </a:endParaRPr>
          </a:p>
        </p:txBody>
      </p:sp>
      <p:sp>
        <p:nvSpPr>
          <p:cNvPr id="1048596" name="文本框 12"/>
          <p:cNvSpPr txBox="1"/>
          <p:nvPr/>
        </p:nvSpPr>
        <p:spPr>
          <a:xfrm>
            <a:off x="1772853" y="2328940"/>
            <a:ext cx="421958" cy="330518"/>
          </a:xfrm>
          <a:prstGeom prst="rect">
            <a:avLst/>
          </a:prstGeom>
          <a:noFill/>
        </p:spPr>
        <p:txBody>
          <a:bodyPr wrap="none" rtlCol="0" anchor="t">
            <a:noAutofit/>
          </a:bodyPr>
          <a:lstStyle/>
          <a:p>
            <a:r>
              <a:rPr lang="zh-CN" altLang="en-US" b="1" dirty="0">
                <a:latin typeface="Calibri" panose="020F0502020204030204" charset="0"/>
              </a:rPr>
              <a:t>①</a:t>
            </a:r>
          </a:p>
        </p:txBody>
      </p:sp>
      <p:sp>
        <p:nvSpPr>
          <p:cNvPr id="1048597" name="文本框 13"/>
          <p:cNvSpPr txBox="1"/>
          <p:nvPr/>
        </p:nvSpPr>
        <p:spPr>
          <a:xfrm>
            <a:off x="5870105" y="545533"/>
            <a:ext cx="415498" cy="369332"/>
          </a:xfrm>
          <a:prstGeom prst="rect">
            <a:avLst/>
          </a:prstGeom>
          <a:noFill/>
        </p:spPr>
        <p:txBody>
          <a:bodyPr wrap="none" rtlCol="0" anchor="t">
            <a:spAutoFit/>
          </a:bodyPr>
          <a:lstStyle/>
          <a:p>
            <a:r>
              <a:rPr lang="zh-CN" altLang="en-US" b="1" dirty="0">
                <a:latin typeface="Calibri" panose="020F0502020204030204" charset="0"/>
              </a:rPr>
              <a:t>②</a:t>
            </a:r>
          </a:p>
        </p:txBody>
      </p:sp>
      <p:sp>
        <p:nvSpPr>
          <p:cNvPr id="1048598" name="文本框 14"/>
          <p:cNvSpPr txBox="1"/>
          <p:nvPr/>
        </p:nvSpPr>
        <p:spPr>
          <a:xfrm>
            <a:off x="9980400" y="2309533"/>
            <a:ext cx="415498" cy="369332"/>
          </a:xfrm>
          <a:prstGeom prst="rect">
            <a:avLst/>
          </a:prstGeom>
          <a:noFill/>
        </p:spPr>
        <p:txBody>
          <a:bodyPr wrap="none" rtlCol="0" anchor="t">
            <a:spAutoFit/>
          </a:bodyPr>
          <a:lstStyle/>
          <a:p>
            <a:r>
              <a:rPr lang="zh-CN" altLang="en-US" b="1" dirty="0">
                <a:latin typeface="Calibri" panose="020F0502020204030204" charset="0"/>
              </a:rPr>
              <a:t>③</a:t>
            </a:r>
          </a:p>
        </p:txBody>
      </p:sp>
      <p:sp>
        <p:nvSpPr>
          <p:cNvPr id="1048599" name="文本框 15"/>
          <p:cNvSpPr txBox="1"/>
          <p:nvPr/>
        </p:nvSpPr>
        <p:spPr>
          <a:xfrm>
            <a:off x="10072502" y="4666530"/>
            <a:ext cx="415498" cy="369332"/>
          </a:xfrm>
          <a:prstGeom prst="rect">
            <a:avLst/>
          </a:prstGeom>
          <a:noFill/>
        </p:spPr>
        <p:txBody>
          <a:bodyPr wrap="none" rtlCol="0" anchor="t">
            <a:spAutoFit/>
          </a:bodyPr>
          <a:lstStyle/>
          <a:p>
            <a:r>
              <a:rPr lang="zh-CN" altLang="en-US" b="1" dirty="0">
                <a:latin typeface="Calibri" panose="020F0502020204030204" charset="0"/>
              </a:rPr>
              <a:t>④</a:t>
            </a:r>
          </a:p>
        </p:txBody>
      </p:sp>
      <p:sp>
        <p:nvSpPr>
          <p:cNvPr id="1048600" name="文本框 16"/>
          <p:cNvSpPr txBox="1"/>
          <p:nvPr/>
        </p:nvSpPr>
        <p:spPr>
          <a:xfrm>
            <a:off x="1772853" y="4579557"/>
            <a:ext cx="415498" cy="369332"/>
          </a:xfrm>
          <a:prstGeom prst="rect">
            <a:avLst/>
          </a:prstGeom>
          <a:noFill/>
        </p:spPr>
        <p:txBody>
          <a:bodyPr wrap="none" rtlCol="0" anchor="t">
            <a:spAutoFit/>
          </a:bodyPr>
          <a:lstStyle/>
          <a:p>
            <a:r>
              <a:rPr lang="zh-CN" altLang="en-US" b="1" dirty="0">
                <a:latin typeface="Calibri" panose="020F0502020204030204" charset="0"/>
              </a:rPr>
              <a:t>⑤</a:t>
            </a:r>
          </a:p>
        </p:txBody>
      </p:sp>
      <p:cxnSp>
        <p:nvCxnSpPr>
          <p:cNvPr id="3145728" name="直接连接符 2"/>
          <p:cNvCxnSpPr>
            <a:stCxn id="1048592" idx="3"/>
            <a:endCxn id="1048593" idx="0"/>
          </p:cNvCxnSpPr>
          <p:nvPr/>
        </p:nvCxnSpPr>
        <p:spPr>
          <a:xfrm>
            <a:off x="7807664" y="1575000"/>
            <a:ext cx="2380486" cy="1128533"/>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45729" name="直接连接符 17"/>
          <p:cNvCxnSpPr>
            <a:cxnSpLocks/>
          </p:cNvCxnSpPr>
          <p:nvPr/>
        </p:nvCxnSpPr>
        <p:spPr>
          <a:xfrm>
            <a:off x="4080000" y="5576475"/>
            <a:ext cx="407064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45730" name="直接连接符 20"/>
          <p:cNvCxnSpPr>
            <a:stCxn id="1048592" idx="1"/>
            <a:endCxn id="1048591" idx="0"/>
          </p:cNvCxnSpPr>
          <p:nvPr/>
        </p:nvCxnSpPr>
        <p:spPr>
          <a:xfrm flipH="1">
            <a:off x="1983832" y="1575000"/>
            <a:ext cx="2367832" cy="113419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145732" name="直接连接符 40"/>
          <p:cNvCxnSpPr>
            <a:cxnSpLocks/>
          </p:cNvCxnSpPr>
          <p:nvPr/>
        </p:nvCxnSpPr>
        <p:spPr>
          <a:xfrm flipH="1">
            <a:off x="4080000" y="5805000"/>
            <a:ext cx="4070649" cy="0"/>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3145734" name="直接连接符 48"/>
          <p:cNvCxnSpPr>
            <a:cxnSpLocks/>
          </p:cNvCxnSpPr>
          <p:nvPr/>
        </p:nvCxnSpPr>
        <p:spPr>
          <a:xfrm flipV="1">
            <a:off x="9518961" y="3993799"/>
            <a:ext cx="0" cy="969896"/>
          </a:xfrm>
          <a:prstGeom prst="line">
            <a:avLst/>
          </a:prstGeom>
          <a:ln w="76200">
            <a:solidFill>
              <a:srgbClr val="0174AB"/>
            </a:solidFill>
          </a:ln>
        </p:spPr>
        <p:style>
          <a:lnRef idx="1">
            <a:schemeClr val="accent1"/>
          </a:lnRef>
          <a:fillRef idx="0">
            <a:schemeClr val="accent1"/>
          </a:fillRef>
          <a:effectRef idx="0">
            <a:schemeClr val="accent1"/>
          </a:effectRef>
          <a:fontRef idx="minor">
            <a:schemeClr val="tx1"/>
          </a:fontRef>
        </p:style>
      </p:cxnSp>
      <p:sp>
        <p:nvSpPr>
          <p:cNvPr id="1048602" name="文本框 62"/>
          <p:cNvSpPr txBox="1"/>
          <p:nvPr/>
        </p:nvSpPr>
        <p:spPr>
          <a:xfrm>
            <a:off x="6178567" y="4077102"/>
            <a:ext cx="3424173" cy="523220"/>
          </a:xfrm>
          <a:prstGeom prst="rect">
            <a:avLst/>
          </a:prstGeom>
          <a:noFill/>
        </p:spPr>
        <p:txBody>
          <a:bodyPr wrap="square">
            <a:spAutoFit/>
          </a:bodyPr>
          <a:lstStyle/>
          <a:p>
            <a:pPr algn="ctr"/>
            <a:r>
              <a:rPr lang="en-US" altLang="zh-CN" sz="1400" b="1">
                <a:latin typeface="微软雅黑" panose="020B0503020204020204" charset="-122"/>
                <a:ea typeface="微软雅黑" panose="020B0503020204020204" charset="-122"/>
                <a:cs typeface="Arial" panose="020B0604020202020204" pitchFamily="34" charset="0"/>
              </a:rPr>
              <a:t>Variational Quantum </a:t>
            </a:r>
            <a:r>
              <a:rPr lang="en-US" altLang="zh-CN" sz="1400" b="1">
                <a:latin typeface="Arial" panose="020B0604020202020204" pitchFamily="34" charset="0"/>
                <a:ea typeface="微软雅黑" panose="020B0503020204020204" charset="-122"/>
                <a:cs typeface="Arial" panose="020B0604020202020204" pitchFamily="34" charset="0"/>
              </a:rPr>
              <a:t>M</a:t>
            </a:r>
            <a:r>
              <a:rPr lang="en-US" altLang="zh-CN" sz="1400" b="1">
                <a:latin typeface="Arial" panose="020B0604020202020204" pitchFamily="34" charset="0"/>
                <a:cs typeface="Arial" panose="020B0604020202020204" pitchFamily="34" charset="0"/>
              </a:rPr>
              <a:t>ethods</a:t>
            </a:r>
            <a:r>
              <a:rPr lang="en-US" altLang="zh-CN" sz="1400" b="1">
                <a:latin typeface="微软雅黑" panose="020B0503020204020204" charset="-122"/>
                <a:ea typeface="微软雅黑" panose="020B0503020204020204" charset="-122"/>
                <a:cs typeface="Arial" panose="020B0604020202020204" pitchFamily="34" charset="0"/>
              </a:rPr>
              <a:t> with Enhanced Generalizability</a:t>
            </a:r>
            <a:endParaRPr lang="zh-CN" altLang="en-US" sz="1400" b="1" dirty="0">
              <a:solidFill>
                <a:srgbClr val="FF0000"/>
              </a:solidFill>
              <a:latin typeface="微软雅黑" panose="020B0503020204020204" charset="-122"/>
              <a:ea typeface="微软雅黑" panose="020B0503020204020204" charset="-122"/>
              <a:cs typeface="Arial" panose="020B0604020202020204" pitchFamily="34" charset="0"/>
            </a:endParaRPr>
          </a:p>
        </p:txBody>
      </p:sp>
      <p:sp>
        <p:nvSpPr>
          <p:cNvPr id="1048603" name="文本框 4"/>
          <p:cNvSpPr txBox="1"/>
          <p:nvPr/>
        </p:nvSpPr>
        <p:spPr>
          <a:xfrm>
            <a:off x="4628449" y="4983311"/>
            <a:ext cx="2989594" cy="523220"/>
          </a:xfrm>
          <a:prstGeom prst="rect">
            <a:avLst/>
          </a:prstGeom>
          <a:noFill/>
        </p:spPr>
        <p:txBody>
          <a:bodyPr wrap="square">
            <a:spAutoFit/>
          </a:bodyPr>
          <a:lstStyle/>
          <a:p>
            <a:pPr algn="ctr"/>
            <a:r>
              <a:rPr lang="en-US" altLang="en-US" sz="1400" b="1">
                <a:latin typeface="微软雅黑" panose="020B0503020204020204" charset="-122"/>
                <a:ea typeface="微软雅黑" panose="020B0503020204020204" charset="-122"/>
              </a:rPr>
              <a:t>Generalization Bounds for </a:t>
            </a:r>
          </a:p>
          <a:p>
            <a:pPr algn="ctr"/>
            <a:r>
              <a:rPr lang="en-US" altLang="en-US" sz="1400" b="1">
                <a:latin typeface="微软雅黑" panose="020B0503020204020204" charset="-122"/>
                <a:ea typeface="微软雅黑" panose="020B0503020204020204" charset="-122"/>
              </a:rPr>
              <a:t>Variational Quantum Methods</a:t>
            </a:r>
            <a:endParaRPr lang="en-US" altLang="zh-CN" sz="1400" b="1">
              <a:latin typeface="微软雅黑" panose="020B0503020204020204" charset="-122"/>
              <a:ea typeface="微软雅黑" panose="020B0503020204020204" charset="-122"/>
            </a:endParaRPr>
          </a:p>
        </p:txBody>
      </p:sp>
      <p:sp>
        <p:nvSpPr>
          <p:cNvPr id="1048604" name="文本框 57"/>
          <p:cNvSpPr txBox="1"/>
          <p:nvPr/>
        </p:nvSpPr>
        <p:spPr>
          <a:xfrm>
            <a:off x="8184000" y="1522927"/>
            <a:ext cx="3518698" cy="738664"/>
          </a:xfrm>
          <a:prstGeom prst="rect">
            <a:avLst/>
          </a:prstGeom>
          <a:noFill/>
        </p:spPr>
        <p:txBody>
          <a:bodyPr wrap="square">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en-US" altLang="zh-CN" sz="1400" b="1">
                <a:latin typeface="Arial" panose="020B0604020202020204" pitchFamily="34" charset="0"/>
                <a:ea typeface="微软雅黑" panose="020B0503020204020204" charset="-122"/>
                <a:cs typeface="Arial" panose="020B0604020202020204" pitchFamily="34" charset="0"/>
              </a:rPr>
              <a:t>Variational Quantum M</a:t>
            </a:r>
            <a:r>
              <a:rPr lang="en-US" altLang="zh-CN" sz="1400" b="1">
                <a:latin typeface="Arial" panose="020B0604020202020204" pitchFamily="34" charset="0"/>
                <a:cs typeface="Arial" panose="020B0604020202020204" pitchFamily="34" charset="0"/>
              </a:rPr>
              <a:t>ethods </a:t>
            </a:r>
          </a:p>
          <a:p>
            <a:pPr algn="ctr"/>
            <a:r>
              <a:rPr lang="en-US" altLang="zh-CN" sz="1400" b="1">
                <a:latin typeface="Arial" panose="020B0604020202020204" pitchFamily="34" charset="0"/>
                <a:cs typeface="Arial" panose="020B0604020202020204" pitchFamily="34" charset="0"/>
              </a:rPr>
              <a:t>+ </a:t>
            </a:r>
          </a:p>
          <a:p>
            <a:pPr algn="ctr"/>
            <a:r>
              <a:rPr lang="en-US" altLang="zh-CN" sz="1400" b="1">
                <a:latin typeface="Arial" panose="020B0604020202020204" pitchFamily="34" charset="0"/>
                <a:cs typeface="Arial" panose="020B0604020202020204" pitchFamily="34" charset="0"/>
              </a:rPr>
              <a:t>GCN</a:t>
            </a:r>
            <a:endParaRPr lang="zh-CN" altLang="en-US" sz="1400" b="1" dirty="0">
              <a:latin typeface="Arial" panose="020B0604020202020204" pitchFamily="34" charset="0"/>
              <a:cs typeface="Arial" panose="020B0604020202020204" pitchFamily="34" charset="0"/>
            </a:endParaRPr>
          </a:p>
        </p:txBody>
      </p:sp>
      <p:sp>
        <p:nvSpPr>
          <p:cNvPr id="4" name="文本框 3">
            <a:extLst>
              <a:ext uri="{FF2B5EF4-FFF2-40B4-BE49-F238E27FC236}">
                <a16:creationId xmlns:a16="http://schemas.microsoft.com/office/drawing/2014/main" id="{65C70610-681D-0D4A-F388-8E2084C3DDB5}"/>
              </a:ext>
            </a:extLst>
          </p:cNvPr>
          <p:cNvSpPr txBox="1"/>
          <p:nvPr/>
        </p:nvSpPr>
        <p:spPr>
          <a:xfrm>
            <a:off x="81528" y="3923850"/>
            <a:ext cx="3550920" cy="523220"/>
          </a:xfrm>
          <a:prstGeom prst="rect">
            <a:avLst/>
          </a:prstGeom>
          <a:noFill/>
        </p:spPr>
        <p:txBody>
          <a:bodyPr wrap="square" rtlCol="0" anchor="t">
            <a:spAutoFit/>
          </a:bodyPr>
          <a:lstStyle/>
          <a:p>
            <a:pPr algn="ctr"/>
            <a:r>
              <a:rPr lang="en-US" altLang="zh-CN" sz="1400" b="1">
                <a:latin typeface="Arial" panose="020B0604020202020204" pitchFamily="34" charset="0"/>
                <a:cs typeface="Arial" panose="020B0604020202020204" pitchFamily="34" charset="0"/>
              </a:rPr>
              <a:t>Theoretical Basis of </a:t>
            </a:r>
          </a:p>
          <a:p>
            <a:pPr algn="ctr"/>
            <a:r>
              <a:rPr lang="en-US" altLang="zh-CN" sz="1400" b="1">
                <a:latin typeface="Arial" panose="020B0604020202020204" pitchFamily="34" charset="0"/>
                <a:ea typeface="微软雅黑" panose="020B0503020204020204" charset="-122"/>
                <a:cs typeface="Arial" panose="020B0604020202020204" pitchFamily="34" charset="0"/>
              </a:rPr>
              <a:t>Variational Quantum M</a:t>
            </a:r>
            <a:r>
              <a:rPr lang="en-US" altLang="zh-CN" sz="1400" b="1">
                <a:latin typeface="Arial" panose="020B0604020202020204" pitchFamily="34" charset="0"/>
                <a:cs typeface="Arial" panose="020B0604020202020204" pitchFamily="34" charset="0"/>
              </a:rPr>
              <a:t>ethods</a:t>
            </a:r>
          </a:p>
        </p:txBody>
      </p:sp>
      <p:sp>
        <p:nvSpPr>
          <p:cNvPr id="7" name="文本框 6">
            <a:extLst>
              <a:ext uri="{FF2B5EF4-FFF2-40B4-BE49-F238E27FC236}">
                <a16:creationId xmlns:a16="http://schemas.microsoft.com/office/drawing/2014/main" id="{C9B3EF5A-46D7-678E-3134-3FE0F5B80EAC}"/>
              </a:ext>
            </a:extLst>
          </p:cNvPr>
          <p:cNvSpPr txBox="1"/>
          <p:nvPr/>
        </p:nvSpPr>
        <p:spPr>
          <a:xfrm>
            <a:off x="1102104" y="1250374"/>
            <a:ext cx="3249560" cy="738664"/>
          </a:xfrm>
          <a:prstGeom prst="rect">
            <a:avLst/>
          </a:prstGeom>
          <a:noFill/>
        </p:spPr>
        <p:txBody>
          <a:bodyPr wrap="square">
            <a:spAutoFit/>
          </a:bodyPr>
          <a:lstStyle/>
          <a:p>
            <a:pPr algn="ctr"/>
            <a:r>
              <a:rPr lang="en-US" altLang="zh-CN" sz="1400" b="1">
                <a:latin typeface="Arial" panose="020B0604020202020204" pitchFamily="34" charset="0"/>
                <a:ea typeface="微软雅黑" panose="020B0503020204020204" charset="-122"/>
                <a:cs typeface="Arial" panose="020B0604020202020204" pitchFamily="34" charset="0"/>
              </a:rPr>
              <a:t>Variational Quantum M</a:t>
            </a:r>
            <a:r>
              <a:rPr lang="en-US" altLang="zh-CN" sz="1400" b="1">
                <a:latin typeface="Arial" panose="020B0604020202020204" pitchFamily="34" charset="0"/>
                <a:cs typeface="Arial" panose="020B0604020202020204" pitchFamily="34" charset="0"/>
              </a:rPr>
              <a:t>ethods </a:t>
            </a:r>
          </a:p>
          <a:p>
            <a:pPr algn="ctr"/>
            <a:r>
              <a:rPr lang="en-US" altLang="zh-CN" sz="1400" b="1">
                <a:latin typeface="Arial" panose="020B0604020202020204" pitchFamily="34" charset="0"/>
                <a:cs typeface="Arial" panose="020B0604020202020204" pitchFamily="34" charset="0"/>
              </a:rPr>
              <a:t>+ </a:t>
            </a:r>
          </a:p>
          <a:p>
            <a:pPr algn="ctr"/>
            <a:r>
              <a:rPr lang="en-US" altLang="zh-CN" sz="1400" b="1">
                <a:latin typeface="Arial" panose="020B0604020202020204" pitchFamily="34" charset="0"/>
                <a:cs typeface="Arial" panose="020B0604020202020204" pitchFamily="34" charset="0"/>
              </a:rPr>
              <a:t>Quantum Networks</a:t>
            </a:r>
          </a:p>
        </p:txBody>
      </p:sp>
      <p:sp>
        <p:nvSpPr>
          <p:cNvPr id="11" name="文本框 10">
            <a:extLst>
              <a:ext uri="{FF2B5EF4-FFF2-40B4-BE49-F238E27FC236}">
                <a16:creationId xmlns:a16="http://schemas.microsoft.com/office/drawing/2014/main" id="{03071628-F4CB-D993-A7D6-A45F111361B9}"/>
              </a:ext>
            </a:extLst>
          </p:cNvPr>
          <p:cNvSpPr txBox="1"/>
          <p:nvPr/>
        </p:nvSpPr>
        <p:spPr>
          <a:xfrm>
            <a:off x="4872000" y="5900200"/>
            <a:ext cx="2613135" cy="307777"/>
          </a:xfrm>
          <a:prstGeom prst="rect">
            <a:avLst/>
          </a:prstGeom>
          <a:noFill/>
        </p:spPr>
        <p:txBody>
          <a:bodyPr wrap="square">
            <a:spAutoFit/>
          </a:bodyPr>
          <a:lstStyle/>
          <a:p>
            <a:r>
              <a:rPr lang="en-US" altLang="zh-CN" sz="1400" b="1">
                <a:solidFill>
                  <a:srgbClr val="FF0000"/>
                </a:solidFill>
                <a:latin typeface="微软雅黑" panose="020B0503020204020204" charset="-122"/>
                <a:ea typeface="微软雅黑" panose="020B0503020204020204" charset="-122"/>
                <a:cs typeface="Arial" panose="020B0604020202020204" pitchFamily="34" charset="0"/>
              </a:rPr>
              <a:t>Enhanced Generalizability</a:t>
            </a:r>
            <a:endParaRPr lang="zh-CN" altLang="en-US">
              <a:solidFill>
                <a:srgbClr val="FF0000"/>
              </a:solidFill>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278F9-124E-C61A-A88F-9F0DE38D8547}"/>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7858C6C6-1520-F189-88EE-DCC2DDF28ECB}"/>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AD97DB16-6045-F96A-E6B3-748F5E87E2E5}"/>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F3D602F5-18B0-4D8E-C07C-45E0983F4936}"/>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D43A0572-EA4B-8875-371C-F1487DAF6913}"/>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EF255ABD-2221-EF08-DBF2-6A74F9CDF1B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594114F1-D746-973A-94FD-558AEB46FDA3}"/>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a:t>
            </a:fld>
            <a:endParaRPr lang="zh-HK" altLang="en-US" sz="1600" dirty="0">
              <a:solidFill>
                <a:schemeClr val="bg1"/>
              </a:solidFill>
            </a:endParaRPr>
          </a:p>
        </p:txBody>
      </p:sp>
      <p:sp>
        <p:nvSpPr>
          <p:cNvPr id="1048787" name="文本框 9">
            <a:extLst>
              <a:ext uri="{FF2B5EF4-FFF2-40B4-BE49-F238E27FC236}">
                <a16:creationId xmlns:a16="http://schemas.microsoft.com/office/drawing/2014/main" id="{F5A048D8-9047-AD97-20A2-5C4CB4564217}"/>
              </a:ext>
            </a:extLst>
          </p:cNvPr>
          <p:cNvSpPr txBox="1"/>
          <p:nvPr/>
        </p:nvSpPr>
        <p:spPr>
          <a:xfrm>
            <a:off x="126280" y="660076"/>
            <a:ext cx="11805726" cy="1569660"/>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）什么是量子编码？</a:t>
            </a:r>
            <a:endParaRPr lang="en-US" altLang="zh-CN" sz="2400" b="1" dirty="0">
              <a:latin typeface="微软雅黑" panose="020B0503020204020204" pitchFamily="34" charset="-122"/>
              <a:ea typeface="微软雅黑" panose="020B0503020204020204" pitchFamily="34" charset="-122"/>
            </a:endParaRPr>
          </a:p>
          <a:p>
            <a:r>
              <a:rPr lang="zh-CN" altLang="zh-CN" sz="2400" dirty="0">
                <a:latin typeface="微软雅黑" panose="020B0503020204020204" pitchFamily="34" charset="-122"/>
                <a:ea typeface="微软雅黑" panose="020B0503020204020204" pitchFamily="34" charset="-122"/>
              </a:rPr>
              <a:t>量子编码是指将</a:t>
            </a:r>
            <a:r>
              <a:rPr lang="zh-CN" altLang="zh-CN" sz="2400" b="1" dirty="0">
                <a:solidFill>
                  <a:srgbClr val="FF0000"/>
                </a:solidFill>
                <a:latin typeface="微软雅黑" panose="020B0503020204020204" pitchFamily="34" charset="-122"/>
                <a:ea typeface="微软雅黑" panose="020B0503020204020204" pitchFamily="34" charset="-122"/>
              </a:rPr>
              <a:t>经典信息</a:t>
            </a:r>
            <a:r>
              <a:rPr lang="zh-CN" altLang="zh-CN" sz="2400" dirty="0">
                <a:latin typeface="微软雅黑" panose="020B0503020204020204" pitchFamily="34" charset="-122"/>
                <a:ea typeface="微软雅黑" panose="020B0503020204020204" pitchFamily="34" charset="-122"/>
              </a:rPr>
              <a:t>映射到</a:t>
            </a:r>
            <a:r>
              <a:rPr lang="zh-CN" altLang="zh-CN" sz="2400" b="1" dirty="0">
                <a:solidFill>
                  <a:srgbClr val="FF0000"/>
                </a:solidFill>
                <a:latin typeface="微软雅黑" panose="020B0503020204020204" pitchFamily="34" charset="-122"/>
                <a:ea typeface="微软雅黑" panose="020B0503020204020204" pitchFamily="34" charset="-122"/>
              </a:rPr>
              <a:t>量子系统状态</a:t>
            </a:r>
            <a:r>
              <a:rPr lang="zh-CN" altLang="zh-CN" sz="2400" dirty="0">
                <a:latin typeface="微软雅黑" panose="020B0503020204020204" pitchFamily="34" charset="-122"/>
                <a:ea typeface="微软雅黑" panose="020B0503020204020204" pitchFamily="34" charset="-122"/>
              </a:rPr>
              <a:t>的过程。在量子计算与量子机器学习中，通常特指将</a:t>
            </a:r>
            <a:r>
              <a:rPr lang="zh-CN" altLang="zh-CN" sz="2400" b="1" dirty="0">
                <a:solidFill>
                  <a:srgbClr val="FF0000"/>
                </a:solidFill>
                <a:latin typeface="微软雅黑" panose="020B0503020204020204" pitchFamily="34" charset="-122"/>
                <a:ea typeface="微软雅黑" panose="020B0503020204020204" pitchFamily="34" charset="-122"/>
              </a:rPr>
              <a:t>经典数据</a:t>
            </a:r>
            <a:r>
              <a:rPr lang="zh-CN" altLang="zh-CN" sz="2400" dirty="0">
                <a:latin typeface="微软雅黑" panose="020B0503020204020204" pitchFamily="34" charset="-122"/>
                <a:ea typeface="微软雅黑" panose="020B0503020204020204" pitchFamily="34" charset="-122"/>
              </a:rPr>
              <a:t>编码为</a:t>
            </a:r>
            <a:r>
              <a:rPr lang="zh-CN" altLang="zh-CN" sz="2400" b="1" dirty="0">
                <a:solidFill>
                  <a:srgbClr val="FF0000"/>
                </a:solidFill>
                <a:latin typeface="微软雅黑" panose="020B0503020204020204" pitchFamily="34" charset="-122"/>
                <a:ea typeface="微软雅黑" panose="020B0503020204020204" pitchFamily="34" charset="-122"/>
              </a:rPr>
              <a:t>量子态</a:t>
            </a:r>
            <a:r>
              <a:rPr lang="zh-CN" altLang="en-US" sz="2400" dirty="0">
                <a:latin typeface="微软雅黑" panose="020B0503020204020204" pitchFamily="34" charset="-122"/>
                <a:ea typeface="微软雅黑" panose="020B0503020204020204" pitchFamily="34" charset="-122"/>
              </a:rPr>
              <a:t>的过程。</a:t>
            </a:r>
            <a:endParaRPr lang="en-US" altLang="zh-CN" sz="24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4E3AFE04-0B3E-5026-027F-960C58B3B077}"/>
              </a:ext>
            </a:extLst>
          </p:cNvPr>
          <p:cNvPicPr>
            <a:picLocks noChangeAspect="1"/>
          </p:cNvPicPr>
          <p:nvPr/>
        </p:nvPicPr>
        <p:blipFill>
          <a:blip r:embed="rId3">
            <a:extLst>
              <a:ext uri="{28A0092B-C50C-407E-A947-70E740481C1C}">
                <a14:useLocalDpi xmlns:a14="http://schemas.microsoft.com/office/drawing/2010/main" val="0"/>
              </a:ext>
            </a:extLst>
          </a:blip>
          <a:srcRect l="12916" r="35417"/>
          <a:stretch>
            <a:fillRect/>
          </a:stretch>
        </p:blipFill>
        <p:spPr>
          <a:xfrm rot="5400000">
            <a:off x="4630167" y="-1741378"/>
            <a:ext cx="3036213" cy="10328546"/>
          </a:xfrm>
          <a:prstGeom prst="rect">
            <a:avLst/>
          </a:prstGeom>
        </p:spPr>
      </p:pic>
      <p:sp>
        <p:nvSpPr>
          <p:cNvPr id="4" name="文本框 3">
            <a:extLst>
              <a:ext uri="{FF2B5EF4-FFF2-40B4-BE49-F238E27FC236}">
                <a16:creationId xmlns:a16="http://schemas.microsoft.com/office/drawing/2014/main" id="{BA982E71-3975-C3B6-AB82-061E78EEF09A}"/>
              </a:ext>
            </a:extLst>
          </p:cNvPr>
          <p:cNvSpPr txBox="1"/>
          <p:nvPr/>
        </p:nvSpPr>
        <p:spPr>
          <a:xfrm>
            <a:off x="480000" y="4941000"/>
            <a:ext cx="8161209"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其中</a:t>
            </a:r>
            <a:r>
              <a:rPr lang="en-US" altLang="zh-CN" sz="2400" dirty="0">
                <a:latin typeface="微软雅黑" panose="020B0503020204020204" pitchFamily="34" charset="-122"/>
                <a:ea typeface="微软雅黑" panose="020B0503020204020204" pitchFamily="34" charset="-122"/>
              </a:rPr>
              <a:t>U(x)</a:t>
            </a:r>
            <a:r>
              <a:rPr lang="zh-CN" altLang="en-US" sz="2400" dirty="0">
                <a:latin typeface="微软雅黑" panose="020B0503020204020204" pitchFamily="34" charset="-122"/>
                <a:ea typeface="微软雅黑" panose="020B0503020204020204" pitchFamily="34" charset="-122"/>
              </a:rPr>
              <a:t>为</a:t>
            </a:r>
            <a:r>
              <a:rPr lang="zh-CN" altLang="en-US" sz="2400" b="1" dirty="0">
                <a:solidFill>
                  <a:srgbClr val="FF0000"/>
                </a:solidFill>
                <a:latin typeface="微软雅黑" panose="020B0503020204020204" pitchFamily="34" charset="-122"/>
                <a:ea typeface="微软雅黑" panose="020B0503020204020204" pitchFamily="34" charset="-122"/>
              </a:rPr>
              <a:t>编码函数</a:t>
            </a:r>
            <a:r>
              <a:rPr lang="zh-CN" altLang="en-US" sz="2400" dirty="0">
                <a:latin typeface="微软雅黑" panose="020B0503020204020204" pitchFamily="34" charset="-122"/>
                <a:ea typeface="微软雅黑" panose="020B0503020204020204" pitchFamily="34" charset="-122"/>
              </a:rPr>
              <a:t>，其设计必须满足量子力学基本公理。</a:t>
            </a:r>
          </a:p>
        </p:txBody>
      </p:sp>
    </p:spTree>
    <p:extLst>
      <p:ext uri="{BB962C8B-B14F-4D97-AF65-F5344CB8AC3E}">
        <p14:creationId xmlns:p14="http://schemas.microsoft.com/office/powerpoint/2010/main" val="2462789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9460D-9BDE-69C1-F42F-B561DB2B75FD}"/>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082AE194-9ABD-8987-95E9-831FCC77CFD4}"/>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63A04A58-BDA0-37DD-E0D0-66632C9D264F}"/>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3D3FB9B7-F044-4EEE-CAB5-071AF0B4B240}"/>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C46ACA62-8C7F-4462-47D7-725FA4122C66}"/>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608C8154-650C-153A-05FF-14364EB77292}"/>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3E3DC5AB-B596-49AD-9A26-DEF589E83BDB}"/>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a:t>
            </a:fld>
            <a:endParaRPr lang="zh-HK" altLang="en-US" sz="1600" dirty="0">
              <a:solidFill>
                <a:schemeClr val="bg1"/>
              </a:solidFill>
            </a:endParaRPr>
          </a:p>
        </p:txBody>
      </p:sp>
      <p:pic>
        <p:nvPicPr>
          <p:cNvPr id="2097157" name="图片 3">
            <a:extLst>
              <a:ext uri="{FF2B5EF4-FFF2-40B4-BE49-F238E27FC236}">
                <a16:creationId xmlns:a16="http://schemas.microsoft.com/office/drawing/2014/main" id="{AD7BF8B7-AE94-60A3-ACE7-3643B5BA3A8F}"/>
              </a:ext>
            </a:extLst>
          </p:cNvPr>
          <p:cNvPicPr>
            <a:picLocks noChangeAspect="1"/>
          </p:cNvPicPr>
          <p:nvPr/>
        </p:nvPicPr>
        <p:blipFill>
          <a:blip r:embed="rId3"/>
          <a:srcRect r="7155" b="74023"/>
          <a:stretch>
            <a:fillRect/>
          </a:stretch>
        </p:blipFill>
        <p:spPr>
          <a:xfrm>
            <a:off x="47599" y="2299426"/>
            <a:ext cx="5909955" cy="1921573"/>
          </a:xfrm>
          <a:prstGeom prst="rect">
            <a:avLst/>
          </a:prstGeom>
        </p:spPr>
      </p:pic>
      <p:sp>
        <p:nvSpPr>
          <p:cNvPr id="1048787" name="文本框 9">
            <a:extLst>
              <a:ext uri="{FF2B5EF4-FFF2-40B4-BE49-F238E27FC236}">
                <a16:creationId xmlns:a16="http://schemas.microsoft.com/office/drawing/2014/main" id="{63D41AF4-7378-7482-9750-04F60792DAD0}"/>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mc:AlternateContent xmlns:mc="http://schemas.openxmlformats.org/markup-compatibility/2006" xmlns:a14="http://schemas.microsoft.com/office/drawing/2010/main">
        <mc:Choice Requires="a14">
          <p:sp>
            <p:nvSpPr>
              <p:cNvPr id="3" name="文本框 9">
                <a:extLst>
                  <a:ext uri="{FF2B5EF4-FFF2-40B4-BE49-F238E27FC236}">
                    <a16:creationId xmlns:a16="http://schemas.microsoft.com/office/drawing/2014/main" id="{3EC4A2A2-B431-A84B-8A92-591719739EF8}"/>
                  </a:ext>
                </a:extLst>
              </p:cNvPr>
              <p:cNvSpPr txBox="1"/>
              <p:nvPr/>
            </p:nvSpPr>
            <p:spPr>
              <a:xfrm>
                <a:off x="27733" y="1141209"/>
                <a:ext cx="7652267" cy="1200329"/>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2.1</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Pauli</a:t>
                </a:r>
                <a:r>
                  <a:rPr lang="zh-CN" altLang="en-US" sz="2400" b="1" dirty="0">
                    <a:latin typeface="微软雅黑" panose="020B0503020204020204" charset="-122"/>
                    <a:ea typeface="微软雅黑" panose="020B0503020204020204" charset="-122"/>
                  </a:rPr>
                  <a:t>门</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定义：</a:t>
                </a:r>
                <a:r>
                  <a:rPr lang="zh-CN" altLang="zh-CN" sz="2400" b="1" dirty="0">
                    <a:latin typeface="微软雅黑" panose="020B0503020204020204" pitchFamily="34" charset="-122"/>
                    <a:ea typeface="微软雅黑" panose="020B0503020204020204" pitchFamily="34" charset="-122"/>
                  </a:rPr>
                  <a:t>对应</a:t>
                </a:r>
                <a:r>
                  <a:rPr lang="zh-CN" altLang="zh-CN" sz="2400" b="1" dirty="0">
                    <a:solidFill>
                      <a:srgbClr val="FF0000"/>
                    </a:solidFill>
                    <a:latin typeface="微软雅黑" panose="020B0503020204020204" pitchFamily="34" charset="-122"/>
                    <a:ea typeface="微软雅黑" panose="020B0503020204020204" pitchFamily="34" charset="-122"/>
                  </a:rPr>
                  <a:t>自旋</a:t>
                </a:r>
                <a:r>
                  <a:rPr lang="en-US" altLang="zh-CN" sz="2400" b="1" dirty="0">
                    <a:solidFill>
                      <a:srgbClr val="FF0000"/>
                    </a:solidFill>
                    <a:latin typeface="微软雅黑" panose="020B0503020204020204" pitchFamily="34" charset="-122"/>
                    <a:ea typeface="微软雅黑" panose="020B0503020204020204" pitchFamily="34" charset="-122"/>
                  </a:rPr>
                  <a:t>1/2</a:t>
                </a:r>
                <a:r>
                  <a:rPr lang="zh-CN" altLang="zh-CN" sz="2400" b="1" i="0" dirty="0">
                    <a:solidFill>
                      <a:srgbClr val="FF0000"/>
                    </a:solidFill>
                    <a:effectLst/>
                    <a:latin typeface="微软雅黑" panose="020B0503020204020204" pitchFamily="34" charset="-122"/>
                    <a:ea typeface="微软雅黑" panose="020B0503020204020204" pitchFamily="34" charset="-122"/>
                  </a:rPr>
                  <a:t>粒子</a:t>
                </a:r>
                <a:r>
                  <a:rPr lang="zh-CN" altLang="zh-CN" sz="2400" b="1" i="0" dirty="0">
                    <a:solidFill>
                      <a:srgbClr val="0F1115"/>
                    </a:solidFill>
                    <a:effectLst/>
                    <a:latin typeface="微软雅黑" panose="020B0503020204020204" pitchFamily="34" charset="-122"/>
                    <a:ea typeface="微软雅黑" panose="020B0503020204020204" pitchFamily="34" charset="-122"/>
                  </a:rPr>
                  <a:t>沿 </a:t>
                </a:r>
                <a14:m>
                  <m:oMath xmlns:m="http://schemas.openxmlformats.org/officeDocument/2006/math">
                    <m:r>
                      <a:rPr lang="zh-CN" altLang="en-US" sz="2400" b="1" i="1" smtClean="0">
                        <a:solidFill>
                          <a:srgbClr val="FF0000"/>
                        </a:solidFill>
                        <a:latin typeface="Cambria Math" panose="02040503050406030204" pitchFamily="18" charset="0"/>
                      </a:rPr>
                      <m:t>𝒙</m:t>
                    </m:r>
                    <m:r>
                      <a:rPr lang="en-US" altLang="zh-CN" sz="2400" b="1" i="0">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𝒚</m:t>
                    </m:r>
                    <m:r>
                      <a:rPr lang="en-US" altLang="zh-CN" sz="2400" b="1" i="0">
                        <a:solidFill>
                          <a:srgbClr val="FF0000"/>
                        </a:solidFill>
                        <a:latin typeface="Cambria Math" panose="02040503050406030204" pitchFamily="18" charset="0"/>
                      </a:rPr>
                      <m:t>,</m:t>
                    </m:r>
                    <m:r>
                      <a:rPr lang="zh-CN" altLang="en-US" sz="2400" b="1" i="1">
                        <a:solidFill>
                          <a:srgbClr val="FF0000"/>
                        </a:solidFill>
                        <a:latin typeface="Cambria Math" panose="02040503050406030204" pitchFamily="18" charset="0"/>
                      </a:rPr>
                      <m:t>𝒛</m:t>
                    </m:r>
                  </m:oMath>
                </a14:m>
                <a:r>
                  <a:rPr lang="zh-CN" altLang="zh-CN" sz="2400" b="1" i="0" dirty="0">
                    <a:solidFill>
                      <a:srgbClr val="0F1115"/>
                    </a:solidFill>
                    <a:effectLst/>
                    <a:latin typeface="微软雅黑" panose="020B0503020204020204" pitchFamily="34" charset="-122"/>
                    <a:ea typeface="微软雅黑" panose="020B0503020204020204" pitchFamily="34" charset="-122"/>
                  </a:rPr>
                  <a:t>三个方向</a:t>
                </a:r>
                <a:endParaRPr lang="en-US" altLang="zh-CN" sz="2400" b="1" i="0" dirty="0">
                  <a:solidFill>
                    <a:srgbClr val="0F1115"/>
                  </a:solidFill>
                  <a:effectLst/>
                  <a:latin typeface="微软雅黑" panose="020B0503020204020204" pitchFamily="34" charset="-122"/>
                  <a:ea typeface="微软雅黑" panose="020B0503020204020204" pitchFamily="34" charset="-122"/>
                </a:endParaRPr>
              </a:p>
              <a:p>
                <a:r>
                  <a:rPr lang="zh-CN" altLang="zh-CN" sz="2400" b="1" i="0" dirty="0">
                    <a:solidFill>
                      <a:srgbClr val="0F1115"/>
                    </a:solidFill>
                    <a:effectLst/>
                    <a:latin typeface="微软雅黑" panose="020B0503020204020204" pitchFamily="34" charset="-122"/>
                    <a:ea typeface="微软雅黑" panose="020B0503020204020204" pitchFamily="34" charset="-122"/>
                  </a:rPr>
                  <a:t>的</a:t>
                </a:r>
                <a:r>
                  <a:rPr lang="zh-CN" altLang="zh-CN" sz="2400" b="1" i="0" dirty="0">
                    <a:solidFill>
                      <a:srgbClr val="FF0000"/>
                    </a:solidFill>
                    <a:effectLst/>
                    <a:latin typeface="微软雅黑" panose="020B0503020204020204" pitchFamily="34" charset="-122"/>
                    <a:ea typeface="微软雅黑" panose="020B0503020204020204" pitchFamily="34" charset="-122"/>
                  </a:rPr>
                  <a:t>角动量分量</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 name="文本框 9">
                <a:extLst>
                  <a:ext uri="{FF2B5EF4-FFF2-40B4-BE49-F238E27FC236}">
                    <a16:creationId xmlns:a16="http://schemas.microsoft.com/office/drawing/2014/main" id="{3EC4A2A2-B431-A84B-8A92-591719739EF8}"/>
                  </a:ext>
                </a:extLst>
              </p:cNvPr>
              <p:cNvSpPr txBox="1">
                <a:spLocks noRot="1" noChangeAspect="1" noMove="1" noResize="1" noEditPoints="1" noAdjustHandles="1" noChangeArrowheads="1" noChangeShapeType="1" noTextEdit="1"/>
              </p:cNvSpPr>
              <p:nvPr/>
            </p:nvSpPr>
            <p:spPr>
              <a:xfrm>
                <a:off x="27733" y="1141209"/>
                <a:ext cx="7652267" cy="1200329"/>
              </a:xfrm>
              <a:prstGeom prst="rect">
                <a:avLst/>
              </a:prstGeom>
              <a:blipFill>
                <a:blip r:embed="rId4"/>
                <a:stretch>
                  <a:fillRect l="-1275" t="-4061" b="-1066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70A1AB1B-8685-6E8F-3F6C-2372636C076F}"/>
              </a:ext>
            </a:extLst>
          </p:cNvPr>
          <p:cNvPicPr>
            <a:picLocks noChangeAspect="1"/>
          </p:cNvPicPr>
          <p:nvPr/>
        </p:nvPicPr>
        <p:blipFill>
          <a:blip r:embed="rId5">
            <a:extLst>
              <a:ext uri="{28A0092B-C50C-407E-A947-70E740481C1C}">
                <a14:useLocalDpi xmlns:a14="http://schemas.microsoft.com/office/drawing/2010/main" val="0"/>
              </a:ext>
            </a:extLst>
          </a:blip>
          <a:srcRect l="26332" r="8663"/>
          <a:stretch>
            <a:fillRect/>
          </a:stretch>
        </p:blipFill>
        <p:spPr>
          <a:xfrm rot="16200000">
            <a:off x="6141492" y="500262"/>
            <a:ext cx="5853557" cy="6191993"/>
          </a:xfrm>
          <a:prstGeom prst="rect">
            <a:avLst/>
          </a:prstGeom>
        </p:spPr>
      </p:pic>
    </p:spTree>
    <p:extLst>
      <p:ext uri="{BB962C8B-B14F-4D97-AF65-F5344CB8AC3E}">
        <p14:creationId xmlns:p14="http://schemas.microsoft.com/office/powerpoint/2010/main" val="455407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8CDA5-FA4A-A914-8A3E-8B4055A39E32}"/>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1973B813-8B69-D171-4628-0C7ED0C069BE}"/>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D3F871F9-E669-E55B-4C67-1B3851F588F4}"/>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5</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1FAAFD89-A3CC-8D00-FB95-C6741DA556C0}"/>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A87F30A4-3021-4FAF-83DB-D041ED8BE75A}"/>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752DAA2C-7516-8246-C929-6F6E8308570F}"/>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FD6EFDF6-D5FE-04C7-E8DF-F254A4AE6EF4}"/>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a:t>
            </a:fld>
            <a:endParaRPr lang="zh-HK" altLang="en-US" sz="1600" dirty="0">
              <a:solidFill>
                <a:schemeClr val="bg1"/>
              </a:solidFill>
            </a:endParaRPr>
          </a:p>
        </p:txBody>
      </p:sp>
      <p:sp>
        <p:nvSpPr>
          <p:cNvPr id="1048787" name="文本框 9">
            <a:extLst>
              <a:ext uri="{FF2B5EF4-FFF2-40B4-BE49-F238E27FC236}">
                <a16:creationId xmlns:a16="http://schemas.microsoft.com/office/drawing/2014/main" id="{14510DD8-AF9E-3EBD-BF49-17889A2F7E00}"/>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p:sp>
        <p:nvSpPr>
          <p:cNvPr id="3" name="文本框 9">
            <a:extLst>
              <a:ext uri="{FF2B5EF4-FFF2-40B4-BE49-F238E27FC236}">
                <a16:creationId xmlns:a16="http://schemas.microsoft.com/office/drawing/2014/main" id="{E127614D-2BC5-F8B1-C8B1-3BCE533B0343}"/>
              </a:ext>
            </a:extLst>
          </p:cNvPr>
          <p:cNvSpPr txBox="1"/>
          <p:nvPr/>
        </p:nvSpPr>
        <p:spPr>
          <a:xfrm>
            <a:off x="27733" y="1141209"/>
            <a:ext cx="3044267" cy="830997"/>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2.2</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X,Y,Z </a:t>
            </a:r>
            <a:r>
              <a:rPr lang="zh-CN" altLang="en-US" sz="2400" b="1" dirty="0">
                <a:latin typeface="微软雅黑" panose="020B0503020204020204" charset="-122"/>
                <a:ea typeface="微软雅黑" panose="020B0503020204020204" charset="-122"/>
              </a:rPr>
              <a:t>旋转门</a:t>
            </a:r>
            <a:endParaRPr lang="en-US" altLang="zh-CN" sz="2400" b="1" dirty="0">
              <a:latin typeface="微软雅黑" panose="020B0503020204020204" pitchFamily="34" charset="-122"/>
              <a:ea typeface="微软雅黑" panose="020B0503020204020204" pitchFamily="34" charset="-122"/>
            </a:endParaRPr>
          </a:p>
          <a:p>
            <a:endParaRPr lang="en-US" altLang="zh-CN" sz="2400" b="1" i="0" dirty="0">
              <a:solidFill>
                <a:srgbClr val="0F1115"/>
              </a:solidFill>
              <a:effectLst/>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5A4057F-6EE5-CCB4-B940-6B782C7BCD50}"/>
              </a:ext>
            </a:extLst>
          </p:cNvPr>
          <p:cNvPicPr>
            <a:picLocks noChangeAspect="1"/>
          </p:cNvPicPr>
          <p:nvPr/>
        </p:nvPicPr>
        <p:blipFill>
          <a:blip r:embed="rId3"/>
          <a:srcRect t="27131" r="9422" b="24643"/>
          <a:stretch>
            <a:fillRect/>
          </a:stretch>
        </p:blipFill>
        <p:spPr>
          <a:xfrm>
            <a:off x="43532" y="1695499"/>
            <a:ext cx="5478200" cy="3389501"/>
          </a:xfrm>
          <a:prstGeom prst="rect">
            <a:avLst/>
          </a:prstGeom>
        </p:spPr>
      </p:pic>
      <p:pic>
        <p:nvPicPr>
          <p:cNvPr id="6" name="图片 5">
            <a:extLst>
              <a:ext uri="{FF2B5EF4-FFF2-40B4-BE49-F238E27FC236}">
                <a16:creationId xmlns:a16="http://schemas.microsoft.com/office/drawing/2014/main" id="{846657C0-C7BA-C557-8CDF-0725A7678019}"/>
              </a:ext>
            </a:extLst>
          </p:cNvPr>
          <p:cNvPicPr>
            <a:picLocks noChangeAspect="1"/>
          </p:cNvPicPr>
          <p:nvPr/>
        </p:nvPicPr>
        <p:blipFill>
          <a:blip r:embed="rId4" cstate="print">
            <a:extLst>
              <a:ext uri="{28A0092B-C50C-407E-A947-70E740481C1C}">
                <a14:useLocalDpi xmlns:a14="http://schemas.microsoft.com/office/drawing/2010/main" val="0"/>
              </a:ext>
            </a:extLst>
          </a:blip>
          <a:srcRect t="9449" r="7119" b="5512"/>
          <a:stretch>
            <a:fillRect/>
          </a:stretch>
        </p:blipFill>
        <p:spPr>
          <a:xfrm rot="16200000">
            <a:off x="6860530" y="653662"/>
            <a:ext cx="4178129" cy="6412546"/>
          </a:xfrm>
          <a:prstGeom prst="rect">
            <a:avLst/>
          </a:prstGeom>
        </p:spPr>
      </p:pic>
      <p:sp>
        <p:nvSpPr>
          <p:cNvPr id="8" name="矩形: 圆角 7">
            <a:extLst>
              <a:ext uri="{FF2B5EF4-FFF2-40B4-BE49-F238E27FC236}">
                <a16:creationId xmlns:a16="http://schemas.microsoft.com/office/drawing/2014/main" id="{87AA6175-90F5-9951-C649-D2415D339D1E}"/>
              </a:ext>
            </a:extLst>
          </p:cNvPr>
          <p:cNvSpPr/>
          <p:nvPr/>
        </p:nvSpPr>
        <p:spPr>
          <a:xfrm>
            <a:off x="5952000" y="1845000"/>
            <a:ext cx="5472000" cy="792000"/>
          </a:xfrm>
          <a:prstGeom prst="roundRect">
            <a:avLst/>
          </a:prstGeom>
          <a:noFill/>
          <a:ln w="28575">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08E02964-C4E1-061F-C5F9-F2EB58F90415}"/>
              </a:ext>
            </a:extLst>
          </p:cNvPr>
          <p:cNvSpPr txBox="1"/>
          <p:nvPr/>
        </p:nvSpPr>
        <p:spPr>
          <a:xfrm>
            <a:off x="5883586" y="673880"/>
            <a:ext cx="6031338" cy="1200329"/>
          </a:xfrm>
          <a:prstGeom prst="rect">
            <a:avLst/>
          </a:prstGeom>
          <a:noFill/>
        </p:spPr>
        <p:txBody>
          <a:bodyPr wrap="square">
            <a:spAutoFit/>
          </a:bodyPr>
          <a:lstStyle/>
          <a:p>
            <a:r>
              <a:rPr lang="en-US" altLang="zh-CN" sz="2400" b="1" dirty="0">
                <a:latin typeface="微软雅黑" panose="020B0503020204020204" charset="-122"/>
                <a:ea typeface="微软雅黑" panose="020B0503020204020204" charset="-122"/>
              </a:rPr>
              <a:t>X</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Y</a:t>
            </a:r>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Z </a:t>
            </a:r>
            <a:r>
              <a:rPr lang="zh-CN" altLang="en-US" sz="2400" b="1" dirty="0">
                <a:latin typeface="微软雅黑" panose="020B0503020204020204" charset="-122"/>
                <a:ea typeface="微软雅黑" panose="020B0503020204020204" charset="-122"/>
              </a:rPr>
              <a:t>旋转门定义：在</a:t>
            </a:r>
            <a:r>
              <a:rPr lang="zh-CN" altLang="en-US" sz="2400" b="1" dirty="0">
                <a:solidFill>
                  <a:srgbClr val="FF0000"/>
                </a:solidFill>
                <a:latin typeface="微软雅黑" panose="020B0503020204020204" charset="-122"/>
                <a:ea typeface="微软雅黑" panose="020B0503020204020204" charset="-122"/>
              </a:rPr>
              <a:t>布洛赫球</a:t>
            </a:r>
            <a:r>
              <a:rPr lang="zh-CN" altLang="en-US" sz="2400" b="1" dirty="0">
                <a:latin typeface="微软雅黑" panose="020B0503020204020204" charset="-122"/>
                <a:ea typeface="微软雅黑" panose="020B0503020204020204" charset="-122"/>
              </a:rPr>
              <a:t>（描述量子自旋运动的几何体）上</a:t>
            </a:r>
            <a:r>
              <a:rPr lang="zh-CN" altLang="en-US" sz="2400" b="1" dirty="0">
                <a:solidFill>
                  <a:srgbClr val="FF0000"/>
                </a:solidFill>
                <a:latin typeface="微软雅黑" panose="020B0503020204020204" charset="-122"/>
                <a:ea typeface="微软雅黑" panose="020B0503020204020204" charset="-122"/>
              </a:rPr>
              <a:t>旋转角度</a:t>
            </a:r>
            <a:r>
              <a:rPr lang="zh-CN" altLang="en-US" sz="2400" b="1" dirty="0">
                <a:latin typeface="微软雅黑" panose="020B0503020204020204" charset="-122"/>
                <a:ea typeface="微软雅黑" panose="020B0503020204020204" charset="-122"/>
              </a:rPr>
              <a:t>的</a:t>
            </a:r>
            <a:r>
              <a:rPr lang="zh-CN" altLang="en-US" sz="2400" b="1" dirty="0">
                <a:solidFill>
                  <a:srgbClr val="FF0000"/>
                </a:solidFill>
                <a:latin typeface="微软雅黑" panose="020B0503020204020204" charset="-122"/>
                <a:ea typeface="微软雅黑" panose="020B0503020204020204" charset="-122"/>
              </a:rPr>
              <a:t>变幻矩阵。</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410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1" name="矩形 18"/>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a:t>
            </a:fld>
            <a:endParaRPr lang="zh-HK" altLang="en-US">
              <a:solidFill>
                <a:prstClr val="black">
                  <a:tint val="75000"/>
                </a:prstClr>
              </a:solidFill>
            </a:endParaRPr>
          </a:p>
        </p:txBody>
      </p:sp>
      <p:grpSp>
        <p:nvGrpSpPr>
          <p:cNvPr id="193" name="组合 54"/>
          <p:cNvGrpSpPr/>
          <p:nvPr/>
        </p:nvGrpSpPr>
        <p:grpSpPr>
          <a:xfrm>
            <a:off x="-1" y="6553200"/>
            <a:ext cx="12192001" cy="304800"/>
            <a:chOff x="0" y="6569404"/>
            <a:chExt cx="9144000" cy="288000"/>
          </a:xfrm>
        </p:grpSpPr>
        <p:sp>
          <p:nvSpPr>
            <p:cNvPr id="104878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a:t>
            </a:fld>
            <a:endParaRPr lang="zh-HK" altLang="en-US" sz="1600" dirty="0">
              <a:solidFill>
                <a:schemeClr val="bg1"/>
              </a:solidFill>
            </a:endParaRPr>
          </a:p>
        </p:txBody>
      </p:sp>
      <p:sp>
        <p:nvSpPr>
          <p:cNvPr id="3" name="文本框 9">
            <a:extLst>
              <a:ext uri="{FF2B5EF4-FFF2-40B4-BE49-F238E27FC236}">
                <a16:creationId xmlns:a16="http://schemas.microsoft.com/office/drawing/2014/main" id="{37570A00-4948-4C85-8C5C-2842B3B26B3D}"/>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p:sp>
        <p:nvSpPr>
          <p:cNvPr id="5" name="文本框 9">
            <a:extLst>
              <a:ext uri="{FF2B5EF4-FFF2-40B4-BE49-F238E27FC236}">
                <a16:creationId xmlns:a16="http://schemas.microsoft.com/office/drawing/2014/main" id="{56748ED8-5930-930D-83D7-A8126F3FF9D9}"/>
              </a:ext>
            </a:extLst>
          </p:cNvPr>
          <p:cNvSpPr txBox="1"/>
          <p:nvPr/>
        </p:nvSpPr>
        <p:spPr>
          <a:xfrm>
            <a:off x="27733" y="1141209"/>
            <a:ext cx="5420267" cy="1569660"/>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2.3</a:t>
            </a:r>
            <a:r>
              <a:rPr lang="zh-CN" altLang="en-US" sz="2400" b="1" dirty="0">
                <a:latin typeface="微软雅黑" panose="020B0503020204020204" charset="-122"/>
                <a:ea typeface="微软雅黑" panose="020B0503020204020204" charset="-122"/>
              </a:rPr>
              <a:t>）纠缠门（</a:t>
            </a:r>
            <a:r>
              <a:rPr lang="en-US" altLang="zh-CN" sz="2400" b="1" dirty="0">
                <a:latin typeface="微软雅黑" panose="020B0503020204020204" charset="-122"/>
                <a:ea typeface="微软雅黑" panose="020B0503020204020204" charset="-122"/>
              </a:rPr>
              <a:t>CNOT</a:t>
            </a:r>
            <a:r>
              <a:rPr lang="zh-CN" altLang="en-US" sz="2400" b="1" dirty="0">
                <a:latin typeface="微软雅黑" panose="020B0503020204020204" charset="-122"/>
                <a:ea typeface="微软雅黑" panose="020B0503020204020204" charset="-122"/>
              </a:rPr>
              <a:t>门）</a:t>
            </a:r>
            <a:endParaRPr lang="en-US" altLang="zh-CN" sz="2400" b="1" dirty="0">
              <a:latin typeface="微软雅黑" panose="020B0503020204020204" charset="-122"/>
              <a:ea typeface="微软雅黑" panose="020B0503020204020204" charset="-122"/>
            </a:endParaRPr>
          </a:p>
          <a:p>
            <a:r>
              <a:rPr lang="zh-CN" altLang="en-US" sz="2400" b="1" dirty="0">
                <a:latin typeface="微软雅黑" panose="020B0503020204020204" charset="-122"/>
                <a:ea typeface="微软雅黑" panose="020B0503020204020204" charset="-122"/>
              </a:rPr>
              <a:t>定义：</a:t>
            </a:r>
            <a:r>
              <a:rPr lang="zh-CN" altLang="zh-CN" sz="2400" b="1" i="0" dirty="0">
                <a:solidFill>
                  <a:srgbClr val="0F1115"/>
                </a:solidFill>
                <a:effectLst/>
                <a:latin typeface="微软雅黑" panose="020B0503020204020204" pitchFamily="34" charset="-122"/>
                <a:ea typeface="微软雅黑" panose="020B0503020204020204" pitchFamily="34" charset="-122"/>
              </a:rPr>
              <a:t>CNOT（Controlled-NOT）即受控非门，是两个量子比特</a:t>
            </a:r>
            <a:r>
              <a:rPr lang="zh-CN" altLang="en-US" sz="2400" b="1" i="0" dirty="0">
                <a:solidFill>
                  <a:srgbClr val="FF0000"/>
                </a:solidFill>
                <a:effectLst/>
                <a:latin typeface="微软雅黑" panose="020B0503020204020204" pitchFamily="34" charset="-122"/>
                <a:ea typeface="微软雅黑" panose="020B0503020204020204" pitchFamily="34" charset="-122"/>
              </a:rPr>
              <a:t>发生纠缠</a:t>
            </a:r>
            <a:r>
              <a:rPr lang="zh-CN" altLang="zh-CN" sz="2400" b="1" i="0" dirty="0">
                <a:solidFill>
                  <a:srgbClr val="0F1115"/>
                </a:solidFill>
                <a:effectLst/>
                <a:latin typeface="微软雅黑" panose="020B0503020204020204" pitchFamily="34" charset="-122"/>
                <a:ea typeface="微软雅黑" panose="020B0503020204020204" pitchFamily="34" charset="-122"/>
              </a:rPr>
              <a:t>门。</a:t>
            </a:r>
            <a:endParaRPr lang="en-US" altLang="zh-CN" sz="2400" b="1" dirty="0">
              <a:latin typeface="微软雅黑" panose="020B0503020204020204" pitchFamily="34" charset="-122"/>
              <a:ea typeface="微软雅黑" panose="020B0503020204020204" pitchFamily="34" charset="-122"/>
            </a:endParaRPr>
          </a:p>
          <a:p>
            <a:endParaRPr lang="en-US" altLang="zh-CN" sz="2400" b="1" i="0" dirty="0">
              <a:solidFill>
                <a:srgbClr val="0F1115"/>
              </a:solidFill>
              <a:effectLst/>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5DC16EC8-77FC-703B-A853-4A13889B46E2}"/>
              </a:ext>
            </a:extLst>
          </p:cNvPr>
          <p:cNvPicPr>
            <a:picLocks noChangeAspect="1"/>
          </p:cNvPicPr>
          <p:nvPr/>
        </p:nvPicPr>
        <p:blipFill>
          <a:blip r:embed="rId3"/>
          <a:srcRect t="75977" r="16793"/>
          <a:stretch>
            <a:fillRect/>
          </a:stretch>
        </p:blipFill>
        <p:spPr>
          <a:xfrm>
            <a:off x="5663878" y="730657"/>
            <a:ext cx="6251246" cy="2097324"/>
          </a:xfrm>
          <a:prstGeom prst="rect">
            <a:avLst/>
          </a:prstGeom>
        </p:spPr>
      </p:pic>
      <p:pic>
        <p:nvPicPr>
          <p:cNvPr id="10" name="图片 9">
            <a:extLst>
              <a:ext uri="{FF2B5EF4-FFF2-40B4-BE49-F238E27FC236}">
                <a16:creationId xmlns:a16="http://schemas.microsoft.com/office/drawing/2014/main" id="{03CC7119-2B63-AF28-B809-F87D20B4689E}"/>
              </a:ext>
            </a:extLst>
          </p:cNvPr>
          <p:cNvPicPr>
            <a:picLocks noChangeAspect="1"/>
          </p:cNvPicPr>
          <p:nvPr/>
        </p:nvPicPr>
        <p:blipFill>
          <a:blip r:embed="rId4"/>
          <a:stretch>
            <a:fillRect/>
          </a:stretch>
        </p:blipFill>
        <p:spPr>
          <a:xfrm>
            <a:off x="780415" y="4060820"/>
            <a:ext cx="4267419" cy="501676"/>
          </a:xfrm>
          <a:prstGeom prst="rect">
            <a:avLst/>
          </a:prstGeom>
        </p:spPr>
      </p:pic>
      <p:pic>
        <p:nvPicPr>
          <p:cNvPr id="12" name="图片 11">
            <a:extLst>
              <a:ext uri="{FF2B5EF4-FFF2-40B4-BE49-F238E27FC236}">
                <a16:creationId xmlns:a16="http://schemas.microsoft.com/office/drawing/2014/main" id="{CA96534C-CE2D-695A-BC01-E552E5373BD9}"/>
              </a:ext>
            </a:extLst>
          </p:cNvPr>
          <p:cNvPicPr>
            <a:picLocks noChangeAspect="1"/>
          </p:cNvPicPr>
          <p:nvPr/>
        </p:nvPicPr>
        <p:blipFill>
          <a:blip r:embed="rId5"/>
          <a:stretch>
            <a:fillRect/>
          </a:stretch>
        </p:blipFill>
        <p:spPr>
          <a:xfrm>
            <a:off x="4808972" y="3945843"/>
            <a:ext cx="1435174" cy="749339"/>
          </a:xfrm>
          <a:prstGeom prst="rect">
            <a:avLst/>
          </a:prstGeom>
        </p:spPr>
      </p:pic>
      <p:pic>
        <p:nvPicPr>
          <p:cNvPr id="14" name="图片 13">
            <a:extLst>
              <a:ext uri="{FF2B5EF4-FFF2-40B4-BE49-F238E27FC236}">
                <a16:creationId xmlns:a16="http://schemas.microsoft.com/office/drawing/2014/main" id="{E3B5D059-DF8D-5CE8-F1A2-3E0178DC6EE0}"/>
              </a:ext>
            </a:extLst>
          </p:cNvPr>
          <p:cNvPicPr>
            <a:picLocks noChangeAspect="1"/>
          </p:cNvPicPr>
          <p:nvPr/>
        </p:nvPicPr>
        <p:blipFill>
          <a:blip r:embed="rId6"/>
          <a:stretch>
            <a:fillRect/>
          </a:stretch>
        </p:blipFill>
        <p:spPr>
          <a:xfrm>
            <a:off x="339548" y="2367116"/>
            <a:ext cx="6499053" cy="1061884"/>
          </a:xfrm>
          <a:prstGeom prst="rect">
            <a:avLst/>
          </a:prstGeom>
        </p:spPr>
      </p:pic>
      <p:sp>
        <p:nvSpPr>
          <p:cNvPr id="16" name="文本框 15">
            <a:extLst>
              <a:ext uri="{FF2B5EF4-FFF2-40B4-BE49-F238E27FC236}">
                <a16:creationId xmlns:a16="http://schemas.microsoft.com/office/drawing/2014/main" id="{14D9BC02-15E7-966E-C275-C61C60826F9D}"/>
              </a:ext>
            </a:extLst>
          </p:cNvPr>
          <p:cNvSpPr txBox="1"/>
          <p:nvPr/>
        </p:nvSpPr>
        <p:spPr>
          <a:xfrm>
            <a:off x="3864000" y="3429674"/>
            <a:ext cx="4464000" cy="461665"/>
          </a:xfrm>
          <a:prstGeom prst="rect">
            <a:avLst/>
          </a:prstGeom>
          <a:noFill/>
        </p:spPr>
        <p:txBody>
          <a:bodyPr wrap="square">
            <a:spAutoFit/>
          </a:bodyPr>
          <a:lstStyle/>
          <a:p>
            <a:r>
              <a:rPr lang="en-US" altLang="zh-CN" sz="2400" b="1" dirty="0" err="1">
                <a:latin typeface="微软雅黑" panose="020B0503020204020204" pitchFamily="34" charset="-122"/>
                <a:ea typeface="微软雅黑" panose="020B0503020204020204" pitchFamily="34" charset="-122"/>
              </a:rPr>
              <a:t>Pauil</a:t>
            </a:r>
            <a:r>
              <a:rPr lang="en-US" altLang="zh-CN" sz="2400" b="1" dirty="0">
                <a:latin typeface="微软雅黑" panose="020B0503020204020204" pitchFamily="34" charset="-122"/>
                <a:ea typeface="微软雅黑" panose="020B0503020204020204" pitchFamily="34" charset="-122"/>
              </a:rPr>
              <a:t>-X</a:t>
            </a:r>
            <a:r>
              <a:rPr lang="zh-CN" altLang="zh-CN" sz="2400" b="1" i="0" dirty="0">
                <a:solidFill>
                  <a:srgbClr val="0F1115"/>
                </a:solidFill>
                <a:effectLst/>
                <a:latin typeface="微软雅黑" panose="020B0503020204020204" pitchFamily="34" charset="-122"/>
                <a:ea typeface="微软雅黑" panose="020B0503020204020204" pitchFamily="34" charset="-122"/>
              </a:rPr>
              <a:t>门</a:t>
            </a:r>
            <a:r>
              <a:rPr lang="zh-CN" altLang="en-US" sz="2400" b="1" dirty="0">
                <a:solidFill>
                  <a:srgbClr val="0F1115"/>
                </a:solidFill>
                <a:latin typeface="微软雅黑" panose="020B0503020204020204" pitchFamily="34" charset="-122"/>
                <a:ea typeface="微软雅黑" panose="020B0503020204020204" pitchFamily="34" charset="-122"/>
              </a:rPr>
              <a:t>也叫</a:t>
            </a:r>
            <a:r>
              <a:rPr lang="zh-CN" altLang="en-US" sz="2400" b="1" dirty="0">
                <a:solidFill>
                  <a:srgbClr val="FF0000"/>
                </a:solidFill>
                <a:latin typeface="微软雅黑" panose="020B0503020204020204" pitchFamily="34" charset="-122"/>
                <a:ea typeface="微软雅黑" panose="020B0503020204020204" pitchFamily="34" charset="-122"/>
              </a:rPr>
              <a:t>非门</a:t>
            </a:r>
            <a:r>
              <a:rPr lang="zh-CN" altLang="en-US" sz="2400" b="1" dirty="0">
                <a:solidFill>
                  <a:srgbClr val="0F1115"/>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NOT</a:t>
            </a:r>
            <a:r>
              <a:rPr lang="zh-CN" altLang="en-US" sz="2400" b="1" dirty="0">
                <a:solidFill>
                  <a:srgbClr val="FF0000"/>
                </a:solidFill>
                <a:latin typeface="微软雅黑" panose="020B0503020204020204" pitchFamily="34" charset="-122"/>
                <a:ea typeface="微软雅黑" panose="020B0503020204020204" pitchFamily="34" charset="-122"/>
              </a:rPr>
              <a:t>门</a:t>
            </a:r>
            <a:endParaRPr lang="zh-CN" altLang="en-US" dirty="0">
              <a:solidFill>
                <a:srgbClr val="FF0000"/>
              </a:solidFill>
            </a:endParaRPr>
          </a:p>
        </p:txBody>
      </p:sp>
      <p:sp>
        <p:nvSpPr>
          <p:cNvPr id="18" name="文本框 17">
            <a:extLst>
              <a:ext uri="{FF2B5EF4-FFF2-40B4-BE49-F238E27FC236}">
                <a16:creationId xmlns:a16="http://schemas.microsoft.com/office/drawing/2014/main" id="{07D9744E-A523-4BEA-7EA0-165963A18B7C}"/>
              </a:ext>
            </a:extLst>
          </p:cNvPr>
          <p:cNvSpPr txBox="1"/>
          <p:nvPr/>
        </p:nvSpPr>
        <p:spPr>
          <a:xfrm>
            <a:off x="2064000" y="4733619"/>
            <a:ext cx="6912000" cy="83099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前者为控制比特</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，施加单位阵保持不变</a:t>
            </a:r>
            <a:endParaRPr lang="en-US" altLang="zh-CN" sz="2400" b="1" dirty="0">
              <a:latin typeface="微软雅黑" panose="020B0503020204020204" pitchFamily="34" charset="-122"/>
              <a:ea typeface="微软雅黑" panose="020B0503020204020204" pitchFamily="34" charset="-122"/>
            </a:endParaRPr>
          </a:p>
          <a:p>
            <a:r>
              <a:rPr lang="zh-CN" altLang="en-US" sz="2400" b="1" dirty="0">
                <a:latin typeface="微软雅黑" panose="020B0503020204020204" pitchFamily="34" charset="-122"/>
                <a:ea typeface="微软雅黑" panose="020B0503020204020204" pitchFamily="34" charset="-122"/>
              </a:rPr>
              <a:t>后者为控制比特</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，施加</a:t>
            </a:r>
            <a:r>
              <a:rPr kumimoji="0" lang="en-US" altLang="zh-CN" sz="2400" b="1"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cs"/>
              </a:rPr>
              <a:t>Pauil</a:t>
            </a:r>
            <a:r>
              <a:rPr kumimoji="0" lang="en-US" altLang="zh-CN"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-X</a:t>
            </a:r>
            <a:r>
              <a:rPr lang="zh-CN" altLang="en-US" sz="2400" b="1" dirty="0">
                <a:latin typeface="微软雅黑" panose="020B0503020204020204" pitchFamily="34" charset="-122"/>
                <a:ea typeface="微软雅黑" panose="020B0503020204020204" pitchFamily="34" charset="-122"/>
              </a:rPr>
              <a:t>矩阵</a:t>
            </a: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表示翻转</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93424-43E1-E122-B507-92D3F41AF131}"/>
            </a:ext>
          </a:extLst>
        </p:cNvPr>
        <p:cNvGrpSpPr/>
        <p:nvPr/>
      </p:nvGrpSpPr>
      <p:grpSpPr>
        <a:xfrm>
          <a:off x="0" y="0"/>
          <a:ext cx="0" cy="0"/>
          <a:chOff x="0" y="0"/>
          <a:chExt cx="0" cy="0"/>
        </a:xfrm>
      </p:grpSpPr>
      <p:sp>
        <p:nvSpPr>
          <p:cNvPr id="1048781" name="矩形 18">
            <a:extLst>
              <a:ext uri="{FF2B5EF4-FFF2-40B4-BE49-F238E27FC236}">
                <a16:creationId xmlns:a16="http://schemas.microsoft.com/office/drawing/2014/main" id="{1E39D597-1EA0-FCB9-18C6-DD255D9F6361}"/>
              </a:ext>
            </a:extLst>
          </p:cNvPr>
          <p:cNvSpPr/>
          <p:nvPr/>
        </p:nvSpPr>
        <p:spPr>
          <a:xfrm>
            <a:off x="-1" y="1"/>
            <a:ext cx="12192001" cy="629747"/>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83" name="灯片编号占位符 53">
            <a:extLst>
              <a:ext uri="{FF2B5EF4-FFF2-40B4-BE49-F238E27FC236}">
                <a16:creationId xmlns:a16="http://schemas.microsoft.com/office/drawing/2014/main" id="{EB9E5856-63C4-56FD-A63D-27B9220B4274}"/>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a:t>
            </a:fld>
            <a:endParaRPr lang="zh-HK" altLang="en-US">
              <a:solidFill>
                <a:prstClr val="black">
                  <a:tint val="75000"/>
                </a:prstClr>
              </a:solidFill>
            </a:endParaRPr>
          </a:p>
        </p:txBody>
      </p:sp>
      <p:grpSp>
        <p:nvGrpSpPr>
          <p:cNvPr id="193" name="组合 54">
            <a:extLst>
              <a:ext uri="{FF2B5EF4-FFF2-40B4-BE49-F238E27FC236}">
                <a16:creationId xmlns:a16="http://schemas.microsoft.com/office/drawing/2014/main" id="{DD2670C7-902D-58D9-CC2D-2AD1B861C1BE}"/>
              </a:ext>
            </a:extLst>
          </p:cNvPr>
          <p:cNvGrpSpPr/>
          <p:nvPr/>
        </p:nvGrpSpPr>
        <p:grpSpPr>
          <a:xfrm>
            <a:off x="-1" y="6553200"/>
            <a:ext cx="12192001" cy="304800"/>
            <a:chOff x="0" y="6569404"/>
            <a:chExt cx="9144000" cy="288000"/>
          </a:xfrm>
        </p:grpSpPr>
        <p:sp>
          <p:nvSpPr>
            <p:cNvPr id="1048784" name="矩形 55">
              <a:extLst>
                <a:ext uri="{FF2B5EF4-FFF2-40B4-BE49-F238E27FC236}">
                  <a16:creationId xmlns:a16="http://schemas.microsoft.com/office/drawing/2014/main" id="{C2965318-4745-86A5-C92D-037590A3D74D}"/>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85" name="矩形 56">
              <a:extLst>
                <a:ext uri="{FF2B5EF4-FFF2-40B4-BE49-F238E27FC236}">
                  <a16:creationId xmlns:a16="http://schemas.microsoft.com/office/drawing/2014/main" id="{334FE62C-3539-3015-3F56-5B234770D12B}"/>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86" name="灯片编号占位符 5">
            <a:extLst>
              <a:ext uri="{FF2B5EF4-FFF2-40B4-BE49-F238E27FC236}">
                <a16:creationId xmlns:a16="http://schemas.microsoft.com/office/drawing/2014/main" id="{F1D08BF8-241E-4747-516B-F6242D1C1B93}"/>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a:t>
            </a:fld>
            <a:endParaRPr lang="zh-HK" altLang="en-US" sz="1600" dirty="0">
              <a:solidFill>
                <a:schemeClr val="bg1"/>
              </a:solidFill>
            </a:endParaRPr>
          </a:p>
        </p:txBody>
      </p:sp>
      <p:pic>
        <p:nvPicPr>
          <p:cNvPr id="2097158" name="图片 7">
            <a:extLst>
              <a:ext uri="{FF2B5EF4-FFF2-40B4-BE49-F238E27FC236}">
                <a16:creationId xmlns:a16="http://schemas.microsoft.com/office/drawing/2014/main" id="{951FF920-626B-132B-2E1A-D6504A7C1D4B}"/>
              </a:ext>
            </a:extLst>
          </p:cNvPr>
          <p:cNvPicPr>
            <a:picLocks noChangeAspect="1"/>
          </p:cNvPicPr>
          <p:nvPr/>
        </p:nvPicPr>
        <p:blipFill>
          <a:blip r:embed="rId3"/>
          <a:srcRect t="319"/>
          <a:stretch>
            <a:fillRect/>
          </a:stretch>
        </p:blipFill>
        <p:spPr>
          <a:xfrm>
            <a:off x="99747" y="1484523"/>
            <a:ext cx="5865195" cy="4994382"/>
          </a:xfrm>
          <a:prstGeom prst="rect">
            <a:avLst/>
          </a:prstGeom>
        </p:spPr>
      </p:pic>
      <p:sp>
        <p:nvSpPr>
          <p:cNvPr id="1048788" name="文本框 11">
            <a:extLst>
              <a:ext uri="{FF2B5EF4-FFF2-40B4-BE49-F238E27FC236}">
                <a16:creationId xmlns:a16="http://schemas.microsoft.com/office/drawing/2014/main" id="{FCB0A834-16D8-16B7-1AEB-D5F7FA5F26AD}"/>
              </a:ext>
            </a:extLst>
          </p:cNvPr>
          <p:cNvSpPr txBox="1"/>
          <p:nvPr/>
        </p:nvSpPr>
        <p:spPr>
          <a:xfrm>
            <a:off x="48000" y="1053000"/>
            <a:ext cx="6619120"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2.4</a:t>
            </a:r>
            <a:r>
              <a:rPr lang="zh-CN" altLang="en-US" sz="2400" b="1" dirty="0">
                <a:latin typeface="微软雅黑" panose="020B0503020204020204" charset="-122"/>
                <a:ea typeface="微软雅黑" panose="020B0503020204020204" charset="-122"/>
              </a:rPr>
              <a:t>）量子电路实现量子态转换</a:t>
            </a:r>
            <a:r>
              <a:rPr lang="en-US" altLang="zh-CN" sz="2400" b="1" dirty="0">
                <a:latin typeface="微软雅黑" panose="020B0503020204020204" charset="-122"/>
                <a:ea typeface="微软雅黑" panose="020B0503020204020204" charset="-122"/>
              </a:rPr>
              <a:t>(</a:t>
            </a:r>
            <a:r>
              <a:rPr lang="zh-CN" altLang="en-US" sz="2400" b="1" dirty="0">
                <a:latin typeface="微软雅黑" panose="020B0503020204020204" charset="-122"/>
                <a:ea typeface="微软雅黑" panose="020B0503020204020204" charset="-122"/>
              </a:rPr>
              <a:t>双量子比特）</a:t>
            </a:r>
          </a:p>
        </p:txBody>
      </p:sp>
      <p:sp>
        <p:nvSpPr>
          <p:cNvPr id="3" name="文本框 9">
            <a:extLst>
              <a:ext uri="{FF2B5EF4-FFF2-40B4-BE49-F238E27FC236}">
                <a16:creationId xmlns:a16="http://schemas.microsoft.com/office/drawing/2014/main" id="{C67805DE-1D20-B2C5-CA4E-8E5F8BCA1C77}"/>
              </a:ext>
            </a:extLst>
          </p:cNvPr>
          <p:cNvSpPr txBox="1"/>
          <p:nvPr/>
        </p:nvSpPr>
        <p:spPr>
          <a:xfrm>
            <a:off x="126280" y="660076"/>
            <a:ext cx="4682692" cy="461665"/>
          </a:xfrm>
          <a:prstGeom prst="rect">
            <a:avLst/>
          </a:prstGeom>
          <a:noFill/>
        </p:spPr>
        <p:txBody>
          <a:bodyPr wrap="none" rtlCol="0">
            <a:spAutoFit/>
          </a:bodyPr>
          <a:lstStyle/>
          <a:p>
            <a:r>
              <a:rPr lang="zh-CN" altLang="en-US"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2</a:t>
            </a:r>
            <a:r>
              <a:rPr lang="zh-CN" altLang="en-US" sz="2400" b="1" dirty="0">
                <a:latin typeface="微软雅黑" panose="020B0503020204020204" charset="-122"/>
                <a:ea typeface="微软雅黑" panose="020B0503020204020204" charset="-122"/>
              </a:rPr>
              <a:t>）量子门编码的编码函数设计</a:t>
            </a:r>
          </a:p>
        </p:txBody>
      </p:sp>
      <p:pic>
        <p:nvPicPr>
          <p:cNvPr id="4" name="图片 3">
            <a:extLst>
              <a:ext uri="{FF2B5EF4-FFF2-40B4-BE49-F238E27FC236}">
                <a16:creationId xmlns:a16="http://schemas.microsoft.com/office/drawing/2014/main" id="{41F91178-AE51-9ADC-AAC2-DAD9DAEB1191}"/>
              </a:ext>
            </a:extLst>
          </p:cNvPr>
          <p:cNvPicPr>
            <a:picLocks noChangeAspect="1"/>
          </p:cNvPicPr>
          <p:nvPr/>
        </p:nvPicPr>
        <p:blipFill>
          <a:blip r:embed="rId4" cstate="print">
            <a:extLst>
              <a:ext uri="{28A0092B-C50C-407E-A947-70E740481C1C}">
                <a14:useLocalDpi xmlns:a14="http://schemas.microsoft.com/office/drawing/2010/main" val="0"/>
              </a:ext>
            </a:extLst>
          </a:blip>
          <a:srcRect l="8394" t="5815" r="5620" b="12295"/>
          <a:stretch>
            <a:fillRect/>
          </a:stretch>
        </p:blipFill>
        <p:spPr>
          <a:xfrm rot="16200000">
            <a:off x="7816239" y="232984"/>
            <a:ext cx="3172528" cy="5379502"/>
          </a:xfrm>
          <a:prstGeom prst="rect">
            <a:avLst/>
          </a:prstGeom>
        </p:spPr>
      </p:pic>
      <p:sp>
        <p:nvSpPr>
          <p:cNvPr id="9" name="文本框 8">
            <a:extLst>
              <a:ext uri="{FF2B5EF4-FFF2-40B4-BE49-F238E27FC236}">
                <a16:creationId xmlns:a16="http://schemas.microsoft.com/office/drawing/2014/main" id="{C52991D3-5F5D-E29C-A4DF-4A47D59DD81A}"/>
              </a:ext>
            </a:extLst>
          </p:cNvPr>
          <p:cNvSpPr txBox="1"/>
          <p:nvPr/>
        </p:nvSpPr>
        <p:spPr>
          <a:xfrm>
            <a:off x="8040000" y="896273"/>
            <a:ext cx="1944000"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第一行推导</a:t>
            </a:r>
          </a:p>
        </p:txBody>
      </p:sp>
      <p:sp>
        <p:nvSpPr>
          <p:cNvPr id="11" name="文本框 10">
            <a:extLst>
              <a:ext uri="{FF2B5EF4-FFF2-40B4-BE49-F238E27FC236}">
                <a16:creationId xmlns:a16="http://schemas.microsoft.com/office/drawing/2014/main" id="{B36703DF-132A-F9B9-0D1F-6B0F5187416A}"/>
              </a:ext>
            </a:extLst>
          </p:cNvPr>
          <p:cNvSpPr txBox="1"/>
          <p:nvPr/>
        </p:nvSpPr>
        <p:spPr>
          <a:xfrm>
            <a:off x="8112000" y="4278166"/>
            <a:ext cx="1944000" cy="461665"/>
          </a:xfrm>
          <a:prstGeom prst="rect">
            <a:avLst/>
          </a:prstGeom>
          <a:noFill/>
        </p:spPr>
        <p:txBody>
          <a:bodyPr wrap="squar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第三行推导</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5493944-0419-82BB-E2E7-11783BB221EA}"/>
                  </a:ext>
                </a:extLst>
              </p:cNvPr>
              <p:cNvSpPr txBox="1"/>
              <p:nvPr/>
            </p:nvSpPr>
            <p:spPr>
              <a:xfrm>
                <a:off x="6667120" y="5489243"/>
                <a:ext cx="5524880" cy="830997"/>
              </a:xfrm>
              <a:prstGeom prst="rect">
                <a:avLst/>
              </a:prstGeom>
              <a:noFill/>
            </p:spPr>
            <p:txBody>
              <a:bodyPr wrap="square">
                <a:spAutoFit/>
              </a:bodyPr>
              <a:lstStyle/>
              <a:p>
                <a:r>
                  <a:rPr lang="zh-CN" altLang="en-US" sz="2400" b="1" dirty="0">
                    <a:latin typeface="微软雅黑" panose="020B0503020204020204" charset="-122"/>
                    <a:ea typeface="微软雅黑" panose="020B0503020204020204" charset="-122"/>
                  </a:rPr>
                  <a:t>代表第</a:t>
                </a:r>
                <a:r>
                  <a:rPr lang="en-US" altLang="zh-CN" sz="2400" b="1" dirty="0">
                    <a:latin typeface="微软雅黑" panose="020B0503020204020204" charset="-122"/>
                    <a:ea typeface="微软雅黑" panose="020B0503020204020204" charset="-122"/>
                  </a:rPr>
                  <a:t>0</a:t>
                </a:r>
                <a:r>
                  <a:rPr lang="zh-CN" altLang="en-US" sz="2400" b="1" dirty="0">
                    <a:latin typeface="微软雅黑" panose="020B0503020204020204" charset="-122"/>
                    <a:ea typeface="微软雅黑" panose="020B0503020204020204" charset="-122"/>
                  </a:rPr>
                  <a:t>个量子比特</a:t>
                </a:r>
                <a:r>
                  <a:rPr lang="zh-CN" altLang="en-US" sz="2400" b="1" dirty="0">
                    <a:solidFill>
                      <a:srgbClr val="FF0000"/>
                    </a:solidFill>
                    <a:latin typeface="微软雅黑" panose="020B0503020204020204" charset="-122"/>
                    <a:ea typeface="微软雅黑" panose="020B0503020204020204" charset="-122"/>
                  </a:rPr>
                  <a:t>保持不变</a:t>
                </a:r>
                <a:endParaRPr lang="en-US" altLang="zh-CN" sz="2400" b="1" dirty="0">
                  <a:solidFill>
                    <a:srgbClr val="FF0000"/>
                  </a:solidFill>
                  <a:latin typeface="微软雅黑" panose="020B0503020204020204" charset="-122"/>
                  <a:ea typeface="微软雅黑" panose="020B0503020204020204" charset="-122"/>
                </a:endParaRPr>
              </a:p>
              <a:p>
                <a:r>
                  <a:rPr lang="zh-CN" altLang="en-US" sz="2400" b="1" dirty="0">
                    <a:latin typeface="微软雅黑" panose="020B0503020204020204" charset="-122"/>
                    <a:ea typeface="微软雅黑" panose="020B0503020204020204" charset="-122"/>
                  </a:rPr>
                  <a:t>第</a:t>
                </a:r>
                <a:r>
                  <a:rPr lang="en-US" altLang="zh-CN" sz="2400" b="1" dirty="0">
                    <a:latin typeface="微软雅黑" panose="020B0503020204020204" charset="-122"/>
                    <a:ea typeface="微软雅黑" panose="020B0503020204020204" charset="-122"/>
                  </a:rPr>
                  <a:t>1</a:t>
                </a:r>
                <a:r>
                  <a:rPr lang="zh-CN" altLang="en-US" sz="2400" b="1" dirty="0">
                    <a:latin typeface="微软雅黑" panose="020B0503020204020204" charset="-122"/>
                    <a:ea typeface="微软雅黑" panose="020B0503020204020204" charset="-122"/>
                  </a:rPr>
                  <a:t>个量子比特施加</a:t>
                </a:r>
                <a:r>
                  <a:rPr lang="en-US" altLang="zh-CN" sz="2400" b="1" dirty="0">
                    <a:solidFill>
                      <a:srgbClr val="FF0000"/>
                    </a:solidFill>
                    <a:latin typeface="微软雅黑" panose="020B0503020204020204" charset="-122"/>
                    <a:ea typeface="微软雅黑" panose="020B0503020204020204" charset="-122"/>
                  </a:rPr>
                  <a:t>-</a:t>
                </a:r>
                <a14:m>
                  <m:oMath xmlns:m="http://schemas.openxmlformats.org/officeDocument/2006/math">
                    <m:r>
                      <a:rPr lang="zh-CN" altLang="en-US" sz="2400" b="1" i="1" smtClean="0">
                        <a:solidFill>
                          <a:srgbClr val="FF0000"/>
                        </a:solidFill>
                        <a:latin typeface="Cambria Math" panose="02040503050406030204" pitchFamily="18" charset="0"/>
                        <a:ea typeface="微软雅黑" panose="020B0503020204020204" charset="-122"/>
                      </a:rPr>
                      <m:t>𝜽</m:t>
                    </m:r>
                  </m:oMath>
                </a14:m>
                <a:r>
                  <a:rPr lang="zh-CN" altLang="en-US" sz="2400" b="1" dirty="0">
                    <a:latin typeface="微软雅黑" panose="020B0503020204020204" pitchFamily="34" charset="-122"/>
                    <a:ea typeface="微软雅黑" panose="020B0503020204020204" pitchFamily="34" charset="-122"/>
                  </a:rPr>
                  <a:t>的</a:t>
                </a:r>
                <a:r>
                  <a:rPr lang="en-US" altLang="zh-CN" sz="2400" b="1" dirty="0">
                    <a:solidFill>
                      <a:srgbClr val="FF0000"/>
                    </a:solidFill>
                    <a:latin typeface="微软雅黑" panose="020B0503020204020204" pitchFamily="34" charset="-122"/>
                    <a:ea typeface="微软雅黑" panose="020B0503020204020204" pitchFamily="34" charset="-122"/>
                  </a:rPr>
                  <a:t>Z</a:t>
                </a:r>
                <a:r>
                  <a:rPr lang="zh-CN" altLang="en-US" sz="2400" b="1" dirty="0">
                    <a:solidFill>
                      <a:srgbClr val="FF0000"/>
                    </a:solidFill>
                    <a:latin typeface="微软雅黑" panose="020B0503020204020204" pitchFamily="34" charset="-122"/>
                    <a:ea typeface="微软雅黑" panose="020B0503020204020204" pitchFamily="34" charset="-122"/>
                  </a:rPr>
                  <a:t>旋转门</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15" name="文本框 14">
                <a:extLst>
                  <a:ext uri="{FF2B5EF4-FFF2-40B4-BE49-F238E27FC236}">
                    <a16:creationId xmlns:a16="http://schemas.microsoft.com/office/drawing/2014/main" id="{05493944-0419-82BB-E2E7-11783BB221EA}"/>
                  </a:ext>
                </a:extLst>
              </p:cNvPr>
              <p:cNvSpPr txBox="1">
                <a:spLocks noRot="1" noChangeAspect="1" noMove="1" noResize="1" noEditPoints="1" noAdjustHandles="1" noChangeArrowheads="1" noChangeShapeType="1" noTextEdit="1"/>
              </p:cNvSpPr>
              <p:nvPr/>
            </p:nvSpPr>
            <p:spPr>
              <a:xfrm>
                <a:off x="6667120" y="5489243"/>
                <a:ext cx="5524880" cy="830997"/>
              </a:xfrm>
              <a:prstGeom prst="rect">
                <a:avLst/>
              </a:prstGeom>
              <a:blipFill>
                <a:blip r:embed="rId5"/>
                <a:stretch>
                  <a:fillRect l="-1766" t="-5839" b="-15328"/>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43D042E5-2890-C4E7-1C2F-29C38E71403D}"/>
              </a:ext>
            </a:extLst>
          </p:cNvPr>
          <p:cNvPicPr>
            <a:picLocks noChangeAspect="1"/>
          </p:cNvPicPr>
          <p:nvPr/>
        </p:nvPicPr>
        <p:blipFill>
          <a:blip r:embed="rId6"/>
          <a:stretch>
            <a:fillRect/>
          </a:stretch>
        </p:blipFill>
        <p:spPr>
          <a:xfrm>
            <a:off x="7540498" y="4797993"/>
            <a:ext cx="2943004" cy="633088"/>
          </a:xfrm>
          <a:prstGeom prst="rect">
            <a:avLst/>
          </a:prstGeom>
        </p:spPr>
      </p:pic>
    </p:spTree>
    <p:extLst>
      <p:ext uri="{BB962C8B-B14F-4D97-AF65-F5344CB8AC3E}">
        <p14:creationId xmlns:p14="http://schemas.microsoft.com/office/powerpoint/2010/main" val="1051603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 name="组合 3"/>
          <p:cNvGrpSpPr/>
          <p:nvPr/>
        </p:nvGrpSpPr>
        <p:grpSpPr>
          <a:xfrm>
            <a:off x="-15419" y="1943451"/>
            <a:ext cx="12239891" cy="2045019"/>
            <a:chOff x="1522095" y="1960245"/>
            <a:chExt cx="9147810" cy="2045019"/>
          </a:xfrm>
        </p:grpSpPr>
        <p:sp>
          <p:nvSpPr>
            <p:cNvPr id="1048618"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619" name="文本框 8"/>
            <p:cNvSpPr txBox="1"/>
            <p:nvPr/>
          </p:nvSpPr>
          <p:spPr>
            <a:xfrm>
              <a:off x="1746588" y="2395354"/>
              <a:ext cx="8771214" cy="720089"/>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Learning to Learn Variational Quantum Algorithm</a:t>
              </a:r>
            </a:p>
          </p:txBody>
        </p:sp>
      </p:grpSp>
      <p:sp>
        <p:nvSpPr>
          <p:cNvPr id="1048620"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1</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25" name="组合 15"/>
          <p:cNvGrpSpPr/>
          <p:nvPr/>
        </p:nvGrpSpPr>
        <p:grpSpPr>
          <a:xfrm>
            <a:off x="-1" y="6559652"/>
            <a:ext cx="12192001" cy="293157"/>
            <a:chOff x="0" y="6575501"/>
            <a:chExt cx="9144000" cy="276999"/>
          </a:xfrm>
        </p:grpSpPr>
        <p:sp>
          <p:nvSpPr>
            <p:cNvPr id="1048621"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22" name="矩形 17"/>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a:t>
            </a:fld>
            <a:endParaRPr lang="zh-HK" altLang="en-US" sz="1600" dirty="0">
              <a:solidFill>
                <a:schemeClr val="bg1"/>
              </a:solidFill>
            </a:endParaRPr>
          </a:p>
        </p:txBody>
      </p:sp>
      <p:pic>
        <p:nvPicPr>
          <p:cNvPr id="2097153"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8624" name="文本框 10"/>
          <p:cNvSpPr txBox="1"/>
          <p:nvPr/>
        </p:nvSpPr>
        <p:spPr>
          <a:xfrm>
            <a:off x="351876" y="3586763"/>
            <a:ext cx="6121400" cy="369332"/>
          </a:xfrm>
          <a:prstGeom prst="rect">
            <a:avLst/>
          </a:prstGeom>
          <a:noFill/>
        </p:spPr>
        <p:txBody>
          <a:bodyPr wrap="square">
            <a:spAutoFit/>
          </a:bodyPr>
          <a:lstStyle/>
          <a:p>
            <a:r>
              <a:rPr lang="en-US" altLang="zh-CN">
                <a:solidFill>
                  <a:schemeClr val="bg1"/>
                </a:solidFill>
                <a:latin typeface="Arial" panose="020B0604020202020204" pitchFamily="34" charset="0"/>
                <a:cs typeface="Arial" panose="020B0604020202020204" pitchFamily="34" charset="0"/>
              </a:rPr>
              <a:t>Rui Huang , Xiaoqing Tan , and Qingshan Xu</a:t>
            </a:r>
            <a:endParaRPr lang="zh-CN" altLang="en-US">
              <a:solidFill>
                <a:schemeClr val="bg1"/>
              </a:solidFill>
              <a:latin typeface="Arial" panose="020B0604020202020204" pitchFamily="34" charset="0"/>
              <a:cs typeface="Arial" panose="020B0604020202020204" pitchFamily="34" charset="0"/>
            </a:endParaRPr>
          </a:p>
        </p:txBody>
      </p:sp>
      <p:sp>
        <p:nvSpPr>
          <p:cNvPr id="1048625" name="文本框 12"/>
          <p:cNvSpPr txBox="1"/>
          <p:nvPr/>
        </p:nvSpPr>
        <p:spPr>
          <a:xfrm>
            <a:off x="351876" y="4596014"/>
            <a:ext cx="8747760"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 </a:t>
            </a:r>
            <a:r>
              <a:rPr lang="en-US" altLang="zh-CN" b="1">
                <a:latin typeface="Arial" panose="020B0604020202020204" pitchFamily="34" charset="0"/>
                <a:cs typeface="Arial" panose="020B0604020202020204" pitchFamily="34" charset="0"/>
              </a:rPr>
              <a:t>Journal: </a:t>
            </a:r>
            <a:r>
              <a:rPr lang="zh-CN" altLang="zh-CN" sz="1800" b="0" i="0">
                <a:solidFill>
                  <a:srgbClr val="333333"/>
                </a:solidFill>
                <a:effectLst/>
                <a:latin typeface="Helvetica Neue"/>
              </a:rPr>
              <a:t>IEEE Transactions on Neural Networks and Learning Systems</a:t>
            </a:r>
            <a:endParaRPr lang="en-US" altLang="zh-CN" dirty="0">
              <a:latin typeface="Arial" panose="020B0604020202020204" pitchFamily="34" charset="0"/>
              <a:cs typeface="Arial" panose="020B0604020202020204" pitchFamily="34" charset="0"/>
            </a:endParaRPr>
          </a:p>
        </p:txBody>
      </p:sp>
      <p:sp>
        <p:nvSpPr>
          <p:cNvPr id="1048626" name="文本框 19"/>
          <p:cNvSpPr txBox="1"/>
          <p:nvPr/>
        </p:nvSpPr>
        <p:spPr>
          <a:xfrm>
            <a:off x="351876" y="5100204"/>
            <a:ext cx="583184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2023</a:t>
            </a:r>
            <a:endParaRPr lang="en-US" altLang="zh-CN"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 name="组合 18"/>
          <p:cNvGrpSpPr/>
          <p:nvPr/>
        </p:nvGrpSpPr>
        <p:grpSpPr bwMode="auto">
          <a:xfrm>
            <a:off x="2409457" y="2650330"/>
            <a:ext cx="1505450" cy="1479472"/>
            <a:chOff x="1709739" y="2636838"/>
            <a:chExt cx="1590160" cy="1584325"/>
          </a:xfrm>
          <a:solidFill>
            <a:srgbClr val="044875"/>
          </a:solidFill>
        </p:grpSpPr>
        <p:sp>
          <p:nvSpPr>
            <p:cNvPr id="1048651"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652"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653"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654"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655"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656"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657"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658"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659"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660"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35" name="组合 18"/>
          <p:cNvGrpSpPr/>
          <p:nvPr>
            <p:custDataLst>
              <p:tags r:id="rId1"/>
            </p:custDataLst>
          </p:nvPr>
        </p:nvGrpSpPr>
        <p:grpSpPr>
          <a:xfrm>
            <a:off x="4523741" y="2047924"/>
            <a:ext cx="5370513" cy="534987"/>
            <a:chOff x="3281952" y="1484784"/>
            <a:chExt cx="5370513" cy="534987"/>
          </a:xfrm>
        </p:grpSpPr>
        <p:grpSp>
          <p:nvGrpSpPr>
            <p:cNvPr id="136" name="组合 13"/>
            <p:cNvGrpSpPr/>
            <p:nvPr/>
          </p:nvGrpSpPr>
          <p:grpSpPr>
            <a:xfrm>
              <a:off x="3943940" y="1484784"/>
              <a:ext cx="4708525" cy="534987"/>
              <a:chOff x="3943940" y="1626760"/>
              <a:chExt cx="4708525" cy="534987"/>
            </a:xfrm>
          </p:grpSpPr>
          <p:sp>
            <p:nvSpPr>
              <p:cNvPr id="1048661"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8662"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8663"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37" name="组合 9"/>
            <p:cNvGrpSpPr/>
            <p:nvPr/>
          </p:nvGrpSpPr>
          <p:grpSpPr>
            <a:xfrm>
              <a:off x="3281952" y="1484784"/>
              <a:ext cx="689642" cy="534987"/>
              <a:chOff x="3281952" y="1626760"/>
              <a:chExt cx="689642" cy="534987"/>
            </a:xfrm>
          </p:grpSpPr>
          <p:sp>
            <p:nvSpPr>
              <p:cNvPr id="1048664"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65"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138" name="组合 21"/>
          <p:cNvGrpSpPr/>
          <p:nvPr>
            <p:custDataLst>
              <p:tags r:id="rId2"/>
            </p:custDataLst>
          </p:nvPr>
        </p:nvGrpSpPr>
        <p:grpSpPr>
          <a:xfrm>
            <a:off x="4503593" y="3688642"/>
            <a:ext cx="5372100" cy="534987"/>
            <a:chOff x="3261805" y="3188752"/>
            <a:chExt cx="5372100" cy="534987"/>
          </a:xfrm>
        </p:grpSpPr>
        <p:grpSp>
          <p:nvGrpSpPr>
            <p:cNvPr id="139" name="组合 11"/>
            <p:cNvGrpSpPr/>
            <p:nvPr/>
          </p:nvGrpSpPr>
          <p:grpSpPr>
            <a:xfrm>
              <a:off x="3261805" y="3188752"/>
              <a:ext cx="689593" cy="534987"/>
              <a:chOff x="3261805" y="3188752"/>
              <a:chExt cx="689593" cy="534987"/>
            </a:xfrm>
          </p:grpSpPr>
          <p:sp>
            <p:nvSpPr>
              <p:cNvPr id="1048666"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67"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140" name="组合 15"/>
            <p:cNvGrpSpPr/>
            <p:nvPr/>
          </p:nvGrpSpPr>
          <p:grpSpPr>
            <a:xfrm>
              <a:off x="3923792" y="3188752"/>
              <a:ext cx="4710113" cy="534987"/>
              <a:chOff x="3923792" y="3188752"/>
              <a:chExt cx="4710113" cy="534987"/>
            </a:xfrm>
          </p:grpSpPr>
          <p:sp>
            <p:nvSpPr>
              <p:cNvPr id="1048668"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669"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67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141" name="组合 22"/>
          <p:cNvGrpSpPr/>
          <p:nvPr>
            <p:custDataLst>
              <p:tags r:id="rId3"/>
            </p:custDataLst>
          </p:nvPr>
        </p:nvGrpSpPr>
        <p:grpSpPr>
          <a:xfrm>
            <a:off x="4503593" y="4509001"/>
            <a:ext cx="5372100" cy="534987"/>
            <a:chOff x="3261805" y="4046141"/>
            <a:chExt cx="5372100" cy="534987"/>
          </a:xfrm>
        </p:grpSpPr>
        <p:grpSp>
          <p:nvGrpSpPr>
            <p:cNvPr id="142" name="组合 12"/>
            <p:cNvGrpSpPr/>
            <p:nvPr/>
          </p:nvGrpSpPr>
          <p:grpSpPr>
            <a:xfrm>
              <a:off x="3261805" y="4046141"/>
              <a:ext cx="689447" cy="534987"/>
              <a:chOff x="3261805" y="3969748"/>
              <a:chExt cx="689447" cy="534987"/>
            </a:xfrm>
          </p:grpSpPr>
          <p:sp>
            <p:nvSpPr>
              <p:cNvPr id="1048671"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72"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143" name="组合 16"/>
            <p:cNvGrpSpPr/>
            <p:nvPr/>
          </p:nvGrpSpPr>
          <p:grpSpPr>
            <a:xfrm>
              <a:off x="3923792" y="4046141"/>
              <a:ext cx="4710113" cy="534987"/>
              <a:chOff x="3923792" y="3969748"/>
              <a:chExt cx="4710113" cy="534987"/>
            </a:xfrm>
          </p:grpSpPr>
          <p:sp>
            <p:nvSpPr>
              <p:cNvPr id="1048673"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8674"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67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144" name="组合 19"/>
          <p:cNvGrpSpPr/>
          <p:nvPr>
            <p:custDataLst>
              <p:tags r:id="rId4"/>
            </p:custDataLst>
          </p:nvPr>
        </p:nvGrpSpPr>
        <p:grpSpPr>
          <a:xfrm>
            <a:off x="4517645" y="2868283"/>
            <a:ext cx="5370513" cy="534987"/>
            <a:chOff x="3275856" y="2348880"/>
            <a:chExt cx="5370513" cy="534987"/>
          </a:xfrm>
        </p:grpSpPr>
        <p:grpSp>
          <p:nvGrpSpPr>
            <p:cNvPr id="145" name="组合 10"/>
            <p:cNvGrpSpPr/>
            <p:nvPr/>
          </p:nvGrpSpPr>
          <p:grpSpPr>
            <a:xfrm>
              <a:off x="3275856" y="2348880"/>
              <a:ext cx="689474" cy="534987"/>
              <a:chOff x="3275856" y="2407756"/>
              <a:chExt cx="689474" cy="534987"/>
            </a:xfrm>
          </p:grpSpPr>
          <p:sp>
            <p:nvSpPr>
              <p:cNvPr id="1048676"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677"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46" name="组合 14"/>
            <p:cNvGrpSpPr/>
            <p:nvPr/>
          </p:nvGrpSpPr>
          <p:grpSpPr>
            <a:xfrm>
              <a:off x="3937844" y="2348880"/>
              <a:ext cx="4708525" cy="534987"/>
              <a:chOff x="3937844" y="2407756"/>
              <a:chExt cx="4708525" cy="534987"/>
            </a:xfrm>
          </p:grpSpPr>
          <p:sp>
            <p:nvSpPr>
              <p:cNvPr id="1048678"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679"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68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147" name="组合 6"/>
          <p:cNvGrpSpPr/>
          <p:nvPr/>
        </p:nvGrpSpPr>
        <p:grpSpPr>
          <a:xfrm>
            <a:off x="-1" y="6559652"/>
            <a:ext cx="12192001" cy="293157"/>
            <a:chOff x="0" y="6575501"/>
            <a:chExt cx="9144000" cy="276999"/>
          </a:xfrm>
        </p:grpSpPr>
        <p:sp>
          <p:nvSpPr>
            <p:cNvPr id="1048681"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82" name="矩形 8"/>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8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a:t>
            </a:fld>
            <a:endParaRPr lang="zh-HK" altLang="en-US" sz="1600" dirty="0">
              <a:solidFill>
                <a:schemeClr val="bg1"/>
              </a:solidFill>
            </a:endParaRPr>
          </a:p>
        </p:txBody>
      </p:sp>
      <p:pic>
        <p:nvPicPr>
          <p:cNvPr id="2097154"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1" name="组合 6"/>
          <p:cNvGrpSpPr/>
          <p:nvPr/>
        </p:nvGrpSpPr>
        <p:grpSpPr>
          <a:xfrm>
            <a:off x="-1" y="6559652"/>
            <a:ext cx="12192001" cy="293157"/>
            <a:chOff x="0" y="6575501"/>
            <a:chExt cx="9144000" cy="276999"/>
          </a:xfrm>
        </p:grpSpPr>
        <p:sp>
          <p:nvSpPr>
            <p:cNvPr id="1048687"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688" name="矩形 8"/>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68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10</a:t>
            </a:fld>
            <a:endParaRPr lang="zh-HK" altLang="en-US" sz="1600" dirty="0">
              <a:solidFill>
                <a:schemeClr val="bg1"/>
              </a:solidFill>
            </a:endParaRPr>
          </a:p>
        </p:txBody>
      </p:sp>
      <p:pic>
        <p:nvPicPr>
          <p:cNvPr id="209715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152" name="组合 18"/>
          <p:cNvGrpSpPr/>
          <p:nvPr/>
        </p:nvGrpSpPr>
        <p:grpSpPr bwMode="auto">
          <a:xfrm>
            <a:off x="2409457" y="2650330"/>
            <a:ext cx="1505450" cy="1479472"/>
            <a:chOff x="1709739" y="2636838"/>
            <a:chExt cx="1590160" cy="1584325"/>
          </a:xfrm>
          <a:solidFill>
            <a:srgbClr val="044875"/>
          </a:solidFill>
        </p:grpSpPr>
        <p:sp>
          <p:nvSpPr>
            <p:cNvPr id="1048690"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691"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692"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693"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694"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695"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696"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697"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698"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699"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53" name="组合 506"/>
          <p:cNvGrpSpPr/>
          <p:nvPr>
            <p:custDataLst>
              <p:tags r:id="rId1"/>
            </p:custDataLst>
          </p:nvPr>
        </p:nvGrpSpPr>
        <p:grpSpPr>
          <a:xfrm>
            <a:off x="4523741" y="2047924"/>
            <a:ext cx="5370513" cy="534987"/>
            <a:chOff x="3281952" y="1484784"/>
            <a:chExt cx="5370513" cy="534987"/>
          </a:xfrm>
        </p:grpSpPr>
        <p:grpSp>
          <p:nvGrpSpPr>
            <p:cNvPr id="154" name="组合 507"/>
            <p:cNvGrpSpPr/>
            <p:nvPr/>
          </p:nvGrpSpPr>
          <p:grpSpPr>
            <a:xfrm>
              <a:off x="3943940" y="1484784"/>
              <a:ext cx="4708525" cy="534987"/>
              <a:chOff x="3943940" y="1626760"/>
              <a:chExt cx="4708525" cy="534987"/>
            </a:xfrm>
          </p:grpSpPr>
          <p:sp>
            <p:nvSpPr>
              <p:cNvPr id="1048700"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8701"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8702"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3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55" name="组合 508"/>
            <p:cNvGrpSpPr/>
            <p:nvPr/>
          </p:nvGrpSpPr>
          <p:grpSpPr>
            <a:xfrm>
              <a:off x="3281952" y="1484784"/>
              <a:ext cx="689642" cy="534987"/>
              <a:chOff x="3281952" y="1626760"/>
              <a:chExt cx="689642" cy="534987"/>
            </a:xfrm>
          </p:grpSpPr>
          <p:sp>
            <p:nvSpPr>
              <p:cNvPr id="1048703"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04"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156" name="组合 515"/>
          <p:cNvGrpSpPr/>
          <p:nvPr>
            <p:custDataLst>
              <p:tags r:id="rId2"/>
            </p:custDataLst>
          </p:nvPr>
        </p:nvGrpSpPr>
        <p:grpSpPr>
          <a:xfrm>
            <a:off x="4503593" y="3688642"/>
            <a:ext cx="5372100" cy="534987"/>
            <a:chOff x="3261805" y="3188752"/>
            <a:chExt cx="5372100" cy="534987"/>
          </a:xfrm>
        </p:grpSpPr>
        <p:grpSp>
          <p:nvGrpSpPr>
            <p:cNvPr id="157" name="组合 516"/>
            <p:cNvGrpSpPr/>
            <p:nvPr/>
          </p:nvGrpSpPr>
          <p:grpSpPr>
            <a:xfrm>
              <a:off x="3261805" y="3188752"/>
              <a:ext cx="689593" cy="534987"/>
              <a:chOff x="3261805" y="3188752"/>
              <a:chExt cx="689593" cy="534987"/>
            </a:xfrm>
          </p:grpSpPr>
          <p:sp>
            <p:nvSpPr>
              <p:cNvPr id="1048705"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06"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158" name="组合 517"/>
            <p:cNvGrpSpPr/>
            <p:nvPr/>
          </p:nvGrpSpPr>
          <p:grpSpPr>
            <a:xfrm>
              <a:off x="3923792" y="3188752"/>
              <a:ext cx="4710113" cy="534987"/>
              <a:chOff x="3923792" y="3188752"/>
              <a:chExt cx="4710113" cy="534987"/>
            </a:xfrm>
          </p:grpSpPr>
          <p:sp>
            <p:nvSpPr>
              <p:cNvPr id="1048707"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08"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09"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59" name="组合 524"/>
          <p:cNvGrpSpPr/>
          <p:nvPr>
            <p:custDataLst>
              <p:tags r:id="rId3"/>
            </p:custDataLst>
          </p:nvPr>
        </p:nvGrpSpPr>
        <p:grpSpPr>
          <a:xfrm>
            <a:off x="4503593" y="4509001"/>
            <a:ext cx="5372100" cy="534987"/>
            <a:chOff x="3261805" y="4046141"/>
            <a:chExt cx="5372100" cy="534987"/>
          </a:xfrm>
        </p:grpSpPr>
        <p:grpSp>
          <p:nvGrpSpPr>
            <p:cNvPr id="160" name="组合 525"/>
            <p:cNvGrpSpPr/>
            <p:nvPr/>
          </p:nvGrpSpPr>
          <p:grpSpPr>
            <a:xfrm>
              <a:off x="3261805" y="4046141"/>
              <a:ext cx="689447" cy="534987"/>
              <a:chOff x="3261805" y="3969748"/>
              <a:chExt cx="689447" cy="534987"/>
            </a:xfrm>
          </p:grpSpPr>
          <p:sp>
            <p:nvSpPr>
              <p:cNvPr id="1048710"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11"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61" name="组合 526"/>
            <p:cNvGrpSpPr/>
            <p:nvPr/>
          </p:nvGrpSpPr>
          <p:grpSpPr>
            <a:xfrm>
              <a:off x="3923792" y="4046141"/>
              <a:ext cx="4710113" cy="534987"/>
              <a:chOff x="3923792" y="3969748"/>
              <a:chExt cx="4710113" cy="534987"/>
            </a:xfrm>
          </p:grpSpPr>
          <p:sp>
            <p:nvSpPr>
              <p:cNvPr id="1048712"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8713"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14"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62" name="组合 533"/>
          <p:cNvGrpSpPr/>
          <p:nvPr>
            <p:custDataLst>
              <p:tags r:id="rId4"/>
            </p:custDataLst>
          </p:nvPr>
        </p:nvGrpSpPr>
        <p:grpSpPr>
          <a:xfrm>
            <a:off x="4517645" y="2868283"/>
            <a:ext cx="5370513" cy="534987"/>
            <a:chOff x="3275856" y="2348880"/>
            <a:chExt cx="5370513" cy="534987"/>
          </a:xfrm>
        </p:grpSpPr>
        <p:grpSp>
          <p:nvGrpSpPr>
            <p:cNvPr id="163" name="组合 534"/>
            <p:cNvGrpSpPr/>
            <p:nvPr/>
          </p:nvGrpSpPr>
          <p:grpSpPr>
            <a:xfrm>
              <a:off x="3275856" y="2348880"/>
              <a:ext cx="689474" cy="534987"/>
              <a:chOff x="3275856" y="2407756"/>
              <a:chExt cx="689474" cy="534987"/>
            </a:xfrm>
          </p:grpSpPr>
          <p:sp>
            <p:nvSpPr>
              <p:cNvPr id="1048715"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16"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164" name="组合 535"/>
            <p:cNvGrpSpPr/>
            <p:nvPr/>
          </p:nvGrpSpPr>
          <p:grpSpPr>
            <a:xfrm>
              <a:off x="3937844" y="2348880"/>
              <a:ext cx="4708525" cy="534987"/>
              <a:chOff x="3937844" y="2407756"/>
              <a:chExt cx="4708525" cy="534987"/>
            </a:xfrm>
          </p:grpSpPr>
          <p:sp>
            <p:nvSpPr>
              <p:cNvPr id="1048717"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18"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19"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8724"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8725" name="文本框 7"/>
          <p:cNvSpPr txBox="1"/>
          <p:nvPr/>
        </p:nvSpPr>
        <p:spPr>
          <a:xfrm>
            <a:off x="206506" y="756617"/>
            <a:ext cx="11661725" cy="5292090"/>
          </a:xfrm>
          <a:prstGeom prst="rect">
            <a:avLst/>
          </a:prstGeom>
          <a:noFill/>
          <a:ln>
            <a:solidFill>
              <a:srgbClr val="0174AB"/>
            </a:solidFill>
          </a:ln>
        </p:spPr>
        <p:txBody>
          <a:bodyPr wrap="square" rtlCol="0">
            <a:spAutoFit/>
          </a:bodyPr>
          <a:lstStyle/>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sym typeface="+mn-ea"/>
              </a:rPr>
              <a:t>Collaborative multi-view IB for flexible unsupervised representation learning</a:t>
            </a:r>
            <a:endParaRPr lang="en-US" altLang="zh-CN" b="1" dirty="0">
              <a:latin typeface="Arial" panose="020B0604020202020204" pitchFamily="34" charset="0"/>
              <a:ea typeface="微软雅黑" panose="020B0503020204020204" charset="-122"/>
              <a:cs typeface="Arial" panose="020B0604020202020204" pitchFamily="34" charset="0"/>
            </a:endParaRPr>
          </a:p>
          <a:p>
            <a:pPr indent="457200">
              <a:lnSpc>
                <a:spcPct val="150000"/>
              </a:lnSpc>
            </a:pPr>
            <a:r>
              <a:rPr lang="en-US" altLang="zh-CN" dirty="0">
                <a:latin typeface="Arial" panose="020B0604020202020204" pitchFamily="34" charset="0"/>
                <a:cs typeface="Arial" panose="020B0604020202020204" pitchFamily="34" charset="0"/>
              </a:rPr>
              <a:t>In this paper, we propose a </a:t>
            </a:r>
            <a:r>
              <a:rPr lang="en-US" altLang="zh-CN" b="1" dirty="0">
                <a:solidFill>
                  <a:srgbClr val="FF0000"/>
                </a:solidFill>
                <a:latin typeface="Arial" panose="020B0604020202020204" pitchFamily="34" charset="0"/>
                <a:cs typeface="Arial" panose="020B0604020202020204" pitchFamily="34" charset="0"/>
              </a:rPr>
              <a:t>meta-learning variational quantum algorithm </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metaVQA</a:t>
            </a:r>
            <a:r>
              <a:rPr lang="en-US" altLang="zh-CN" dirty="0">
                <a:latin typeface="Arial" panose="020B0604020202020204" pitchFamily="34" charset="0"/>
                <a:cs typeface="Arial" panose="020B0604020202020204" pitchFamily="34" charset="0"/>
              </a:rPr>
              <a:t>), aiming to extend to </a:t>
            </a:r>
            <a:r>
              <a:rPr lang="en-US" altLang="zh-CN" b="1" dirty="0">
                <a:solidFill>
                  <a:srgbClr val="FF0000"/>
                </a:solidFill>
                <a:latin typeface="Arial" panose="020B0604020202020204" pitchFamily="34" charset="0"/>
                <a:cs typeface="Arial" panose="020B0604020202020204" pitchFamily="34" charset="0"/>
              </a:rPr>
              <a:t>larger system sizes</a:t>
            </a:r>
            <a:r>
              <a:rPr lang="en-US" altLang="zh-CN" dirty="0">
                <a:latin typeface="Arial" panose="020B0604020202020204" pitchFamily="34" charset="0"/>
                <a:cs typeface="Arial" panose="020B0604020202020204" pitchFamily="34" charset="0"/>
              </a:rPr>
              <a:t> and problem instances by optimizing small-scale quantum algorithms.</a:t>
            </a:r>
          </a:p>
          <a:p>
            <a:pPr indent="457200">
              <a:lnSpc>
                <a:spcPct val="150000"/>
              </a:lnSpc>
            </a:pP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rPr>
              <a:t>Challenge</a:t>
            </a:r>
          </a:p>
          <a:p>
            <a:pPr indent="457200">
              <a:lnSpc>
                <a:spcPct val="150000"/>
              </a:lnSpc>
            </a:pPr>
            <a:r>
              <a:rPr lang="en-US" altLang="zh-CN" dirty="0">
                <a:latin typeface="Arial" panose="020B0604020202020204" pitchFamily="34" charset="0"/>
                <a:cs typeface="Arial" panose="020B0604020202020204" pitchFamily="34" charset="0"/>
              </a:rPr>
              <a:t>Traditional VQA requires a </a:t>
            </a:r>
            <a:r>
              <a:rPr lang="en-US" altLang="zh-CN" b="1" dirty="0">
                <a:solidFill>
                  <a:srgbClr val="FF0000"/>
                </a:solidFill>
                <a:latin typeface="Arial" panose="020B0604020202020204" pitchFamily="34" charset="0"/>
                <a:cs typeface="Arial" panose="020B0604020202020204" pitchFamily="34" charset="0"/>
              </a:rPr>
              <a:t>large number of iterations and samples </a:t>
            </a:r>
            <a:r>
              <a:rPr lang="en-US" altLang="zh-CN" dirty="0">
                <a:latin typeface="Arial" panose="020B0604020202020204" pitchFamily="34" charset="0"/>
                <a:cs typeface="Arial" panose="020B0604020202020204" pitchFamily="34" charset="0"/>
              </a:rPr>
              <a:t>during the training process, which limits its application to large-scale quantum systems.</a:t>
            </a:r>
          </a:p>
          <a:p>
            <a:pPr indent="457200">
              <a:lnSpc>
                <a:spcPct val="150000"/>
              </a:lnSpc>
            </a:pPr>
            <a:endParaRPr lang="en-US" altLang="zh-CN"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b="1" dirty="0">
                <a:latin typeface="Arial" panose="020B0604020202020204" pitchFamily="34" charset="0"/>
                <a:ea typeface="微软雅黑" panose="020B0503020204020204" charset="-122"/>
                <a:cs typeface="Arial" panose="020B0604020202020204" pitchFamily="34" charset="0"/>
              </a:rPr>
              <a:t>Method</a:t>
            </a:r>
          </a:p>
          <a:p>
            <a:pPr>
              <a:lnSpc>
                <a:spcPct val="150000"/>
              </a:lnSpc>
            </a:pPr>
            <a:r>
              <a:rPr lang="en-US" altLang="zh-CN" dirty="0">
                <a:latin typeface="Arial" panose="020B0604020202020204" pitchFamily="34" charset="0"/>
                <a:cs typeface="Arial" panose="020B0604020202020204" pitchFamily="34" charset="0"/>
              </a:rPr>
              <a:t>       The article proposes a meta-learning variational quantum algorithm (meta-VQA) that aids quantum computation by training classical recurrent units. The core idea of this approach is for the model to learn how to optimize the algorithmic parameters so that it can quickly adapt and find near-optimal solutions in new tasks.</a:t>
            </a:r>
          </a:p>
        </p:txBody>
      </p:sp>
      <p:grpSp>
        <p:nvGrpSpPr>
          <p:cNvPr id="168" name="组合 11"/>
          <p:cNvGrpSpPr/>
          <p:nvPr/>
        </p:nvGrpSpPr>
        <p:grpSpPr>
          <a:xfrm>
            <a:off x="-1" y="6559652"/>
            <a:ext cx="12192001" cy="293157"/>
            <a:chOff x="0" y="6575501"/>
            <a:chExt cx="9144000" cy="276999"/>
          </a:xfrm>
        </p:grpSpPr>
        <p:sp>
          <p:nvSpPr>
            <p:cNvPr id="1048726"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27" name="矩形 13"/>
            <p:cNvSpPr/>
            <p:nvPr/>
          </p:nvSpPr>
          <p:spPr>
            <a:xfrm>
              <a:off x="0" y="6586204"/>
              <a:ext cx="8854294" cy="254401"/>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2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11</a:t>
            </a:fld>
            <a:endParaRPr lang="zh-HK" altLang="en-US" sz="16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2" name="组合 2"/>
          <p:cNvGrpSpPr/>
          <p:nvPr/>
        </p:nvGrpSpPr>
        <p:grpSpPr>
          <a:xfrm>
            <a:off x="-1" y="6553200"/>
            <a:ext cx="12192001" cy="304800"/>
            <a:chOff x="0" y="6569404"/>
            <a:chExt cx="9144000" cy="288000"/>
          </a:xfrm>
        </p:grpSpPr>
        <p:sp>
          <p:nvSpPr>
            <p:cNvPr id="1048732"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33"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3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12</a:t>
            </a:fld>
            <a:endParaRPr lang="zh-HK" altLang="en-US" sz="1600" dirty="0">
              <a:solidFill>
                <a:schemeClr val="bg1"/>
              </a:solidFill>
            </a:endParaRPr>
          </a:p>
        </p:txBody>
      </p:sp>
      <p:pic>
        <p:nvPicPr>
          <p:cNvPr id="2097156"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173" name="组合 18"/>
          <p:cNvGrpSpPr/>
          <p:nvPr/>
        </p:nvGrpSpPr>
        <p:grpSpPr bwMode="auto">
          <a:xfrm>
            <a:off x="2409457" y="2650330"/>
            <a:ext cx="1505450" cy="1479472"/>
            <a:chOff x="1709739" y="2636838"/>
            <a:chExt cx="1590160" cy="1584325"/>
          </a:xfrm>
          <a:solidFill>
            <a:srgbClr val="044875"/>
          </a:solidFill>
        </p:grpSpPr>
        <p:sp>
          <p:nvSpPr>
            <p:cNvPr id="104873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736"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737"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738"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739"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740"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741"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742"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743"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744"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174" name="组合 73"/>
          <p:cNvGrpSpPr/>
          <p:nvPr>
            <p:custDataLst>
              <p:tags r:id="rId1"/>
            </p:custDataLst>
          </p:nvPr>
        </p:nvGrpSpPr>
        <p:grpSpPr>
          <a:xfrm>
            <a:off x="4523741" y="2047924"/>
            <a:ext cx="5370513" cy="534987"/>
            <a:chOff x="3281952" y="1484784"/>
            <a:chExt cx="5370513" cy="534987"/>
          </a:xfrm>
        </p:grpSpPr>
        <p:grpSp>
          <p:nvGrpSpPr>
            <p:cNvPr id="175" name="组合 74"/>
            <p:cNvGrpSpPr/>
            <p:nvPr/>
          </p:nvGrpSpPr>
          <p:grpSpPr>
            <a:xfrm>
              <a:off x="3943940" y="1484784"/>
              <a:ext cx="4708525" cy="534987"/>
              <a:chOff x="3943940" y="1626760"/>
              <a:chExt cx="4708525" cy="534987"/>
            </a:xfrm>
          </p:grpSpPr>
          <p:sp>
            <p:nvSpPr>
              <p:cNvPr id="1048745"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8746"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47"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76" name="组合 75"/>
            <p:cNvGrpSpPr/>
            <p:nvPr/>
          </p:nvGrpSpPr>
          <p:grpSpPr>
            <a:xfrm>
              <a:off x="3281952" y="1484784"/>
              <a:ext cx="689642" cy="534987"/>
              <a:chOff x="3281952" y="1626760"/>
              <a:chExt cx="689642" cy="534987"/>
            </a:xfrm>
          </p:grpSpPr>
          <p:sp>
            <p:nvSpPr>
              <p:cNvPr id="1048748"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49"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177" name="组合 82"/>
          <p:cNvGrpSpPr/>
          <p:nvPr>
            <p:custDataLst>
              <p:tags r:id="rId2"/>
            </p:custDataLst>
          </p:nvPr>
        </p:nvGrpSpPr>
        <p:grpSpPr>
          <a:xfrm>
            <a:off x="4503593" y="3688642"/>
            <a:ext cx="5372100" cy="534987"/>
            <a:chOff x="3261805" y="3188752"/>
            <a:chExt cx="5372100" cy="534987"/>
          </a:xfrm>
        </p:grpSpPr>
        <p:grpSp>
          <p:nvGrpSpPr>
            <p:cNvPr id="178" name="组合 83"/>
            <p:cNvGrpSpPr/>
            <p:nvPr/>
          </p:nvGrpSpPr>
          <p:grpSpPr>
            <a:xfrm>
              <a:off x="3261805" y="3188752"/>
              <a:ext cx="689593" cy="534987"/>
              <a:chOff x="3261805" y="3188752"/>
              <a:chExt cx="689593" cy="534987"/>
            </a:xfrm>
          </p:grpSpPr>
          <p:sp>
            <p:nvSpPr>
              <p:cNvPr id="1048750"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51"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179" name="组合 84"/>
            <p:cNvGrpSpPr/>
            <p:nvPr/>
          </p:nvGrpSpPr>
          <p:grpSpPr>
            <a:xfrm>
              <a:off x="3923792" y="3188752"/>
              <a:ext cx="4710113" cy="534987"/>
              <a:chOff x="3923792" y="3188752"/>
              <a:chExt cx="4710113" cy="534987"/>
            </a:xfrm>
          </p:grpSpPr>
          <p:sp>
            <p:nvSpPr>
              <p:cNvPr id="1048752"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753"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4"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80" name="组合 101"/>
          <p:cNvGrpSpPr/>
          <p:nvPr>
            <p:custDataLst>
              <p:tags r:id="rId3"/>
            </p:custDataLst>
          </p:nvPr>
        </p:nvGrpSpPr>
        <p:grpSpPr>
          <a:xfrm>
            <a:off x="4503593" y="4509001"/>
            <a:ext cx="5372100" cy="534987"/>
            <a:chOff x="3261805" y="4046141"/>
            <a:chExt cx="5372100" cy="534987"/>
          </a:xfrm>
        </p:grpSpPr>
        <p:grpSp>
          <p:nvGrpSpPr>
            <p:cNvPr id="181" name="组合 102"/>
            <p:cNvGrpSpPr/>
            <p:nvPr/>
          </p:nvGrpSpPr>
          <p:grpSpPr>
            <a:xfrm>
              <a:off x="3261805" y="4046141"/>
              <a:ext cx="689447" cy="534987"/>
              <a:chOff x="3261805" y="3969748"/>
              <a:chExt cx="689447" cy="534987"/>
            </a:xfrm>
          </p:grpSpPr>
          <p:sp>
            <p:nvSpPr>
              <p:cNvPr id="1048755"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56"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182" name="组合 103"/>
            <p:cNvGrpSpPr/>
            <p:nvPr/>
          </p:nvGrpSpPr>
          <p:grpSpPr>
            <a:xfrm>
              <a:off x="3923792" y="4046141"/>
              <a:ext cx="4710113" cy="534987"/>
              <a:chOff x="3923792" y="3969748"/>
              <a:chExt cx="4710113" cy="534987"/>
            </a:xfrm>
          </p:grpSpPr>
          <p:sp>
            <p:nvSpPr>
              <p:cNvPr id="1048757"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8758"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9"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183" name="组合 110"/>
          <p:cNvGrpSpPr/>
          <p:nvPr>
            <p:custDataLst>
              <p:tags r:id="rId4"/>
            </p:custDataLst>
          </p:nvPr>
        </p:nvGrpSpPr>
        <p:grpSpPr>
          <a:xfrm>
            <a:off x="4517645" y="2868283"/>
            <a:ext cx="5370513" cy="534987"/>
            <a:chOff x="3275856" y="2348880"/>
            <a:chExt cx="5370513" cy="534987"/>
          </a:xfrm>
        </p:grpSpPr>
        <p:grpSp>
          <p:nvGrpSpPr>
            <p:cNvPr id="184" name="组合 111"/>
            <p:cNvGrpSpPr/>
            <p:nvPr/>
          </p:nvGrpSpPr>
          <p:grpSpPr>
            <a:xfrm>
              <a:off x="3275856" y="2348880"/>
              <a:ext cx="689474" cy="534987"/>
              <a:chOff x="3275856" y="2407756"/>
              <a:chExt cx="689474" cy="534987"/>
            </a:xfrm>
          </p:grpSpPr>
          <p:sp>
            <p:nvSpPr>
              <p:cNvPr id="1048760"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761"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185" name="组合 112"/>
            <p:cNvGrpSpPr/>
            <p:nvPr/>
          </p:nvGrpSpPr>
          <p:grpSpPr>
            <a:xfrm>
              <a:off x="3937844" y="2348880"/>
              <a:ext cx="4708525" cy="534987"/>
              <a:chOff x="3937844" y="2407756"/>
              <a:chExt cx="4708525" cy="534987"/>
            </a:xfrm>
          </p:grpSpPr>
          <p:sp>
            <p:nvSpPr>
              <p:cNvPr id="1048762"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763"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6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6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770"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13</a:t>
            </a:fld>
            <a:endParaRPr lang="zh-HK" altLang="en-US">
              <a:solidFill>
                <a:prstClr val="black">
                  <a:tint val="75000"/>
                </a:prstClr>
              </a:solidFill>
            </a:endParaRPr>
          </a:p>
        </p:txBody>
      </p:sp>
      <p:grpSp>
        <p:nvGrpSpPr>
          <p:cNvPr id="189" name="组合 54"/>
          <p:cNvGrpSpPr/>
          <p:nvPr/>
        </p:nvGrpSpPr>
        <p:grpSpPr>
          <a:xfrm>
            <a:off x="-1" y="6553200"/>
            <a:ext cx="12192001" cy="304800"/>
            <a:chOff x="0" y="6569404"/>
            <a:chExt cx="9144000" cy="288000"/>
          </a:xfrm>
        </p:grpSpPr>
        <p:sp>
          <p:nvSpPr>
            <p:cNvPr id="1048771"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72"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7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13</a:t>
            </a:fld>
            <a:endParaRPr lang="zh-HK" altLang="en-US" sz="1600" dirty="0">
              <a:solidFill>
                <a:schemeClr val="bg1"/>
              </a:solidFill>
            </a:endParaRPr>
          </a:p>
        </p:txBody>
      </p:sp>
      <p:sp>
        <p:nvSpPr>
          <p:cNvPr id="1048774" name="文本框 9"/>
          <p:cNvSpPr txBox="1"/>
          <p:nvPr/>
        </p:nvSpPr>
        <p:spPr>
          <a:xfrm>
            <a:off x="840000" y="1413000"/>
            <a:ext cx="5763244"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1</a:t>
            </a: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Variational </a:t>
            </a:r>
            <a:r>
              <a:rPr lang="en-US" altLang="zh-CN" sz="2000" b="1">
                <a:latin typeface="微软雅黑" panose="020B0503020204020204" charset="-122"/>
                <a:ea typeface="微软雅黑" panose="020B0503020204020204" charset="-122"/>
              </a:rPr>
              <a:t>quantum algorithm (VQA):</a:t>
            </a:r>
            <a:endParaRPr lang="zh-CN" altLang="en-US" sz="2000" b="1" dirty="0">
              <a:latin typeface="微软雅黑" panose="020B0503020204020204" charset="-122"/>
              <a:ea typeface="微软雅黑" panose="020B0503020204020204" charset="-122"/>
            </a:endParaRPr>
          </a:p>
        </p:txBody>
      </p:sp>
      <p:sp>
        <p:nvSpPr>
          <p:cNvPr id="1048775" name="文本框 4"/>
          <p:cNvSpPr txBox="1"/>
          <p:nvPr/>
        </p:nvSpPr>
        <p:spPr>
          <a:xfrm>
            <a:off x="790862" y="1813110"/>
            <a:ext cx="10224000" cy="1420325"/>
          </a:xfrm>
          <a:prstGeom prst="rect">
            <a:avLst/>
          </a:prstGeom>
          <a:noFill/>
        </p:spPr>
        <p:txBody>
          <a:bodyPr wrap="square">
            <a:spAutoFit/>
          </a:bodyPr>
          <a:lstStyle/>
          <a:p>
            <a:pPr>
              <a:lnSpc>
                <a:spcPct val="150000"/>
              </a:lnSpc>
              <a:buNone/>
            </a:pPr>
            <a:r>
              <a:rPr lang="en-US" altLang="zh-CN" sz="2000" dirty="0">
                <a:solidFill>
                  <a:srgbClr val="231F20"/>
                </a:solidFill>
                <a:effectLst/>
                <a:latin typeface="Arial" panose="020B0604020202020204" pitchFamily="34" charset="0"/>
                <a:cs typeface="Arial" panose="020B0604020202020204" pitchFamily="34" charset="0"/>
              </a:rPr>
              <a:t>        Variational quantum algorithms (VQAs) use </a:t>
            </a:r>
            <a:r>
              <a:rPr lang="en-US" altLang="zh-CN" sz="2000" b="1" dirty="0">
                <a:solidFill>
                  <a:srgbClr val="FF0000"/>
                </a:solidFill>
                <a:effectLst/>
                <a:latin typeface="Arial" panose="020B0604020202020204" pitchFamily="34" charset="0"/>
                <a:cs typeface="Arial" panose="020B0604020202020204" pitchFamily="34" charset="0"/>
              </a:rPr>
              <a:t>classical computers </a:t>
            </a:r>
            <a:r>
              <a:rPr lang="en-US" altLang="zh-CN" sz="2000" dirty="0">
                <a:solidFill>
                  <a:srgbClr val="231F20"/>
                </a:solidFill>
                <a:effectLst/>
                <a:latin typeface="Arial" panose="020B0604020202020204" pitchFamily="34" charset="0"/>
                <a:cs typeface="Arial" panose="020B0604020202020204" pitchFamily="34" charset="0"/>
              </a:rPr>
              <a:t>as the </a:t>
            </a:r>
            <a:r>
              <a:rPr lang="en-US" altLang="zh-CN" sz="2000" b="1" dirty="0">
                <a:solidFill>
                  <a:srgbClr val="FF0000"/>
                </a:solidFill>
                <a:effectLst/>
                <a:latin typeface="Arial" panose="020B0604020202020204" pitchFamily="34" charset="0"/>
                <a:cs typeface="Arial" panose="020B0604020202020204" pitchFamily="34" charset="0"/>
              </a:rPr>
              <a:t>quantum outer loop optimizer</a:t>
            </a:r>
            <a:r>
              <a:rPr lang="en-US" altLang="zh-CN" sz="2000" b="1" dirty="0">
                <a:solidFill>
                  <a:srgbClr val="231F20"/>
                </a:solidFill>
                <a:effectLst/>
                <a:latin typeface="Arial" panose="020B0604020202020204" pitchFamily="34" charset="0"/>
                <a:cs typeface="Arial" panose="020B0604020202020204" pitchFamily="34" charset="0"/>
              </a:rPr>
              <a:t> </a:t>
            </a:r>
            <a:r>
              <a:rPr lang="en-US" altLang="zh-CN" sz="2000" dirty="0">
                <a:solidFill>
                  <a:srgbClr val="231F20"/>
                </a:solidFill>
                <a:effectLst/>
                <a:latin typeface="Arial" panose="020B0604020202020204" pitchFamily="34" charset="0"/>
                <a:cs typeface="Arial" panose="020B0604020202020204" pitchFamily="34" charset="0"/>
              </a:rPr>
              <a:t>and update the </a:t>
            </a:r>
            <a:r>
              <a:rPr lang="en-US" altLang="zh-CN" sz="2000" b="1" dirty="0">
                <a:solidFill>
                  <a:srgbClr val="FF0000"/>
                </a:solidFill>
                <a:effectLst/>
                <a:latin typeface="Arial" panose="020B0604020202020204" pitchFamily="34" charset="0"/>
                <a:cs typeface="Arial" panose="020B0604020202020204" pitchFamily="34" charset="0"/>
              </a:rPr>
              <a:t>circuit parameters </a:t>
            </a:r>
            <a:r>
              <a:rPr lang="en-US" altLang="zh-CN" sz="2000" dirty="0">
                <a:solidFill>
                  <a:srgbClr val="231F20"/>
                </a:solidFill>
                <a:effectLst/>
                <a:latin typeface="Arial" panose="020B0604020202020204" pitchFamily="34" charset="0"/>
                <a:cs typeface="Arial" panose="020B0604020202020204" pitchFamily="34" charset="0"/>
              </a:rPr>
              <a:t>to obtain an approximate ground state.</a:t>
            </a:r>
            <a:endParaRPr lang="zh-CN" altLang="en-US" sz="2000" dirty="0">
              <a:latin typeface="Arial" panose="020B0604020202020204" pitchFamily="34" charset="0"/>
              <a:cs typeface="Arial" panose="020B0604020202020204" pitchFamily="34" charset="0"/>
            </a:endParaRPr>
          </a:p>
        </p:txBody>
      </p:sp>
      <p:sp>
        <p:nvSpPr>
          <p:cNvPr id="1048776" name="文本框 5"/>
          <p:cNvSpPr txBox="1"/>
          <p:nvPr/>
        </p:nvSpPr>
        <p:spPr>
          <a:xfrm>
            <a:off x="790862" y="3761638"/>
            <a:ext cx="2769348" cy="400110"/>
          </a:xfrm>
          <a:prstGeom prst="rect">
            <a:avLst/>
          </a:prstGeom>
          <a:noFill/>
        </p:spPr>
        <p:txBody>
          <a:bodyPr wrap="none" rtlCol="0">
            <a:spAutoFit/>
          </a:bodyPr>
          <a:lstStyle/>
          <a:p>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2</a:t>
            </a:r>
            <a:r>
              <a:rPr lang="zh-CN" altLang="en-US" sz="2000" b="1" dirty="0">
                <a:latin typeface="微软雅黑" panose="020B0503020204020204" charset="-122"/>
                <a:ea typeface="微软雅黑" panose="020B0503020204020204" charset="-122"/>
              </a:rPr>
              <a:t>）</a:t>
            </a:r>
            <a:r>
              <a:rPr lang="en-US" altLang="zh-CN" sz="2000" b="1" dirty="0">
                <a:latin typeface="微软雅黑" panose="020B0503020204020204" charset="-122"/>
                <a:ea typeface="微软雅黑" panose="020B0503020204020204" charset="-122"/>
              </a:rPr>
              <a:t>Meta-learning:</a:t>
            </a:r>
            <a:endParaRPr lang="zh-CN" altLang="en-US" sz="2000" b="1" dirty="0">
              <a:latin typeface="微软雅黑" panose="020B0503020204020204" charset="-122"/>
              <a:ea typeface="微软雅黑" panose="020B0503020204020204" charset="-122"/>
            </a:endParaRPr>
          </a:p>
        </p:txBody>
      </p:sp>
      <p:sp>
        <p:nvSpPr>
          <p:cNvPr id="1048777" name="文本框 6"/>
          <p:cNvSpPr txBox="1"/>
          <p:nvPr/>
        </p:nvSpPr>
        <p:spPr>
          <a:xfrm>
            <a:off x="790862" y="4249613"/>
            <a:ext cx="10224000" cy="958660"/>
          </a:xfrm>
          <a:prstGeom prst="rect">
            <a:avLst/>
          </a:prstGeom>
          <a:noFill/>
        </p:spPr>
        <p:txBody>
          <a:bodyPr wrap="square">
            <a:spAutoFit/>
          </a:bodyPr>
          <a:lstStyle/>
          <a:p>
            <a:pPr>
              <a:lnSpc>
                <a:spcPct val="150000"/>
              </a:lnSpc>
              <a:buNone/>
            </a:pPr>
            <a:r>
              <a:rPr lang="en-US" altLang="zh-CN" sz="2000" dirty="0">
                <a:solidFill>
                  <a:srgbClr val="231F20"/>
                </a:solidFill>
                <a:effectLst/>
                <a:latin typeface="Arial" panose="020B0604020202020204" pitchFamily="34" charset="0"/>
                <a:cs typeface="Arial" panose="020B0604020202020204" pitchFamily="34" charset="0"/>
              </a:rPr>
              <a:t>      Meta-learning is called learning to learn, which aims to learn how to </a:t>
            </a:r>
            <a:r>
              <a:rPr lang="en-US" altLang="zh-CN" sz="2000" b="1" dirty="0">
                <a:solidFill>
                  <a:srgbClr val="FF0000"/>
                </a:solidFill>
                <a:effectLst/>
                <a:latin typeface="Arial" panose="020B0604020202020204" pitchFamily="34" charset="0"/>
                <a:cs typeface="Arial" panose="020B0604020202020204" pitchFamily="34" charset="0"/>
              </a:rPr>
              <a:t>optimize the parameters</a:t>
            </a:r>
            <a:r>
              <a:rPr lang="en-US" altLang="zh-CN" sz="2000" dirty="0">
                <a:solidFill>
                  <a:srgbClr val="231F20"/>
                </a:solidFill>
                <a:effectLst/>
                <a:latin typeface="Arial" panose="020B0604020202020204" pitchFamily="34" charset="0"/>
                <a:cs typeface="Arial" panose="020B0604020202020204" pitchFamily="34" charset="0"/>
              </a:rPr>
              <a:t> of an algorithm and further formulate it for specific problems.</a:t>
            </a:r>
            <a:endParaRPr lang="zh-CN"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3"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794"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795"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14</a:t>
            </a:fld>
            <a:endParaRPr lang="zh-HK" altLang="en-US">
              <a:solidFill>
                <a:prstClr val="black">
                  <a:tint val="75000"/>
                </a:prstClr>
              </a:solidFill>
            </a:endParaRPr>
          </a:p>
        </p:txBody>
      </p:sp>
      <p:grpSp>
        <p:nvGrpSpPr>
          <p:cNvPr id="197" name="组合 54"/>
          <p:cNvGrpSpPr/>
          <p:nvPr/>
        </p:nvGrpSpPr>
        <p:grpSpPr>
          <a:xfrm>
            <a:off x="-1" y="6553200"/>
            <a:ext cx="12192001" cy="304800"/>
            <a:chOff x="0" y="6569404"/>
            <a:chExt cx="9144000" cy="288000"/>
          </a:xfrm>
        </p:grpSpPr>
        <p:sp>
          <p:nvSpPr>
            <p:cNvPr id="104879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79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79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14</a:t>
            </a:fld>
            <a:endParaRPr lang="zh-HK" altLang="en-US" sz="1600" dirty="0">
              <a:solidFill>
                <a:schemeClr val="bg1"/>
              </a:solidFill>
            </a:endParaRPr>
          </a:p>
        </p:txBody>
      </p:sp>
      <p:sp>
        <p:nvSpPr>
          <p:cNvPr id="1048799" name="文本框 4"/>
          <p:cNvSpPr txBox="1"/>
          <p:nvPr/>
        </p:nvSpPr>
        <p:spPr>
          <a:xfrm>
            <a:off x="408000" y="751059"/>
            <a:ext cx="6179908" cy="400110"/>
          </a:xfrm>
          <a:prstGeom prst="rect">
            <a:avLst/>
          </a:prstGeom>
          <a:noFill/>
        </p:spPr>
        <p:txBody>
          <a:bodyPr wrap="square" rtlCol="0" anchor="t">
            <a:spAutoFit/>
          </a:bodyPr>
          <a:lstStyle/>
          <a:p>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3</a:t>
            </a:r>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Variational quantum algorithms (VQA):</a:t>
            </a:r>
            <a:endParaRPr lang="zh-CN" altLang="en-US" sz="2000" b="1" dirty="0">
              <a:solidFill>
                <a:srgbClr val="0174AB"/>
              </a:solidFill>
              <a:latin typeface="Arial" panose="020B0604020202020204" pitchFamily="34" charset="0"/>
              <a:cs typeface="Arial" panose="020B0604020202020204" pitchFamily="34" charset="0"/>
            </a:endParaRPr>
          </a:p>
        </p:txBody>
      </p:sp>
      <p:sp>
        <p:nvSpPr>
          <p:cNvPr id="1048800" name="文本框 5"/>
          <p:cNvSpPr txBox="1"/>
          <p:nvPr/>
        </p:nvSpPr>
        <p:spPr>
          <a:xfrm>
            <a:off x="860047" y="1146368"/>
            <a:ext cx="9792000" cy="646331"/>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VQA uses </a:t>
            </a:r>
            <a:r>
              <a:rPr lang="en-US" altLang="zh-CN" b="1" dirty="0">
                <a:solidFill>
                  <a:srgbClr val="FF0000"/>
                </a:solidFill>
                <a:latin typeface="Arial" panose="020B0604020202020204" pitchFamily="34" charset="0"/>
                <a:cs typeface="Arial" panose="020B0604020202020204" pitchFamily="34" charset="0"/>
              </a:rPr>
              <a:t>classical computers </a:t>
            </a:r>
            <a:r>
              <a:rPr lang="en-US" altLang="zh-CN" b="1" dirty="0">
                <a:latin typeface="Arial" panose="020B0604020202020204" pitchFamily="34" charset="0"/>
                <a:cs typeface="Arial" panose="020B0604020202020204" pitchFamily="34" charset="0"/>
              </a:rPr>
              <a:t>as the quantum outer loop optimizer and updates the circuit parameters to approximate the ground state.</a:t>
            </a:r>
            <a:endParaRPr lang="zh-CN" altLang="en-US" b="1" dirty="0">
              <a:latin typeface="Arial" panose="020B0604020202020204" pitchFamily="34" charset="0"/>
              <a:cs typeface="Arial" panose="020B0604020202020204" pitchFamily="34" charset="0"/>
            </a:endParaRPr>
          </a:p>
        </p:txBody>
      </p:sp>
      <p:pic>
        <p:nvPicPr>
          <p:cNvPr id="2097159" name="图片 9"/>
          <p:cNvPicPr>
            <a:picLocks noChangeAspect="1"/>
          </p:cNvPicPr>
          <p:nvPr/>
        </p:nvPicPr>
        <p:blipFill>
          <a:blip r:embed="rId3"/>
          <a:srcRect t="34715"/>
          <a:stretch>
            <a:fillRect/>
          </a:stretch>
        </p:blipFill>
        <p:spPr>
          <a:xfrm>
            <a:off x="-14543" y="1956722"/>
            <a:ext cx="6243053" cy="3835713"/>
          </a:xfrm>
          <a:prstGeom prst="rect">
            <a:avLst/>
          </a:prstGeom>
        </p:spPr>
      </p:pic>
      <p:pic>
        <p:nvPicPr>
          <p:cNvPr id="2097160" name="图片 2"/>
          <p:cNvPicPr>
            <a:picLocks noChangeAspect="1"/>
          </p:cNvPicPr>
          <p:nvPr/>
        </p:nvPicPr>
        <p:blipFill>
          <a:blip r:embed="rId4"/>
          <a:srcRect l="3159" t="16013"/>
          <a:stretch>
            <a:fillRect/>
          </a:stretch>
        </p:blipFill>
        <p:spPr>
          <a:xfrm>
            <a:off x="6451110" y="1985575"/>
            <a:ext cx="5740890" cy="2076278"/>
          </a:xfrm>
          <a:prstGeom prst="rect">
            <a:avLst/>
          </a:prstGeom>
        </p:spPr>
      </p:pic>
      <p:sp>
        <p:nvSpPr>
          <p:cNvPr id="1048801" name="矩形 3"/>
          <p:cNvSpPr/>
          <p:nvPr/>
        </p:nvSpPr>
        <p:spPr>
          <a:xfrm>
            <a:off x="222240" y="1886628"/>
            <a:ext cx="6006270" cy="4012389"/>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2" name="文本框 6"/>
          <p:cNvSpPr txBox="1"/>
          <p:nvPr/>
        </p:nvSpPr>
        <p:spPr>
          <a:xfrm>
            <a:off x="7896000" y="4119228"/>
            <a:ext cx="3358612" cy="369332"/>
          </a:xfrm>
          <a:prstGeom prst="rect">
            <a:avLst/>
          </a:prstGeom>
          <a:noFill/>
        </p:spPr>
        <p:txBody>
          <a:bodyPr wrap="none" rtlCol="0">
            <a:spAutoFit/>
          </a:bodyPr>
          <a:lstStyle/>
          <a:p>
            <a:r>
              <a:rPr lang="zh-CN" altLang="en-US" b="1" dirty="0">
                <a:latin typeface="微软雅黑" panose="020B0503020204020204" charset="-122"/>
                <a:ea typeface="微软雅黑" panose="020B0503020204020204" charset="-122"/>
              </a:rPr>
              <a:t>注</a:t>
            </a:r>
            <a:r>
              <a:rPr lang="en-US" altLang="zh-CN" b="1" dirty="0">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通过</a:t>
            </a:r>
            <a:r>
              <a:rPr lang="en-US" altLang="zh-CN" b="1" dirty="0">
                <a:latin typeface="微软雅黑" panose="020B0503020204020204" charset="-122"/>
                <a:ea typeface="微软雅黑" panose="020B0503020204020204" charset="-122"/>
              </a:rPr>
              <a:t>f(Z)</a:t>
            </a:r>
            <a:r>
              <a:rPr lang="zh-CN" altLang="en-US" b="1" dirty="0">
                <a:latin typeface="微软雅黑" panose="020B0503020204020204" charset="-122"/>
                <a:ea typeface="微软雅黑" panose="020B0503020204020204" charset="-122"/>
              </a:rPr>
              <a:t>去</a:t>
            </a:r>
            <a:r>
              <a:rPr lang="zh-CN" altLang="en-US" b="1" dirty="0">
                <a:solidFill>
                  <a:srgbClr val="FF0000"/>
                </a:solidFill>
                <a:latin typeface="微软雅黑" panose="020B0503020204020204" charset="-122"/>
                <a:ea typeface="微软雅黑" panose="020B0503020204020204" charset="-122"/>
              </a:rPr>
              <a:t>近似哈密顿量</a:t>
            </a:r>
            <a:r>
              <a:rPr lang="en-US" altLang="zh-CN" b="1" dirty="0" err="1">
                <a:latin typeface="微软雅黑" panose="020B0503020204020204" charset="-122"/>
                <a:ea typeface="微软雅黑" panose="020B0503020204020204" charset="-122"/>
              </a:rPr>
              <a:t>Hc</a:t>
            </a:r>
            <a:endParaRPr lang="zh-CN" altLang="en-US" b="1" dirty="0">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0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08"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15</a:t>
            </a:fld>
            <a:endParaRPr lang="zh-HK" altLang="en-US">
              <a:solidFill>
                <a:prstClr val="black">
                  <a:tint val="75000"/>
                </a:prstClr>
              </a:solidFill>
            </a:endParaRPr>
          </a:p>
        </p:txBody>
      </p:sp>
      <p:grpSp>
        <p:nvGrpSpPr>
          <p:cNvPr id="201" name="组合 54"/>
          <p:cNvGrpSpPr/>
          <p:nvPr/>
        </p:nvGrpSpPr>
        <p:grpSpPr>
          <a:xfrm>
            <a:off x="-1" y="6553200"/>
            <a:ext cx="12192001" cy="304800"/>
            <a:chOff x="0" y="6569404"/>
            <a:chExt cx="9144000" cy="288000"/>
          </a:xfrm>
        </p:grpSpPr>
        <p:sp>
          <p:nvSpPr>
            <p:cNvPr id="1048809"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10"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15</a:t>
            </a:fld>
            <a:endParaRPr lang="zh-HK" altLang="en-US" sz="1600" dirty="0">
              <a:solidFill>
                <a:schemeClr val="bg1"/>
              </a:solidFill>
            </a:endParaRPr>
          </a:p>
        </p:txBody>
      </p:sp>
      <p:sp>
        <p:nvSpPr>
          <p:cNvPr id="1048812" name="文本框 1"/>
          <p:cNvSpPr txBox="1"/>
          <p:nvPr/>
        </p:nvSpPr>
        <p:spPr>
          <a:xfrm>
            <a:off x="0" y="845250"/>
            <a:ext cx="7992000" cy="400110"/>
          </a:xfrm>
          <a:prstGeom prst="rect">
            <a:avLst/>
          </a:prstGeom>
          <a:noFill/>
        </p:spPr>
        <p:txBody>
          <a:bodyPr wrap="square" rtlCol="0" anchor="t">
            <a:spAutoFit/>
          </a:bodyPr>
          <a:lstStyle/>
          <a:p>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4</a:t>
            </a:r>
            <a:r>
              <a:rPr lang="zh-CN" altLang="en-US" sz="2000" b="1">
                <a:solidFill>
                  <a:srgbClr val="0174AB"/>
                </a:solidFill>
                <a:latin typeface="Arial" panose="020B0604020202020204" pitchFamily="34" charset="0"/>
                <a:cs typeface="Arial" panose="020B0604020202020204" pitchFamily="34" charset="0"/>
              </a:rPr>
              <a:t>）</a:t>
            </a:r>
            <a:r>
              <a:rPr lang="en-US" altLang="zh-CN" sz="2000" b="1">
                <a:solidFill>
                  <a:srgbClr val="0174AB"/>
                </a:solidFill>
                <a:latin typeface="Arial" panose="020B0604020202020204" pitchFamily="34" charset="0"/>
                <a:cs typeface="Arial" panose="020B0604020202020204" pitchFamily="34" charset="0"/>
              </a:rPr>
              <a:t>Variational Quantum Eigensolver (VQE):</a:t>
            </a:r>
            <a:endParaRPr lang="zh-CN" altLang="en-US" sz="2000" b="1" dirty="0">
              <a:solidFill>
                <a:srgbClr val="0174AB"/>
              </a:solidFill>
              <a:latin typeface="Arial" panose="020B0604020202020204" pitchFamily="34" charset="0"/>
              <a:cs typeface="Arial" panose="020B0604020202020204" pitchFamily="34" charset="0"/>
            </a:endParaRPr>
          </a:p>
        </p:txBody>
      </p:sp>
      <p:pic>
        <p:nvPicPr>
          <p:cNvPr id="2097161" name="图片 3"/>
          <p:cNvPicPr>
            <a:picLocks noChangeAspect="1"/>
          </p:cNvPicPr>
          <p:nvPr/>
        </p:nvPicPr>
        <p:blipFill>
          <a:blip r:embed="rId3"/>
          <a:stretch>
            <a:fillRect/>
          </a:stretch>
        </p:blipFill>
        <p:spPr>
          <a:xfrm>
            <a:off x="552000" y="1210101"/>
            <a:ext cx="5616000" cy="5085600"/>
          </a:xfrm>
          <a:prstGeom prst="rect">
            <a:avLst/>
          </a:prstGeom>
        </p:spPr>
      </p:pic>
      <p:sp>
        <p:nvSpPr>
          <p:cNvPr id="1048813" name="文本框 2"/>
          <p:cNvSpPr txBox="1"/>
          <p:nvPr/>
        </p:nvSpPr>
        <p:spPr>
          <a:xfrm>
            <a:off x="6720000" y="1297335"/>
            <a:ext cx="4104000" cy="646331"/>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假设：它通过</a:t>
            </a:r>
            <a:r>
              <a:rPr lang="zh-CN" altLang="en-US" b="1">
                <a:solidFill>
                  <a:srgbClr val="FF0000"/>
                </a:solidFill>
                <a:latin typeface="微软雅黑" panose="020B0503020204020204" charset="-122"/>
                <a:ea typeface="微软雅黑" panose="020B0503020204020204" charset="-122"/>
              </a:rPr>
              <a:t>优化波函数</a:t>
            </a:r>
            <a:r>
              <a:rPr lang="zh-CN" altLang="en-US" b="1">
                <a:latin typeface="微软雅黑" panose="020B0503020204020204" charset="-122"/>
                <a:ea typeface="微软雅黑" panose="020B0503020204020204" charset="-122"/>
              </a:rPr>
              <a:t>来估计哈密顿量的基态能量</a:t>
            </a:r>
          </a:p>
        </p:txBody>
      </p:sp>
      <p:sp>
        <p:nvSpPr>
          <p:cNvPr id="1048814" name="文本框 4"/>
          <p:cNvSpPr txBox="1"/>
          <p:nvPr/>
        </p:nvSpPr>
        <p:spPr>
          <a:xfrm>
            <a:off x="6685306" y="2061871"/>
            <a:ext cx="4104000" cy="646331"/>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注：公式（</a:t>
            </a:r>
            <a:r>
              <a:rPr lang="en-US" altLang="zh-CN" b="1" dirty="0">
                <a:latin typeface="微软雅黑" panose="020B0503020204020204" charset="-122"/>
                <a:ea typeface="微软雅黑" panose="020B0503020204020204" charset="-122"/>
              </a:rPr>
              <a:t>7</a:t>
            </a:r>
            <a:r>
              <a:rPr lang="zh-CN" altLang="en-US" b="1" dirty="0">
                <a:latin typeface="微软雅黑" panose="020B0503020204020204" charset="-122"/>
                <a:ea typeface="微软雅黑" panose="020B0503020204020204" charset="-122"/>
              </a:rPr>
              <a:t>）通过</a:t>
            </a:r>
            <a:r>
              <a:rPr lang="zh-CN" altLang="en-US" b="1" dirty="0">
                <a:solidFill>
                  <a:srgbClr val="FF0000"/>
                </a:solidFill>
                <a:latin typeface="微软雅黑" panose="020B0503020204020204" charset="-122"/>
                <a:ea typeface="微软雅黑" panose="020B0503020204020204" charset="-122"/>
              </a:rPr>
              <a:t>哈伯模型</a:t>
            </a:r>
            <a:r>
              <a:rPr lang="zh-CN" altLang="en-US" b="1" dirty="0">
                <a:latin typeface="微软雅黑" panose="020B0503020204020204" charset="-122"/>
                <a:ea typeface="微软雅黑" panose="020B0503020204020204" charset="-122"/>
              </a:rPr>
              <a:t>推导，通过</a:t>
            </a:r>
            <a:r>
              <a:rPr lang="en-US" altLang="zh-CN" b="1" dirty="0">
                <a:latin typeface="微软雅黑" panose="020B0503020204020204" charset="-122"/>
                <a:ea typeface="微软雅黑" panose="020B0503020204020204" charset="-122"/>
              </a:rPr>
              <a:t>trotter</a:t>
            </a:r>
            <a:r>
              <a:rPr lang="zh-CN" altLang="en-US" b="1" dirty="0">
                <a:latin typeface="微软雅黑" panose="020B0503020204020204" charset="-122"/>
                <a:ea typeface="微软雅黑" panose="020B0503020204020204" charset="-122"/>
              </a:rPr>
              <a:t>近似化为式（</a:t>
            </a:r>
            <a:r>
              <a:rPr lang="en-US" altLang="zh-CN" b="1" dirty="0">
                <a:latin typeface="微软雅黑" panose="020B0503020204020204" charset="-122"/>
                <a:ea typeface="微软雅黑" panose="020B0503020204020204" charset="-122"/>
              </a:rPr>
              <a:t>8</a:t>
            </a:r>
            <a:r>
              <a:rPr lang="zh-CN" altLang="en-US" b="1" dirty="0">
                <a:latin typeface="微软雅黑" panose="020B0503020204020204" charset="-122"/>
                <a:ea typeface="微软雅黑" panose="020B0503020204020204" charset="-122"/>
              </a:rPr>
              <a:t>）。</a:t>
            </a:r>
          </a:p>
        </p:txBody>
      </p:sp>
      <p:sp>
        <p:nvSpPr>
          <p:cNvPr id="1048815" name="文本框 5"/>
          <p:cNvSpPr txBox="1"/>
          <p:nvPr/>
        </p:nvSpPr>
        <p:spPr>
          <a:xfrm>
            <a:off x="6683964" y="3141000"/>
            <a:ext cx="4236035" cy="1754326"/>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补充：</a:t>
            </a:r>
            <a:r>
              <a:rPr lang="en-US" altLang="zh-CN" b="1" dirty="0" err="1">
                <a:latin typeface="微软雅黑" panose="020B0503020204020204" charset="-122"/>
                <a:ea typeface="微软雅黑" panose="020B0503020204020204" charset="-122"/>
              </a:rPr>
              <a:t>Trotterization</a:t>
            </a:r>
            <a:r>
              <a:rPr lang="en-US" altLang="zh-CN" b="1" dirty="0">
                <a:latin typeface="微软雅黑" panose="020B0503020204020204" charset="-122"/>
                <a:ea typeface="微软雅黑" panose="020B0503020204020204" charset="-122"/>
              </a:rPr>
              <a:t> approximation </a:t>
            </a:r>
            <a:r>
              <a:rPr lang="zh-CN" altLang="en-US" b="1" dirty="0">
                <a:latin typeface="微软雅黑" panose="020B0503020204020204" charset="-122"/>
                <a:ea typeface="微软雅黑" panose="020B0503020204020204" charset="-122"/>
              </a:rPr>
              <a:t>是一种用于近似模拟量子系统时间演化的数值方法，它基于</a:t>
            </a:r>
            <a:r>
              <a:rPr lang="en-US" altLang="zh-CN" b="1" dirty="0">
                <a:solidFill>
                  <a:srgbClr val="FF0000"/>
                </a:solidFill>
                <a:latin typeface="微软雅黑" panose="020B0503020204020204" charset="-122"/>
                <a:ea typeface="微软雅黑" panose="020B0503020204020204" charset="-122"/>
              </a:rPr>
              <a:t>Trotter</a:t>
            </a:r>
            <a:r>
              <a:rPr lang="zh-CN" altLang="en-US" b="1" dirty="0">
                <a:solidFill>
                  <a:srgbClr val="FF0000"/>
                </a:solidFill>
                <a:latin typeface="微软雅黑" panose="020B0503020204020204" charset="-122"/>
                <a:ea typeface="微软雅黑" panose="020B0503020204020204" charset="-122"/>
              </a:rPr>
              <a:t>分解公式</a:t>
            </a:r>
            <a:r>
              <a:rPr lang="zh-CN" altLang="en-US" b="1" dirty="0">
                <a:latin typeface="微软雅黑" panose="020B0503020204020204" charset="-122"/>
                <a:ea typeface="微软雅黑" panose="020B0503020204020204" charset="-122"/>
              </a:rPr>
              <a:t>。该方法广泛应用于量子计算和量子模拟中，用于将</a:t>
            </a:r>
            <a:r>
              <a:rPr lang="zh-CN" altLang="en-US" b="1" dirty="0">
                <a:solidFill>
                  <a:srgbClr val="FF0000"/>
                </a:solidFill>
                <a:latin typeface="微软雅黑" panose="020B0503020204020204" charset="-122"/>
                <a:ea typeface="微软雅黑" panose="020B0503020204020204" charset="-122"/>
              </a:rPr>
              <a:t>复杂的哈密顿量</a:t>
            </a:r>
            <a:r>
              <a:rPr lang="zh-CN" altLang="en-US" b="1" dirty="0">
                <a:latin typeface="微软雅黑" panose="020B0503020204020204" charset="-122"/>
                <a:ea typeface="微软雅黑" panose="020B0503020204020204" charset="-122"/>
              </a:rPr>
              <a:t>演化分解为一系列更简单的、可操作的</a:t>
            </a:r>
            <a:r>
              <a:rPr lang="zh-CN" altLang="en-US" b="1" dirty="0">
                <a:solidFill>
                  <a:srgbClr val="FF0000"/>
                </a:solidFill>
                <a:latin typeface="微软雅黑" panose="020B0503020204020204" charset="-122"/>
                <a:ea typeface="微软雅黑" panose="020B0503020204020204" charset="-122"/>
              </a:rPr>
              <a:t>量子门操作</a:t>
            </a:r>
            <a:r>
              <a:rPr lang="zh-CN" altLang="en-US" b="1" dirty="0">
                <a:latin typeface="微软雅黑" panose="020B0503020204020204" charset="-122"/>
                <a:ea typeface="微软雅黑" panose="020B0503020204020204" charset="-12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E737-2A2B-F96A-E699-5348BECD8256}"/>
            </a:ext>
          </a:extLst>
        </p:cNvPr>
        <p:cNvGrpSpPr/>
        <p:nvPr/>
      </p:nvGrpSpPr>
      <p:grpSpPr>
        <a:xfrm>
          <a:off x="0" y="0"/>
          <a:ext cx="0" cy="0"/>
          <a:chOff x="0" y="0"/>
          <a:chExt cx="0" cy="0"/>
        </a:xfrm>
      </p:grpSpPr>
      <p:sp>
        <p:nvSpPr>
          <p:cNvPr id="1048806" name="矩形 18">
            <a:extLst>
              <a:ext uri="{FF2B5EF4-FFF2-40B4-BE49-F238E27FC236}">
                <a16:creationId xmlns:a16="http://schemas.microsoft.com/office/drawing/2014/main" id="{9A8E4524-9682-E727-BD69-5A82E6B27CE8}"/>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07" name="文本框 71">
            <a:extLst>
              <a:ext uri="{FF2B5EF4-FFF2-40B4-BE49-F238E27FC236}">
                <a16:creationId xmlns:a16="http://schemas.microsoft.com/office/drawing/2014/main" id="{BC475F16-6654-0409-3B85-2D5404C64618}"/>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08" name="灯片编号占位符 53">
            <a:extLst>
              <a:ext uri="{FF2B5EF4-FFF2-40B4-BE49-F238E27FC236}">
                <a16:creationId xmlns:a16="http://schemas.microsoft.com/office/drawing/2014/main" id="{325B9855-4345-01DC-D6CC-1D5F60CE5538}"/>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16</a:t>
            </a:fld>
            <a:endParaRPr lang="zh-HK" altLang="en-US">
              <a:solidFill>
                <a:prstClr val="black">
                  <a:tint val="75000"/>
                </a:prstClr>
              </a:solidFill>
            </a:endParaRPr>
          </a:p>
        </p:txBody>
      </p:sp>
      <p:grpSp>
        <p:nvGrpSpPr>
          <p:cNvPr id="201" name="组合 54">
            <a:extLst>
              <a:ext uri="{FF2B5EF4-FFF2-40B4-BE49-F238E27FC236}">
                <a16:creationId xmlns:a16="http://schemas.microsoft.com/office/drawing/2014/main" id="{DD3B4348-63A3-2A41-1261-50E6A5F06021}"/>
              </a:ext>
            </a:extLst>
          </p:cNvPr>
          <p:cNvGrpSpPr/>
          <p:nvPr/>
        </p:nvGrpSpPr>
        <p:grpSpPr>
          <a:xfrm>
            <a:off x="-1" y="6553200"/>
            <a:ext cx="12192001" cy="304800"/>
            <a:chOff x="0" y="6569404"/>
            <a:chExt cx="9144000" cy="288000"/>
          </a:xfrm>
        </p:grpSpPr>
        <p:sp>
          <p:nvSpPr>
            <p:cNvPr id="1048809" name="矩形 55">
              <a:extLst>
                <a:ext uri="{FF2B5EF4-FFF2-40B4-BE49-F238E27FC236}">
                  <a16:creationId xmlns:a16="http://schemas.microsoft.com/office/drawing/2014/main" id="{94945DF0-68B8-A42A-FCFF-4548F398A059}"/>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10" name="矩形 56">
              <a:extLst>
                <a:ext uri="{FF2B5EF4-FFF2-40B4-BE49-F238E27FC236}">
                  <a16:creationId xmlns:a16="http://schemas.microsoft.com/office/drawing/2014/main" id="{81EAC950-4081-5F1F-C427-1FCEC457843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11" name="灯片编号占位符 5">
            <a:extLst>
              <a:ext uri="{FF2B5EF4-FFF2-40B4-BE49-F238E27FC236}">
                <a16:creationId xmlns:a16="http://schemas.microsoft.com/office/drawing/2014/main" id="{B1473DED-7DB2-36B7-D047-DF148BB618B6}"/>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16</a:t>
            </a:fld>
            <a:endParaRPr lang="zh-HK" altLang="en-US" sz="1600" dirty="0">
              <a:solidFill>
                <a:schemeClr val="bg1"/>
              </a:solidFill>
            </a:endParaRPr>
          </a:p>
        </p:txBody>
      </p:sp>
      <p:pic>
        <p:nvPicPr>
          <p:cNvPr id="3" name="图片 2">
            <a:extLst>
              <a:ext uri="{FF2B5EF4-FFF2-40B4-BE49-F238E27FC236}">
                <a16:creationId xmlns:a16="http://schemas.microsoft.com/office/drawing/2014/main" id="{85ACDF74-9AC7-FDCB-22A6-17EC1529AF96}"/>
              </a:ext>
            </a:extLst>
          </p:cNvPr>
          <p:cNvPicPr>
            <a:picLocks noChangeAspect="1"/>
          </p:cNvPicPr>
          <p:nvPr/>
        </p:nvPicPr>
        <p:blipFill>
          <a:blip r:embed="rId3"/>
          <a:stretch>
            <a:fillRect/>
          </a:stretch>
        </p:blipFill>
        <p:spPr>
          <a:xfrm>
            <a:off x="6589613" y="777904"/>
            <a:ext cx="5616000" cy="5717392"/>
          </a:xfrm>
          <a:prstGeom prst="rect">
            <a:avLst/>
          </a:prstGeom>
        </p:spPr>
      </p:pic>
      <p:pic>
        <p:nvPicPr>
          <p:cNvPr id="5" name="图片 4">
            <a:extLst>
              <a:ext uri="{FF2B5EF4-FFF2-40B4-BE49-F238E27FC236}">
                <a16:creationId xmlns:a16="http://schemas.microsoft.com/office/drawing/2014/main" id="{71940D9B-EEDA-D31A-2C51-5AE2FE5F4BB0}"/>
              </a:ext>
            </a:extLst>
          </p:cNvPr>
          <p:cNvPicPr>
            <a:picLocks noChangeAspect="1"/>
          </p:cNvPicPr>
          <p:nvPr/>
        </p:nvPicPr>
        <p:blipFill>
          <a:blip r:embed="rId4"/>
          <a:stretch>
            <a:fillRect/>
          </a:stretch>
        </p:blipFill>
        <p:spPr>
          <a:xfrm>
            <a:off x="1128000" y="712675"/>
            <a:ext cx="4553497" cy="3875098"/>
          </a:xfrm>
          <a:prstGeom prst="rect">
            <a:avLst/>
          </a:prstGeom>
        </p:spPr>
      </p:pic>
      <p:pic>
        <p:nvPicPr>
          <p:cNvPr id="7" name="图片 6">
            <a:extLst>
              <a:ext uri="{FF2B5EF4-FFF2-40B4-BE49-F238E27FC236}">
                <a16:creationId xmlns:a16="http://schemas.microsoft.com/office/drawing/2014/main" id="{20A4930A-9331-03F6-FB02-9E8CAE47DC0B}"/>
              </a:ext>
            </a:extLst>
          </p:cNvPr>
          <p:cNvPicPr>
            <a:picLocks noChangeAspect="1"/>
          </p:cNvPicPr>
          <p:nvPr/>
        </p:nvPicPr>
        <p:blipFill>
          <a:blip r:embed="rId5"/>
          <a:srcRect t="10258" b="28642"/>
          <a:stretch>
            <a:fillRect/>
          </a:stretch>
        </p:blipFill>
        <p:spPr>
          <a:xfrm>
            <a:off x="984000" y="4646619"/>
            <a:ext cx="4181695" cy="1834653"/>
          </a:xfrm>
          <a:prstGeom prst="rect">
            <a:avLst/>
          </a:prstGeom>
        </p:spPr>
      </p:pic>
    </p:spTree>
    <p:extLst>
      <p:ext uri="{BB962C8B-B14F-4D97-AF65-F5344CB8AC3E}">
        <p14:creationId xmlns:p14="http://schemas.microsoft.com/office/powerpoint/2010/main" val="529343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20"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2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17</a:t>
            </a:fld>
            <a:endParaRPr lang="zh-HK" altLang="en-US">
              <a:solidFill>
                <a:prstClr val="black">
                  <a:tint val="75000"/>
                </a:prstClr>
              </a:solidFill>
            </a:endParaRPr>
          </a:p>
        </p:txBody>
      </p:sp>
      <p:grpSp>
        <p:nvGrpSpPr>
          <p:cNvPr id="205" name="组合 54"/>
          <p:cNvGrpSpPr/>
          <p:nvPr/>
        </p:nvGrpSpPr>
        <p:grpSpPr>
          <a:xfrm>
            <a:off x="-1" y="6553200"/>
            <a:ext cx="12192001" cy="304800"/>
            <a:chOff x="0" y="6569404"/>
            <a:chExt cx="9144000" cy="288000"/>
          </a:xfrm>
        </p:grpSpPr>
        <p:sp>
          <p:nvSpPr>
            <p:cNvPr id="104882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2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2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17</a:t>
            </a:fld>
            <a:endParaRPr lang="zh-HK" altLang="en-US" sz="1600" dirty="0">
              <a:solidFill>
                <a:schemeClr val="bg1"/>
              </a:solidFill>
            </a:endParaRPr>
          </a:p>
        </p:txBody>
      </p:sp>
      <p:sp>
        <p:nvSpPr>
          <p:cNvPr id="1048825" name="文本框 3"/>
          <p:cNvSpPr txBox="1"/>
          <p:nvPr/>
        </p:nvSpPr>
        <p:spPr>
          <a:xfrm>
            <a:off x="408000" y="765000"/>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5</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a:t>
            </a:r>
            <a:r>
              <a:rPr lang="en-US" altLang="zh-CN" sz="2000" b="1">
                <a:solidFill>
                  <a:srgbClr val="0174AB"/>
                </a:solidFill>
                <a:effectLst/>
                <a:latin typeface="Arial" panose="020B0604020202020204" pitchFamily="34" charset="0"/>
                <a:cs typeface="Arial" panose="020B0604020202020204" pitchFamily="34" charset="0"/>
              </a:rPr>
              <a:t>VQA by Energy Minimization Solver</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2" name="图片 4"/>
          <p:cNvPicPr>
            <a:picLocks noChangeAspect="1"/>
          </p:cNvPicPr>
          <p:nvPr/>
        </p:nvPicPr>
        <p:blipFill>
          <a:blip r:embed="rId3"/>
          <a:stretch>
            <a:fillRect/>
          </a:stretch>
        </p:blipFill>
        <p:spPr>
          <a:xfrm>
            <a:off x="143152" y="1557000"/>
            <a:ext cx="6096905" cy="3672000"/>
          </a:xfrm>
          <a:prstGeom prst="rect">
            <a:avLst/>
          </a:prstGeom>
        </p:spPr>
      </p:pic>
      <p:pic>
        <p:nvPicPr>
          <p:cNvPr id="3" name="图片 2">
            <a:extLst>
              <a:ext uri="{FF2B5EF4-FFF2-40B4-BE49-F238E27FC236}">
                <a16:creationId xmlns:a16="http://schemas.microsoft.com/office/drawing/2014/main" id="{5C71E79E-5792-3D53-9469-3F7926D53E3A}"/>
              </a:ext>
            </a:extLst>
          </p:cNvPr>
          <p:cNvPicPr>
            <a:picLocks noChangeAspect="1"/>
          </p:cNvPicPr>
          <p:nvPr/>
        </p:nvPicPr>
        <p:blipFill>
          <a:blip r:embed="rId4"/>
          <a:stretch>
            <a:fillRect/>
          </a:stretch>
        </p:blipFill>
        <p:spPr>
          <a:xfrm>
            <a:off x="6628457" y="800749"/>
            <a:ext cx="5328000" cy="5700587"/>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864A34DB-2D3A-7AB4-F04C-5A7741033801}"/>
                  </a:ext>
                </a:extLst>
              </p14:cNvPr>
              <p14:cNvContentPartPr/>
              <p14:nvPr/>
            </p14:nvContentPartPr>
            <p14:xfrm>
              <a:off x="8201783" y="3155663"/>
              <a:ext cx="1484640" cy="35280"/>
            </p14:xfrm>
          </p:contentPart>
        </mc:Choice>
        <mc:Fallback xmlns="">
          <p:pic>
            <p:nvPicPr>
              <p:cNvPr id="4" name="墨迹 3">
                <a:extLst>
                  <a:ext uri="{FF2B5EF4-FFF2-40B4-BE49-F238E27FC236}">
                    <a16:creationId xmlns:a16="http://schemas.microsoft.com/office/drawing/2014/main" id="{864A34DB-2D3A-7AB4-F04C-5A7741033801}"/>
                  </a:ext>
                </a:extLst>
              </p:cNvPr>
              <p:cNvPicPr/>
              <p:nvPr/>
            </p:nvPicPr>
            <p:blipFill>
              <a:blip r:embed="rId6"/>
              <a:stretch>
                <a:fillRect/>
              </a:stretch>
            </p:blipFill>
            <p:spPr>
              <a:xfrm>
                <a:off x="8148143" y="3047663"/>
                <a:ext cx="159228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FEF8D8F5-0DD6-F93E-1887-2FC8254B776D}"/>
                  </a:ext>
                </a:extLst>
              </p14:cNvPr>
              <p14:cNvContentPartPr/>
              <p14:nvPr/>
            </p14:nvContentPartPr>
            <p14:xfrm>
              <a:off x="9700823" y="4598903"/>
              <a:ext cx="419040" cy="14760"/>
            </p14:xfrm>
          </p:contentPart>
        </mc:Choice>
        <mc:Fallback xmlns="">
          <p:pic>
            <p:nvPicPr>
              <p:cNvPr id="5" name="墨迹 4">
                <a:extLst>
                  <a:ext uri="{FF2B5EF4-FFF2-40B4-BE49-F238E27FC236}">
                    <a16:creationId xmlns:a16="http://schemas.microsoft.com/office/drawing/2014/main" id="{FEF8D8F5-0DD6-F93E-1887-2FC8254B776D}"/>
                  </a:ext>
                </a:extLst>
              </p:cNvPr>
              <p:cNvPicPr/>
              <p:nvPr/>
            </p:nvPicPr>
            <p:blipFill>
              <a:blip r:embed="rId8"/>
              <a:stretch>
                <a:fillRect/>
              </a:stretch>
            </p:blipFill>
            <p:spPr>
              <a:xfrm>
                <a:off x="9646823" y="4491263"/>
                <a:ext cx="526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9F58EA46-98B0-83DD-88E8-75EF67E5191C}"/>
                  </a:ext>
                </a:extLst>
              </p14:cNvPr>
              <p14:cNvContentPartPr/>
              <p14:nvPr/>
            </p14:nvContentPartPr>
            <p14:xfrm>
              <a:off x="9679943" y="4674863"/>
              <a:ext cx="446400" cy="21240"/>
            </p14:xfrm>
          </p:contentPart>
        </mc:Choice>
        <mc:Fallback xmlns="">
          <p:pic>
            <p:nvPicPr>
              <p:cNvPr id="6" name="墨迹 5">
                <a:extLst>
                  <a:ext uri="{FF2B5EF4-FFF2-40B4-BE49-F238E27FC236}">
                    <a16:creationId xmlns:a16="http://schemas.microsoft.com/office/drawing/2014/main" id="{9F58EA46-98B0-83DD-88E8-75EF67E5191C}"/>
                  </a:ext>
                </a:extLst>
              </p:cNvPr>
              <p:cNvPicPr/>
              <p:nvPr/>
            </p:nvPicPr>
            <p:blipFill>
              <a:blip r:embed="rId10"/>
              <a:stretch>
                <a:fillRect/>
              </a:stretch>
            </p:blipFill>
            <p:spPr>
              <a:xfrm>
                <a:off x="9626303" y="4567223"/>
                <a:ext cx="5540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BDAF8092-3E38-1404-162B-3BDB0AEAC84B}"/>
                  </a:ext>
                </a:extLst>
              </p14:cNvPr>
              <p14:cNvContentPartPr/>
              <p14:nvPr/>
            </p14:nvContentPartPr>
            <p14:xfrm>
              <a:off x="9528743" y="4661183"/>
              <a:ext cx="295200" cy="360"/>
            </p14:xfrm>
          </p:contentPart>
        </mc:Choice>
        <mc:Fallback xmlns="">
          <p:pic>
            <p:nvPicPr>
              <p:cNvPr id="7" name="墨迹 6">
                <a:extLst>
                  <a:ext uri="{FF2B5EF4-FFF2-40B4-BE49-F238E27FC236}">
                    <a16:creationId xmlns:a16="http://schemas.microsoft.com/office/drawing/2014/main" id="{BDAF8092-3E38-1404-162B-3BDB0AEAC84B}"/>
                  </a:ext>
                </a:extLst>
              </p:cNvPr>
              <p:cNvPicPr/>
              <p:nvPr/>
            </p:nvPicPr>
            <p:blipFill>
              <a:blip r:embed="rId12"/>
              <a:stretch>
                <a:fillRect/>
              </a:stretch>
            </p:blipFill>
            <p:spPr>
              <a:xfrm>
                <a:off x="9475103" y="4553543"/>
                <a:ext cx="4028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墨迹 7">
                <a:extLst>
                  <a:ext uri="{FF2B5EF4-FFF2-40B4-BE49-F238E27FC236}">
                    <a16:creationId xmlns:a16="http://schemas.microsoft.com/office/drawing/2014/main" id="{8E5EE389-8289-7FB0-48C6-68DD2104744C}"/>
                  </a:ext>
                </a:extLst>
              </p14:cNvPr>
              <p14:cNvContentPartPr/>
              <p14:nvPr/>
            </p14:nvContentPartPr>
            <p14:xfrm>
              <a:off x="9508223" y="4571903"/>
              <a:ext cx="205920" cy="360"/>
            </p14:xfrm>
          </p:contentPart>
        </mc:Choice>
        <mc:Fallback xmlns="">
          <p:pic>
            <p:nvPicPr>
              <p:cNvPr id="8" name="墨迹 7">
                <a:extLst>
                  <a:ext uri="{FF2B5EF4-FFF2-40B4-BE49-F238E27FC236}">
                    <a16:creationId xmlns:a16="http://schemas.microsoft.com/office/drawing/2014/main" id="{8E5EE389-8289-7FB0-48C6-68DD2104744C}"/>
                  </a:ext>
                </a:extLst>
              </p:cNvPr>
              <p:cNvPicPr/>
              <p:nvPr/>
            </p:nvPicPr>
            <p:blipFill>
              <a:blip r:embed="rId14"/>
              <a:stretch>
                <a:fillRect/>
              </a:stretch>
            </p:blipFill>
            <p:spPr>
              <a:xfrm>
                <a:off x="9454223" y="4463903"/>
                <a:ext cx="313560" cy="2160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9" name="矩形 18"/>
          <p:cNvSpPr/>
          <p:nvPr/>
        </p:nvSpPr>
        <p:spPr>
          <a:xfrm>
            <a:off x="-1" y="1"/>
            <a:ext cx="12192001" cy="54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30" name="文本框 71"/>
          <p:cNvSpPr txBox="1"/>
          <p:nvPr/>
        </p:nvSpPr>
        <p:spPr>
          <a:xfrm>
            <a:off x="126280" y="-35775"/>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3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18</a:t>
            </a:fld>
            <a:endParaRPr lang="zh-HK" altLang="en-US">
              <a:solidFill>
                <a:prstClr val="black">
                  <a:tint val="75000"/>
                </a:prstClr>
              </a:solidFill>
            </a:endParaRPr>
          </a:p>
        </p:txBody>
      </p:sp>
      <p:grpSp>
        <p:nvGrpSpPr>
          <p:cNvPr id="209" name="组合 54"/>
          <p:cNvGrpSpPr/>
          <p:nvPr/>
        </p:nvGrpSpPr>
        <p:grpSpPr>
          <a:xfrm>
            <a:off x="-1" y="6553200"/>
            <a:ext cx="12192001" cy="304800"/>
            <a:chOff x="0" y="6569404"/>
            <a:chExt cx="9144000" cy="288000"/>
          </a:xfrm>
        </p:grpSpPr>
        <p:sp>
          <p:nvSpPr>
            <p:cNvPr id="104883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3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3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18</a:t>
            </a:fld>
            <a:endParaRPr lang="zh-HK" altLang="en-US" sz="1600" dirty="0">
              <a:solidFill>
                <a:schemeClr val="bg1"/>
              </a:solidFill>
            </a:endParaRPr>
          </a:p>
        </p:txBody>
      </p:sp>
      <p:sp>
        <p:nvSpPr>
          <p:cNvPr id="1048835" name="文本框 3"/>
          <p:cNvSpPr txBox="1"/>
          <p:nvPr/>
        </p:nvSpPr>
        <p:spPr>
          <a:xfrm>
            <a:off x="335886" y="595576"/>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1</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effectLst/>
                <a:latin typeface="微软雅黑" panose="020B0503020204020204" charset="-122"/>
                <a:ea typeface="微软雅黑" panose="020B0503020204020204" charset="-122"/>
                <a:cs typeface="Arial" panose="020B0604020202020204" pitchFamily="34" charset="0"/>
              </a:rPr>
              <a:t> </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Mata-learning frameworks</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4" name="图片 12"/>
          <p:cNvPicPr>
            <a:picLocks noChangeAspect="1"/>
          </p:cNvPicPr>
          <p:nvPr/>
        </p:nvPicPr>
        <p:blipFill>
          <a:blip r:embed="rId3"/>
          <a:srcRect t="1430"/>
          <a:stretch>
            <a:fillRect/>
          </a:stretch>
        </p:blipFill>
        <p:spPr>
          <a:xfrm>
            <a:off x="126280" y="995686"/>
            <a:ext cx="6074426" cy="5335297"/>
          </a:xfrm>
          <a:prstGeom prst="rect">
            <a:avLst/>
          </a:prstGeom>
        </p:spPr>
      </p:pic>
      <p:pic>
        <p:nvPicPr>
          <p:cNvPr id="2097165" name="图片 14"/>
          <p:cNvPicPr>
            <a:picLocks noChangeAspect="1"/>
          </p:cNvPicPr>
          <p:nvPr/>
        </p:nvPicPr>
        <p:blipFill>
          <a:blip r:embed="rId4"/>
          <a:stretch>
            <a:fillRect/>
          </a:stretch>
        </p:blipFill>
        <p:spPr>
          <a:xfrm>
            <a:off x="6472828" y="930264"/>
            <a:ext cx="5575753" cy="2259607"/>
          </a:xfrm>
          <a:prstGeom prst="rect">
            <a:avLst/>
          </a:prstGeom>
        </p:spPr>
      </p:pic>
      <p:pic>
        <p:nvPicPr>
          <p:cNvPr id="2097166" name="图片 16"/>
          <p:cNvPicPr>
            <a:picLocks noChangeAspect="1"/>
          </p:cNvPicPr>
          <p:nvPr/>
        </p:nvPicPr>
        <p:blipFill>
          <a:blip r:embed="rId5"/>
          <a:srcRect l="2574" t="1006"/>
          <a:stretch>
            <a:fillRect/>
          </a:stretch>
        </p:blipFill>
        <p:spPr>
          <a:xfrm>
            <a:off x="6570817" y="3241309"/>
            <a:ext cx="5603354" cy="17518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40"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4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19</a:t>
            </a:fld>
            <a:endParaRPr lang="zh-HK" altLang="en-US">
              <a:solidFill>
                <a:prstClr val="black">
                  <a:tint val="75000"/>
                </a:prstClr>
              </a:solidFill>
            </a:endParaRPr>
          </a:p>
        </p:txBody>
      </p:sp>
      <p:grpSp>
        <p:nvGrpSpPr>
          <p:cNvPr id="213" name="组合 54"/>
          <p:cNvGrpSpPr/>
          <p:nvPr/>
        </p:nvGrpSpPr>
        <p:grpSpPr>
          <a:xfrm>
            <a:off x="-1" y="6553200"/>
            <a:ext cx="12192001" cy="304800"/>
            <a:chOff x="0" y="6569404"/>
            <a:chExt cx="9144000" cy="288000"/>
          </a:xfrm>
        </p:grpSpPr>
        <p:sp>
          <p:nvSpPr>
            <p:cNvPr id="104884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4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4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19</a:t>
            </a:fld>
            <a:endParaRPr lang="zh-HK" altLang="en-US" sz="1600" dirty="0">
              <a:solidFill>
                <a:schemeClr val="bg1"/>
              </a:solidFill>
            </a:endParaRPr>
          </a:p>
        </p:txBody>
      </p:sp>
      <p:sp>
        <p:nvSpPr>
          <p:cNvPr id="1048845" name="文本框 10"/>
          <p:cNvSpPr txBox="1"/>
          <p:nvPr/>
        </p:nvSpPr>
        <p:spPr>
          <a:xfrm>
            <a:off x="264000" y="750164"/>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2</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Stochastic Gradient Descent </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7" name="图片 14"/>
          <p:cNvPicPr>
            <a:picLocks noChangeAspect="1"/>
          </p:cNvPicPr>
          <p:nvPr/>
        </p:nvPicPr>
        <p:blipFill>
          <a:blip r:embed="rId3"/>
          <a:stretch>
            <a:fillRect/>
          </a:stretch>
        </p:blipFill>
        <p:spPr>
          <a:xfrm>
            <a:off x="160457" y="1123303"/>
            <a:ext cx="5459768" cy="5384253"/>
          </a:xfrm>
          <a:prstGeom prst="rect">
            <a:avLst/>
          </a:prstGeom>
        </p:spPr>
      </p:pic>
      <p:pic>
        <p:nvPicPr>
          <p:cNvPr id="2097168" name="图片 16"/>
          <p:cNvPicPr>
            <a:picLocks noChangeAspect="1"/>
          </p:cNvPicPr>
          <p:nvPr/>
        </p:nvPicPr>
        <p:blipFill>
          <a:blip r:embed="rId4"/>
          <a:stretch>
            <a:fillRect/>
          </a:stretch>
        </p:blipFill>
        <p:spPr>
          <a:xfrm>
            <a:off x="6232569" y="1509489"/>
            <a:ext cx="5751082" cy="2815883"/>
          </a:xfrm>
          <a:prstGeom prst="rect">
            <a:avLst/>
          </a:prstGeom>
        </p:spPr>
      </p:pic>
      <p:sp>
        <p:nvSpPr>
          <p:cNvPr id="1048846" name="文本框 19"/>
          <p:cNvSpPr txBox="1">
            <a:spLocks noRot="1" noChangeAspect="1" noMove="1" noResize="1" noEditPoints="1" noAdjustHandles="1" noChangeArrowheads="1" noChangeShapeType="1" noTextEdit="1"/>
          </p:cNvSpPr>
          <p:nvPr/>
        </p:nvSpPr>
        <p:spPr>
          <a:xfrm>
            <a:off x="6600000" y="4950399"/>
            <a:ext cx="5471999" cy="679353"/>
          </a:xfrm>
          <a:prstGeom prst="rect">
            <a:avLst/>
          </a:prstGeom>
          <a:blipFill rotWithShape="1">
            <a:blip r:embed="rId5"/>
            <a:stretch>
              <a:fillRect l="-8" t="-84" b="70"/>
            </a:stretch>
          </a:blipFill>
        </p:spPr>
        <p:txBody>
          <a:bodyPr/>
          <a:lstStyle/>
          <a:p>
            <a:r>
              <a:rPr lang="zh-CN" altLang="en-US">
                <a:noFill/>
              </a:rPr>
              <a:t> </a:t>
            </a:r>
          </a:p>
        </p:txBody>
      </p:sp>
      <p:sp>
        <p:nvSpPr>
          <p:cNvPr id="1048847" name="文本框 20"/>
          <p:cNvSpPr txBox="1">
            <a:spLocks noRot="1" noChangeAspect="1" noMove="1" noResize="1" noEditPoints="1" noAdjustHandles="1" noChangeArrowheads="1" noChangeShapeType="1" noTextEdit="1"/>
          </p:cNvSpPr>
          <p:nvPr/>
        </p:nvSpPr>
        <p:spPr>
          <a:xfrm>
            <a:off x="6600000" y="4240706"/>
            <a:ext cx="5471999" cy="646331"/>
          </a:xfrm>
          <a:prstGeom prst="rect">
            <a:avLst/>
          </a:prstGeom>
          <a:blipFill rotWithShape="1">
            <a:blip r:embed="rId6"/>
            <a:stretch>
              <a:fillRect l="-8" t="-27" b="12"/>
            </a:stretch>
          </a:blipFill>
        </p:spPr>
        <p:txBody>
          <a:bodyPr/>
          <a:lstStyle/>
          <a:p>
            <a:r>
              <a:rPr lang="zh-CN" altLang="en-US">
                <a:noFill/>
              </a:rPr>
              <a:t> </a:t>
            </a:r>
          </a:p>
        </p:txBody>
      </p:sp>
      <p:pic>
        <p:nvPicPr>
          <p:cNvPr id="3" name="图片 2">
            <a:extLst>
              <a:ext uri="{FF2B5EF4-FFF2-40B4-BE49-F238E27FC236}">
                <a16:creationId xmlns:a16="http://schemas.microsoft.com/office/drawing/2014/main" id="{D9C542E6-CF0B-BABC-4542-E7AE0BEBADC2}"/>
              </a:ext>
            </a:extLst>
          </p:cNvPr>
          <p:cNvPicPr>
            <a:picLocks noChangeAspect="1"/>
          </p:cNvPicPr>
          <p:nvPr/>
        </p:nvPicPr>
        <p:blipFill>
          <a:blip r:embed="rId7"/>
          <a:srcRect l="41663" b="62027"/>
          <a:stretch>
            <a:fillRect/>
          </a:stretch>
        </p:blipFill>
        <p:spPr>
          <a:xfrm>
            <a:off x="5620225" y="833836"/>
            <a:ext cx="3036232" cy="70883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1"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5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53"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20</a:t>
            </a:fld>
            <a:endParaRPr lang="zh-HK" altLang="en-US">
              <a:solidFill>
                <a:prstClr val="black">
                  <a:tint val="75000"/>
                </a:prstClr>
              </a:solidFill>
            </a:endParaRPr>
          </a:p>
        </p:txBody>
      </p:sp>
      <p:grpSp>
        <p:nvGrpSpPr>
          <p:cNvPr id="217" name="组合 54"/>
          <p:cNvGrpSpPr/>
          <p:nvPr/>
        </p:nvGrpSpPr>
        <p:grpSpPr>
          <a:xfrm>
            <a:off x="-1" y="6553200"/>
            <a:ext cx="12192001" cy="304800"/>
            <a:chOff x="0" y="6569404"/>
            <a:chExt cx="9144000" cy="288000"/>
          </a:xfrm>
        </p:grpSpPr>
        <p:sp>
          <p:nvSpPr>
            <p:cNvPr id="104885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5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5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20</a:t>
            </a:fld>
            <a:endParaRPr lang="zh-HK" altLang="en-US" sz="1600" dirty="0">
              <a:solidFill>
                <a:schemeClr val="bg1"/>
              </a:solidFill>
            </a:endParaRPr>
          </a:p>
        </p:txBody>
      </p:sp>
      <p:sp>
        <p:nvSpPr>
          <p:cNvPr id="1048857" name="文本框 4"/>
          <p:cNvSpPr txBox="1"/>
          <p:nvPr/>
        </p:nvSpPr>
        <p:spPr>
          <a:xfrm>
            <a:off x="264000" y="750164"/>
            <a:ext cx="6126480" cy="400110"/>
          </a:xfrm>
          <a:prstGeom prst="rect">
            <a:avLst/>
          </a:prstGeom>
          <a:noFill/>
        </p:spPr>
        <p:txBody>
          <a:bodyPr wrap="square">
            <a:spAutoFit/>
          </a:bodyPr>
          <a:lstStyle/>
          <a:p>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创新点</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3</a:t>
            </a:r>
            <a:r>
              <a:rPr lang="zh-CN" altLang="en-US" sz="2000" b="1">
                <a:solidFill>
                  <a:srgbClr val="0174AB"/>
                </a:solidFill>
                <a:latin typeface="微软雅黑" panose="020B0503020204020204" charset="-122"/>
                <a:ea typeface="微软雅黑" panose="020B0503020204020204" charset="-122"/>
                <a:cs typeface="Arial" panose="020B0604020202020204" pitchFamily="34" charset="0"/>
              </a:rPr>
              <a:t>：</a:t>
            </a:r>
            <a:r>
              <a:rPr lang="en-US" altLang="zh-CN" sz="2000" b="1">
                <a:solidFill>
                  <a:srgbClr val="0174AB"/>
                </a:solidFill>
                <a:latin typeface="微软雅黑" panose="020B0503020204020204" charset="-122"/>
                <a:ea typeface="微软雅黑" panose="020B0503020204020204" charset="-122"/>
                <a:cs typeface="Arial" panose="020B0604020202020204" pitchFamily="34" charset="0"/>
              </a:rPr>
              <a:t> Adaptive Learning Rate</a:t>
            </a:r>
            <a:endParaRPr lang="zh-CN" altLang="en-US" sz="2000" b="1">
              <a:solidFill>
                <a:srgbClr val="0174AB"/>
              </a:solidFill>
              <a:latin typeface="Arial" panose="020B0604020202020204" pitchFamily="34" charset="0"/>
              <a:cs typeface="Arial" panose="020B0604020202020204" pitchFamily="34" charset="0"/>
            </a:endParaRPr>
          </a:p>
        </p:txBody>
      </p:sp>
      <p:pic>
        <p:nvPicPr>
          <p:cNvPr id="2097169" name="图片 12"/>
          <p:cNvPicPr>
            <a:picLocks noChangeAspect="1"/>
          </p:cNvPicPr>
          <p:nvPr/>
        </p:nvPicPr>
        <p:blipFill>
          <a:blip r:embed="rId3"/>
          <a:srcRect t="873"/>
          <a:stretch>
            <a:fillRect/>
          </a:stretch>
        </p:blipFill>
        <p:spPr>
          <a:xfrm>
            <a:off x="335999" y="1621588"/>
            <a:ext cx="5688001" cy="3136770"/>
          </a:xfrm>
          <a:prstGeom prst="rect">
            <a:avLst/>
          </a:prstGeom>
        </p:spPr>
      </p:pic>
      <p:pic>
        <p:nvPicPr>
          <p:cNvPr id="2097170" name="图片 14"/>
          <p:cNvPicPr>
            <a:picLocks noChangeAspect="1"/>
          </p:cNvPicPr>
          <p:nvPr/>
        </p:nvPicPr>
        <p:blipFill>
          <a:blip r:embed="rId4"/>
          <a:stretch>
            <a:fillRect/>
          </a:stretch>
        </p:blipFill>
        <p:spPr>
          <a:xfrm>
            <a:off x="6049775" y="1917000"/>
            <a:ext cx="6028023" cy="2411209"/>
          </a:xfrm>
          <a:prstGeom prst="rect">
            <a:avLst/>
          </a:prstGeom>
        </p:spPr>
      </p:pic>
      <p:sp>
        <p:nvSpPr>
          <p:cNvPr id="1048858" name="文本框 1"/>
          <p:cNvSpPr txBox="1"/>
          <p:nvPr/>
        </p:nvSpPr>
        <p:spPr>
          <a:xfrm>
            <a:off x="7536000" y="4437000"/>
            <a:ext cx="4108817" cy="369332"/>
          </a:xfrm>
          <a:prstGeom prst="rect">
            <a:avLst/>
          </a:prstGeom>
          <a:noFill/>
        </p:spPr>
        <p:txBody>
          <a:bodyPr wrap="none" rtlCol="0">
            <a:spAutoFit/>
          </a:bodyPr>
          <a:lstStyle/>
          <a:p>
            <a:r>
              <a:rPr lang="zh-CN" altLang="en-US" b="1" dirty="0">
                <a:latin typeface="微软雅黑" panose="020B0503020204020204" charset="-122"/>
                <a:ea typeface="微软雅黑" panose="020B0503020204020204" charset="-122"/>
              </a:rPr>
              <a:t>注：防止随机梯度下降收敛时出现</a:t>
            </a:r>
            <a:r>
              <a:rPr lang="zh-CN" altLang="en-US" b="1" dirty="0">
                <a:solidFill>
                  <a:srgbClr val="FF0000"/>
                </a:solidFill>
                <a:latin typeface="微软雅黑" panose="020B0503020204020204" charset="-122"/>
                <a:ea typeface="微软雅黑" panose="020B0503020204020204" charset="-122"/>
              </a:rPr>
              <a:t>震荡</a:t>
            </a:r>
          </a:p>
        </p:txBody>
      </p:sp>
      <mc:AlternateContent xmlns:mc="http://schemas.openxmlformats.org/markup-compatibility/2006" xmlns:p14="http://schemas.microsoft.com/office/powerpoint/2010/main">
        <mc:Choice Requires="p14">
          <p:contentPart p14:bwMode="auto" r:id="rId5">
            <p14:nvContentPartPr>
              <p14:cNvPr id="2097171" name="墨迹 2"/>
              <p14:cNvContentPartPr/>
              <p14:nvPr/>
            </p14:nvContentPartPr>
            <p14:xfrm>
              <a:off x="6158509" y="2890652"/>
              <a:ext cx="1936080" cy="74880"/>
            </p14:xfrm>
          </p:contentPart>
        </mc:Choice>
        <mc:Fallback xmlns="">
          <p:pic>
            <p:nvPicPr>
              <p:cNvPr id="2097171" name="墨迹 2"/>
            </p:nvPicPr>
            <p:blipFill>
              <a:blip r:embed="rId6"/>
            </p:blipFill>
            <p:spPr>
              <a:xfrm>
                <a:off x="6158509" y="2890652"/>
                <a:ext cx="1936080" cy="7488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2097172" name="墨迹 5"/>
              <p14:cNvContentPartPr/>
              <p14:nvPr/>
            </p14:nvContentPartPr>
            <p14:xfrm>
              <a:off x="8263069" y="2957972"/>
              <a:ext cx="2945520" cy="360"/>
            </p14:xfrm>
          </p:contentPart>
        </mc:Choice>
        <mc:Fallback xmlns="">
          <p:pic>
            <p:nvPicPr>
              <p:cNvPr id="2097172" name="墨迹 5"/>
            </p:nvPicPr>
            <p:blipFill>
              <a:blip r:embed="rId8"/>
            </p:blipFill>
            <p:spPr>
              <a:xfrm>
                <a:off x="8263069" y="2957972"/>
                <a:ext cx="2945520" cy="360"/>
              </a:xfrm>
              <a:prstGeom prst="rect"/>
            </p:spPr>
          </p:pic>
        </mc:Fallback>
      </mc:AlternateContent>
      <mc:AlternateContent xmlns:mc="http://schemas.openxmlformats.org/markup-compatibility/2006" xmlns:p14="http://schemas.microsoft.com/office/powerpoint/2010/main">
        <mc:Choice Requires="p14">
          <p:contentPart p14:bwMode="auto" r:id="rId9">
            <p14:nvContentPartPr>
              <p14:cNvPr id="2097173" name="墨迹 3"/>
              <p14:cNvContentPartPr/>
              <p14:nvPr/>
            </p14:nvContentPartPr>
            <p14:xfrm>
              <a:off x="8235995" y="2870354"/>
              <a:ext cx="2883960" cy="15120"/>
            </p14:xfrm>
          </p:contentPart>
        </mc:Choice>
        <mc:Fallback xmlns="">
          <p:pic>
            <p:nvPicPr>
              <p:cNvPr id="2097173" name="墨迹 3"/>
            </p:nvPicPr>
            <p:blipFill>
              <a:blip r:embed="rId10"/>
            </p:blipFill>
            <p:spPr>
              <a:xfrm>
                <a:off x="8235995" y="2870354"/>
                <a:ext cx="2883960" cy="15120"/>
              </a:xfrm>
              <a:prstGeom prst="rect"/>
            </p:spPr>
          </p:pic>
        </mc:Fallback>
      </mc:AlternateContent>
      <mc:AlternateContent xmlns:mc="http://schemas.openxmlformats.org/markup-compatibility/2006" xmlns:p14="http://schemas.microsoft.com/office/powerpoint/2010/main">
        <mc:Choice Requires="p14">
          <p:contentPart p14:bwMode="auto" r:id="rId11">
            <p14:nvContentPartPr>
              <p14:cNvPr id="2097174" name="墨迹 6"/>
              <p14:cNvContentPartPr/>
              <p14:nvPr/>
            </p14:nvContentPartPr>
            <p14:xfrm>
              <a:off x="11154155" y="2923994"/>
              <a:ext cx="551520" cy="14760"/>
            </p14:xfrm>
          </p:contentPart>
        </mc:Choice>
        <mc:Fallback xmlns="">
          <p:pic>
            <p:nvPicPr>
              <p:cNvPr id="2097174" name="墨迹 6"/>
            </p:nvPicPr>
            <p:blipFill>
              <a:blip r:embed="rId12"/>
            </p:blipFill>
            <p:spPr>
              <a:xfrm>
                <a:off x="11154155" y="2923994"/>
                <a:ext cx="551520" cy="14760"/>
              </a:xfrm>
              <a:prstGeom prst="rect"/>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86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8864"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21</a:t>
            </a:fld>
            <a:endParaRPr lang="zh-HK" altLang="en-US">
              <a:solidFill>
                <a:prstClr val="black">
                  <a:tint val="75000"/>
                </a:prstClr>
              </a:solidFill>
            </a:endParaRPr>
          </a:p>
        </p:txBody>
      </p:sp>
      <p:grpSp>
        <p:nvGrpSpPr>
          <p:cNvPr id="221" name="组合 54"/>
          <p:cNvGrpSpPr/>
          <p:nvPr/>
        </p:nvGrpSpPr>
        <p:grpSpPr>
          <a:xfrm>
            <a:off x="-1" y="6553200"/>
            <a:ext cx="12192001" cy="304800"/>
            <a:chOff x="0" y="6569404"/>
            <a:chExt cx="9144000" cy="288000"/>
          </a:xfrm>
        </p:grpSpPr>
        <p:sp>
          <p:nvSpPr>
            <p:cNvPr id="1048865"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66"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6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21</a:t>
            </a:fld>
            <a:endParaRPr lang="zh-HK" altLang="en-US" sz="1600" dirty="0">
              <a:solidFill>
                <a:schemeClr val="bg1"/>
              </a:solidFill>
            </a:endParaRPr>
          </a:p>
        </p:txBody>
      </p:sp>
      <p:pic>
        <p:nvPicPr>
          <p:cNvPr id="2097175" name="图片 2"/>
          <p:cNvPicPr>
            <a:picLocks noChangeAspect="1"/>
          </p:cNvPicPr>
          <p:nvPr/>
        </p:nvPicPr>
        <p:blipFill>
          <a:blip r:embed="rId3"/>
          <a:stretch>
            <a:fillRect/>
          </a:stretch>
        </p:blipFill>
        <p:spPr>
          <a:xfrm>
            <a:off x="3238862" y="745966"/>
            <a:ext cx="5328000" cy="570058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 name="组合 5"/>
          <p:cNvGrpSpPr/>
          <p:nvPr/>
        </p:nvGrpSpPr>
        <p:grpSpPr>
          <a:xfrm>
            <a:off x="-1" y="6553200"/>
            <a:ext cx="12192001" cy="304800"/>
            <a:chOff x="0" y="6569404"/>
            <a:chExt cx="9144000" cy="288000"/>
          </a:xfrm>
        </p:grpSpPr>
        <p:sp>
          <p:nvSpPr>
            <p:cNvPr id="1048871"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872"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87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22</a:t>
            </a:fld>
            <a:endParaRPr lang="zh-HK" altLang="en-US" sz="1600" dirty="0">
              <a:solidFill>
                <a:schemeClr val="bg1"/>
              </a:solidFill>
            </a:endParaRPr>
          </a:p>
        </p:txBody>
      </p:sp>
      <p:pic>
        <p:nvPicPr>
          <p:cNvPr id="2097176"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226" name="组合 18"/>
          <p:cNvGrpSpPr/>
          <p:nvPr/>
        </p:nvGrpSpPr>
        <p:grpSpPr bwMode="auto">
          <a:xfrm>
            <a:off x="2409457" y="2650330"/>
            <a:ext cx="1505450" cy="1479472"/>
            <a:chOff x="1709739" y="2636838"/>
            <a:chExt cx="1590160" cy="1584325"/>
          </a:xfrm>
          <a:solidFill>
            <a:srgbClr val="044875"/>
          </a:solidFill>
        </p:grpSpPr>
        <p:sp>
          <p:nvSpPr>
            <p:cNvPr id="1048874"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875"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87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87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87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87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88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88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88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883"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27" name="组合 71"/>
          <p:cNvGrpSpPr/>
          <p:nvPr>
            <p:custDataLst>
              <p:tags r:id="rId1"/>
            </p:custDataLst>
          </p:nvPr>
        </p:nvGrpSpPr>
        <p:grpSpPr>
          <a:xfrm>
            <a:off x="4523741" y="2047924"/>
            <a:ext cx="5370513" cy="534987"/>
            <a:chOff x="3281952" y="1484784"/>
            <a:chExt cx="5370513" cy="534987"/>
          </a:xfrm>
        </p:grpSpPr>
        <p:grpSp>
          <p:nvGrpSpPr>
            <p:cNvPr id="228" name="组合 72"/>
            <p:cNvGrpSpPr/>
            <p:nvPr/>
          </p:nvGrpSpPr>
          <p:grpSpPr>
            <a:xfrm>
              <a:off x="3943940" y="1484784"/>
              <a:ext cx="4708525" cy="534987"/>
              <a:chOff x="3943940" y="1626760"/>
              <a:chExt cx="4708525" cy="534987"/>
            </a:xfrm>
          </p:grpSpPr>
          <p:sp>
            <p:nvSpPr>
              <p:cNvPr id="1048884"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8885"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886"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29" name="组合 73"/>
            <p:cNvGrpSpPr/>
            <p:nvPr/>
          </p:nvGrpSpPr>
          <p:grpSpPr>
            <a:xfrm>
              <a:off x="3281952" y="1484784"/>
              <a:ext cx="689642" cy="534987"/>
              <a:chOff x="3281952" y="1626760"/>
              <a:chExt cx="689642" cy="534987"/>
            </a:xfrm>
          </p:grpSpPr>
          <p:sp>
            <p:nvSpPr>
              <p:cNvPr id="1048887"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888"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30" name="组合 80"/>
          <p:cNvGrpSpPr/>
          <p:nvPr>
            <p:custDataLst>
              <p:tags r:id="rId2"/>
            </p:custDataLst>
          </p:nvPr>
        </p:nvGrpSpPr>
        <p:grpSpPr>
          <a:xfrm>
            <a:off x="4503593" y="3688642"/>
            <a:ext cx="5372100" cy="534987"/>
            <a:chOff x="3261805" y="3188752"/>
            <a:chExt cx="5372100" cy="534987"/>
          </a:xfrm>
        </p:grpSpPr>
        <p:grpSp>
          <p:nvGrpSpPr>
            <p:cNvPr id="231" name="组合 81"/>
            <p:cNvGrpSpPr/>
            <p:nvPr/>
          </p:nvGrpSpPr>
          <p:grpSpPr>
            <a:xfrm>
              <a:off x="3261805" y="3188752"/>
              <a:ext cx="689593" cy="534987"/>
              <a:chOff x="3261805" y="3188752"/>
              <a:chExt cx="689593" cy="534987"/>
            </a:xfrm>
          </p:grpSpPr>
          <p:sp>
            <p:nvSpPr>
              <p:cNvPr id="1048889"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890"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232" name="组合 82"/>
            <p:cNvGrpSpPr/>
            <p:nvPr/>
          </p:nvGrpSpPr>
          <p:grpSpPr>
            <a:xfrm>
              <a:off x="3923792" y="3188752"/>
              <a:ext cx="4710113" cy="534987"/>
              <a:chOff x="3923792" y="3188752"/>
              <a:chExt cx="4710113" cy="534987"/>
            </a:xfrm>
          </p:grpSpPr>
          <p:sp>
            <p:nvSpPr>
              <p:cNvPr id="1048891"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8892"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893"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233" name="组合 98"/>
          <p:cNvGrpSpPr/>
          <p:nvPr>
            <p:custDataLst>
              <p:tags r:id="rId3"/>
            </p:custDataLst>
          </p:nvPr>
        </p:nvGrpSpPr>
        <p:grpSpPr>
          <a:xfrm>
            <a:off x="4503593" y="4509001"/>
            <a:ext cx="5372100" cy="534987"/>
            <a:chOff x="3261805" y="4046141"/>
            <a:chExt cx="5372100" cy="534987"/>
          </a:xfrm>
        </p:grpSpPr>
        <p:grpSp>
          <p:nvGrpSpPr>
            <p:cNvPr id="234" name="组合 99"/>
            <p:cNvGrpSpPr/>
            <p:nvPr/>
          </p:nvGrpSpPr>
          <p:grpSpPr>
            <a:xfrm>
              <a:off x="3261805" y="4046141"/>
              <a:ext cx="689447" cy="534987"/>
              <a:chOff x="3261805" y="3969748"/>
              <a:chExt cx="689447" cy="534987"/>
            </a:xfrm>
          </p:grpSpPr>
          <p:sp>
            <p:nvSpPr>
              <p:cNvPr id="1048894"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895"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235" name="组合 100"/>
            <p:cNvGrpSpPr/>
            <p:nvPr/>
          </p:nvGrpSpPr>
          <p:grpSpPr>
            <a:xfrm>
              <a:off x="3923792" y="4046141"/>
              <a:ext cx="4710113" cy="534987"/>
              <a:chOff x="3923792" y="3969748"/>
              <a:chExt cx="4710113" cy="534987"/>
            </a:xfrm>
          </p:grpSpPr>
          <p:sp>
            <p:nvSpPr>
              <p:cNvPr id="1048896"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8897"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4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89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236" name="组合 107"/>
          <p:cNvGrpSpPr/>
          <p:nvPr>
            <p:custDataLst>
              <p:tags r:id="rId4"/>
            </p:custDataLst>
          </p:nvPr>
        </p:nvGrpSpPr>
        <p:grpSpPr>
          <a:xfrm>
            <a:off x="4517645" y="2868283"/>
            <a:ext cx="5370513" cy="534987"/>
            <a:chOff x="3275856" y="2348880"/>
            <a:chExt cx="5370513" cy="534987"/>
          </a:xfrm>
        </p:grpSpPr>
        <p:grpSp>
          <p:nvGrpSpPr>
            <p:cNvPr id="237" name="组合 108"/>
            <p:cNvGrpSpPr/>
            <p:nvPr/>
          </p:nvGrpSpPr>
          <p:grpSpPr>
            <a:xfrm>
              <a:off x="3275856" y="2348880"/>
              <a:ext cx="689474" cy="534987"/>
              <a:chOff x="3275856" y="2407756"/>
              <a:chExt cx="689474" cy="534987"/>
            </a:xfrm>
          </p:grpSpPr>
          <p:sp>
            <p:nvSpPr>
              <p:cNvPr id="1048899"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00"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238" name="组合 109"/>
            <p:cNvGrpSpPr/>
            <p:nvPr/>
          </p:nvGrpSpPr>
          <p:grpSpPr>
            <a:xfrm>
              <a:off x="3937844" y="2348880"/>
              <a:ext cx="4708525" cy="534987"/>
              <a:chOff x="3937844" y="2407756"/>
              <a:chExt cx="4708525" cy="534987"/>
            </a:xfrm>
          </p:grpSpPr>
          <p:sp>
            <p:nvSpPr>
              <p:cNvPr id="1048901"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02"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0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7" name="图片 3"/>
          <p:cNvPicPr>
            <a:picLocks noChangeAspect="1"/>
          </p:cNvPicPr>
          <p:nvPr/>
        </p:nvPicPr>
        <p:blipFill>
          <a:blip r:embed="rId5"/>
          <a:stretch>
            <a:fillRect/>
          </a:stretch>
        </p:blipFill>
        <p:spPr>
          <a:xfrm>
            <a:off x="5808000" y="3379164"/>
            <a:ext cx="6318733" cy="3015918"/>
          </a:xfrm>
          <a:prstGeom prst="rect">
            <a:avLst/>
          </a:prstGeom>
        </p:spPr>
      </p:pic>
      <p:sp>
        <p:nvSpPr>
          <p:cNvPr id="1048907"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8908" name="文本框 71"/>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42" name="组合 28"/>
          <p:cNvGrpSpPr/>
          <p:nvPr/>
        </p:nvGrpSpPr>
        <p:grpSpPr>
          <a:xfrm>
            <a:off x="-1" y="6553200"/>
            <a:ext cx="12192001" cy="304800"/>
            <a:chOff x="0" y="6569404"/>
            <a:chExt cx="9144000" cy="288000"/>
          </a:xfrm>
        </p:grpSpPr>
        <p:sp>
          <p:nvSpPr>
            <p:cNvPr id="1048909"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8910"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1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23</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sp>
        <p:nvSpPr>
          <p:cNvPr id="1048912" name="文本框 2"/>
          <p:cNvSpPr txBox="1"/>
          <p:nvPr/>
        </p:nvSpPr>
        <p:spPr>
          <a:xfrm>
            <a:off x="408000" y="909000"/>
            <a:ext cx="6181530" cy="400110"/>
          </a:xfrm>
          <a:prstGeom prst="rect">
            <a:avLst/>
          </a:prstGeom>
          <a:noFill/>
        </p:spPr>
        <p:txBody>
          <a:bodyPr wrap="square">
            <a:spAutoFit/>
          </a:bodyPr>
          <a:lstStyle/>
          <a:p>
            <a:r>
              <a:rPr lang="en-US" altLang="zh-CN" sz="2000">
                <a:solidFill>
                  <a:srgbClr val="0174AB"/>
                </a:solidFill>
                <a:effectLst/>
                <a:latin typeface="Arial" panose="020B0604020202020204" pitchFamily="34" charset="0"/>
                <a:cs typeface="Arial" panose="020B0604020202020204" pitchFamily="34" charset="0"/>
              </a:rPr>
              <a:t>A. Molecular Hydrogen</a:t>
            </a:r>
            <a:endParaRPr lang="zh-CN" altLang="en-US" sz="2000">
              <a:solidFill>
                <a:srgbClr val="0174AB"/>
              </a:solidFill>
              <a:latin typeface="Arial" panose="020B0604020202020204" pitchFamily="34" charset="0"/>
              <a:cs typeface="Arial" panose="020B0604020202020204" pitchFamily="34" charset="0"/>
            </a:endParaRPr>
          </a:p>
        </p:txBody>
      </p:sp>
      <p:pic>
        <p:nvPicPr>
          <p:cNvPr id="2097178" name="图片 6"/>
          <p:cNvPicPr>
            <a:picLocks noChangeAspect="1"/>
          </p:cNvPicPr>
          <p:nvPr/>
        </p:nvPicPr>
        <p:blipFill>
          <a:blip r:embed="rId6"/>
          <a:stretch>
            <a:fillRect/>
          </a:stretch>
        </p:blipFill>
        <p:spPr>
          <a:xfrm>
            <a:off x="297598" y="1309110"/>
            <a:ext cx="5690599" cy="2639234"/>
          </a:xfrm>
          <a:prstGeom prst="rect">
            <a:avLst/>
          </a:prstGeom>
        </p:spPr>
      </p:pic>
      <p:pic>
        <p:nvPicPr>
          <p:cNvPr id="2097179" name="图片 9"/>
          <p:cNvPicPr>
            <a:picLocks noChangeAspect="1"/>
          </p:cNvPicPr>
          <p:nvPr/>
        </p:nvPicPr>
        <p:blipFill>
          <a:blip r:embed="rId7"/>
          <a:stretch>
            <a:fillRect/>
          </a:stretch>
        </p:blipFill>
        <p:spPr>
          <a:xfrm>
            <a:off x="6149533" y="837000"/>
            <a:ext cx="5778466" cy="210802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6"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8917" name="文本框 71"/>
          <p:cNvSpPr txBox="1"/>
          <p:nvPr>
            <p:custDataLst>
              <p:tags r:id="rId2"/>
            </p:custDataLst>
          </p:nvPr>
        </p:nvSpPr>
        <p:spPr>
          <a:xfrm>
            <a:off x="0" y="66874"/>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246" name="组合 28"/>
          <p:cNvGrpSpPr/>
          <p:nvPr/>
        </p:nvGrpSpPr>
        <p:grpSpPr>
          <a:xfrm>
            <a:off x="-1" y="6553200"/>
            <a:ext cx="12192001" cy="304800"/>
            <a:chOff x="0" y="6569404"/>
            <a:chExt cx="9144000" cy="288000"/>
          </a:xfrm>
        </p:grpSpPr>
        <p:sp>
          <p:nvSpPr>
            <p:cNvPr id="1048918" name="矩形 3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19"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24</a:t>
            </a:fld>
            <a:endParaRPr lang="zh-HK" altLang="en-US" sz="1600" dirty="0">
              <a:solidFill>
                <a:schemeClr val="bg1"/>
              </a:solidFill>
            </a:endParaRPr>
          </a:p>
        </p:txBody>
      </p:sp>
      <p:sp>
        <p:nvSpPr>
          <p:cNvPr id="1048921" name="文本框 1"/>
          <p:cNvSpPr txBox="1"/>
          <p:nvPr/>
        </p:nvSpPr>
        <p:spPr>
          <a:xfrm>
            <a:off x="408000" y="909000"/>
            <a:ext cx="6181530" cy="400110"/>
          </a:xfrm>
          <a:prstGeom prst="rect">
            <a:avLst/>
          </a:prstGeom>
          <a:noFill/>
        </p:spPr>
        <p:txBody>
          <a:bodyPr wrap="square">
            <a:spAutoFit/>
          </a:bodyPr>
          <a:lstStyle/>
          <a:p>
            <a:r>
              <a:rPr lang="en-US" altLang="zh-CN" sz="2000">
                <a:solidFill>
                  <a:srgbClr val="0174AB"/>
                </a:solidFill>
                <a:latin typeface="Arial" panose="020B0604020202020204" pitchFamily="34" charset="0"/>
                <a:cs typeface="Arial" panose="020B0604020202020204" pitchFamily="34" charset="0"/>
              </a:rPr>
              <a:t>B</a:t>
            </a:r>
            <a:r>
              <a:rPr lang="en-US" altLang="zh-CN" sz="2000">
                <a:solidFill>
                  <a:srgbClr val="0174AB"/>
                </a:solidFill>
                <a:effectLst/>
                <a:latin typeface="Arial" panose="020B0604020202020204" pitchFamily="34" charset="0"/>
                <a:cs typeface="Arial" panose="020B0604020202020204" pitchFamily="34" charset="0"/>
              </a:rPr>
              <a:t>. Lithium Hydride</a:t>
            </a:r>
            <a:endParaRPr lang="zh-CN" altLang="en-US" sz="2000">
              <a:solidFill>
                <a:srgbClr val="0174AB"/>
              </a:solidFill>
              <a:latin typeface="Arial" panose="020B0604020202020204" pitchFamily="34" charset="0"/>
              <a:cs typeface="Arial" panose="020B0604020202020204" pitchFamily="34" charset="0"/>
            </a:endParaRPr>
          </a:p>
        </p:txBody>
      </p:sp>
      <p:pic>
        <p:nvPicPr>
          <p:cNvPr id="2097180" name="图片 5"/>
          <p:cNvPicPr>
            <a:picLocks noChangeAspect="1"/>
          </p:cNvPicPr>
          <p:nvPr/>
        </p:nvPicPr>
        <p:blipFill>
          <a:blip r:embed="rId5"/>
          <a:stretch>
            <a:fillRect/>
          </a:stretch>
        </p:blipFill>
        <p:spPr>
          <a:xfrm>
            <a:off x="442447" y="1309110"/>
            <a:ext cx="5484136" cy="3215104"/>
          </a:xfrm>
          <a:prstGeom prst="rect">
            <a:avLst/>
          </a:prstGeom>
        </p:spPr>
      </p:pic>
      <p:pic>
        <p:nvPicPr>
          <p:cNvPr id="2097181" name="图片 8"/>
          <p:cNvPicPr>
            <a:picLocks noChangeAspect="1"/>
          </p:cNvPicPr>
          <p:nvPr/>
        </p:nvPicPr>
        <p:blipFill>
          <a:blip r:embed="rId6"/>
          <a:stretch>
            <a:fillRect/>
          </a:stretch>
        </p:blipFill>
        <p:spPr>
          <a:xfrm>
            <a:off x="6192364" y="756617"/>
            <a:ext cx="5964689" cy="2944055"/>
          </a:xfrm>
          <a:prstGeom prst="rect">
            <a:avLst/>
          </a:prstGeom>
        </p:spPr>
      </p:pic>
      <p:pic>
        <p:nvPicPr>
          <p:cNvPr id="2097182" name="图片 11"/>
          <p:cNvPicPr>
            <a:picLocks noChangeAspect="1"/>
          </p:cNvPicPr>
          <p:nvPr/>
        </p:nvPicPr>
        <p:blipFill>
          <a:blip r:embed="rId7"/>
          <a:stretch>
            <a:fillRect/>
          </a:stretch>
        </p:blipFill>
        <p:spPr>
          <a:xfrm>
            <a:off x="7006248" y="3933000"/>
            <a:ext cx="4595564" cy="189229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 name="组合 108"/>
          <p:cNvGrpSpPr/>
          <p:nvPr/>
        </p:nvGrpSpPr>
        <p:grpSpPr>
          <a:xfrm>
            <a:off x="1524000" y="6569404"/>
            <a:ext cx="9144000" cy="288596"/>
            <a:chOff x="0" y="6569404"/>
            <a:chExt cx="9144000" cy="288596"/>
          </a:xfrm>
        </p:grpSpPr>
        <p:sp>
          <p:nvSpPr>
            <p:cNvPr id="1048925"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8926"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27"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8928"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8929"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25</a:t>
            </a:fld>
            <a:endParaRPr lang="zh-HK" altLang="en-US">
              <a:solidFill>
                <a:prstClr val="black">
                  <a:tint val="75000"/>
                </a:prstClr>
              </a:solidFill>
            </a:endParaRPr>
          </a:p>
        </p:txBody>
      </p:sp>
      <p:grpSp>
        <p:nvGrpSpPr>
          <p:cNvPr id="251" name="组合 7"/>
          <p:cNvGrpSpPr/>
          <p:nvPr/>
        </p:nvGrpSpPr>
        <p:grpSpPr>
          <a:xfrm>
            <a:off x="-1" y="6553200"/>
            <a:ext cx="12192001" cy="304800"/>
            <a:chOff x="0" y="6569404"/>
            <a:chExt cx="9144000" cy="288000"/>
          </a:xfrm>
        </p:grpSpPr>
        <p:sp>
          <p:nvSpPr>
            <p:cNvPr id="1048930"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31"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3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25</a:t>
            </a:fld>
            <a:endParaRPr lang="zh-HK" altLang="en-US" sz="1600" dirty="0">
              <a:solidFill>
                <a:schemeClr val="bg1"/>
              </a:solidFill>
            </a:endParaRPr>
          </a:p>
        </p:txBody>
      </p:sp>
      <p:pic>
        <p:nvPicPr>
          <p:cNvPr id="2097183"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252" name="组合 18"/>
          <p:cNvGrpSpPr/>
          <p:nvPr/>
        </p:nvGrpSpPr>
        <p:grpSpPr bwMode="auto">
          <a:xfrm>
            <a:off x="2409457" y="2650330"/>
            <a:ext cx="1505450" cy="1479472"/>
            <a:chOff x="1709739" y="2636838"/>
            <a:chExt cx="1590160" cy="1584325"/>
          </a:xfrm>
          <a:solidFill>
            <a:srgbClr val="044875"/>
          </a:solidFill>
        </p:grpSpPr>
        <p:sp>
          <p:nvSpPr>
            <p:cNvPr id="104893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93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93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93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93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93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93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94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894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8942"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53" name="组合 77"/>
          <p:cNvGrpSpPr/>
          <p:nvPr>
            <p:custDataLst>
              <p:tags r:id="rId1"/>
            </p:custDataLst>
          </p:nvPr>
        </p:nvGrpSpPr>
        <p:grpSpPr>
          <a:xfrm>
            <a:off x="4523741" y="2047924"/>
            <a:ext cx="5370513" cy="534987"/>
            <a:chOff x="3281952" y="1484784"/>
            <a:chExt cx="5370513" cy="534987"/>
          </a:xfrm>
        </p:grpSpPr>
        <p:grpSp>
          <p:nvGrpSpPr>
            <p:cNvPr id="254" name="组合 78"/>
            <p:cNvGrpSpPr/>
            <p:nvPr/>
          </p:nvGrpSpPr>
          <p:grpSpPr>
            <a:xfrm>
              <a:off x="3943940" y="1484784"/>
              <a:ext cx="4708525" cy="534987"/>
              <a:chOff x="3943940" y="1626760"/>
              <a:chExt cx="4708525" cy="534987"/>
            </a:xfrm>
          </p:grpSpPr>
          <p:sp>
            <p:nvSpPr>
              <p:cNvPr id="104894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894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45"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55" name="组合 79"/>
            <p:cNvGrpSpPr/>
            <p:nvPr/>
          </p:nvGrpSpPr>
          <p:grpSpPr>
            <a:xfrm>
              <a:off x="3281952" y="1484784"/>
              <a:ext cx="689642" cy="534987"/>
              <a:chOff x="3281952" y="1626760"/>
              <a:chExt cx="689642" cy="534987"/>
            </a:xfrm>
          </p:grpSpPr>
          <p:sp>
            <p:nvSpPr>
              <p:cNvPr id="1048946"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4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256" name="组合 87"/>
          <p:cNvGrpSpPr/>
          <p:nvPr>
            <p:custDataLst>
              <p:tags r:id="rId2"/>
            </p:custDataLst>
          </p:nvPr>
        </p:nvGrpSpPr>
        <p:grpSpPr>
          <a:xfrm>
            <a:off x="4503593" y="3688642"/>
            <a:ext cx="5372100" cy="534987"/>
            <a:chOff x="3261805" y="3188752"/>
            <a:chExt cx="5372100" cy="534987"/>
          </a:xfrm>
        </p:grpSpPr>
        <p:grpSp>
          <p:nvGrpSpPr>
            <p:cNvPr id="257" name="组合 90"/>
            <p:cNvGrpSpPr/>
            <p:nvPr/>
          </p:nvGrpSpPr>
          <p:grpSpPr>
            <a:xfrm>
              <a:off x="3261805" y="3188752"/>
              <a:ext cx="689593" cy="534987"/>
              <a:chOff x="3261805" y="3188752"/>
              <a:chExt cx="689593" cy="534987"/>
            </a:xfrm>
          </p:grpSpPr>
          <p:sp>
            <p:nvSpPr>
              <p:cNvPr id="1048948"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4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258" name="组合 94"/>
            <p:cNvGrpSpPr/>
            <p:nvPr/>
          </p:nvGrpSpPr>
          <p:grpSpPr>
            <a:xfrm>
              <a:off x="3923792" y="3188752"/>
              <a:ext cx="4710113" cy="534987"/>
              <a:chOff x="3923792" y="3188752"/>
              <a:chExt cx="4710113" cy="534987"/>
            </a:xfrm>
          </p:grpSpPr>
          <p:sp>
            <p:nvSpPr>
              <p:cNvPr id="104895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51"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5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259" name="组合 104"/>
          <p:cNvGrpSpPr/>
          <p:nvPr>
            <p:custDataLst>
              <p:tags r:id="rId3"/>
            </p:custDataLst>
          </p:nvPr>
        </p:nvGrpSpPr>
        <p:grpSpPr>
          <a:xfrm>
            <a:off x="4503593" y="4509001"/>
            <a:ext cx="5372100" cy="534987"/>
            <a:chOff x="3261805" y="4046141"/>
            <a:chExt cx="5372100" cy="534987"/>
          </a:xfrm>
        </p:grpSpPr>
        <p:grpSp>
          <p:nvGrpSpPr>
            <p:cNvPr id="260" name="组合 105"/>
            <p:cNvGrpSpPr/>
            <p:nvPr/>
          </p:nvGrpSpPr>
          <p:grpSpPr>
            <a:xfrm>
              <a:off x="3261805" y="4046141"/>
              <a:ext cx="689447" cy="534987"/>
              <a:chOff x="3261805" y="3969748"/>
              <a:chExt cx="689447" cy="534987"/>
            </a:xfrm>
          </p:grpSpPr>
          <p:sp>
            <p:nvSpPr>
              <p:cNvPr id="1048953"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5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261" name="组合 106"/>
            <p:cNvGrpSpPr/>
            <p:nvPr/>
          </p:nvGrpSpPr>
          <p:grpSpPr>
            <a:xfrm>
              <a:off x="3923792" y="4046141"/>
              <a:ext cx="4710113" cy="534987"/>
              <a:chOff x="3923792" y="3969748"/>
              <a:chExt cx="4710113" cy="534987"/>
            </a:xfrm>
          </p:grpSpPr>
          <p:sp>
            <p:nvSpPr>
              <p:cNvPr id="104895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8956"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5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262" name="组合 116"/>
          <p:cNvGrpSpPr/>
          <p:nvPr>
            <p:custDataLst>
              <p:tags r:id="rId4"/>
            </p:custDataLst>
          </p:nvPr>
        </p:nvGrpSpPr>
        <p:grpSpPr>
          <a:xfrm>
            <a:off x="4517645" y="2868283"/>
            <a:ext cx="5370513" cy="534987"/>
            <a:chOff x="3275856" y="2348880"/>
            <a:chExt cx="5370513" cy="534987"/>
          </a:xfrm>
        </p:grpSpPr>
        <p:grpSp>
          <p:nvGrpSpPr>
            <p:cNvPr id="263" name="组合 117"/>
            <p:cNvGrpSpPr/>
            <p:nvPr/>
          </p:nvGrpSpPr>
          <p:grpSpPr>
            <a:xfrm>
              <a:off x="3275856" y="2348880"/>
              <a:ext cx="689474" cy="534987"/>
              <a:chOff x="3275856" y="2407756"/>
              <a:chExt cx="689474" cy="534987"/>
            </a:xfrm>
          </p:grpSpPr>
          <p:sp>
            <p:nvSpPr>
              <p:cNvPr id="1048958"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895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264" name="组合 118"/>
            <p:cNvGrpSpPr/>
            <p:nvPr/>
          </p:nvGrpSpPr>
          <p:grpSpPr>
            <a:xfrm>
              <a:off x="3937844" y="2348880"/>
              <a:ext cx="4708525" cy="534987"/>
              <a:chOff x="3937844" y="2407756"/>
              <a:chExt cx="4708525" cy="534987"/>
            </a:xfrm>
          </p:grpSpPr>
          <p:sp>
            <p:nvSpPr>
              <p:cNvPr id="104896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8961"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96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8967"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1048968" name="矩形 1"/>
          <p:cNvSpPr/>
          <p:nvPr/>
        </p:nvSpPr>
        <p:spPr>
          <a:xfrm>
            <a:off x="264000" y="981000"/>
            <a:ext cx="11736000" cy="2957544"/>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8969"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048970" name="文本框 13"/>
          <p:cNvSpPr txBox="1"/>
          <p:nvPr/>
        </p:nvSpPr>
        <p:spPr>
          <a:xfrm>
            <a:off x="296571" y="1252349"/>
            <a:ext cx="11736000" cy="2343655"/>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marL="457200" indent="-457200">
              <a:lnSpc>
                <a:spcPct val="150000"/>
              </a:lnSpc>
              <a:buAutoNum type="arabicPeriod"/>
            </a:pPr>
            <a:r>
              <a:rPr lang="en-US" altLang="zh-CN" sz="2000">
                <a:solidFill>
                  <a:srgbClr val="231F20"/>
                </a:solidFill>
                <a:effectLst/>
                <a:ea typeface="微软雅黑" panose="020B0503020204020204" charset="-122"/>
              </a:rPr>
              <a:t>This paper </a:t>
            </a:r>
            <a:r>
              <a:rPr lang="en-US" altLang="zh-CN" sz="2000" b="0" i="0">
                <a:effectLst/>
                <a:ea typeface="微软雅黑" panose="020B0503020204020204" charset="-122"/>
              </a:rPr>
              <a:t>proposes the </a:t>
            </a:r>
            <a:r>
              <a:rPr lang="en-US" altLang="zh-CN" sz="2000" b="1" i="0">
                <a:solidFill>
                  <a:srgbClr val="FF0000"/>
                </a:solidFill>
                <a:effectLst/>
                <a:ea typeface="微软雅黑" panose="020B0503020204020204" charset="-122"/>
              </a:rPr>
              <a:t>meta-VQA</a:t>
            </a:r>
            <a:r>
              <a:rPr lang="en-US" altLang="zh-CN" sz="2000" b="0" i="0">
                <a:effectLst/>
                <a:ea typeface="微软雅黑" panose="020B0503020204020204" charset="-122"/>
              </a:rPr>
              <a:t>, which uses recurrent units to assist quantum computing and establishes a </a:t>
            </a:r>
            <a:r>
              <a:rPr lang="en-US" altLang="zh-CN" sz="2000" b="1" i="0">
                <a:solidFill>
                  <a:srgbClr val="FF0000"/>
                </a:solidFill>
                <a:effectLst/>
                <a:ea typeface="微软雅黑" panose="020B0503020204020204" charset="-122"/>
              </a:rPr>
              <a:t>weight sharing method</a:t>
            </a:r>
            <a:r>
              <a:rPr lang="en-US" altLang="zh-CN" sz="2000" b="0" i="0">
                <a:effectLst/>
                <a:ea typeface="微软雅黑" panose="020B0503020204020204" charset="-122"/>
              </a:rPr>
              <a:t>. It helps in learning to find approximate optimal in the parameter landscape more efficiently.</a:t>
            </a:r>
          </a:p>
          <a:p>
            <a:pPr marL="457200" indent="-457200">
              <a:lnSpc>
                <a:spcPct val="150000"/>
              </a:lnSpc>
              <a:buAutoNum type="arabicPeriod"/>
            </a:pPr>
            <a:r>
              <a:rPr lang="en-US" altLang="zh-CN" sz="2000">
                <a:ea typeface="微软雅黑" panose="020B0503020204020204" charset="-122"/>
              </a:rPr>
              <a:t> This paper introduces quantum </a:t>
            </a:r>
            <a:r>
              <a:rPr lang="en-US" altLang="zh-CN" sz="2000" b="1">
                <a:solidFill>
                  <a:srgbClr val="FF0000"/>
                </a:solidFill>
                <a:ea typeface="微软雅黑" panose="020B0503020204020204" charset="-122"/>
              </a:rPr>
              <a:t>stochastic gradient descent </a:t>
            </a:r>
            <a:r>
              <a:rPr lang="en-US" altLang="zh-CN" sz="2000">
                <a:ea typeface="微软雅黑" panose="020B0503020204020204" charset="-122"/>
              </a:rPr>
              <a:t>and an </a:t>
            </a:r>
            <a:r>
              <a:rPr lang="en-US" altLang="zh-CN" sz="2000" b="1">
                <a:solidFill>
                  <a:srgbClr val="FF0000"/>
                </a:solidFill>
                <a:ea typeface="微软雅黑" panose="020B0503020204020204" charset="-122"/>
              </a:rPr>
              <a:t>adaptive learning rate method</a:t>
            </a:r>
            <a:r>
              <a:rPr lang="en-US" altLang="zh-CN" sz="2000">
                <a:ea typeface="微软雅黑" panose="020B0503020204020204" charset="-122"/>
              </a:rPr>
              <a:t> to optimize parameters, reducing the sampling number and accelerating convergence.</a:t>
            </a:r>
          </a:p>
        </p:txBody>
      </p:sp>
      <p:grpSp>
        <p:nvGrpSpPr>
          <p:cNvPr id="268" name="组合 19"/>
          <p:cNvGrpSpPr/>
          <p:nvPr/>
        </p:nvGrpSpPr>
        <p:grpSpPr>
          <a:xfrm>
            <a:off x="-1" y="6553200"/>
            <a:ext cx="12192001" cy="304800"/>
            <a:chOff x="0" y="6569404"/>
            <a:chExt cx="9144000" cy="288000"/>
          </a:xfrm>
        </p:grpSpPr>
        <p:sp>
          <p:nvSpPr>
            <p:cNvPr id="1048971"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72"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7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26</a:t>
            </a:fld>
            <a:endParaRPr lang="zh-HK" altLang="en-US" sz="1600" dirty="0">
              <a:solidFill>
                <a:schemeClr val="bg1"/>
              </a:solidFill>
            </a:endParaRPr>
          </a:p>
        </p:txBody>
      </p:sp>
      <p:sp>
        <p:nvSpPr>
          <p:cNvPr id="1048974" name="矩形 10"/>
          <p:cNvSpPr/>
          <p:nvPr/>
        </p:nvSpPr>
        <p:spPr>
          <a:xfrm>
            <a:off x="241320" y="4077000"/>
            <a:ext cx="11736000" cy="2109932"/>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8975" name="矩形 11"/>
          <p:cNvSpPr/>
          <p:nvPr/>
        </p:nvSpPr>
        <p:spPr>
          <a:xfrm>
            <a:off x="296571" y="4176418"/>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048976" name="文本框 4"/>
          <p:cNvSpPr txBox="1"/>
          <p:nvPr/>
        </p:nvSpPr>
        <p:spPr>
          <a:xfrm>
            <a:off x="413871" y="4651321"/>
            <a:ext cx="11592000" cy="961289"/>
          </a:xfrm>
          <a:prstGeom prst="rect">
            <a:avLst/>
          </a:prstGeom>
          <a:noFill/>
        </p:spPr>
        <p:txBody>
          <a:bodyPr wrap="square">
            <a:spAutoFit/>
          </a:bodyPr>
          <a:lstStyle/>
          <a:p>
            <a:pPr>
              <a:lnSpc>
                <a:spcPct val="150000"/>
              </a:lnSpc>
            </a:pPr>
            <a:r>
              <a:rPr lang="en-US" altLang="zh-CN" sz="2000">
                <a:solidFill>
                  <a:srgbClr val="231F20"/>
                </a:solidFill>
                <a:effectLst/>
                <a:latin typeface="Arial" panose="020B0604020202020204" pitchFamily="34" charset="0"/>
                <a:ea typeface="微软雅黑" panose="020B0503020204020204" charset="-122"/>
                <a:cs typeface="Arial" panose="020B0604020202020204" pitchFamily="34" charset="0"/>
              </a:rPr>
              <a:t>      In the future, we will further study the coordinated implementation of meta-VQA </a:t>
            </a:r>
            <a:r>
              <a:rPr lang="en-US" altLang="zh-CN" sz="2000" b="1">
                <a:solidFill>
                  <a:srgbClr val="FF0000"/>
                </a:solidFill>
                <a:effectLst/>
                <a:latin typeface="Arial" panose="020B0604020202020204" pitchFamily="34" charset="0"/>
                <a:ea typeface="微软雅黑" panose="020B0503020204020204" charset="-122"/>
                <a:cs typeface="Arial" panose="020B0604020202020204" pitchFamily="34" charset="0"/>
              </a:rPr>
              <a:t>distributed multiquantum devices</a:t>
            </a:r>
            <a:r>
              <a:rPr lang="en-US" altLang="zh-CN" sz="2000">
                <a:solidFill>
                  <a:srgbClr val="231F20"/>
                </a:solidFill>
                <a:effectLst/>
                <a:latin typeface="Arial" panose="020B0604020202020204" pitchFamily="34" charset="0"/>
                <a:ea typeface="微软雅黑" panose="020B0503020204020204" charset="-122"/>
                <a:cs typeface="Arial" panose="020B0604020202020204" pitchFamily="34" charset="0"/>
              </a:rPr>
              <a:t>, which may inspire investigations in the field of secure QML.</a:t>
            </a:r>
            <a:endParaRPr lang="zh-CN" altLang="en-US" sz="200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2" name="组合 3"/>
          <p:cNvGrpSpPr/>
          <p:nvPr/>
        </p:nvGrpSpPr>
        <p:grpSpPr>
          <a:xfrm>
            <a:off x="-1" y="1960245"/>
            <a:ext cx="12170406" cy="2045019"/>
            <a:chOff x="1522095" y="1960245"/>
            <a:chExt cx="9147810" cy="2045019"/>
          </a:xfrm>
        </p:grpSpPr>
        <p:sp>
          <p:nvSpPr>
            <p:cNvPr id="1048980"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8981" name="文本框 8"/>
            <p:cNvSpPr txBox="1"/>
            <p:nvPr/>
          </p:nvSpPr>
          <p:spPr>
            <a:xfrm>
              <a:off x="2081200" y="2090666"/>
              <a:ext cx="8233103" cy="13836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cs typeface="Arial" panose="020B0604020202020204" pitchFamily="34" charset="0"/>
                  <a:sym typeface="+mn-ea"/>
                </a:rPr>
                <a:t>PQ-Net Periodic Quantum Networks for Multivariate Time Series Forecasting</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sym typeface="+mn-ea"/>
              </a:endParaRPr>
            </a:p>
          </p:txBody>
        </p:sp>
      </p:grpSp>
      <p:sp>
        <p:nvSpPr>
          <p:cNvPr id="1048982"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2</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73" name="组合 15"/>
          <p:cNvGrpSpPr/>
          <p:nvPr/>
        </p:nvGrpSpPr>
        <p:grpSpPr>
          <a:xfrm>
            <a:off x="-1" y="6553200"/>
            <a:ext cx="12192001" cy="304800"/>
            <a:chOff x="0" y="6569404"/>
            <a:chExt cx="9144000" cy="288000"/>
          </a:xfrm>
        </p:grpSpPr>
        <p:sp>
          <p:nvSpPr>
            <p:cNvPr id="1048983"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8984"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898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27</a:t>
            </a:fld>
            <a:endParaRPr lang="zh-HK" altLang="en-US" sz="1600" dirty="0">
              <a:solidFill>
                <a:schemeClr val="bg1"/>
              </a:solidFill>
            </a:endParaRPr>
          </a:p>
        </p:txBody>
      </p:sp>
      <p:pic>
        <p:nvPicPr>
          <p:cNvPr id="2097184"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8986" name="文本框 6"/>
          <p:cNvSpPr txBox="1"/>
          <p:nvPr/>
        </p:nvSpPr>
        <p:spPr>
          <a:xfrm>
            <a:off x="351876" y="4596014"/>
            <a:ext cx="874776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 </a:t>
            </a:r>
            <a:r>
              <a:rPr lang="en-US" altLang="zh-CN" b="1">
                <a:latin typeface="Arial" panose="020B0604020202020204" pitchFamily="34" charset="0"/>
                <a:cs typeface="Arial" panose="020B0604020202020204" pitchFamily="34" charset="0"/>
              </a:rPr>
              <a:t>Journal: </a:t>
            </a:r>
            <a:r>
              <a:rPr lang="en-US" altLang="zh-CN" dirty="0">
                <a:latin typeface="Arial" panose="020B0604020202020204" pitchFamily="34" charset="0"/>
                <a:cs typeface="Arial" panose="020B0604020202020204" pitchFamily="34" charset="0"/>
              </a:rPr>
              <a:t>The International Conference on Learning Representations</a:t>
            </a:r>
          </a:p>
        </p:txBody>
      </p:sp>
      <p:sp>
        <p:nvSpPr>
          <p:cNvPr id="1048987" name="文本框 10"/>
          <p:cNvSpPr txBox="1"/>
          <p:nvPr/>
        </p:nvSpPr>
        <p:spPr>
          <a:xfrm>
            <a:off x="351876" y="5100204"/>
            <a:ext cx="5831840" cy="36830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2026</a:t>
            </a:r>
            <a:endParaRPr lang="en-US" altLang="zh-CN" dirty="0">
              <a:latin typeface="Arial" panose="020B0604020202020204" pitchFamily="34" charset="0"/>
              <a:cs typeface="Arial" panose="020B0604020202020204" pitchFamily="34" charset="0"/>
            </a:endParaRPr>
          </a:p>
        </p:txBody>
      </p:sp>
      <p:sp>
        <p:nvSpPr>
          <p:cNvPr id="1048988" name="文本框 2"/>
          <p:cNvSpPr txBox="1"/>
          <p:nvPr/>
        </p:nvSpPr>
        <p:spPr>
          <a:xfrm>
            <a:off x="551815" y="3644900"/>
            <a:ext cx="5929630" cy="337185"/>
          </a:xfrm>
          <a:prstGeom prst="rect">
            <a:avLst/>
          </a:prstGeom>
        </p:spPr>
        <p:txBody>
          <a:bodyPr wrap="square">
            <a:spAutoFit/>
          </a:bodyPr>
          <a:lstStyle/>
          <a:p>
            <a:pPr marL="0" indent="0">
              <a:spcBef>
                <a:spcPct val="0"/>
              </a:spcBef>
              <a:spcAft>
                <a:spcPct val="0"/>
              </a:spcAft>
            </a:pPr>
            <a:r>
              <a:rPr lang="en-US" altLang="zh-CN" sz="1600" b="1">
                <a:solidFill>
                  <a:schemeClr val="bg1"/>
                </a:solidFill>
                <a:latin typeface="Times New Roman" panose="02020603050405020304" pitchFamily="18" charset="0"/>
                <a:ea typeface="Noto Sans"/>
                <a:cs typeface="Times New Roman" panose="02020603050405020304" pitchFamily="18" charset="0"/>
              </a:rPr>
              <a:t>Yijun Wang, Qiyuan Zhuang, Xiaogang Qiang, Xiu-Shen Wei</a:t>
            </a:r>
            <a:endParaRPr lang="en-US" altLang="zh-CN" sz="1600" b="1">
              <a:solidFill>
                <a:schemeClr val="bg1"/>
              </a:solidFill>
              <a:latin typeface="Times New Roman" panose="02020603050405020304" pitchFamily="18" charset="0"/>
              <a:ea typeface="Noto Sans"/>
              <a:cs typeface="Times New Roman" panose="02020603050405020304" pitchFamily="18" charset="0"/>
              <a:hlinkClick r:id="rId4" tooltip="~Xiu-Shen_Wei1"/>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7" name="组合 18"/>
          <p:cNvGrpSpPr/>
          <p:nvPr/>
        </p:nvGrpSpPr>
        <p:grpSpPr bwMode="auto">
          <a:xfrm>
            <a:off x="2409457" y="2650330"/>
            <a:ext cx="1505450" cy="1479472"/>
            <a:chOff x="1709739" y="2636838"/>
            <a:chExt cx="1590160" cy="1584325"/>
          </a:xfrm>
          <a:solidFill>
            <a:srgbClr val="044875"/>
          </a:solidFill>
        </p:grpSpPr>
        <p:sp>
          <p:nvSpPr>
            <p:cNvPr id="104899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899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899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899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899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899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899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899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00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001"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78" name="组合 18"/>
          <p:cNvGrpSpPr/>
          <p:nvPr>
            <p:custDataLst>
              <p:tags r:id="rId1"/>
            </p:custDataLst>
          </p:nvPr>
        </p:nvGrpSpPr>
        <p:grpSpPr>
          <a:xfrm>
            <a:off x="4523741" y="2047924"/>
            <a:ext cx="5370513" cy="534987"/>
            <a:chOff x="3281952" y="1484784"/>
            <a:chExt cx="5370513" cy="534987"/>
          </a:xfrm>
        </p:grpSpPr>
        <p:grpSp>
          <p:nvGrpSpPr>
            <p:cNvPr id="279" name="组合 13"/>
            <p:cNvGrpSpPr/>
            <p:nvPr/>
          </p:nvGrpSpPr>
          <p:grpSpPr>
            <a:xfrm>
              <a:off x="3943940" y="1484784"/>
              <a:ext cx="4708525" cy="534987"/>
              <a:chOff x="3943940" y="1626760"/>
              <a:chExt cx="4708525" cy="534987"/>
            </a:xfrm>
          </p:grpSpPr>
          <p:sp>
            <p:nvSpPr>
              <p:cNvPr id="104900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00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004"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80" name="组合 9"/>
            <p:cNvGrpSpPr/>
            <p:nvPr/>
          </p:nvGrpSpPr>
          <p:grpSpPr>
            <a:xfrm>
              <a:off x="3281952" y="1484784"/>
              <a:ext cx="689642" cy="534987"/>
              <a:chOff x="3281952" y="1626760"/>
              <a:chExt cx="689642" cy="534987"/>
            </a:xfrm>
          </p:grpSpPr>
          <p:sp>
            <p:nvSpPr>
              <p:cNvPr id="1049005"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0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81" name="组合 21"/>
          <p:cNvGrpSpPr/>
          <p:nvPr>
            <p:custDataLst>
              <p:tags r:id="rId2"/>
            </p:custDataLst>
          </p:nvPr>
        </p:nvGrpSpPr>
        <p:grpSpPr>
          <a:xfrm>
            <a:off x="4503593" y="3688642"/>
            <a:ext cx="5372100" cy="534987"/>
            <a:chOff x="3261805" y="3188752"/>
            <a:chExt cx="5372100" cy="534987"/>
          </a:xfrm>
        </p:grpSpPr>
        <p:grpSp>
          <p:nvGrpSpPr>
            <p:cNvPr id="282" name="组合 11"/>
            <p:cNvGrpSpPr/>
            <p:nvPr/>
          </p:nvGrpSpPr>
          <p:grpSpPr>
            <a:xfrm>
              <a:off x="3261805" y="3188752"/>
              <a:ext cx="689593" cy="534987"/>
              <a:chOff x="3261805" y="3188752"/>
              <a:chExt cx="689593" cy="534987"/>
            </a:xfrm>
          </p:grpSpPr>
          <p:sp>
            <p:nvSpPr>
              <p:cNvPr id="1049007"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0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283" name="组合 15"/>
            <p:cNvGrpSpPr/>
            <p:nvPr/>
          </p:nvGrpSpPr>
          <p:grpSpPr>
            <a:xfrm>
              <a:off x="3923792" y="3188752"/>
              <a:ext cx="4710113" cy="534987"/>
              <a:chOff x="3923792" y="3188752"/>
              <a:chExt cx="4710113" cy="534987"/>
            </a:xfrm>
          </p:grpSpPr>
          <p:sp>
            <p:nvSpPr>
              <p:cNvPr id="104900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010"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1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284" name="组合 22"/>
          <p:cNvGrpSpPr/>
          <p:nvPr>
            <p:custDataLst>
              <p:tags r:id="rId3"/>
            </p:custDataLst>
          </p:nvPr>
        </p:nvGrpSpPr>
        <p:grpSpPr>
          <a:xfrm>
            <a:off x="4503593" y="4509001"/>
            <a:ext cx="5372100" cy="534987"/>
            <a:chOff x="3261805" y="4046141"/>
            <a:chExt cx="5372100" cy="534987"/>
          </a:xfrm>
        </p:grpSpPr>
        <p:grpSp>
          <p:nvGrpSpPr>
            <p:cNvPr id="285" name="组合 12"/>
            <p:cNvGrpSpPr/>
            <p:nvPr/>
          </p:nvGrpSpPr>
          <p:grpSpPr>
            <a:xfrm>
              <a:off x="3261805" y="4046141"/>
              <a:ext cx="689447" cy="534987"/>
              <a:chOff x="3261805" y="3969748"/>
              <a:chExt cx="689447" cy="534987"/>
            </a:xfrm>
          </p:grpSpPr>
          <p:sp>
            <p:nvSpPr>
              <p:cNvPr id="1049012"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1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286" name="组合 16"/>
            <p:cNvGrpSpPr/>
            <p:nvPr/>
          </p:nvGrpSpPr>
          <p:grpSpPr>
            <a:xfrm>
              <a:off x="3923792" y="4046141"/>
              <a:ext cx="4710113" cy="534987"/>
              <a:chOff x="3923792" y="3969748"/>
              <a:chExt cx="4710113" cy="534987"/>
            </a:xfrm>
          </p:grpSpPr>
          <p:sp>
            <p:nvSpPr>
              <p:cNvPr id="104901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015"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1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287" name="组合 19"/>
          <p:cNvGrpSpPr/>
          <p:nvPr>
            <p:custDataLst>
              <p:tags r:id="rId4"/>
            </p:custDataLst>
          </p:nvPr>
        </p:nvGrpSpPr>
        <p:grpSpPr>
          <a:xfrm>
            <a:off x="4517645" y="2868283"/>
            <a:ext cx="5370513" cy="534987"/>
            <a:chOff x="3275856" y="2348880"/>
            <a:chExt cx="5370513" cy="534987"/>
          </a:xfrm>
        </p:grpSpPr>
        <p:grpSp>
          <p:nvGrpSpPr>
            <p:cNvPr id="288" name="组合 10"/>
            <p:cNvGrpSpPr/>
            <p:nvPr/>
          </p:nvGrpSpPr>
          <p:grpSpPr>
            <a:xfrm>
              <a:off x="3275856" y="2348880"/>
              <a:ext cx="689474" cy="534987"/>
              <a:chOff x="3275856" y="2407756"/>
              <a:chExt cx="689474" cy="534987"/>
            </a:xfrm>
          </p:grpSpPr>
          <p:sp>
            <p:nvSpPr>
              <p:cNvPr id="1049017"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1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289" name="组合 14"/>
            <p:cNvGrpSpPr/>
            <p:nvPr/>
          </p:nvGrpSpPr>
          <p:grpSpPr>
            <a:xfrm>
              <a:off x="3937844" y="2348880"/>
              <a:ext cx="4708525" cy="534987"/>
              <a:chOff x="3937844" y="2407756"/>
              <a:chExt cx="4708525" cy="534987"/>
            </a:xfrm>
          </p:grpSpPr>
          <p:sp>
            <p:nvSpPr>
              <p:cNvPr id="104901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020"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2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290" name="组合 6"/>
          <p:cNvGrpSpPr/>
          <p:nvPr/>
        </p:nvGrpSpPr>
        <p:grpSpPr>
          <a:xfrm>
            <a:off x="-1" y="6553200"/>
            <a:ext cx="12192001" cy="304800"/>
            <a:chOff x="0" y="6569404"/>
            <a:chExt cx="9144000" cy="288000"/>
          </a:xfrm>
        </p:grpSpPr>
        <p:sp>
          <p:nvSpPr>
            <p:cNvPr id="1049022"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23"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2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28</a:t>
            </a:fld>
            <a:endParaRPr lang="zh-HK" altLang="en-US" sz="1600" dirty="0">
              <a:solidFill>
                <a:schemeClr val="bg1"/>
              </a:solidFill>
            </a:endParaRPr>
          </a:p>
        </p:txBody>
      </p:sp>
      <p:pic>
        <p:nvPicPr>
          <p:cNvPr id="209718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4" name="组合 6"/>
          <p:cNvGrpSpPr/>
          <p:nvPr/>
        </p:nvGrpSpPr>
        <p:grpSpPr>
          <a:xfrm>
            <a:off x="-1" y="6553200"/>
            <a:ext cx="12192001" cy="304800"/>
            <a:chOff x="0" y="6569404"/>
            <a:chExt cx="9144000" cy="288000"/>
          </a:xfrm>
        </p:grpSpPr>
        <p:sp>
          <p:nvSpPr>
            <p:cNvPr id="104902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2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3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29</a:t>
            </a:fld>
            <a:endParaRPr lang="zh-HK" altLang="en-US" sz="1600" dirty="0">
              <a:solidFill>
                <a:schemeClr val="bg1"/>
              </a:solidFill>
            </a:endParaRPr>
          </a:p>
        </p:txBody>
      </p:sp>
      <p:pic>
        <p:nvPicPr>
          <p:cNvPr id="2097186"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295" name="组合 18"/>
          <p:cNvGrpSpPr/>
          <p:nvPr/>
        </p:nvGrpSpPr>
        <p:grpSpPr bwMode="auto">
          <a:xfrm>
            <a:off x="2409457" y="2650330"/>
            <a:ext cx="1505450" cy="1479472"/>
            <a:chOff x="1709739" y="2636838"/>
            <a:chExt cx="1590160" cy="1584325"/>
          </a:xfrm>
          <a:solidFill>
            <a:srgbClr val="044875"/>
          </a:solidFill>
        </p:grpSpPr>
        <p:sp>
          <p:nvSpPr>
            <p:cNvPr id="1049031"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032"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033"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034"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035"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036"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037"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038"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039"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040"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296" name="组合 506"/>
          <p:cNvGrpSpPr/>
          <p:nvPr>
            <p:custDataLst>
              <p:tags r:id="rId1"/>
            </p:custDataLst>
          </p:nvPr>
        </p:nvGrpSpPr>
        <p:grpSpPr>
          <a:xfrm>
            <a:off x="4523741" y="2047924"/>
            <a:ext cx="5370513" cy="534987"/>
            <a:chOff x="3281952" y="1484784"/>
            <a:chExt cx="5370513" cy="534987"/>
          </a:xfrm>
        </p:grpSpPr>
        <p:grpSp>
          <p:nvGrpSpPr>
            <p:cNvPr id="297" name="组合 507"/>
            <p:cNvGrpSpPr/>
            <p:nvPr/>
          </p:nvGrpSpPr>
          <p:grpSpPr>
            <a:xfrm>
              <a:off x="3943940" y="1484784"/>
              <a:ext cx="4708525" cy="534987"/>
              <a:chOff x="3943940" y="1626760"/>
              <a:chExt cx="4708525" cy="534987"/>
            </a:xfrm>
          </p:grpSpPr>
          <p:sp>
            <p:nvSpPr>
              <p:cNvPr id="1049041"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042"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043"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5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98" name="组合 508"/>
            <p:cNvGrpSpPr/>
            <p:nvPr/>
          </p:nvGrpSpPr>
          <p:grpSpPr>
            <a:xfrm>
              <a:off x="3281952" y="1484784"/>
              <a:ext cx="689642" cy="534987"/>
              <a:chOff x="3281952" y="1626760"/>
              <a:chExt cx="689642" cy="534987"/>
            </a:xfrm>
          </p:grpSpPr>
          <p:sp>
            <p:nvSpPr>
              <p:cNvPr id="1049044"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45"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299" name="组合 515"/>
          <p:cNvGrpSpPr/>
          <p:nvPr>
            <p:custDataLst>
              <p:tags r:id="rId2"/>
            </p:custDataLst>
          </p:nvPr>
        </p:nvGrpSpPr>
        <p:grpSpPr>
          <a:xfrm>
            <a:off x="4503593" y="3688642"/>
            <a:ext cx="5372100" cy="534987"/>
            <a:chOff x="3261805" y="3188752"/>
            <a:chExt cx="5372100" cy="534987"/>
          </a:xfrm>
        </p:grpSpPr>
        <p:grpSp>
          <p:nvGrpSpPr>
            <p:cNvPr id="300" name="组合 516"/>
            <p:cNvGrpSpPr/>
            <p:nvPr/>
          </p:nvGrpSpPr>
          <p:grpSpPr>
            <a:xfrm>
              <a:off x="3261805" y="3188752"/>
              <a:ext cx="689593" cy="534987"/>
              <a:chOff x="3261805" y="3188752"/>
              <a:chExt cx="689593" cy="534987"/>
            </a:xfrm>
          </p:grpSpPr>
          <p:sp>
            <p:nvSpPr>
              <p:cNvPr id="1049046"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47"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301" name="组合 517"/>
            <p:cNvGrpSpPr/>
            <p:nvPr/>
          </p:nvGrpSpPr>
          <p:grpSpPr>
            <a:xfrm>
              <a:off x="3923792" y="3188752"/>
              <a:ext cx="4710113" cy="534987"/>
              <a:chOff x="3923792" y="3188752"/>
              <a:chExt cx="4710113" cy="534987"/>
            </a:xfrm>
          </p:grpSpPr>
          <p:sp>
            <p:nvSpPr>
              <p:cNvPr id="1049048"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49"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50"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02" name="组合 524"/>
          <p:cNvGrpSpPr/>
          <p:nvPr>
            <p:custDataLst>
              <p:tags r:id="rId3"/>
            </p:custDataLst>
          </p:nvPr>
        </p:nvGrpSpPr>
        <p:grpSpPr>
          <a:xfrm>
            <a:off x="4503593" y="4509001"/>
            <a:ext cx="5372100" cy="534987"/>
            <a:chOff x="3261805" y="4046141"/>
            <a:chExt cx="5372100" cy="534987"/>
          </a:xfrm>
        </p:grpSpPr>
        <p:grpSp>
          <p:nvGrpSpPr>
            <p:cNvPr id="303" name="组合 525"/>
            <p:cNvGrpSpPr/>
            <p:nvPr/>
          </p:nvGrpSpPr>
          <p:grpSpPr>
            <a:xfrm>
              <a:off x="3261805" y="4046141"/>
              <a:ext cx="689447" cy="534987"/>
              <a:chOff x="3261805" y="3969748"/>
              <a:chExt cx="689447" cy="534987"/>
            </a:xfrm>
          </p:grpSpPr>
          <p:sp>
            <p:nvSpPr>
              <p:cNvPr id="1049051"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52"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304" name="组合 526"/>
            <p:cNvGrpSpPr/>
            <p:nvPr/>
          </p:nvGrpSpPr>
          <p:grpSpPr>
            <a:xfrm>
              <a:off x="3923792" y="4046141"/>
              <a:ext cx="4710113" cy="534987"/>
              <a:chOff x="3923792" y="3969748"/>
              <a:chExt cx="4710113" cy="534987"/>
            </a:xfrm>
          </p:grpSpPr>
          <p:sp>
            <p:nvSpPr>
              <p:cNvPr id="1049053"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054"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55"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05" name="组合 533"/>
          <p:cNvGrpSpPr/>
          <p:nvPr>
            <p:custDataLst>
              <p:tags r:id="rId4"/>
            </p:custDataLst>
          </p:nvPr>
        </p:nvGrpSpPr>
        <p:grpSpPr>
          <a:xfrm>
            <a:off x="4517645" y="2868283"/>
            <a:ext cx="5370513" cy="534987"/>
            <a:chOff x="3275856" y="2348880"/>
            <a:chExt cx="5370513" cy="534987"/>
          </a:xfrm>
        </p:grpSpPr>
        <p:grpSp>
          <p:nvGrpSpPr>
            <p:cNvPr id="306" name="组合 534"/>
            <p:cNvGrpSpPr/>
            <p:nvPr/>
          </p:nvGrpSpPr>
          <p:grpSpPr>
            <a:xfrm>
              <a:off x="3275856" y="2348880"/>
              <a:ext cx="689474" cy="534987"/>
              <a:chOff x="3275856" y="2407756"/>
              <a:chExt cx="689474" cy="534987"/>
            </a:xfrm>
          </p:grpSpPr>
          <p:sp>
            <p:nvSpPr>
              <p:cNvPr id="1049056"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57"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307" name="组合 535"/>
            <p:cNvGrpSpPr/>
            <p:nvPr/>
          </p:nvGrpSpPr>
          <p:grpSpPr>
            <a:xfrm>
              <a:off x="3937844" y="2348880"/>
              <a:ext cx="4708525" cy="534987"/>
              <a:chOff x="3937844" y="2407756"/>
              <a:chExt cx="4708525" cy="534987"/>
            </a:xfrm>
          </p:grpSpPr>
          <p:sp>
            <p:nvSpPr>
              <p:cNvPr id="1049058"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59"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60"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4"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065"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066" name="文本框 7"/>
          <p:cNvSpPr txBox="1"/>
          <p:nvPr/>
        </p:nvSpPr>
        <p:spPr>
          <a:xfrm>
            <a:off x="187325" y="795020"/>
            <a:ext cx="11805920" cy="4653280"/>
          </a:xfrm>
          <a:prstGeom prst="rect">
            <a:avLst/>
          </a:prstGeom>
          <a:noFill/>
          <a:ln>
            <a:solidFill>
              <a:srgbClr val="0174AB"/>
            </a:solidFill>
          </a:ln>
        </p:spPr>
        <p:txBody>
          <a:bodyPr wrap="square" rtlCol="0">
            <a:noAutofit/>
          </a:bodyPr>
          <a:lstStyle/>
          <a:p>
            <a:pPr marL="285750" indent="-285750">
              <a:lnSpc>
                <a:spcPct val="150000"/>
              </a:lnSpc>
              <a:buFont typeface="Arial" panose="020B0604020202020204" pitchFamily="34" charset="0"/>
              <a:buChar char="•"/>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Periodic Quantum Networks (PQ-Net) </a:t>
            </a:r>
          </a:p>
          <a:p>
            <a:pPr indent="0">
              <a:lnSpc>
                <a:spcPct val="150000"/>
              </a:lnSpc>
              <a:buFont typeface="Arial" panose="020B0604020202020204" pitchFamily="34" charset="0"/>
              <a:buNone/>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gn="just">
              <a:lnSpc>
                <a:spcPct val="150000"/>
              </a:lnSpc>
            </a:pPr>
            <a:r>
              <a:rPr lang="en-US" altLang="zh-CN" b="0" i="0" dirty="0">
                <a:effectLst/>
                <a:latin typeface="Arial" panose="020B0604020202020204" pitchFamily="34" charset="0"/>
                <a:cs typeface="Arial" panose="020B0604020202020204" pitchFamily="34" charset="0"/>
              </a:rPr>
              <a:t>        </a:t>
            </a:r>
            <a:r>
              <a:rPr lang="en-US" altLang="zh-CN" sz="2000" dirty="0">
                <a:latin typeface="Arial" panose="020B0604020202020204" pitchFamily="34" charset="0"/>
                <a:ea typeface="微软雅黑" panose="020B0503020204020204" charset="-122"/>
                <a:cs typeface="Arial" panose="020B0604020202020204" pitchFamily="34" charset="0"/>
              </a:rPr>
              <a:t>We propose the Periodic Quantum Networks (PQ-Net), a quantum–classical hybrid frame_x0002_work that jointly integrates explicit periodic-structure modeling with expressive cross_x0002_variable dependency learning for multivariate time series forecasting. </a:t>
            </a:r>
          </a:p>
          <a:p>
            <a:pPr algn="just">
              <a:lnSpc>
                <a:spcPct val="150000"/>
              </a:lnSpc>
            </a:pPr>
            <a:r>
              <a:rPr lang="en-US" altLang="zh-CN" sz="2000" dirty="0">
                <a:latin typeface="Arial" panose="020B0604020202020204" pitchFamily="34" charset="0"/>
                <a:ea typeface="微软雅黑" panose="020B0503020204020204" charset="-122"/>
                <a:cs typeface="Arial" panose="020B0604020202020204" pitchFamily="34" charset="0"/>
              </a:rPr>
              <a:t>       We provide a theoretical analysis showing that the Data Re-uploading Quantum Circuits (DRQC) can encode periodic patterns through its equivalence to Fourier-series modeling and capture inter-variable dependencies via </a:t>
            </a:r>
            <a:r>
              <a:rPr lang="en-US" altLang="zh-CN" sz="2000">
                <a:latin typeface="Arial" panose="020B0604020202020204" pitchFamily="34" charset="0"/>
                <a:ea typeface="微软雅黑" panose="020B0503020204020204" charset="-122"/>
                <a:cs typeface="Arial" panose="020B0604020202020204" pitchFamily="34" charset="0"/>
              </a:rPr>
              <a:t>quantum entanglement.</a:t>
            </a:r>
            <a:endParaRPr lang="en-US" altLang="zh-CN" sz="2000" dirty="0">
              <a:latin typeface="Arial" panose="020B0604020202020204" pitchFamily="34" charset="0"/>
              <a:ea typeface="微软雅黑" panose="020B0503020204020204" charset="-122"/>
              <a:cs typeface="Arial" panose="020B0604020202020204" pitchFamily="34" charset="0"/>
            </a:endParaRPr>
          </a:p>
        </p:txBody>
      </p:sp>
      <p:grpSp>
        <p:nvGrpSpPr>
          <p:cNvPr id="311" name="组合 11"/>
          <p:cNvGrpSpPr/>
          <p:nvPr/>
        </p:nvGrpSpPr>
        <p:grpSpPr>
          <a:xfrm>
            <a:off x="-1" y="6553200"/>
            <a:ext cx="12192001" cy="304800"/>
            <a:chOff x="0" y="6569404"/>
            <a:chExt cx="9144000" cy="288000"/>
          </a:xfrm>
        </p:grpSpPr>
        <p:sp>
          <p:nvSpPr>
            <p:cNvPr id="1049067"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68"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6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30</a:t>
            </a:fld>
            <a:endParaRPr lang="zh-HK" altLang="en-US" sz="1600" dirty="0">
              <a:solidFill>
                <a:schemeClr val="bg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5" name="组合 2"/>
          <p:cNvGrpSpPr/>
          <p:nvPr/>
        </p:nvGrpSpPr>
        <p:grpSpPr>
          <a:xfrm>
            <a:off x="-1" y="6553200"/>
            <a:ext cx="12192001" cy="304800"/>
            <a:chOff x="0" y="6569404"/>
            <a:chExt cx="9144000" cy="288000"/>
          </a:xfrm>
        </p:grpSpPr>
        <p:sp>
          <p:nvSpPr>
            <p:cNvPr id="1049073"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074"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07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31</a:t>
            </a:fld>
            <a:endParaRPr lang="zh-HK" altLang="en-US" sz="1600" dirty="0">
              <a:solidFill>
                <a:schemeClr val="bg1"/>
              </a:solidFill>
            </a:endParaRPr>
          </a:p>
        </p:txBody>
      </p:sp>
      <p:pic>
        <p:nvPicPr>
          <p:cNvPr id="2097187"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316" name="组合 18"/>
          <p:cNvGrpSpPr/>
          <p:nvPr/>
        </p:nvGrpSpPr>
        <p:grpSpPr bwMode="auto">
          <a:xfrm>
            <a:off x="2409457" y="2650330"/>
            <a:ext cx="1505450" cy="1479472"/>
            <a:chOff x="1709739" y="2636838"/>
            <a:chExt cx="1590160" cy="1584325"/>
          </a:xfrm>
          <a:solidFill>
            <a:srgbClr val="044875"/>
          </a:solidFill>
        </p:grpSpPr>
        <p:sp>
          <p:nvSpPr>
            <p:cNvPr id="1049076"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077"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078"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079"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080"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081"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082"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083"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084"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085"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317" name="组合 73"/>
          <p:cNvGrpSpPr/>
          <p:nvPr>
            <p:custDataLst>
              <p:tags r:id="rId1"/>
            </p:custDataLst>
          </p:nvPr>
        </p:nvGrpSpPr>
        <p:grpSpPr>
          <a:xfrm>
            <a:off x="4523741" y="2047924"/>
            <a:ext cx="5370513" cy="534987"/>
            <a:chOff x="3281952" y="1484784"/>
            <a:chExt cx="5370513" cy="534987"/>
          </a:xfrm>
        </p:grpSpPr>
        <p:grpSp>
          <p:nvGrpSpPr>
            <p:cNvPr id="318" name="组合 74"/>
            <p:cNvGrpSpPr/>
            <p:nvPr/>
          </p:nvGrpSpPr>
          <p:grpSpPr>
            <a:xfrm>
              <a:off x="3943940" y="1484784"/>
              <a:ext cx="4708525" cy="534987"/>
              <a:chOff x="3943940" y="1626760"/>
              <a:chExt cx="4708525" cy="534987"/>
            </a:xfrm>
          </p:grpSpPr>
          <p:sp>
            <p:nvSpPr>
              <p:cNvPr id="1049086"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087"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88"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19" name="组合 75"/>
            <p:cNvGrpSpPr/>
            <p:nvPr/>
          </p:nvGrpSpPr>
          <p:grpSpPr>
            <a:xfrm>
              <a:off x="3281952" y="1484784"/>
              <a:ext cx="689642" cy="534987"/>
              <a:chOff x="3281952" y="1626760"/>
              <a:chExt cx="689642" cy="534987"/>
            </a:xfrm>
          </p:grpSpPr>
          <p:sp>
            <p:nvSpPr>
              <p:cNvPr id="1049089"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90"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320" name="组合 82"/>
          <p:cNvGrpSpPr/>
          <p:nvPr>
            <p:custDataLst>
              <p:tags r:id="rId2"/>
            </p:custDataLst>
          </p:nvPr>
        </p:nvGrpSpPr>
        <p:grpSpPr>
          <a:xfrm>
            <a:off x="4503593" y="3688642"/>
            <a:ext cx="5372100" cy="534987"/>
            <a:chOff x="3261805" y="3188752"/>
            <a:chExt cx="5372100" cy="534987"/>
          </a:xfrm>
        </p:grpSpPr>
        <p:grpSp>
          <p:nvGrpSpPr>
            <p:cNvPr id="321" name="组合 83"/>
            <p:cNvGrpSpPr/>
            <p:nvPr/>
          </p:nvGrpSpPr>
          <p:grpSpPr>
            <a:xfrm>
              <a:off x="3261805" y="3188752"/>
              <a:ext cx="689593" cy="534987"/>
              <a:chOff x="3261805" y="3188752"/>
              <a:chExt cx="689593" cy="534987"/>
            </a:xfrm>
          </p:grpSpPr>
          <p:sp>
            <p:nvSpPr>
              <p:cNvPr id="1049091"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92"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322" name="组合 84"/>
            <p:cNvGrpSpPr/>
            <p:nvPr/>
          </p:nvGrpSpPr>
          <p:grpSpPr>
            <a:xfrm>
              <a:off x="3923792" y="3188752"/>
              <a:ext cx="4710113" cy="534987"/>
              <a:chOff x="3923792" y="3188752"/>
              <a:chExt cx="4710113" cy="534987"/>
            </a:xfrm>
          </p:grpSpPr>
          <p:sp>
            <p:nvSpPr>
              <p:cNvPr id="1049093"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094"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095"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23" name="组合 101"/>
          <p:cNvGrpSpPr/>
          <p:nvPr>
            <p:custDataLst>
              <p:tags r:id="rId3"/>
            </p:custDataLst>
          </p:nvPr>
        </p:nvGrpSpPr>
        <p:grpSpPr>
          <a:xfrm>
            <a:off x="4503593" y="4509001"/>
            <a:ext cx="5372100" cy="534987"/>
            <a:chOff x="3261805" y="4046141"/>
            <a:chExt cx="5372100" cy="534987"/>
          </a:xfrm>
        </p:grpSpPr>
        <p:grpSp>
          <p:nvGrpSpPr>
            <p:cNvPr id="324" name="组合 102"/>
            <p:cNvGrpSpPr/>
            <p:nvPr/>
          </p:nvGrpSpPr>
          <p:grpSpPr>
            <a:xfrm>
              <a:off x="3261805" y="4046141"/>
              <a:ext cx="689447" cy="534987"/>
              <a:chOff x="3261805" y="3969748"/>
              <a:chExt cx="689447" cy="534987"/>
            </a:xfrm>
          </p:grpSpPr>
          <p:sp>
            <p:nvSpPr>
              <p:cNvPr id="1049096"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097"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325" name="组合 103"/>
            <p:cNvGrpSpPr/>
            <p:nvPr/>
          </p:nvGrpSpPr>
          <p:grpSpPr>
            <a:xfrm>
              <a:off x="3923792" y="4046141"/>
              <a:ext cx="4710113" cy="534987"/>
              <a:chOff x="3923792" y="3969748"/>
              <a:chExt cx="4710113" cy="534987"/>
            </a:xfrm>
          </p:grpSpPr>
          <p:sp>
            <p:nvSpPr>
              <p:cNvPr id="1049098"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099"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00"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26" name="组合 110"/>
          <p:cNvGrpSpPr/>
          <p:nvPr>
            <p:custDataLst>
              <p:tags r:id="rId4"/>
            </p:custDataLst>
          </p:nvPr>
        </p:nvGrpSpPr>
        <p:grpSpPr>
          <a:xfrm>
            <a:off x="4517645" y="2868283"/>
            <a:ext cx="5370513" cy="534987"/>
            <a:chOff x="3275856" y="2348880"/>
            <a:chExt cx="5370513" cy="534987"/>
          </a:xfrm>
        </p:grpSpPr>
        <p:grpSp>
          <p:nvGrpSpPr>
            <p:cNvPr id="327" name="组合 111"/>
            <p:cNvGrpSpPr/>
            <p:nvPr/>
          </p:nvGrpSpPr>
          <p:grpSpPr>
            <a:xfrm>
              <a:off x="3275856" y="2348880"/>
              <a:ext cx="689474" cy="534987"/>
              <a:chOff x="3275856" y="2407756"/>
              <a:chExt cx="689474" cy="534987"/>
            </a:xfrm>
          </p:grpSpPr>
          <p:sp>
            <p:nvSpPr>
              <p:cNvPr id="1049101"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02"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328" name="组合 112"/>
            <p:cNvGrpSpPr/>
            <p:nvPr/>
          </p:nvGrpSpPr>
          <p:grpSpPr>
            <a:xfrm>
              <a:off x="3937844" y="2348880"/>
              <a:ext cx="4708525" cy="534987"/>
              <a:chOff x="3937844" y="2407756"/>
              <a:chExt cx="4708525" cy="534987"/>
            </a:xfrm>
          </p:grpSpPr>
          <p:sp>
            <p:nvSpPr>
              <p:cNvPr id="1049103"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104"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05"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8" name="图片 4"/>
          <p:cNvPicPr>
            <a:picLocks noChangeAspect="1"/>
          </p:cNvPicPr>
          <p:nvPr/>
        </p:nvPicPr>
        <p:blipFill>
          <a:blip r:embed="rId3"/>
          <a:stretch>
            <a:fillRect/>
          </a:stretch>
        </p:blipFill>
        <p:spPr>
          <a:xfrm>
            <a:off x="1993265" y="692785"/>
            <a:ext cx="7595870" cy="4437380"/>
          </a:xfrm>
          <a:prstGeom prst="rect">
            <a:avLst/>
          </a:prstGeom>
        </p:spPr>
      </p:pic>
      <p:sp>
        <p:nvSpPr>
          <p:cNvPr id="1049109"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10"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11"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32</a:t>
            </a:fld>
            <a:endParaRPr lang="zh-HK" altLang="en-US">
              <a:solidFill>
                <a:prstClr val="black">
                  <a:tint val="75000"/>
                </a:prstClr>
              </a:solidFill>
            </a:endParaRPr>
          </a:p>
        </p:txBody>
      </p:sp>
      <p:grpSp>
        <p:nvGrpSpPr>
          <p:cNvPr id="332" name="组合 54"/>
          <p:cNvGrpSpPr/>
          <p:nvPr/>
        </p:nvGrpSpPr>
        <p:grpSpPr>
          <a:xfrm>
            <a:off x="-1" y="6553200"/>
            <a:ext cx="12192001" cy="304800"/>
            <a:chOff x="0" y="6569404"/>
            <a:chExt cx="9144000" cy="288000"/>
          </a:xfrm>
        </p:grpSpPr>
        <p:sp>
          <p:nvSpPr>
            <p:cNvPr id="104911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1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1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32</a:t>
            </a:fld>
            <a:endParaRPr lang="zh-HK" altLang="en-US" sz="1600" dirty="0">
              <a:solidFill>
                <a:schemeClr val="bg1"/>
              </a:solidFill>
            </a:endParaRPr>
          </a:p>
        </p:txBody>
      </p:sp>
      <p:pic>
        <p:nvPicPr>
          <p:cNvPr id="2097189" name="图片 11"/>
          <p:cNvPicPr>
            <a:picLocks noChangeAspect="1"/>
          </p:cNvPicPr>
          <p:nvPr/>
        </p:nvPicPr>
        <p:blipFill>
          <a:blip r:embed="rId4"/>
          <a:stretch>
            <a:fillRect/>
          </a:stretch>
        </p:blipFill>
        <p:spPr>
          <a:xfrm>
            <a:off x="1703705" y="5093970"/>
            <a:ext cx="8505825" cy="14528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1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20"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33</a:t>
            </a:fld>
            <a:endParaRPr lang="zh-HK" altLang="en-US">
              <a:solidFill>
                <a:prstClr val="black">
                  <a:tint val="75000"/>
                </a:prstClr>
              </a:solidFill>
            </a:endParaRPr>
          </a:p>
        </p:txBody>
      </p:sp>
      <p:grpSp>
        <p:nvGrpSpPr>
          <p:cNvPr id="336" name="组合 54"/>
          <p:cNvGrpSpPr/>
          <p:nvPr/>
        </p:nvGrpSpPr>
        <p:grpSpPr>
          <a:xfrm>
            <a:off x="-1" y="6553200"/>
            <a:ext cx="12192001" cy="304800"/>
            <a:chOff x="0" y="6569404"/>
            <a:chExt cx="9144000" cy="288000"/>
          </a:xfrm>
        </p:grpSpPr>
        <p:sp>
          <p:nvSpPr>
            <p:cNvPr id="1049121"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22"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2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33</a:t>
            </a:fld>
            <a:endParaRPr lang="zh-HK" altLang="en-US" sz="1600" dirty="0">
              <a:solidFill>
                <a:schemeClr val="bg1"/>
              </a:solidFill>
            </a:endParaRPr>
          </a:p>
        </p:txBody>
      </p:sp>
      <p:pic>
        <p:nvPicPr>
          <p:cNvPr id="2097190" name="图片 1"/>
          <p:cNvPicPr>
            <a:picLocks noChangeAspect="1"/>
          </p:cNvPicPr>
          <p:nvPr/>
        </p:nvPicPr>
        <p:blipFill>
          <a:blip r:embed="rId3"/>
          <a:stretch>
            <a:fillRect/>
          </a:stretch>
        </p:blipFill>
        <p:spPr>
          <a:xfrm>
            <a:off x="1416050" y="765175"/>
            <a:ext cx="9131300" cy="2025650"/>
          </a:xfrm>
          <a:prstGeom prst="rect">
            <a:avLst/>
          </a:prstGeom>
        </p:spPr>
      </p:pic>
      <p:pic>
        <p:nvPicPr>
          <p:cNvPr id="2097191" name="图片 3"/>
          <p:cNvPicPr>
            <a:picLocks noChangeAspect="1"/>
          </p:cNvPicPr>
          <p:nvPr/>
        </p:nvPicPr>
        <p:blipFill>
          <a:blip r:embed="rId4"/>
          <a:stretch>
            <a:fillRect/>
          </a:stretch>
        </p:blipFill>
        <p:spPr>
          <a:xfrm>
            <a:off x="1435100" y="2853055"/>
            <a:ext cx="9112250" cy="20574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7"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28"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29"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34</a:t>
            </a:fld>
            <a:endParaRPr lang="zh-HK" altLang="en-US">
              <a:solidFill>
                <a:prstClr val="black">
                  <a:tint val="75000"/>
                </a:prstClr>
              </a:solidFill>
            </a:endParaRPr>
          </a:p>
        </p:txBody>
      </p:sp>
      <p:grpSp>
        <p:nvGrpSpPr>
          <p:cNvPr id="340" name="组合 54"/>
          <p:cNvGrpSpPr/>
          <p:nvPr/>
        </p:nvGrpSpPr>
        <p:grpSpPr>
          <a:xfrm>
            <a:off x="-1" y="6553200"/>
            <a:ext cx="12192001" cy="304800"/>
            <a:chOff x="0" y="6569404"/>
            <a:chExt cx="9144000" cy="288000"/>
          </a:xfrm>
        </p:grpSpPr>
        <p:sp>
          <p:nvSpPr>
            <p:cNvPr id="104913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3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3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34</a:t>
            </a:fld>
            <a:endParaRPr lang="zh-HK" altLang="en-US" sz="1600" dirty="0">
              <a:solidFill>
                <a:schemeClr val="bg1"/>
              </a:solidFill>
            </a:endParaRPr>
          </a:p>
        </p:txBody>
      </p:sp>
      <p:pic>
        <p:nvPicPr>
          <p:cNvPr id="2097192" name="图片 1"/>
          <p:cNvPicPr>
            <a:picLocks noChangeAspect="1"/>
          </p:cNvPicPr>
          <p:nvPr/>
        </p:nvPicPr>
        <p:blipFill>
          <a:blip r:embed="rId3"/>
          <a:stretch>
            <a:fillRect/>
          </a:stretch>
        </p:blipFill>
        <p:spPr>
          <a:xfrm>
            <a:off x="2207895" y="765175"/>
            <a:ext cx="8133080" cy="57734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3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38"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35</a:t>
            </a:fld>
            <a:endParaRPr lang="zh-HK" altLang="en-US">
              <a:solidFill>
                <a:prstClr val="black">
                  <a:tint val="75000"/>
                </a:prstClr>
              </a:solidFill>
            </a:endParaRPr>
          </a:p>
        </p:txBody>
      </p:sp>
      <p:grpSp>
        <p:nvGrpSpPr>
          <p:cNvPr id="344" name="组合 54"/>
          <p:cNvGrpSpPr/>
          <p:nvPr/>
        </p:nvGrpSpPr>
        <p:grpSpPr>
          <a:xfrm>
            <a:off x="-1" y="6553200"/>
            <a:ext cx="12192001" cy="304800"/>
            <a:chOff x="0" y="6569404"/>
            <a:chExt cx="9144000" cy="288000"/>
          </a:xfrm>
        </p:grpSpPr>
        <p:sp>
          <p:nvSpPr>
            <p:cNvPr id="1049139"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40"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4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35</a:t>
            </a:fld>
            <a:endParaRPr lang="zh-HK" altLang="en-US" sz="1600" dirty="0">
              <a:solidFill>
                <a:schemeClr val="bg1"/>
              </a:solidFill>
            </a:endParaRPr>
          </a:p>
        </p:txBody>
      </p:sp>
      <p:pic>
        <p:nvPicPr>
          <p:cNvPr id="2097193" name="图片 5"/>
          <p:cNvPicPr>
            <a:picLocks noChangeAspect="1"/>
          </p:cNvPicPr>
          <p:nvPr/>
        </p:nvPicPr>
        <p:blipFill>
          <a:blip r:embed="rId3"/>
          <a:stretch>
            <a:fillRect/>
          </a:stretch>
        </p:blipFill>
        <p:spPr>
          <a:xfrm>
            <a:off x="1487805" y="2204720"/>
            <a:ext cx="9150350" cy="22352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5"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46"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47"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36</a:t>
            </a:fld>
            <a:endParaRPr lang="zh-HK" altLang="en-US">
              <a:solidFill>
                <a:prstClr val="black">
                  <a:tint val="75000"/>
                </a:prstClr>
              </a:solidFill>
            </a:endParaRPr>
          </a:p>
        </p:txBody>
      </p:sp>
      <p:grpSp>
        <p:nvGrpSpPr>
          <p:cNvPr id="348" name="组合 54"/>
          <p:cNvGrpSpPr/>
          <p:nvPr/>
        </p:nvGrpSpPr>
        <p:grpSpPr>
          <a:xfrm>
            <a:off x="-1" y="6553200"/>
            <a:ext cx="12192001" cy="304800"/>
            <a:chOff x="0" y="6569404"/>
            <a:chExt cx="9144000" cy="288000"/>
          </a:xfrm>
        </p:grpSpPr>
        <p:sp>
          <p:nvSpPr>
            <p:cNvPr id="104914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4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5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36</a:t>
            </a:fld>
            <a:endParaRPr lang="zh-HK" altLang="en-US" sz="1600" dirty="0">
              <a:solidFill>
                <a:schemeClr val="bg1"/>
              </a:solidFill>
            </a:endParaRPr>
          </a:p>
        </p:txBody>
      </p:sp>
      <p:pic>
        <p:nvPicPr>
          <p:cNvPr id="2097194" name="图片 1"/>
          <p:cNvPicPr>
            <a:picLocks noChangeAspect="1"/>
          </p:cNvPicPr>
          <p:nvPr/>
        </p:nvPicPr>
        <p:blipFill>
          <a:blip r:embed="rId3"/>
          <a:stretch>
            <a:fillRect/>
          </a:stretch>
        </p:blipFill>
        <p:spPr>
          <a:xfrm>
            <a:off x="1416050" y="765175"/>
            <a:ext cx="9112250" cy="2101850"/>
          </a:xfrm>
          <a:prstGeom prst="rect">
            <a:avLst/>
          </a:prstGeom>
        </p:spPr>
      </p:pic>
      <p:pic>
        <p:nvPicPr>
          <p:cNvPr id="2097195" name="图片 3"/>
          <p:cNvPicPr>
            <a:picLocks noChangeAspect="1"/>
          </p:cNvPicPr>
          <p:nvPr/>
        </p:nvPicPr>
        <p:blipFill>
          <a:blip r:embed="rId4"/>
          <a:stretch>
            <a:fillRect/>
          </a:stretch>
        </p:blipFill>
        <p:spPr>
          <a:xfrm>
            <a:off x="1416050" y="2912110"/>
            <a:ext cx="9163050" cy="3429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5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56"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37</a:t>
            </a:fld>
            <a:endParaRPr lang="zh-HK" altLang="en-US">
              <a:solidFill>
                <a:prstClr val="black">
                  <a:tint val="75000"/>
                </a:prstClr>
              </a:solidFill>
            </a:endParaRPr>
          </a:p>
        </p:txBody>
      </p:sp>
      <p:grpSp>
        <p:nvGrpSpPr>
          <p:cNvPr id="352" name="组合 54"/>
          <p:cNvGrpSpPr/>
          <p:nvPr/>
        </p:nvGrpSpPr>
        <p:grpSpPr>
          <a:xfrm>
            <a:off x="-1" y="6553200"/>
            <a:ext cx="12192001" cy="304800"/>
            <a:chOff x="0" y="6569404"/>
            <a:chExt cx="9144000" cy="288000"/>
          </a:xfrm>
        </p:grpSpPr>
        <p:sp>
          <p:nvSpPr>
            <p:cNvPr id="1049157"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58"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59"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37</a:t>
            </a:fld>
            <a:endParaRPr lang="zh-HK" altLang="en-US" sz="1600" dirty="0">
              <a:solidFill>
                <a:schemeClr val="bg1"/>
              </a:solidFill>
            </a:endParaRPr>
          </a:p>
        </p:txBody>
      </p:sp>
      <p:pic>
        <p:nvPicPr>
          <p:cNvPr id="2097196" name="图片 2"/>
          <p:cNvPicPr>
            <a:picLocks noChangeAspect="1"/>
          </p:cNvPicPr>
          <p:nvPr/>
        </p:nvPicPr>
        <p:blipFill>
          <a:blip r:embed="rId3"/>
          <a:stretch>
            <a:fillRect/>
          </a:stretch>
        </p:blipFill>
        <p:spPr>
          <a:xfrm>
            <a:off x="2545715" y="763270"/>
            <a:ext cx="7482205" cy="57308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35920-A13C-B3D6-D5A5-E604034F6B11}"/>
            </a:ext>
          </a:extLst>
        </p:cNvPr>
        <p:cNvGrpSpPr/>
        <p:nvPr/>
      </p:nvGrpSpPr>
      <p:grpSpPr>
        <a:xfrm>
          <a:off x="0" y="0"/>
          <a:ext cx="0" cy="0"/>
          <a:chOff x="0" y="0"/>
          <a:chExt cx="0" cy="0"/>
        </a:xfrm>
      </p:grpSpPr>
      <p:sp>
        <p:nvSpPr>
          <p:cNvPr id="1049154" name="矩形 18">
            <a:extLst>
              <a:ext uri="{FF2B5EF4-FFF2-40B4-BE49-F238E27FC236}">
                <a16:creationId xmlns:a16="http://schemas.microsoft.com/office/drawing/2014/main" id="{F1D3B0AD-54B1-0F8D-61C2-05D184CF4E5A}"/>
              </a:ext>
            </a:extLst>
          </p:cNvPr>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55" name="文本框 71">
            <a:extLst>
              <a:ext uri="{FF2B5EF4-FFF2-40B4-BE49-F238E27FC236}">
                <a16:creationId xmlns:a16="http://schemas.microsoft.com/office/drawing/2014/main" id="{00B5F2E9-A598-70C9-5B38-04E71E2846AC}"/>
              </a:ext>
            </a:extLst>
          </p:cNvPr>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56" name="灯片编号占位符 53">
            <a:extLst>
              <a:ext uri="{FF2B5EF4-FFF2-40B4-BE49-F238E27FC236}">
                <a16:creationId xmlns:a16="http://schemas.microsoft.com/office/drawing/2014/main" id="{59F9449C-DEC3-D395-5E28-9A8087EB8400}"/>
              </a:ext>
            </a:extLst>
          </p:cNvPr>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38</a:t>
            </a:fld>
            <a:endParaRPr lang="zh-HK" altLang="en-US">
              <a:solidFill>
                <a:prstClr val="black">
                  <a:tint val="75000"/>
                </a:prstClr>
              </a:solidFill>
            </a:endParaRPr>
          </a:p>
        </p:txBody>
      </p:sp>
      <p:grpSp>
        <p:nvGrpSpPr>
          <p:cNvPr id="352" name="组合 54">
            <a:extLst>
              <a:ext uri="{FF2B5EF4-FFF2-40B4-BE49-F238E27FC236}">
                <a16:creationId xmlns:a16="http://schemas.microsoft.com/office/drawing/2014/main" id="{57A4AFFB-1D23-CFCB-505A-798C42C2D73B}"/>
              </a:ext>
            </a:extLst>
          </p:cNvPr>
          <p:cNvGrpSpPr/>
          <p:nvPr/>
        </p:nvGrpSpPr>
        <p:grpSpPr>
          <a:xfrm>
            <a:off x="-1" y="6553200"/>
            <a:ext cx="12192001" cy="304800"/>
            <a:chOff x="0" y="6569404"/>
            <a:chExt cx="9144000" cy="288000"/>
          </a:xfrm>
        </p:grpSpPr>
        <p:sp>
          <p:nvSpPr>
            <p:cNvPr id="1049157" name="矩形 55">
              <a:extLst>
                <a:ext uri="{FF2B5EF4-FFF2-40B4-BE49-F238E27FC236}">
                  <a16:creationId xmlns:a16="http://schemas.microsoft.com/office/drawing/2014/main" id="{390C2A0E-F50F-895D-C451-B65ED440C494}"/>
                </a:ext>
              </a:extLst>
            </p:cNvPr>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58" name="矩形 56">
              <a:extLst>
                <a:ext uri="{FF2B5EF4-FFF2-40B4-BE49-F238E27FC236}">
                  <a16:creationId xmlns:a16="http://schemas.microsoft.com/office/drawing/2014/main" id="{DE861B50-43DB-FB63-C6A1-7BEE1AE12780}"/>
                </a:ext>
              </a:extLst>
            </p:cNvPr>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59" name="灯片编号占位符 5">
            <a:extLst>
              <a:ext uri="{FF2B5EF4-FFF2-40B4-BE49-F238E27FC236}">
                <a16:creationId xmlns:a16="http://schemas.microsoft.com/office/drawing/2014/main" id="{1C4D8778-F0CC-C5A0-6A33-72C341E49D1C}"/>
              </a:ext>
            </a:extLst>
          </p:cNvPr>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38</a:t>
            </a:fld>
            <a:endParaRPr lang="zh-HK" altLang="en-US" sz="1600" dirty="0">
              <a:solidFill>
                <a:schemeClr val="bg1"/>
              </a:solidFill>
            </a:endParaRPr>
          </a:p>
        </p:txBody>
      </p:sp>
      <p:pic>
        <p:nvPicPr>
          <p:cNvPr id="3" name="图片 2">
            <a:extLst>
              <a:ext uri="{FF2B5EF4-FFF2-40B4-BE49-F238E27FC236}">
                <a16:creationId xmlns:a16="http://schemas.microsoft.com/office/drawing/2014/main" id="{8D0AA20C-B94E-DA73-87E0-B7E1E2AB78D6}"/>
              </a:ext>
            </a:extLst>
          </p:cNvPr>
          <p:cNvPicPr>
            <a:picLocks noChangeAspect="1"/>
          </p:cNvPicPr>
          <p:nvPr/>
        </p:nvPicPr>
        <p:blipFill>
          <a:blip r:embed="rId3"/>
          <a:stretch>
            <a:fillRect/>
          </a:stretch>
        </p:blipFill>
        <p:spPr>
          <a:xfrm>
            <a:off x="675995" y="988713"/>
            <a:ext cx="10840007" cy="5359675"/>
          </a:xfrm>
          <a:prstGeom prst="rect">
            <a:avLst/>
          </a:prstGeom>
        </p:spPr>
      </p:pic>
    </p:spTree>
    <p:extLst>
      <p:ext uri="{BB962C8B-B14F-4D97-AF65-F5344CB8AC3E}">
        <p14:creationId xmlns:p14="http://schemas.microsoft.com/office/powerpoint/2010/main" val="871583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63"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164"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sp>
        <p:nvSpPr>
          <p:cNvPr id="1049165" name="灯片编号占位符 53"/>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39</a:t>
            </a:fld>
            <a:endParaRPr lang="zh-HK" altLang="en-US">
              <a:solidFill>
                <a:prstClr val="black">
                  <a:tint val="75000"/>
                </a:prstClr>
              </a:solidFill>
            </a:endParaRPr>
          </a:p>
        </p:txBody>
      </p:sp>
      <p:grpSp>
        <p:nvGrpSpPr>
          <p:cNvPr id="356" name="组合 54"/>
          <p:cNvGrpSpPr/>
          <p:nvPr/>
        </p:nvGrpSpPr>
        <p:grpSpPr>
          <a:xfrm>
            <a:off x="-1" y="6553200"/>
            <a:ext cx="12192001" cy="304800"/>
            <a:chOff x="0" y="6569404"/>
            <a:chExt cx="9144000" cy="288000"/>
          </a:xfrm>
        </p:grpSpPr>
        <p:sp>
          <p:nvSpPr>
            <p:cNvPr id="104916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6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6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39</a:t>
            </a:fld>
            <a:endParaRPr lang="zh-HK" altLang="en-US" sz="1600" dirty="0">
              <a:solidFill>
                <a:schemeClr val="bg1"/>
              </a:solidFill>
            </a:endParaRPr>
          </a:p>
        </p:txBody>
      </p:sp>
      <p:pic>
        <p:nvPicPr>
          <p:cNvPr id="2097197" name="图片 1"/>
          <p:cNvPicPr>
            <a:picLocks noChangeAspect="1"/>
          </p:cNvPicPr>
          <p:nvPr/>
        </p:nvPicPr>
        <p:blipFill>
          <a:blip r:embed="rId3"/>
          <a:stretch>
            <a:fillRect/>
          </a:stretch>
        </p:blipFill>
        <p:spPr>
          <a:xfrm>
            <a:off x="1631950" y="765175"/>
            <a:ext cx="8883650" cy="1301750"/>
          </a:xfrm>
          <a:prstGeom prst="rect">
            <a:avLst/>
          </a:prstGeom>
        </p:spPr>
      </p:pic>
      <p:pic>
        <p:nvPicPr>
          <p:cNvPr id="2097198" name="图片 2"/>
          <p:cNvPicPr>
            <a:picLocks noChangeAspect="1"/>
          </p:cNvPicPr>
          <p:nvPr/>
        </p:nvPicPr>
        <p:blipFill>
          <a:blip r:embed="rId4"/>
          <a:stretch>
            <a:fillRect/>
          </a:stretch>
        </p:blipFill>
        <p:spPr>
          <a:xfrm>
            <a:off x="1631950" y="2061210"/>
            <a:ext cx="8864600" cy="43688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0" name="组合 5"/>
          <p:cNvGrpSpPr/>
          <p:nvPr/>
        </p:nvGrpSpPr>
        <p:grpSpPr>
          <a:xfrm>
            <a:off x="-1" y="6553200"/>
            <a:ext cx="12192001" cy="304800"/>
            <a:chOff x="0" y="6569404"/>
            <a:chExt cx="9144000" cy="288000"/>
          </a:xfrm>
        </p:grpSpPr>
        <p:sp>
          <p:nvSpPr>
            <p:cNvPr id="1049172"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173"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17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40</a:t>
            </a:fld>
            <a:endParaRPr lang="zh-HK" altLang="en-US" sz="1600" dirty="0">
              <a:solidFill>
                <a:schemeClr val="bg1"/>
              </a:solidFill>
            </a:endParaRPr>
          </a:p>
        </p:txBody>
      </p:sp>
      <p:pic>
        <p:nvPicPr>
          <p:cNvPr id="2097199"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361" name="组合 18"/>
          <p:cNvGrpSpPr/>
          <p:nvPr/>
        </p:nvGrpSpPr>
        <p:grpSpPr bwMode="auto">
          <a:xfrm>
            <a:off x="2409457" y="2650330"/>
            <a:ext cx="1505450" cy="1479472"/>
            <a:chOff x="1709739" y="2636838"/>
            <a:chExt cx="1590160" cy="1584325"/>
          </a:xfrm>
          <a:solidFill>
            <a:srgbClr val="044875"/>
          </a:solidFill>
        </p:grpSpPr>
        <p:sp>
          <p:nvSpPr>
            <p:cNvPr id="104917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176"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177"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178"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179"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180"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181"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182"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183"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184"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362" name="组合 71"/>
          <p:cNvGrpSpPr/>
          <p:nvPr>
            <p:custDataLst>
              <p:tags r:id="rId1"/>
            </p:custDataLst>
          </p:nvPr>
        </p:nvGrpSpPr>
        <p:grpSpPr>
          <a:xfrm>
            <a:off x="4523741" y="2047924"/>
            <a:ext cx="5370513" cy="534987"/>
            <a:chOff x="3281952" y="1484784"/>
            <a:chExt cx="5370513" cy="534987"/>
          </a:xfrm>
        </p:grpSpPr>
        <p:grpSp>
          <p:nvGrpSpPr>
            <p:cNvPr id="363" name="组合 72"/>
            <p:cNvGrpSpPr/>
            <p:nvPr/>
          </p:nvGrpSpPr>
          <p:grpSpPr>
            <a:xfrm>
              <a:off x="3943940" y="1484784"/>
              <a:ext cx="4708525" cy="534987"/>
              <a:chOff x="3943940" y="1626760"/>
              <a:chExt cx="4708525" cy="534987"/>
            </a:xfrm>
          </p:grpSpPr>
          <p:sp>
            <p:nvSpPr>
              <p:cNvPr id="1049185"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186"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187"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64" name="组合 73"/>
            <p:cNvGrpSpPr/>
            <p:nvPr/>
          </p:nvGrpSpPr>
          <p:grpSpPr>
            <a:xfrm>
              <a:off x="3281952" y="1484784"/>
              <a:ext cx="689642" cy="534987"/>
              <a:chOff x="3281952" y="1626760"/>
              <a:chExt cx="689642" cy="534987"/>
            </a:xfrm>
          </p:grpSpPr>
          <p:sp>
            <p:nvSpPr>
              <p:cNvPr id="1049188"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89"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365" name="组合 80"/>
          <p:cNvGrpSpPr/>
          <p:nvPr>
            <p:custDataLst>
              <p:tags r:id="rId2"/>
            </p:custDataLst>
          </p:nvPr>
        </p:nvGrpSpPr>
        <p:grpSpPr>
          <a:xfrm>
            <a:off x="4503593" y="3688642"/>
            <a:ext cx="5372100" cy="534987"/>
            <a:chOff x="3261805" y="3188752"/>
            <a:chExt cx="5372100" cy="534987"/>
          </a:xfrm>
        </p:grpSpPr>
        <p:grpSp>
          <p:nvGrpSpPr>
            <p:cNvPr id="366" name="组合 81"/>
            <p:cNvGrpSpPr/>
            <p:nvPr/>
          </p:nvGrpSpPr>
          <p:grpSpPr>
            <a:xfrm>
              <a:off x="3261805" y="3188752"/>
              <a:ext cx="689593" cy="534987"/>
              <a:chOff x="3261805" y="3188752"/>
              <a:chExt cx="689593" cy="534987"/>
            </a:xfrm>
          </p:grpSpPr>
          <p:sp>
            <p:nvSpPr>
              <p:cNvPr id="1049190"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91"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367" name="组合 82"/>
            <p:cNvGrpSpPr/>
            <p:nvPr/>
          </p:nvGrpSpPr>
          <p:grpSpPr>
            <a:xfrm>
              <a:off x="3923792" y="3188752"/>
              <a:ext cx="4710113" cy="534987"/>
              <a:chOff x="3923792" y="3188752"/>
              <a:chExt cx="4710113" cy="534987"/>
            </a:xfrm>
          </p:grpSpPr>
          <p:sp>
            <p:nvSpPr>
              <p:cNvPr id="1049192"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193"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94"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368" name="组合 98"/>
          <p:cNvGrpSpPr/>
          <p:nvPr>
            <p:custDataLst>
              <p:tags r:id="rId3"/>
            </p:custDataLst>
          </p:nvPr>
        </p:nvGrpSpPr>
        <p:grpSpPr>
          <a:xfrm>
            <a:off x="4503593" y="4509001"/>
            <a:ext cx="5372100" cy="534987"/>
            <a:chOff x="3261805" y="4046141"/>
            <a:chExt cx="5372100" cy="534987"/>
          </a:xfrm>
        </p:grpSpPr>
        <p:grpSp>
          <p:nvGrpSpPr>
            <p:cNvPr id="369" name="组合 99"/>
            <p:cNvGrpSpPr/>
            <p:nvPr/>
          </p:nvGrpSpPr>
          <p:grpSpPr>
            <a:xfrm>
              <a:off x="3261805" y="4046141"/>
              <a:ext cx="689447" cy="534987"/>
              <a:chOff x="3261805" y="3969748"/>
              <a:chExt cx="689447" cy="534987"/>
            </a:xfrm>
          </p:grpSpPr>
          <p:sp>
            <p:nvSpPr>
              <p:cNvPr id="1049195"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196"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370" name="组合 100"/>
            <p:cNvGrpSpPr/>
            <p:nvPr/>
          </p:nvGrpSpPr>
          <p:grpSpPr>
            <a:xfrm>
              <a:off x="3923792" y="4046141"/>
              <a:ext cx="4710113" cy="534987"/>
              <a:chOff x="3923792" y="3969748"/>
              <a:chExt cx="4710113" cy="534987"/>
            </a:xfrm>
          </p:grpSpPr>
          <p:sp>
            <p:nvSpPr>
              <p:cNvPr id="1049197"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198"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6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199"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71" name="组合 107"/>
          <p:cNvGrpSpPr/>
          <p:nvPr>
            <p:custDataLst>
              <p:tags r:id="rId4"/>
            </p:custDataLst>
          </p:nvPr>
        </p:nvGrpSpPr>
        <p:grpSpPr>
          <a:xfrm>
            <a:off x="4517645" y="2868283"/>
            <a:ext cx="5370513" cy="534987"/>
            <a:chOff x="3275856" y="2348880"/>
            <a:chExt cx="5370513" cy="534987"/>
          </a:xfrm>
        </p:grpSpPr>
        <p:grpSp>
          <p:nvGrpSpPr>
            <p:cNvPr id="372" name="组合 108"/>
            <p:cNvGrpSpPr/>
            <p:nvPr/>
          </p:nvGrpSpPr>
          <p:grpSpPr>
            <a:xfrm>
              <a:off x="3275856" y="2348880"/>
              <a:ext cx="689474" cy="534987"/>
              <a:chOff x="3275856" y="2407756"/>
              <a:chExt cx="689474" cy="534987"/>
            </a:xfrm>
          </p:grpSpPr>
          <p:sp>
            <p:nvSpPr>
              <p:cNvPr id="1049200"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01"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373" name="组合 109"/>
            <p:cNvGrpSpPr/>
            <p:nvPr/>
          </p:nvGrpSpPr>
          <p:grpSpPr>
            <a:xfrm>
              <a:off x="3937844" y="2348880"/>
              <a:ext cx="4708525" cy="534987"/>
              <a:chOff x="3937844" y="2407756"/>
              <a:chExt cx="4708525" cy="534987"/>
            </a:xfrm>
          </p:grpSpPr>
          <p:sp>
            <p:nvSpPr>
              <p:cNvPr id="1049202"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03"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0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08" name="矩形 18"/>
          <p:cNvSpPr/>
          <p:nvPr>
            <p:custDataLst>
              <p:tags r:id="rId1"/>
            </p:custDataLst>
          </p:nvPr>
        </p:nvSpPr>
        <p:spPr>
          <a:xfrm>
            <a:off x="0" y="1"/>
            <a:ext cx="1219200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09" name="文本框 71"/>
          <p:cNvSpPr txBox="1"/>
          <p:nvPr>
            <p:custDataLst>
              <p:tags r:id="rId2"/>
            </p:custDataLst>
          </p:nvPr>
        </p:nvSpPr>
        <p:spPr>
          <a:xfrm>
            <a:off x="0" y="66874"/>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377" name="组合 28"/>
          <p:cNvGrpSpPr/>
          <p:nvPr/>
        </p:nvGrpSpPr>
        <p:grpSpPr>
          <a:xfrm>
            <a:off x="-1" y="6553200"/>
            <a:ext cx="12192001" cy="304800"/>
            <a:chOff x="0" y="6569404"/>
            <a:chExt cx="9144000" cy="288000"/>
          </a:xfrm>
        </p:grpSpPr>
        <p:sp>
          <p:nvSpPr>
            <p:cNvPr id="1049210"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11"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1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41</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pic>
        <p:nvPicPr>
          <p:cNvPr id="2097200" name="图片 1"/>
          <p:cNvPicPr>
            <a:picLocks noChangeAspect="1"/>
          </p:cNvPicPr>
          <p:nvPr/>
        </p:nvPicPr>
        <p:blipFill>
          <a:blip r:embed="rId5"/>
          <a:stretch>
            <a:fillRect/>
          </a:stretch>
        </p:blipFill>
        <p:spPr>
          <a:xfrm>
            <a:off x="1631950" y="981075"/>
            <a:ext cx="8826500" cy="4000500"/>
          </a:xfrm>
          <a:prstGeom prst="rect">
            <a:avLst/>
          </a:prstGeom>
        </p:spPr>
      </p:pic>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1DA6BB38-FABF-310B-9D5A-5337410E6B63}"/>
                  </a:ext>
                </a:extLst>
              </p14:cNvPr>
              <p14:cNvContentPartPr/>
              <p14:nvPr/>
            </p14:nvContentPartPr>
            <p14:xfrm>
              <a:off x="3021525" y="4599889"/>
              <a:ext cx="2964600" cy="79560"/>
            </p14:xfrm>
          </p:contentPart>
        </mc:Choice>
        <mc:Fallback xmlns="">
          <p:pic>
            <p:nvPicPr>
              <p:cNvPr id="2" name="墨迹 1">
                <a:extLst>
                  <a:ext uri="{FF2B5EF4-FFF2-40B4-BE49-F238E27FC236}">
                    <a16:creationId xmlns:a16="http://schemas.microsoft.com/office/drawing/2014/main" id="{1DA6BB38-FABF-310B-9D5A-5337410E6B63}"/>
                  </a:ext>
                </a:extLst>
              </p:cNvPr>
              <p:cNvPicPr/>
              <p:nvPr/>
            </p:nvPicPr>
            <p:blipFill>
              <a:blip r:embed="rId7"/>
              <a:stretch>
                <a:fillRect/>
              </a:stretch>
            </p:blipFill>
            <p:spPr>
              <a:xfrm>
                <a:off x="2967885" y="4491889"/>
                <a:ext cx="307224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E1CD7150-6D23-0989-EAE1-EDBA4F33A54E}"/>
                  </a:ext>
                </a:extLst>
              </p14:cNvPr>
              <p14:cNvContentPartPr/>
              <p14:nvPr/>
            </p14:nvContentPartPr>
            <p14:xfrm>
              <a:off x="1628685" y="4849729"/>
              <a:ext cx="2700360" cy="36720"/>
            </p14:xfrm>
          </p:contentPart>
        </mc:Choice>
        <mc:Fallback xmlns="">
          <p:pic>
            <p:nvPicPr>
              <p:cNvPr id="3" name="墨迹 2">
                <a:extLst>
                  <a:ext uri="{FF2B5EF4-FFF2-40B4-BE49-F238E27FC236}">
                    <a16:creationId xmlns:a16="http://schemas.microsoft.com/office/drawing/2014/main" id="{E1CD7150-6D23-0989-EAE1-EDBA4F33A54E}"/>
                  </a:ext>
                </a:extLst>
              </p:cNvPr>
              <p:cNvPicPr/>
              <p:nvPr/>
            </p:nvPicPr>
            <p:blipFill>
              <a:blip r:embed="rId9"/>
              <a:stretch>
                <a:fillRect/>
              </a:stretch>
            </p:blipFill>
            <p:spPr>
              <a:xfrm>
                <a:off x="1574685" y="4742089"/>
                <a:ext cx="2808000" cy="25236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201" name="图片 1"/>
          <p:cNvPicPr>
            <a:picLocks noChangeAspect="1"/>
          </p:cNvPicPr>
          <p:nvPr/>
        </p:nvPicPr>
        <p:blipFill>
          <a:blip r:embed="rId5"/>
          <a:stretch>
            <a:fillRect/>
          </a:stretch>
        </p:blipFill>
        <p:spPr>
          <a:xfrm>
            <a:off x="5326380" y="3993515"/>
            <a:ext cx="6865620" cy="2426970"/>
          </a:xfrm>
          <a:prstGeom prst="rect">
            <a:avLst/>
          </a:prstGeom>
        </p:spPr>
      </p:pic>
      <p:pic>
        <p:nvPicPr>
          <p:cNvPr id="2097202" name="图片 3"/>
          <p:cNvPicPr>
            <a:picLocks noChangeAspect="1"/>
          </p:cNvPicPr>
          <p:nvPr/>
        </p:nvPicPr>
        <p:blipFill>
          <a:blip r:embed="rId6"/>
          <a:stretch>
            <a:fillRect/>
          </a:stretch>
        </p:blipFill>
        <p:spPr>
          <a:xfrm>
            <a:off x="47625" y="549275"/>
            <a:ext cx="8165465" cy="3517265"/>
          </a:xfrm>
          <a:prstGeom prst="rect">
            <a:avLst/>
          </a:prstGeom>
        </p:spPr>
      </p:pic>
      <p:sp>
        <p:nvSpPr>
          <p:cNvPr id="1049216" name="矩形 18"/>
          <p:cNvSpPr/>
          <p:nvPr>
            <p:custDataLst>
              <p:tags r:id="rId1"/>
            </p:custDataLst>
          </p:nvPr>
        </p:nvSpPr>
        <p:spPr>
          <a:xfrm>
            <a:off x="0" y="1"/>
            <a:ext cx="12192000" cy="54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350" b="0" i="0" u="none" strike="noStrike" kern="1200" cap="none" spc="0" normalizeH="0" baseline="0" noProof="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17" name="文本框 71"/>
          <p:cNvSpPr txBox="1"/>
          <p:nvPr>
            <p:custDataLst>
              <p:tags r:id="rId2"/>
            </p:custDataLst>
          </p:nvPr>
        </p:nvSpPr>
        <p:spPr>
          <a:xfrm>
            <a:off x="0" y="-34565"/>
            <a:ext cx="4914152" cy="5835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pPr>
            <a:r>
              <a:rPr kumimoji="0" lang="en-US" altLang="zh-CN" sz="32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Times New Roman" panose="02020603050405020304" pitchFamily="18" charset="0"/>
                <a:ea typeface="微软雅黑" panose="020B0503020204020204" charset="-122"/>
                <a:cs typeface="Times New Roman" panose="02020603050405020304" pitchFamily="18" charset="0"/>
              </a:rPr>
              <a:t>Experiment Results</a:t>
            </a:r>
          </a:p>
        </p:txBody>
      </p:sp>
      <p:grpSp>
        <p:nvGrpSpPr>
          <p:cNvPr id="381" name="组合 28"/>
          <p:cNvGrpSpPr/>
          <p:nvPr/>
        </p:nvGrpSpPr>
        <p:grpSpPr>
          <a:xfrm>
            <a:off x="-1" y="6553200"/>
            <a:ext cx="12192001" cy="304800"/>
            <a:chOff x="0" y="6569404"/>
            <a:chExt cx="9144000" cy="288000"/>
          </a:xfrm>
        </p:grpSpPr>
        <p:sp>
          <p:nvSpPr>
            <p:cNvPr id="1049218" name="矩形 30"/>
            <p:cNvSpPr/>
            <p:nvPr/>
          </p:nvSpPr>
          <p:spPr>
            <a:xfrm>
              <a:off x="8856000" y="6575501"/>
              <a:ext cx="288000" cy="276999"/>
            </a:xfrm>
            <a:prstGeom prst="rect">
              <a:avLst/>
            </a:prstGeom>
            <a:solidFill>
              <a:srgbClr val="0174AB"/>
            </a:solid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200" b="0" i="0" u="none" strike="noStrike" kern="1200" cap="none" spc="0" normalizeH="0" baseline="0" noProof="0" dirty="0">
                <a:ln>
                  <a:noFill/>
                </a:ln>
                <a:solidFill>
                  <a:prstClr val="white"/>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9219" name="矩形 3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12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mn-cs"/>
                </a:rPr>
                <a:t>CPS Computational Learning Laboratory</a:t>
              </a:r>
              <a:endParaRPr kumimoji="0" lang="zh-CN" altLang="en-US" sz="1200" b="1" i="0" u="none" strike="noStrike" kern="1200" cap="none" spc="0" normalizeH="0" baseline="0" noProof="0" dirty="0">
                <a:ln>
                  <a:noFill/>
                </a:ln>
                <a:solidFill>
                  <a:prstClr val="white"/>
                </a:solidFill>
                <a:effectLst/>
                <a:uLnTx/>
                <a:uFillTx/>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pPr>
            <a:fld id="{8592E714-8771-4256-B120-A1444CD7D5F3}" type="slidenum">
              <a:rPr kumimoji="0" lang="zh-HK" altLang="en-US" sz="1600" b="0" i="0" u="none" strike="noStrike" kern="1200" cap="none" spc="0" normalizeH="0" baseline="0" noProof="0" smtClean="0">
                <a:ln>
                  <a:noFill/>
                </a:ln>
                <a:solidFill>
                  <a:prstClr val="white"/>
                </a:solidFill>
                <a:effectLst/>
                <a:uLnTx/>
                <a:uFillTx/>
                <a:latin typeface="Calibri" panose="020F0502020204030204"/>
                <a:ea typeface="PMingLiU" panose="02020500000000000000" pitchFamily="18" charset="-120"/>
                <a:cs typeface="+mn-cs"/>
              </a:rPr>
              <a:t>42</a:t>
            </a:fld>
            <a:endParaRPr kumimoji="0" lang="zh-HK" altLang="en-US" sz="1600" b="0" i="0" u="none" strike="noStrike" kern="1200" cap="none" spc="0" normalizeH="0" baseline="0" noProof="0" dirty="0">
              <a:ln>
                <a:noFill/>
              </a:ln>
              <a:solidFill>
                <a:prstClr val="white"/>
              </a:solidFill>
              <a:effectLst/>
              <a:uLnTx/>
              <a:uFillTx/>
              <a:latin typeface="Calibri" panose="020F0502020204030204"/>
              <a:ea typeface="PMingLiU" panose="02020500000000000000" pitchFamily="18" charset="-120"/>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5" name="组合 108"/>
          <p:cNvGrpSpPr/>
          <p:nvPr/>
        </p:nvGrpSpPr>
        <p:grpSpPr>
          <a:xfrm>
            <a:off x="1524000" y="6569404"/>
            <a:ext cx="9144000" cy="288596"/>
            <a:chOff x="0" y="6569404"/>
            <a:chExt cx="9144000" cy="288596"/>
          </a:xfrm>
        </p:grpSpPr>
        <p:sp>
          <p:nvSpPr>
            <p:cNvPr id="1049224"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225"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26"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227"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9228"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43</a:t>
            </a:fld>
            <a:endParaRPr lang="zh-HK" altLang="en-US">
              <a:solidFill>
                <a:prstClr val="black">
                  <a:tint val="75000"/>
                </a:prstClr>
              </a:solidFill>
            </a:endParaRPr>
          </a:p>
        </p:txBody>
      </p:sp>
      <p:grpSp>
        <p:nvGrpSpPr>
          <p:cNvPr id="386" name="组合 7"/>
          <p:cNvGrpSpPr/>
          <p:nvPr/>
        </p:nvGrpSpPr>
        <p:grpSpPr>
          <a:xfrm>
            <a:off x="-1" y="6553200"/>
            <a:ext cx="12192001" cy="304800"/>
            <a:chOff x="0" y="6569404"/>
            <a:chExt cx="9144000" cy="288000"/>
          </a:xfrm>
        </p:grpSpPr>
        <p:sp>
          <p:nvSpPr>
            <p:cNvPr id="1049229"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230"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3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43</a:t>
            </a:fld>
            <a:endParaRPr lang="zh-HK" altLang="en-US" sz="1600" dirty="0">
              <a:solidFill>
                <a:schemeClr val="bg1"/>
              </a:solidFill>
            </a:endParaRPr>
          </a:p>
        </p:txBody>
      </p:sp>
      <p:pic>
        <p:nvPicPr>
          <p:cNvPr id="2097203"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387" name="组合 18"/>
          <p:cNvGrpSpPr/>
          <p:nvPr/>
        </p:nvGrpSpPr>
        <p:grpSpPr bwMode="auto">
          <a:xfrm>
            <a:off x="2409457" y="2650330"/>
            <a:ext cx="1505450" cy="1479472"/>
            <a:chOff x="1709739" y="2636838"/>
            <a:chExt cx="1590160" cy="1584325"/>
          </a:xfrm>
          <a:solidFill>
            <a:srgbClr val="044875"/>
          </a:solidFill>
        </p:grpSpPr>
        <p:sp>
          <p:nvSpPr>
            <p:cNvPr id="104923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23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23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23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23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23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23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23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24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241"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388" name="组合 77"/>
          <p:cNvGrpSpPr/>
          <p:nvPr>
            <p:custDataLst>
              <p:tags r:id="rId1"/>
            </p:custDataLst>
          </p:nvPr>
        </p:nvGrpSpPr>
        <p:grpSpPr>
          <a:xfrm>
            <a:off x="4523741" y="2047924"/>
            <a:ext cx="5370513" cy="534987"/>
            <a:chOff x="3281952" y="1484784"/>
            <a:chExt cx="5370513" cy="534987"/>
          </a:xfrm>
        </p:grpSpPr>
        <p:grpSp>
          <p:nvGrpSpPr>
            <p:cNvPr id="389" name="组合 78"/>
            <p:cNvGrpSpPr/>
            <p:nvPr/>
          </p:nvGrpSpPr>
          <p:grpSpPr>
            <a:xfrm>
              <a:off x="3943940" y="1484784"/>
              <a:ext cx="4708525" cy="534987"/>
              <a:chOff x="3943940" y="1626760"/>
              <a:chExt cx="4708525" cy="534987"/>
            </a:xfrm>
          </p:grpSpPr>
          <p:sp>
            <p:nvSpPr>
              <p:cNvPr id="104924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24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44"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390" name="组合 79"/>
            <p:cNvGrpSpPr/>
            <p:nvPr/>
          </p:nvGrpSpPr>
          <p:grpSpPr>
            <a:xfrm>
              <a:off x="3281952" y="1484784"/>
              <a:ext cx="689642" cy="534987"/>
              <a:chOff x="3281952" y="1626760"/>
              <a:chExt cx="689642" cy="534987"/>
            </a:xfrm>
          </p:grpSpPr>
          <p:sp>
            <p:nvSpPr>
              <p:cNvPr id="1049245"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4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391" name="组合 87"/>
          <p:cNvGrpSpPr/>
          <p:nvPr>
            <p:custDataLst>
              <p:tags r:id="rId2"/>
            </p:custDataLst>
          </p:nvPr>
        </p:nvGrpSpPr>
        <p:grpSpPr>
          <a:xfrm>
            <a:off x="4503593" y="3688642"/>
            <a:ext cx="5372100" cy="534987"/>
            <a:chOff x="3261805" y="3188752"/>
            <a:chExt cx="5372100" cy="534987"/>
          </a:xfrm>
        </p:grpSpPr>
        <p:grpSp>
          <p:nvGrpSpPr>
            <p:cNvPr id="392" name="组合 90"/>
            <p:cNvGrpSpPr/>
            <p:nvPr/>
          </p:nvGrpSpPr>
          <p:grpSpPr>
            <a:xfrm>
              <a:off x="3261805" y="3188752"/>
              <a:ext cx="689593" cy="534987"/>
              <a:chOff x="3261805" y="3188752"/>
              <a:chExt cx="689593" cy="534987"/>
            </a:xfrm>
          </p:grpSpPr>
          <p:sp>
            <p:nvSpPr>
              <p:cNvPr id="1049247"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4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393" name="组合 94"/>
            <p:cNvGrpSpPr/>
            <p:nvPr/>
          </p:nvGrpSpPr>
          <p:grpSpPr>
            <a:xfrm>
              <a:off x="3923792" y="3188752"/>
              <a:ext cx="4710113" cy="534987"/>
              <a:chOff x="3923792" y="3188752"/>
              <a:chExt cx="4710113" cy="534987"/>
            </a:xfrm>
          </p:grpSpPr>
          <p:sp>
            <p:nvSpPr>
              <p:cNvPr id="104924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50"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5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394" name="组合 104"/>
          <p:cNvGrpSpPr/>
          <p:nvPr>
            <p:custDataLst>
              <p:tags r:id="rId3"/>
            </p:custDataLst>
          </p:nvPr>
        </p:nvGrpSpPr>
        <p:grpSpPr>
          <a:xfrm>
            <a:off x="4503593" y="4509001"/>
            <a:ext cx="5372100" cy="534987"/>
            <a:chOff x="3261805" y="4046141"/>
            <a:chExt cx="5372100" cy="534987"/>
          </a:xfrm>
        </p:grpSpPr>
        <p:grpSp>
          <p:nvGrpSpPr>
            <p:cNvPr id="395" name="组合 105"/>
            <p:cNvGrpSpPr/>
            <p:nvPr/>
          </p:nvGrpSpPr>
          <p:grpSpPr>
            <a:xfrm>
              <a:off x="3261805" y="4046141"/>
              <a:ext cx="689447" cy="534987"/>
              <a:chOff x="3261805" y="3969748"/>
              <a:chExt cx="689447" cy="534987"/>
            </a:xfrm>
          </p:grpSpPr>
          <p:sp>
            <p:nvSpPr>
              <p:cNvPr id="1049252"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5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396" name="组合 106"/>
            <p:cNvGrpSpPr/>
            <p:nvPr/>
          </p:nvGrpSpPr>
          <p:grpSpPr>
            <a:xfrm>
              <a:off x="3923792" y="4046141"/>
              <a:ext cx="4710113" cy="534987"/>
              <a:chOff x="3923792" y="3969748"/>
              <a:chExt cx="4710113" cy="534987"/>
            </a:xfrm>
          </p:grpSpPr>
          <p:sp>
            <p:nvSpPr>
              <p:cNvPr id="104925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255"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5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397" name="组合 116"/>
          <p:cNvGrpSpPr/>
          <p:nvPr>
            <p:custDataLst>
              <p:tags r:id="rId4"/>
            </p:custDataLst>
          </p:nvPr>
        </p:nvGrpSpPr>
        <p:grpSpPr>
          <a:xfrm>
            <a:off x="4517645" y="2868283"/>
            <a:ext cx="5370513" cy="534987"/>
            <a:chOff x="3275856" y="2348880"/>
            <a:chExt cx="5370513" cy="534987"/>
          </a:xfrm>
        </p:grpSpPr>
        <p:grpSp>
          <p:nvGrpSpPr>
            <p:cNvPr id="398" name="组合 117"/>
            <p:cNvGrpSpPr/>
            <p:nvPr/>
          </p:nvGrpSpPr>
          <p:grpSpPr>
            <a:xfrm>
              <a:off x="3275856" y="2348880"/>
              <a:ext cx="689474" cy="534987"/>
              <a:chOff x="3275856" y="2407756"/>
              <a:chExt cx="689474" cy="534987"/>
            </a:xfrm>
          </p:grpSpPr>
          <p:sp>
            <p:nvSpPr>
              <p:cNvPr id="1049257"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25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399" name="组合 118"/>
            <p:cNvGrpSpPr/>
            <p:nvPr/>
          </p:nvGrpSpPr>
          <p:grpSpPr>
            <a:xfrm>
              <a:off x="3937844" y="2348880"/>
              <a:ext cx="4708525" cy="534987"/>
              <a:chOff x="3937844" y="2407756"/>
              <a:chExt cx="4708525" cy="534987"/>
            </a:xfrm>
          </p:grpSpPr>
          <p:sp>
            <p:nvSpPr>
              <p:cNvPr id="104925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260"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26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265"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266"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Conclusion</a:t>
            </a:r>
          </a:p>
        </p:txBody>
      </p:sp>
      <p:sp>
        <p:nvSpPr>
          <p:cNvPr id="1049267" name="矩形 1"/>
          <p:cNvSpPr/>
          <p:nvPr/>
        </p:nvSpPr>
        <p:spPr>
          <a:xfrm>
            <a:off x="264000" y="1125001"/>
            <a:ext cx="11736000" cy="4104000"/>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9268" name="矩形 2"/>
          <p:cNvSpPr/>
          <p:nvPr/>
        </p:nvSpPr>
        <p:spPr>
          <a:xfrm>
            <a:off x="696000" y="946792"/>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grpSp>
        <p:nvGrpSpPr>
          <p:cNvPr id="403" name="组合 19"/>
          <p:cNvGrpSpPr/>
          <p:nvPr/>
        </p:nvGrpSpPr>
        <p:grpSpPr>
          <a:xfrm>
            <a:off x="-1" y="6553200"/>
            <a:ext cx="12192001" cy="304800"/>
            <a:chOff x="0" y="6569404"/>
            <a:chExt cx="9144000" cy="288000"/>
          </a:xfrm>
        </p:grpSpPr>
        <p:sp>
          <p:nvSpPr>
            <p:cNvPr id="1049269"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270"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7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44</a:t>
            </a:fld>
            <a:endParaRPr lang="zh-HK" altLang="en-US" sz="1600" dirty="0">
              <a:solidFill>
                <a:schemeClr val="bg1"/>
              </a:solidFill>
            </a:endParaRPr>
          </a:p>
        </p:txBody>
      </p:sp>
      <p:sp>
        <p:nvSpPr>
          <p:cNvPr id="1049272" name="文本框 4"/>
          <p:cNvSpPr txBox="1"/>
          <p:nvPr/>
        </p:nvSpPr>
        <p:spPr>
          <a:xfrm>
            <a:off x="357725" y="1729252"/>
            <a:ext cx="11448000" cy="2861310"/>
          </a:xfrm>
          <a:prstGeom prst="rect">
            <a:avLst/>
          </a:prstGeom>
          <a:noFill/>
        </p:spPr>
        <p:txBody>
          <a:bodyPr wrap="square">
            <a:spAutoFit/>
          </a:bodyPr>
          <a:lstStyle/>
          <a:p>
            <a:pPr algn="just">
              <a:lnSpc>
                <a:spcPct val="150000"/>
              </a:lnSpc>
            </a:pPr>
            <a:r>
              <a:rPr lang="en-US" altLang="zh-CN" sz="2000">
                <a:latin typeface="Arial" panose="020B0604020202020204" pitchFamily="34" charset="0"/>
                <a:ea typeface="微软雅黑" panose="020B0503020204020204" charset="-122"/>
                <a:cs typeface="Arial" panose="020B0604020202020204" pitchFamily="34" charset="0"/>
              </a:rPr>
              <a:t>This paper tackles the challenge of capturing periodic structures and cross-variable dependencies</a:t>
            </a:r>
          </a:p>
          <a:p>
            <a:pPr algn="just">
              <a:lnSpc>
                <a:spcPct val="150000"/>
              </a:lnSpc>
            </a:pPr>
            <a:r>
              <a:rPr lang="en-US" altLang="zh-CN" sz="2000">
                <a:latin typeface="Arial" panose="020B0604020202020204" pitchFamily="34" charset="0"/>
                <a:ea typeface="微软雅黑" panose="020B0503020204020204" charset="-122"/>
                <a:cs typeface="Arial" panose="020B0604020202020204" pitchFamily="34" charset="0"/>
              </a:rPr>
              <a:t>in multivariate time-series forecasting. We propose PQ-Net, a quantum framework built on Data_x0002_Reuploading Quantum Circuits (DRQC), which encode periodicity and model variable interactions via quantum entanglement. We theoretically show that DRQC correspond to truncated Fourier expansions, offering a principled and interpretable basis for phase-consistent frequency modeling.</a:t>
            </a:r>
            <a:endParaRPr lang="zh-CN" altLang="en-US" sz="2000">
              <a:latin typeface="Arial" panose="020B0604020202020204" pitchFamily="34" charset="0"/>
              <a:ea typeface="微软雅黑" panose="020B0503020204020204" charset="-122"/>
              <a:cs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7" name="组合 3"/>
          <p:cNvGrpSpPr/>
          <p:nvPr/>
        </p:nvGrpSpPr>
        <p:grpSpPr>
          <a:xfrm>
            <a:off x="-72374" y="1960245"/>
            <a:ext cx="12239891" cy="2045019"/>
            <a:chOff x="1522095" y="1960245"/>
            <a:chExt cx="9147810" cy="2045019"/>
          </a:xfrm>
        </p:grpSpPr>
        <p:sp>
          <p:nvSpPr>
            <p:cNvPr id="1049276"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277" name="文本框 8"/>
            <p:cNvSpPr txBox="1"/>
            <p:nvPr/>
          </p:nvSpPr>
          <p:spPr>
            <a:xfrm>
              <a:off x="1818014" y="2115640"/>
              <a:ext cx="8555970" cy="1383665"/>
            </a:xfrm>
            <a:prstGeom prst="rect">
              <a:avLst/>
            </a:prstGeom>
            <a:noFill/>
          </p:spPr>
          <p:txBody>
            <a:bodyPr wrap="square" rtlCol="0" anchor="ctr">
              <a:spAutoFit/>
            </a:bodyPr>
            <a:lstStyle/>
            <a:p>
              <a:pPr algn="ctr">
                <a:lnSpc>
                  <a:spcPct val="150000"/>
                </a:lnSpc>
              </a:pPr>
              <a:r>
                <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rPr>
                <a:t>Quantum-enhanced dual-layer graph attention network for time-series forecasting</a:t>
              </a:r>
            </a:p>
          </p:txBody>
        </p:sp>
      </p:grpSp>
      <p:sp>
        <p:nvSpPr>
          <p:cNvPr id="1049278"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3</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08" name="组合 15"/>
          <p:cNvGrpSpPr/>
          <p:nvPr/>
        </p:nvGrpSpPr>
        <p:grpSpPr>
          <a:xfrm>
            <a:off x="-1" y="6553200"/>
            <a:ext cx="12192001" cy="304800"/>
            <a:chOff x="0" y="6569404"/>
            <a:chExt cx="9144000" cy="288000"/>
          </a:xfrm>
        </p:grpSpPr>
        <p:sp>
          <p:nvSpPr>
            <p:cNvPr id="1049279"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280"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28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45</a:t>
            </a:fld>
            <a:endParaRPr lang="zh-HK" altLang="en-US" sz="1600" dirty="0">
              <a:solidFill>
                <a:schemeClr val="bg1"/>
              </a:solidFill>
            </a:endParaRPr>
          </a:p>
        </p:txBody>
      </p:sp>
      <p:grpSp>
        <p:nvGrpSpPr>
          <p:cNvPr id="409" name="组合 9"/>
          <p:cNvGrpSpPr/>
          <p:nvPr/>
        </p:nvGrpSpPr>
        <p:grpSpPr>
          <a:xfrm>
            <a:off x="351876" y="4596014"/>
            <a:ext cx="11648124" cy="1117600"/>
            <a:chOff x="623" y="7327"/>
            <a:chExt cx="15962" cy="1760"/>
          </a:xfrm>
        </p:grpSpPr>
        <p:sp>
          <p:nvSpPr>
            <p:cNvPr id="1049282" name="文本框 11"/>
            <p:cNvSpPr txBox="1"/>
            <p:nvPr/>
          </p:nvSpPr>
          <p:spPr>
            <a:xfrm>
              <a:off x="623" y="7327"/>
              <a:ext cx="15962" cy="580"/>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Scientific Reports</a:t>
              </a:r>
              <a:endParaRPr lang="en-US" altLang="zh-CN" dirty="0">
                <a:latin typeface="Arial" panose="020B0604020202020204" pitchFamily="34" charset="0"/>
                <a:cs typeface="Arial" panose="020B0604020202020204" pitchFamily="34" charset="0"/>
              </a:endParaRPr>
            </a:p>
          </p:txBody>
        </p:sp>
        <p:sp>
          <p:nvSpPr>
            <p:cNvPr id="1049283"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Times New Roman" panose="02020603050405020304" pitchFamily="18" charset="0"/>
                  <a:cs typeface="Times New Roman" panose="02020603050405020304" pitchFamily="18" charset="0"/>
                </a:rPr>
                <a:t>2025</a:t>
              </a:r>
              <a:endParaRPr lang="en-US" altLang="zh-CN" dirty="0">
                <a:latin typeface="Times New Roman" panose="02020603050405020304" pitchFamily="18" charset="0"/>
                <a:cs typeface="Times New Roman" panose="02020603050405020304" pitchFamily="18" charset="0"/>
              </a:endParaRPr>
            </a:p>
          </p:txBody>
        </p:sp>
      </p:grpSp>
      <p:pic>
        <p:nvPicPr>
          <p:cNvPr id="2097204"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
        <p:nvSpPr>
          <p:cNvPr id="1049284" name="文本框 2"/>
          <p:cNvSpPr txBox="1"/>
          <p:nvPr/>
        </p:nvSpPr>
        <p:spPr>
          <a:xfrm>
            <a:off x="280035" y="3644900"/>
            <a:ext cx="7695565" cy="337185"/>
          </a:xfrm>
          <a:prstGeom prst="rect">
            <a:avLst/>
          </a:prstGeom>
        </p:spPr>
        <p:txBody>
          <a:bodyPr wrap="square">
            <a:spAutoFit/>
          </a:bodyPr>
          <a:lstStyle/>
          <a:p>
            <a:r>
              <a:rPr lang="en-US" altLang="zh-CN" sz="1600" b="1">
                <a:solidFill>
                  <a:schemeClr val="bg1"/>
                </a:solidFill>
                <a:latin typeface="Times New Roman" panose="02020603050405020304" pitchFamily="18" charset="0"/>
                <a:ea typeface="Corbel-Bold"/>
                <a:cs typeface="Times New Roman" panose="02020603050405020304" pitchFamily="18" charset="0"/>
              </a:rPr>
              <a:t>YongliTang, Zhongqi Cai</a:t>
            </a:r>
            <a:r>
              <a:rPr lang="en-US" altLang="zh-CN" sz="1600" b="1">
                <a:solidFill>
                  <a:schemeClr val="bg1"/>
                </a:solidFill>
                <a:latin typeface="Times New Roman" panose="02020603050405020304" pitchFamily="18" charset="0"/>
                <a:ea typeface="Corbel" panose="020B0503020204020204"/>
                <a:cs typeface="Times New Roman" panose="02020603050405020304" pitchFamily="18" charset="0"/>
              </a:rPr>
              <a:t>1</a:t>
            </a:r>
            <a:r>
              <a:rPr lang="en-US" altLang="zh-CN" sz="1600" b="1">
                <a:solidFill>
                  <a:schemeClr val="bg1"/>
                </a:solidFill>
                <a:latin typeface="Times New Roman" panose="02020603050405020304" pitchFamily="18" charset="0"/>
                <a:ea typeface="Corbel-Bold"/>
                <a:cs typeface="Times New Roman" panose="02020603050405020304" pitchFamily="18" charset="0"/>
              </a:rPr>
              <a:t>, Yue Zhang, ZhenlunGao, and JinxiaYu</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3" name="组合 18"/>
          <p:cNvGrpSpPr/>
          <p:nvPr/>
        </p:nvGrpSpPr>
        <p:grpSpPr bwMode="auto">
          <a:xfrm>
            <a:off x="2409457" y="2650330"/>
            <a:ext cx="1505450" cy="1479472"/>
            <a:chOff x="1709739" y="2636838"/>
            <a:chExt cx="1590160" cy="1584325"/>
          </a:xfrm>
          <a:solidFill>
            <a:srgbClr val="044875"/>
          </a:solidFill>
        </p:grpSpPr>
        <p:sp>
          <p:nvSpPr>
            <p:cNvPr id="104928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28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29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29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29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29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29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29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29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297"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14" name="组合 18"/>
          <p:cNvGrpSpPr/>
          <p:nvPr>
            <p:custDataLst>
              <p:tags r:id="rId1"/>
            </p:custDataLst>
          </p:nvPr>
        </p:nvGrpSpPr>
        <p:grpSpPr>
          <a:xfrm>
            <a:off x="4523741" y="2047924"/>
            <a:ext cx="5370513" cy="534987"/>
            <a:chOff x="3281952" y="1484784"/>
            <a:chExt cx="5370513" cy="534987"/>
          </a:xfrm>
        </p:grpSpPr>
        <p:grpSp>
          <p:nvGrpSpPr>
            <p:cNvPr id="415" name="组合 13"/>
            <p:cNvGrpSpPr/>
            <p:nvPr/>
          </p:nvGrpSpPr>
          <p:grpSpPr>
            <a:xfrm>
              <a:off x="3943940" y="1484784"/>
              <a:ext cx="4708525" cy="534987"/>
              <a:chOff x="3943940" y="1626760"/>
              <a:chExt cx="4708525" cy="534987"/>
            </a:xfrm>
          </p:grpSpPr>
          <p:sp>
            <p:nvSpPr>
              <p:cNvPr id="1049298"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299"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300"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416" name="组合 9"/>
            <p:cNvGrpSpPr/>
            <p:nvPr/>
          </p:nvGrpSpPr>
          <p:grpSpPr>
            <a:xfrm>
              <a:off x="3281952" y="1484784"/>
              <a:ext cx="689642" cy="534987"/>
              <a:chOff x="3281952" y="1626760"/>
              <a:chExt cx="689642" cy="534987"/>
            </a:xfrm>
          </p:grpSpPr>
          <p:sp>
            <p:nvSpPr>
              <p:cNvPr id="1049301"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02"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417" name="组合 21"/>
          <p:cNvGrpSpPr/>
          <p:nvPr>
            <p:custDataLst>
              <p:tags r:id="rId2"/>
            </p:custDataLst>
          </p:nvPr>
        </p:nvGrpSpPr>
        <p:grpSpPr>
          <a:xfrm>
            <a:off x="4503593" y="3688642"/>
            <a:ext cx="5372100" cy="534987"/>
            <a:chOff x="3261805" y="3188752"/>
            <a:chExt cx="5372100" cy="534987"/>
          </a:xfrm>
        </p:grpSpPr>
        <p:grpSp>
          <p:nvGrpSpPr>
            <p:cNvPr id="418" name="组合 11"/>
            <p:cNvGrpSpPr/>
            <p:nvPr/>
          </p:nvGrpSpPr>
          <p:grpSpPr>
            <a:xfrm>
              <a:off x="3261805" y="3188752"/>
              <a:ext cx="689593" cy="534987"/>
              <a:chOff x="3261805" y="3188752"/>
              <a:chExt cx="689593" cy="534987"/>
            </a:xfrm>
          </p:grpSpPr>
          <p:sp>
            <p:nvSpPr>
              <p:cNvPr id="1049303"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04"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419" name="组合 15"/>
            <p:cNvGrpSpPr/>
            <p:nvPr/>
          </p:nvGrpSpPr>
          <p:grpSpPr>
            <a:xfrm>
              <a:off x="3923792" y="3188752"/>
              <a:ext cx="4710113" cy="534987"/>
              <a:chOff x="3923792" y="3188752"/>
              <a:chExt cx="4710113" cy="534987"/>
            </a:xfrm>
          </p:grpSpPr>
          <p:sp>
            <p:nvSpPr>
              <p:cNvPr id="1049305"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306"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07"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420" name="组合 22"/>
          <p:cNvGrpSpPr/>
          <p:nvPr>
            <p:custDataLst>
              <p:tags r:id="rId3"/>
            </p:custDataLst>
          </p:nvPr>
        </p:nvGrpSpPr>
        <p:grpSpPr>
          <a:xfrm>
            <a:off x="4503593" y="4509001"/>
            <a:ext cx="5372100" cy="534987"/>
            <a:chOff x="3261805" y="4046141"/>
            <a:chExt cx="5372100" cy="534987"/>
          </a:xfrm>
        </p:grpSpPr>
        <p:grpSp>
          <p:nvGrpSpPr>
            <p:cNvPr id="421" name="组合 12"/>
            <p:cNvGrpSpPr/>
            <p:nvPr/>
          </p:nvGrpSpPr>
          <p:grpSpPr>
            <a:xfrm>
              <a:off x="3261805" y="4046141"/>
              <a:ext cx="689447" cy="534987"/>
              <a:chOff x="3261805" y="3969748"/>
              <a:chExt cx="689447" cy="534987"/>
            </a:xfrm>
          </p:grpSpPr>
          <p:sp>
            <p:nvSpPr>
              <p:cNvPr id="1049308"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09"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422" name="组合 16"/>
            <p:cNvGrpSpPr/>
            <p:nvPr/>
          </p:nvGrpSpPr>
          <p:grpSpPr>
            <a:xfrm>
              <a:off x="3923792" y="4046141"/>
              <a:ext cx="4710113" cy="534987"/>
              <a:chOff x="3923792" y="3969748"/>
              <a:chExt cx="4710113" cy="534987"/>
            </a:xfrm>
          </p:grpSpPr>
          <p:sp>
            <p:nvSpPr>
              <p:cNvPr id="1049310"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311"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12"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423" name="组合 19"/>
          <p:cNvGrpSpPr/>
          <p:nvPr>
            <p:custDataLst>
              <p:tags r:id="rId4"/>
            </p:custDataLst>
          </p:nvPr>
        </p:nvGrpSpPr>
        <p:grpSpPr>
          <a:xfrm>
            <a:off x="4517645" y="2868283"/>
            <a:ext cx="5370513" cy="534987"/>
            <a:chOff x="3275856" y="2348880"/>
            <a:chExt cx="5370513" cy="534987"/>
          </a:xfrm>
        </p:grpSpPr>
        <p:grpSp>
          <p:nvGrpSpPr>
            <p:cNvPr id="424" name="组合 10"/>
            <p:cNvGrpSpPr/>
            <p:nvPr/>
          </p:nvGrpSpPr>
          <p:grpSpPr>
            <a:xfrm>
              <a:off x="3275856" y="2348880"/>
              <a:ext cx="689474" cy="534987"/>
              <a:chOff x="3275856" y="2407756"/>
              <a:chExt cx="689474" cy="534987"/>
            </a:xfrm>
          </p:grpSpPr>
          <p:sp>
            <p:nvSpPr>
              <p:cNvPr id="1049313"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14"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425" name="组合 14"/>
            <p:cNvGrpSpPr/>
            <p:nvPr/>
          </p:nvGrpSpPr>
          <p:grpSpPr>
            <a:xfrm>
              <a:off x="3937844" y="2348880"/>
              <a:ext cx="4708525" cy="534987"/>
              <a:chOff x="3937844" y="2407756"/>
              <a:chExt cx="4708525" cy="534987"/>
            </a:xfrm>
          </p:grpSpPr>
          <p:sp>
            <p:nvSpPr>
              <p:cNvPr id="1049315"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316"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1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426" name="组合 6"/>
          <p:cNvGrpSpPr/>
          <p:nvPr/>
        </p:nvGrpSpPr>
        <p:grpSpPr>
          <a:xfrm>
            <a:off x="-1" y="6553200"/>
            <a:ext cx="12192001" cy="304800"/>
            <a:chOff x="0" y="6569404"/>
            <a:chExt cx="9144000" cy="288000"/>
          </a:xfrm>
        </p:grpSpPr>
        <p:sp>
          <p:nvSpPr>
            <p:cNvPr id="1049318"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19"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2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46</a:t>
            </a:fld>
            <a:endParaRPr lang="zh-HK" altLang="en-US" sz="1600" dirty="0">
              <a:solidFill>
                <a:schemeClr val="bg1"/>
              </a:solidFill>
            </a:endParaRPr>
          </a:p>
        </p:txBody>
      </p:sp>
      <p:pic>
        <p:nvPicPr>
          <p:cNvPr id="209720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 name="组合 6"/>
          <p:cNvGrpSpPr/>
          <p:nvPr/>
        </p:nvGrpSpPr>
        <p:grpSpPr>
          <a:xfrm>
            <a:off x="-1" y="6553200"/>
            <a:ext cx="12192001" cy="304800"/>
            <a:chOff x="0" y="6569404"/>
            <a:chExt cx="9144000" cy="288000"/>
          </a:xfrm>
        </p:grpSpPr>
        <p:sp>
          <p:nvSpPr>
            <p:cNvPr id="1049324"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25"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2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47</a:t>
            </a:fld>
            <a:endParaRPr lang="zh-HK" altLang="en-US" sz="1600" dirty="0">
              <a:solidFill>
                <a:schemeClr val="bg1"/>
              </a:solidFill>
            </a:endParaRPr>
          </a:p>
        </p:txBody>
      </p:sp>
      <p:pic>
        <p:nvPicPr>
          <p:cNvPr id="2097206"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431" name="组合 18"/>
          <p:cNvGrpSpPr/>
          <p:nvPr/>
        </p:nvGrpSpPr>
        <p:grpSpPr bwMode="auto">
          <a:xfrm>
            <a:off x="2409457" y="2650330"/>
            <a:ext cx="1505450" cy="1479472"/>
            <a:chOff x="1709739" y="2636838"/>
            <a:chExt cx="1590160" cy="1584325"/>
          </a:xfrm>
          <a:solidFill>
            <a:srgbClr val="044875"/>
          </a:solidFill>
        </p:grpSpPr>
        <p:sp>
          <p:nvSpPr>
            <p:cNvPr id="104932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32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32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33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33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33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33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33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33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336"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32" name="组合 506"/>
          <p:cNvGrpSpPr/>
          <p:nvPr>
            <p:custDataLst>
              <p:tags r:id="rId1"/>
            </p:custDataLst>
          </p:nvPr>
        </p:nvGrpSpPr>
        <p:grpSpPr>
          <a:xfrm>
            <a:off x="4523741" y="2047924"/>
            <a:ext cx="5370513" cy="534987"/>
            <a:chOff x="3281952" y="1484784"/>
            <a:chExt cx="5370513" cy="534987"/>
          </a:xfrm>
        </p:grpSpPr>
        <p:grpSp>
          <p:nvGrpSpPr>
            <p:cNvPr id="433" name="组合 507"/>
            <p:cNvGrpSpPr/>
            <p:nvPr/>
          </p:nvGrpSpPr>
          <p:grpSpPr>
            <a:xfrm>
              <a:off x="3943940" y="1484784"/>
              <a:ext cx="4708525" cy="534987"/>
              <a:chOff x="3943940" y="1626760"/>
              <a:chExt cx="4708525" cy="534987"/>
            </a:xfrm>
          </p:grpSpPr>
          <p:sp>
            <p:nvSpPr>
              <p:cNvPr id="104933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338"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339"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7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434" name="组合 508"/>
            <p:cNvGrpSpPr/>
            <p:nvPr/>
          </p:nvGrpSpPr>
          <p:grpSpPr>
            <a:xfrm>
              <a:off x="3281952" y="1484784"/>
              <a:ext cx="689642" cy="534987"/>
              <a:chOff x="3281952" y="1626760"/>
              <a:chExt cx="689642" cy="534987"/>
            </a:xfrm>
          </p:grpSpPr>
          <p:sp>
            <p:nvSpPr>
              <p:cNvPr id="1049340"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41"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435" name="组合 515"/>
          <p:cNvGrpSpPr/>
          <p:nvPr>
            <p:custDataLst>
              <p:tags r:id="rId2"/>
            </p:custDataLst>
          </p:nvPr>
        </p:nvGrpSpPr>
        <p:grpSpPr>
          <a:xfrm>
            <a:off x="4503593" y="3688642"/>
            <a:ext cx="5372100" cy="534987"/>
            <a:chOff x="3261805" y="3188752"/>
            <a:chExt cx="5372100" cy="534987"/>
          </a:xfrm>
        </p:grpSpPr>
        <p:grpSp>
          <p:nvGrpSpPr>
            <p:cNvPr id="436" name="组合 516"/>
            <p:cNvGrpSpPr/>
            <p:nvPr/>
          </p:nvGrpSpPr>
          <p:grpSpPr>
            <a:xfrm>
              <a:off x="3261805" y="3188752"/>
              <a:ext cx="689593" cy="534987"/>
              <a:chOff x="3261805" y="3188752"/>
              <a:chExt cx="689593" cy="534987"/>
            </a:xfrm>
          </p:grpSpPr>
          <p:sp>
            <p:nvSpPr>
              <p:cNvPr id="1049342"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43"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437" name="组合 517"/>
            <p:cNvGrpSpPr/>
            <p:nvPr/>
          </p:nvGrpSpPr>
          <p:grpSpPr>
            <a:xfrm>
              <a:off x="3923792" y="3188752"/>
              <a:ext cx="4710113" cy="534987"/>
              <a:chOff x="3923792" y="3188752"/>
              <a:chExt cx="4710113" cy="534987"/>
            </a:xfrm>
          </p:grpSpPr>
          <p:sp>
            <p:nvSpPr>
              <p:cNvPr id="1049344"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45"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46"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38" name="组合 524"/>
          <p:cNvGrpSpPr/>
          <p:nvPr>
            <p:custDataLst>
              <p:tags r:id="rId3"/>
            </p:custDataLst>
          </p:nvPr>
        </p:nvGrpSpPr>
        <p:grpSpPr>
          <a:xfrm>
            <a:off x="4503593" y="4509001"/>
            <a:ext cx="5372100" cy="534987"/>
            <a:chOff x="3261805" y="4046141"/>
            <a:chExt cx="5372100" cy="534987"/>
          </a:xfrm>
        </p:grpSpPr>
        <p:grpSp>
          <p:nvGrpSpPr>
            <p:cNvPr id="439" name="组合 525"/>
            <p:cNvGrpSpPr/>
            <p:nvPr/>
          </p:nvGrpSpPr>
          <p:grpSpPr>
            <a:xfrm>
              <a:off x="3261805" y="4046141"/>
              <a:ext cx="689447" cy="534987"/>
              <a:chOff x="3261805" y="3969748"/>
              <a:chExt cx="689447" cy="534987"/>
            </a:xfrm>
          </p:grpSpPr>
          <p:sp>
            <p:nvSpPr>
              <p:cNvPr id="1049347"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48"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440" name="组合 526"/>
            <p:cNvGrpSpPr/>
            <p:nvPr/>
          </p:nvGrpSpPr>
          <p:grpSpPr>
            <a:xfrm>
              <a:off x="3923792" y="4046141"/>
              <a:ext cx="4710113" cy="534987"/>
              <a:chOff x="3923792" y="3969748"/>
              <a:chExt cx="4710113" cy="534987"/>
            </a:xfrm>
          </p:grpSpPr>
          <p:sp>
            <p:nvSpPr>
              <p:cNvPr id="1049349"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350"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5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41" name="组合 533"/>
          <p:cNvGrpSpPr/>
          <p:nvPr>
            <p:custDataLst>
              <p:tags r:id="rId4"/>
            </p:custDataLst>
          </p:nvPr>
        </p:nvGrpSpPr>
        <p:grpSpPr>
          <a:xfrm>
            <a:off x="4517645" y="2868283"/>
            <a:ext cx="5370513" cy="534987"/>
            <a:chOff x="3275856" y="2348880"/>
            <a:chExt cx="5370513" cy="534987"/>
          </a:xfrm>
        </p:grpSpPr>
        <p:grpSp>
          <p:nvGrpSpPr>
            <p:cNvPr id="442" name="组合 534"/>
            <p:cNvGrpSpPr/>
            <p:nvPr/>
          </p:nvGrpSpPr>
          <p:grpSpPr>
            <a:xfrm>
              <a:off x="3275856" y="2348880"/>
              <a:ext cx="689474" cy="534987"/>
              <a:chOff x="3275856" y="2407756"/>
              <a:chExt cx="689474" cy="534987"/>
            </a:xfrm>
          </p:grpSpPr>
          <p:sp>
            <p:nvSpPr>
              <p:cNvPr id="1049352"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53"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443" name="组合 535"/>
            <p:cNvGrpSpPr/>
            <p:nvPr/>
          </p:nvGrpSpPr>
          <p:grpSpPr>
            <a:xfrm>
              <a:off x="3937844" y="2348880"/>
              <a:ext cx="4708525" cy="534987"/>
              <a:chOff x="3937844" y="2407756"/>
              <a:chExt cx="4708525" cy="534987"/>
            </a:xfrm>
          </p:grpSpPr>
          <p:sp>
            <p:nvSpPr>
              <p:cNvPr id="1049354"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55"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5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360"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361"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362" name="文本框 7"/>
          <p:cNvSpPr txBox="1"/>
          <p:nvPr/>
        </p:nvSpPr>
        <p:spPr>
          <a:xfrm>
            <a:off x="194275" y="1088933"/>
            <a:ext cx="11805725" cy="4707890"/>
          </a:xfrm>
          <a:prstGeom prst="rect">
            <a:avLst/>
          </a:prstGeom>
          <a:noFill/>
          <a:ln>
            <a:solidFill>
              <a:srgbClr val="0174AB"/>
            </a:solidFill>
          </a:ln>
        </p:spPr>
        <p:txBody>
          <a:bodyPr wrap="square" rtlCol="0">
            <a:spAutoFit/>
          </a:bodyPr>
          <a:lstStyle/>
          <a:p>
            <a:pPr indent="457200" algn="just">
              <a:lnSpc>
                <a:spcPct val="150000"/>
              </a:lnSpc>
            </a:pPr>
            <a:r>
              <a:rPr lang="en-US" altLang="zh-CN" sz="2000" dirty="0">
                <a:latin typeface="Times New Roman" panose="02020603050405020304" pitchFamily="18" charset="0"/>
                <a:ea typeface="微软雅黑" panose="020B0503020204020204" charset="-122"/>
                <a:cs typeface="Times New Roman" panose="02020603050405020304" pitchFamily="18" charset="0"/>
              </a:rPr>
              <a:t>To address these challenges, we introduce a Quantum Frequency Decomposition Reconstruction Decomposition (Q-FR-Q) as the core of the model’s deep representation learning. This module reffnes frequency components iteratively by decomposing raw input via QFT, reconstructing enhanced features, and re-decomposing signals to separate entangled patterns. Such iterative reffnement improves disentanglement of multi-frequency dynamics and long-range temporal dependencies.</a:t>
            </a:r>
          </a:p>
          <a:p>
            <a:pPr indent="457200" algn="just">
              <a:lnSpc>
                <a:spcPct val="150000"/>
              </a:lnSpc>
            </a:pPr>
            <a:endParaRPr lang="en-US" altLang="zh-CN" sz="2000" dirty="0">
              <a:latin typeface="Times New Roman" panose="02020603050405020304" pitchFamily="18" charset="0"/>
              <a:ea typeface="微软雅黑" panose="020B0503020204020204" charset="-122"/>
              <a:cs typeface="Times New Roman" panose="02020603050405020304" pitchFamily="18" charset="0"/>
            </a:endParaRPr>
          </a:p>
          <a:p>
            <a:pPr indent="457200" algn="just">
              <a:lnSpc>
                <a:spcPct val="150000"/>
              </a:lnSpc>
            </a:pPr>
            <a:r>
              <a:rPr lang="en-US" altLang="zh-CN" sz="2000" dirty="0">
                <a:latin typeface="Times New Roman" panose="02020603050405020304" pitchFamily="18" charset="0"/>
                <a:ea typeface="微软雅黑" panose="020B0503020204020204" charset="-122"/>
                <a:cs typeface="Times New Roman" panose="02020603050405020304" pitchFamily="18" charset="0"/>
              </a:rPr>
              <a:t>We further design a Dual-Layer Graph Attention Network (DL-GAN) that integrates QFT with graph-based attention mechanisms. TTis architecture enables localized feature extraction from decomposed components and adaptively models inter-frequency interactions through graph-relational learning.</a:t>
            </a:r>
          </a:p>
          <a:p>
            <a:pPr indent="457200"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grpSp>
        <p:nvGrpSpPr>
          <p:cNvPr id="447" name="组合 11"/>
          <p:cNvGrpSpPr/>
          <p:nvPr/>
        </p:nvGrpSpPr>
        <p:grpSpPr>
          <a:xfrm>
            <a:off x="-1" y="6553200"/>
            <a:ext cx="12192001" cy="304800"/>
            <a:chOff x="0" y="6569404"/>
            <a:chExt cx="9144000" cy="288000"/>
          </a:xfrm>
        </p:grpSpPr>
        <p:sp>
          <p:nvSpPr>
            <p:cNvPr id="1049363"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64"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6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48</a:t>
            </a:fld>
            <a:endParaRPr lang="zh-HK" altLang="en-US" sz="1600" dirty="0">
              <a:solidFill>
                <a:schemeClr val="bg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1" name="组合 2"/>
          <p:cNvGrpSpPr/>
          <p:nvPr/>
        </p:nvGrpSpPr>
        <p:grpSpPr>
          <a:xfrm>
            <a:off x="-1" y="6553200"/>
            <a:ext cx="12192001" cy="304800"/>
            <a:chOff x="0" y="6569404"/>
            <a:chExt cx="9144000" cy="288000"/>
          </a:xfrm>
        </p:grpSpPr>
        <p:sp>
          <p:nvSpPr>
            <p:cNvPr id="1049369"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370"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37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49</a:t>
            </a:fld>
            <a:endParaRPr lang="zh-HK" altLang="en-US" sz="1600" dirty="0">
              <a:solidFill>
                <a:schemeClr val="bg1"/>
              </a:solidFill>
            </a:endParaRPr>
          </a:p>
        </p:txBody>
      </p:sp>
      <p:pic>
        <p:nvPicPr>
          <p:cNvPr id="2097207"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452" name="组合 18"/>
          <p:cNvGrpSpPr/>
          <p:nvPr/>
        </p:nvGrpSpPr>
        <p:grpSpPr bwMode="auto">
          <a:xfrm>
            <a:off x="2409457" y="2650330"/>
            <a:ext cx="1505450" cy="1479472"/>
            <a:chOff x="1709739" y="2636838"/>
            <a:chExt cx="1590160" cy="1584325"/>
          </a:xfrm>
          <a:solidFill>
            <a:srgbClr val="044875"/>
          </a:solidFill>
        </p:grpSpPr>
        <p:sp>
          <p:nvSpPr>
            <p:cNvPr id="104937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37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37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37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37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37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37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37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38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381"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453" name="组合 73"/>
          <p:cNvGrpSpPr/>
          <p:nvPr>
            <p:custDataLst>
              <p:tags r:id="rId1"/>
            </p:custDataLst>
          </p:nvPr>
        </p:nvGrpSpPr>
        <p:grpSpPr>
          <a:xfrm>
            <a:off x="4523741" y="2047924"/>
            <a:ext cx="5370513" cy="534987"/>
            <a:chOff x="3281952" y="1484784"/>
            <a:chExt cx="5370513" cy="534987"/>
          </a:xfrm>
        </p:grpSpPr>
        <p:grpSp>
          <p:nvGrpSpPr>
            <p:cNvPr id="454" name="组合 74"/>
            <p:cNvGrpSpPr/>
            <p:nvPr/>
          </p:nvGrpSpPr>
          <p:grpSpPr>
            <a:xfrm>
              <a:off x="3943940" y="1484784"/>
              <a:ext cx="4708525" cy="534987"/>
              <a:chOff x="3943940" y="1626760"/>
              <a:chExt cx="4708525" cy="534987"/>
            </a:xfrm>
          </p:grpSpPr>
          <p:sp>
            <p:nvSpPr>
              <p:cNvPr id="104938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38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84"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455" name="组合 75"/>
            <p:cNvGrpSpPr/>
            <p:nvPr/>
          </p:nvGrpSpPr>
          <p:grpSpPr>
            <a:xfrm>
              <a:off x="3281952" y="1484784"/>
              <a:ext cx="689642" cy="534987"/>
              <a:chOff x="3281952" y="1626760"/>
              <a:chExt cx="689642" cy="534987"/>
            </a:xfrm>
          </p:grpSpPr>
          <p:sp>
            <p:nvSpPr>
              <p:cNvPr id="1049385"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8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456" name="组合 82"/>
          <p:cNvGrpSpPr/>
          <p:nvPr>
            <p:custDataLst>
              <p:tags r:id="rId2"/>
            </p:custDataLst>
          </p:nvPr>
        </p:nvGrpSpPr>
        <p:grpSpPr>
          <a:xfrm>
            <a:off x="4503593" y="3688642"/>
            <a:ext cx="5372100" cy="534987"/>
            <a:chOff x="3261805" y="3188752"/>
            <a:chExt cx="5372100" cy="534987"/>
          </a:xfrm>
        </p:grpSpPr>
        <p:grpSp>
          <p:nvGrpSpPr>
            <p:cNvPr id="457" name="组合 83"/>
            <p:cNvGrpSpPr/>
            <p:nvPr/>
          </p:nvGrpSpPr>
          <p:grpSpPr>
            <a:xfrm>
              <a:off x="3261805" y="3188752"/>
              <a:ext cx="689593" cy="534987"/>
              <a:chOff x="3261805" y="3188752"/>
              <a:chExt cx="689593" cy="534987"/>
            </a:xfrm>
          </p:grpSpPr>
          <p:sp>
            <p:nvSpPr>
              <p:cNvPr id="1049387"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8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458" name="组合 84"/>
            <p:cNvGrpSpPr/>
            <p:nvPr/>
          </p:nvGrpSpPr>
          <p:grpSpPr>
            <a:xfrm>
              <a:off x="3923792" y="3188752"/>
              <a:ext cx="4710113" cy="534987"/>
              <a:chOff x="3923792" y="3188752"/>
              <a:chExt cx="4710113" cy="534987"/>
            </a:xfrm>
          </p:grpSpPr>
          <p:sp>
            <p:nvSpPr>
              <p:cNvPr id="104938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390"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9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59" name="组合 101"/>
          <p:cNvGrpSpPr/>
          <p:nvPr>
            <p:custDataLst>
              <p:tags r:id="rId3"/>
            </p:custDataLst>
          </p:nvPr>
        </p:nvGrpSpPr>
        <p:grpSpPr>
          <a:xfrm>
            <a:off x="4503593" y="4509001"/>
            <a:ext cx="5372100" cy="534987"/>
            <a:chOff x="3261805" y="4046141"/>
            <a:chExt cx="5372100" cy="534987"/>
          </a:xfrm>
        </p:grpSpPr>
        <p:grpSp>
          <p:nvGrpSpPr>
            <p:cNvPr id="460" name="组合 102"/>
            <p:cNvGrpSpPr/>
            <p:nvPr/>
          </p:nvGrpSpPr>
          <p:grpSpPr>
            <a:xfrm>
              <a:off x="3261805" y="4046141"/>
              <a:ext cx="689447" cy="534987"/>
              <a:chOff x="3261805" y="3969748"/>
              <a:chExt cx="689447" cy="534987"/>
            </a:xfrm>
          </p:grpSpPr>
          <p:sp>
            <p:nvSpPr>
              <p:cNvPr id="1049392"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9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461" name="组合 103"/>
            <p:cNvGrpSpPr/>
            <p:nvPr/>
          </p:nvGrpSpPr>
          <p:grpSpPr>
            <a:xfrm>
              <a:off x="3923792" y="4046141"/>
              <a:ext cx="4710113" cy="534987"/>
              <a:chOff x="3923792" y="3969748"/>
              <a:chExt cx="4710113" cy="534987"/>
            </a:xfrm>
          </p:grpSpPr>
          <p:sp>
            <p:nvSpPr>
              <p:cNvPr id="104939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395"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39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462" name="组合 110"/>
          <p:cNvGrpSpPr/>
          <p:nvPr>
            <p:custDataLst>
              <p:tags r:id="rId4"/>
            </p:custDataLst>
          </p:nvPr>
        </p:nvGrpSpPr>
        <p:grpSpPr>
          <a:xfrm>
            <a:off x="4517645" y="2868283"/>
            <a:ext cx="5370513" cy="534987"/>
            <a:chOff x="3275856" y="2348880"/>
            <a:chExt cx="5370513" cy="534987"/>
          </a:xfrm>
        </p:grpSpPr>
        <p:grpSp>
          <p:nvGrpSpPr>
            <p:cNvPr id="463" name="组合 111"/>
            <p:cNvGrpSpPr/>
            <p:nvPr/>
          </p:nvGrpSpPr>
          <p:grpSpPr>
            <a:xfrm>
              <a:off x="3275856" y="2348880"/>
              <a:ext cx="689474" cy="534987"/>
              <a:chOff x="3275856" y="2407756"/>
              <a:chExt cx="689474" cy="534987"/>
            </a:xfrm>
          </p:grpSpPr>
          <p:sp>
            <p:nvSpPr>
              <p:cNvPr id="1049397"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39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464" name="组合 112"/>
            <p:cNvGrpSpPr/>
            <p:nvPr/>
          </p:nvGrpSpPr>
          <p:grpSpPr>
            <a:xfrm>
              <a:off x="3937844" y="2348880"/>
              <a:ext cx="4708525" cy="534987"/>
              <a:chOff x="3937844" y="2407756"/>
              <a:chExt cx="4708525" cy="534987"/>
            </a:xfrm>
          </p:grpSpPr>
          <p:sp>
            <p:nvSpPr>
              <p:cNvPr id="104939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400"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40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05"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06"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68" name="组合 54"/>
          <p:cNvGrpSpPr/>
          <p:nvPr/>
        </p:nvGrpSpPr>
        <p:grpSpPr>
          <a:xfrm>
            <a:off x="-1" y="6553200"/>
            <a:ext cx="12192001" cy="304800"/>
            <a:chOff x="0" y="6569404"/>
            <a:chExt cx="9144000" cy="288000"/>
          </a:xfrm>
        </p:grpSpPr>
        <p:sp>
          <p:nvSpPr>
            <p:cNvPr id="1049407"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08"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09"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50</a:t>
            </a:fld>
            <a:endParaRPr lang="zh-HK" altLang="en-US" sz="1600" dirty="0">
              <a:solidFill>
                <a:schemeClr val="bg1"/>
              </a:solidFill>
            </a:endParaRPr>
          </a:p>
        </p:txBody>
      </p:sp>
      <p:pic>
        <p:nvPicPr>
          <p:cNvPr id="2097208" name="图片 1"/>
          <p:cNvPicPr>
            <a:picLocks noChangeAspect="1"/>
          </p:cNvPicPr>
          <p:nvPr/>
        </p:nvPicPr>
        <p:blipFill>
          <a:blip r:embed="rId3"/>
          <a:srcRect t="12364"/>
          <a:stretch>
            <a:fillRect/>
          </a:stretch>
        </p:blipFill>
        <p:spPr>
          <a:xfrm>
            <a:off x="911860" y="2348865"/>
            <a:ext cx="10810240" cy="203962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13"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14"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72" name="组合 54"/>
          <p:cNvGrpSpPr/>
          <p:nvPr/>
        </p:nvGrpSpPr>
        <p:grpSpPr>
          <a:xfrm>
            <a:off x="-1" y="6553200"/>
            <a:ext cx="12192001" cy="304800"/>
            <a:chOff x="0" y="6569404"/>
            <a:chExt cx="9144000" cy="288000"/>
          </a:xfrm>
        </p:grpSpPr>
        <p:sp>
          <p:nvSpPr>
            <p:cNvPr id="1049415"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16"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17"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51</a:t>
            </a:fld>
            <a:endParaRPr lang="zh-HK" altLang="en-US" sz="1600" dirty="0">
              <a:solidFill>
                <a:schemeClr val="bg1"/>
              </a:solidFill>
            </a:endParaRPr>
          </a:p>
        </p:txBody>
      </p:sp>
      <p:pic>
        <p:nvPicPr>
          <p:cNvPr id="2097209" name="图片 1"/>
          <p:cNvPicPr>
            <a:picLocks noChangeAspect="1"/>
          </p:cNvPicPr>
          <p:nvPr/>
        </p:nvPicPr>
        <p:blipFill>
          <a:blip r:embed="rId3"/>
          <a:stretch>
            <a:fillRect/>
          </a:stretch>
        </p:blipFill>
        <p:spPr>
          <a:xfrm>
            <a:off x="1489075" y="1070610"/>
            <a:ext cx="9596120" cy="5188585"/>
          </a:xfrm>
          <a:prstGeom prst="rect">
            <a:avLst/>
          </a:prstGeom>
        </p:spPr>
      </p:pic>
      <p:sp>
        <p:nvSpPr>
          <p:cNvPr id="1049418" name="文本框 2"/>
          <p:cNvSpPr txBox="1"/>
          <p:nvPr/>
        </p:nvSpPr>
        <p:spPr>
          <a:xfrm>
            <a:off x="408000" y="4581000"/>
            <a:ext cx="4320000" cy="646331"/>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通过</a:t>
            </a:r>
            <a:r>
              <a:rPr lang="zh-CN" altLang="en-US" b="1">
                <a:solidFill>
                  <a:srgbClr val="FF0000"/>
                </a:solidFill>
                <a:latin typeface="微软雅黑" panose="020B0503020204020204" charset="-122"/>
                <a:ea typeface="微软雅黑" panose="020B0503020204020204" charset="-122"/>
              </a:rPr>
              <a:t>旋转门</a:t>
            </a:r>
            <a:r>
              <a:rPr lang="zh-CN" altLang="en-US" b="1">
                <a:latin typeface="微软雅黑" panose="020B0503020204020204" charset="-122"/>
                <a:ea typeface="微软雅黑" panose="020B0503020204020204" charset="-122"/>
              </a:rPr>
              <a:t>的</a:t>
            </a:r>
            <a:r>
              <a:rPr lang="zh-CN" altLang="en-US" b="1">
                <a:solidFill>
                  <a:srgbClr val="FF0000"/>
                </a:solidFill>
                <a:latin typeface="微软雅黑" panose="020B0503020204020204" charset="-122"/>
                <a:ea typeface="微软雅黑" panose="020B0503020204020204" charset="-122"/>
              </a:rPr>
              <a:t>幺正变换</a:t>
            </a:r>
            <a:r>
              <a:rPr lang="zh-CN" altLang="en-US" b="1">
                <a:latin typeface="微软雅黑" panose="020B0503020204020204" charset="-122"/>
                <a:ea typeface="微软雅黑" panose="020B0503020204020204" charset="-122"/>
              </a:rPr>
              <a:t>实现</a:t>
            </a:r>
            <a:r>
              <a:rPr lang="zh-CN" altLang="en-US" b="1">
                <a:solidFill>
                  <a:srgbClr val="FF0000"/>
                </a:solidFill>
                <a:latin typeface="微软雅黑" panose="020B0503020204020204" charset="-122"/>
                <a:ea typeface="微软雅黑" panose="020B0503020204020204" charset="-122"/>
              </a:rPr>
              <a:t>傅里叶变换</a:t>
            </a:r>
            <a:r>
              <a:rPr lang="zh-CN" altLang="en-US" b="1">
                <a:latin typeface="微软雅黑" panose="020B0503020204020204" charset="-122"/>
                <a:ea typeface="微软雅黑" panose="020B0503020204020204" charset="-122"/>
              </a:rPr>
              <a:t>，</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理论依据在第二篇论文中已提到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2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2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76" name="组合 54"/>
          <p:cNvGrpSpPr/>
          <p:nvPr/>
        </p:nvGrpSpPr>
        <p:grpSpPr>
          <a:xfrm>
            <a:off x="-1" y="6553200"/>
            <a:ext cx="12192001" cy="304800"/>
            <a:chOff x="0" y="6569404"/>
            <a:chExt cx="9144000" cy="288000"/>
          </a:xfrm>
        </p:grpSpPr>
        <p:sp>
          <p:nvSpPr>
            <p:cNvPr id="104942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2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2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52</a:t>
            </a:fld>
            <a:endParaRPr lang="zh-HK" altLang="en-US" sz="1600" dirty="0">
              <a:solidFill>
                <a:schemeClr val="bg1"/>
              </a:solidFill>
            </a:endParaRPr>
          </a:p>
        </p:txBody>
      </p:sp>
      <p:pic>
        <p:nvPicPr>
          <p:cNvPr id="2097210" name="图片 2"/>
          <p:cNvPicPr>
            <a:picLocks noChangeAspect="1"/>
          </p:cNvPicPr>
          <p:nvPr/>
        </p:nvPicPr>
        <p:blipFill>
          <a:blip r:embed="rId3"/>
          <a:srcRect t="2183"/>
          <a:stretch>
            <a:fillRect/>
          </a:stretch>
        </p:blipFill>
        <p:spPr>
          <a:xfrm>
            <a:off x="766445" y="1485265"/>
            <a:ext cx="10960100" cy="218630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3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3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80" name="组合 54"/>
          <p:cNvGrpSpPr/>
          <p:nvPr/>
        </p:nvGrpSpPr>
        <p:grpSpPr>
          <a:xfrm>
            <a:off x="-1" y="6553200"/>
            <a:ext cx="12192001" cy="304800"/>
            <a:chOff x="0" y="6569404"/>
            <a:chExt cx="9144000" cy="288000"/>
          </a:xfrm>
        </p:grpSpPr>
        <p:sp>
          <p:nvSpPr>
            <p:cNvPr id="104943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3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3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53</a:t>
            </a:fld>
            <a:endParaRPr lang="zh-HK" altLang="en-US" sz="1600" dirty="0">
              <a:solidFill>
                <a:schemeClr val="bg1"/>
              </a:solidFill>
            </a:endParaRPr>
          </a:p>
        </p:txBody>
      </p:sp>
      <p:pic>
        <p:nvPicPr>
          <p:cNvPr id="2097211" name="图片 2"/>
          <p:cNvPicPr>
            <a:picLocks noChangeAspect="1"/>
          </p:cNvPicPr>
          <p:nvPr/>
        </p:nvPicPr>
        <p:blipFill>
          <a:blip r:embed="rId3"/>
          <a:stretch>
            <a:fillRect/>
          </a:stretch>
        </p:blipFill>
        <p:spPr>
          <a:xfrm>
            <a:off x="1416050" y="838200"/>
            <a:ext cx="9526270" cy="518223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4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4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88" name="组合 54"/>
          <p:cNvGrpSpPr/>
          <p:nvPr/>
        </p:nvGrpSpPr>
        <p:grpSpPr>
          <a:xfrm>
            <a:off x="-1" y="6553200"/>
            <a:ext cx="12192001" cy="304800"/>
            <a:chOff x="0" y="6569404"/>
            <a:chExt cx="9144000" cy="288000"/>
          </a:xfrm>
        </p:grpSpPr>
        <p:sp>
          <p:nvSpPr>
            <p:cNvPr id="104944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4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5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54</a:t>
            </a:fld>
            <a:endParaRPr lang="zh-HK" altLang="en-US" sz="1600" dirty="0">
              <a:solidFill>
                <a:schemeClr val="bg1"/>
              </a:solidFill>
            </a:endParaRPr>
          </a:p>
        </p:txBody>
      </p:sp>
      <p:pic>
        <p:nvPicPr>
          <p:cNvPr id="2097214" name="图片 1"/>
          <p:cNvPicPr>
            <a:picLocks noChangeAspect="1"/>
          </p:cNvPicPr>
          <p:nvPr/>
        </p:nvPicPr>
        <p:blipFill>
          <a:blip r:embed="rId3"/>
          <a:stretch>
            <a:fillRect/>
          </a:stretch>
        </p:blipFill>
        <p:spPr>
          <a:xfrm>
            <a:off x="1200150" y="807085"/>
            <a:ext cx="10661015" cy="5659755"/>
          </a:xfrm>
          <a:prstGeom prst="rect">
            <a:avLst/>
          </a:prstGeom>
        </p:spPr>
      </p:pic>
      <p:sp>
        <p:nvSpPr>
          <p:cNvPr id="1049451" name="文本框 2"/>
          <p:cNvSpPr txBox="1"/>
          <p:nvPr/>
        </p:nvSpPr>
        <p:spPr>
          <a:xfrm>
            <a:off x="1239680" y="2793575"/>
            <a:ext cx="3416320" cy="646331"/>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双层图注意力网络，第一层处理</a:t>
            </a:r>
            <a:endParaRPr lang="en-US" altLang="zh-CN" b="1">
              <a:latin typeface="微软雅黑" panose="020B0503020204020204" charset="-122"/>
              <a:ea typeface="微软雅黑" panose="020B0503020204020204" charset="-122"/>
            </a:endParaRPr>
          </a:p>
          <a:p>
            <a:r>
              <a:rPr lang="zh-CN" altLang="en-US" b="1">
                <a:solidFill>
                  <a:srgbClr val="FF0000"/>
                </a:solidFill>
                <a:latin typeface="微软雅黑" panose="020B0503020204020204" charset="-122"/>
                <a:ea typeface="微软雅黑" panose="020B0503020204020204" charset="-122"/>
              </a:rPr>
              <a:t>时间层面</a:t>
            </a:r>
            <a:r>
              <a:rPr lang="zh-CN" altLang="en-US" b="1">
                <a:latin typeface="微软雅黑" panose="020B0503020204020204" charset="-122"/>
                <a:ea typeface="微软雅黑" panose="020B0503020204020204" charset="-122"/>
              </a:rPr>
              <a:t>依赖（</a:t>
            </a:r>
            <a:r>
              <a:rPr lang="zh-CN" altLang="en-US" b="1">
                <a:solidFill>
                  <a:srgbClr val="FF0000"/>
                </a:solidFill>
                <a:latin typeface="微软雅黑" panose="020B0503020204020204" charset="-122"/>
                <a:ea typeface="微软雅黑" panose="020B0503020204020204" charset="-122"/>
              </a:rPr>
              <a:t>同频段</a:t>
            </a:r>
            <a:r>
              <a:rPr lang="zh-CN" altLang="en-US" b="1">
                <a:latin typeface="微软雅黑" panose="020B0503020204020204" charset="-122"/>
                <a:ea typeface="微软雅黑" panose="020B0503020204020204" charset="-122"/>
              </a:rPr>
              <a:t>内）</a:t>
            </a:r>
            <a:endParaRPr lang="en-US" altLang="zh-CN" b="1">
              <a:latin typeface="微软雅黑" panose="020B0503020204020204" charset="-122"/>
              <a:ea typeface="微软雅黑" panose="020B0503020204020204" charset="-122"/>
            </a:endParaRPr>
          </a:p>
        </p:txBody>
      </p:sp>
      <p:sp>
        <p:nvSpPr>
          <p:cNvPr id="1049452" name="文本框 4"/>
          <p:cNvSpPr txBox="1"/>
          <p:nvPr/>
        </p:nvSpPr>
        <p:spPr>
          <a:xfrm>
            <a:off x="1200000" y="4964731"/>
            <a:ext cx="3024000" cy="646331"/>
          </a:xfrm>
          <a:prstGeom prst="rect">
            <a:avLst/>
          </a:prstGeom>
          <a:noFill/>
        </p:spPr>
        <p:txBody>
          <a:bodyPr wrap="square">
            <a:spAutoFit/>
          </a:bodyPr>
          <a:lstStyle/>
          <a:p>
            <a:r>
              <a:rPr lang="zh-CN" altLang="en-US" b="1">
                <a:latin typeface="微软雅黑" panose="020B0503020204020204" charset="-122"/>
                <a:ea typeface="微软雅黑" panose="020B0503020204020204" charset="-122"/>
              </a:rPr>
              <a:t>第二层用来补偿</a:t>
            </a:r>
            <a:r>
              <a:rPr lang="zh-CN" altLang="en-US" b="1">
                <a:solidFill>
                  <a:srgbClr val="FF0000"/>
                </a:solidFill>
                <a:latin typeface="微软雅黑" panose="020B0503020204020204" charset="-122"/>
                <a:ea typeface="微软雅黑" panose="020B0503020204020204" charset="-122"/>
              </a:rPr>
              <a:t>频谱间</a:t>
            </a:r>
            <a:r>
              <a:rPr lang="zh-CN" altLang="en-US" b="1">
                <a:latin typeface="微软雅黑" panose="020B0503020204020204" charset="-122"/>
                <a:ea typeface="微软雅黑" panose="020B0503020204020204" charset="-122"/>
              </a:rPr>
              <a:t>依赖</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a:t>
            </a:r>
            <a:r>
              <a:rPr lang="zh-CN" altLang="en-US" b="1">
                <a:solidFill>
                  <a:srgbClr val="FF0000"/>
                </a:solidFill>
                <a:latin typeface="微软雅黑" panose="020B0503020204020204" charset="-122"/>
                <a:ea typeface="微软雅黑" panose="020B0503020204020204" charset="-122"/>
              </a:rPr>
              <a:t>不同频谱</a:t>
            </a:r>
            <a:r>
              <a:rPr lang="zh-CN" altLang="en-US" b="1">
                <a:latin typeface="微软雅黑" panose="020B0503020204020204" charset="-122"/>
                <a:ea typeface="微软雅黑" panose="020B0503020204020204" charset="-122"/>
              </a:rPr>
              <a:t>间）</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5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5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92" name="组合 54"/>
          <p:cNvGrpSpPr/>
          <p:nvPr/>
        </p:nvGrpSpPr>
        <p:grpSpPr>
          <a:xfrm>
            <a:off x="-1" y="6553200"/>
            <a:ext cx="12192001" cy="304800"/>
            <a:chOff x="0" y="6569404"/>
            <a:chExt cx="9144000" cy="288000"/>
          </a:xfrm>
        </p:grpSpPr>
        <p:sp>
          <p:nvSpPr>
            <p:cNvPr id="104945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5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6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55</a:t>
            </a:fld>
            <a:endParaRPr lang="zh-HK" altLang="en-US" sz="1600" dirty="0">
              <a:solidFill>
                <a:schemeClr val="bg1"/>
              </a:solidFill>
            </a:endParaRPr>
          </a:p>
        </p:txBody>
      </p:sp>
      <p:pic>
        <p:nvPicPr>
          <p:cNvPr id="2097215" name="图片 2"/>
          <p:cNvPicPr>
            <a:picLocks noChangeAspect="1"/>
          </p:cNvPicPr>
          <p:nvPr/>
        </p:nvPicPr>
        <p:blipFill>
          <a:blip r:embed="rId3"/>
          <a:stretch>
            <a:fillRect/>
          </a:stretch>
        </p:blipFill>
        <p:spPr>
          <a:xfrm>
            <a:off x="1056005" y="981075"/>
            <a:ext cx="10438130" cy="463804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46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46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496" name="组合 54"/>
          <p:cNvGrpSpPr/>
          <p:nvPr/>
        </p:nvGrpSpPr>
        <p:grpSpPr>
          <a:xfrm>
            <a:off x="-1" y="6553200"/>
            <a:ext cx="12192001" cy="304800"/>
            <a:chOff x="0" y="6569404"/>
            <a:chExt cx="9144000" cy="288000"/>
          </a:xfrm>
        </p:grpSpPr>
        <p:sp>
          <p:nvSpPr>
            <p:cNvPr id="104946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6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6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56</a:t>
            </a:fld>
            <a:endParaRPr lang="zh-HK" altLang="en-US" sz="1600" dirty="0">
              <a:solidFill>
                <a:schemeClr val="bg1"/>
              </a:solidFill>
            </a:endParaRPr>
          </a:p>
        </p:txBody>
      </p:sp>
      <p:pic>
        <p:nvPicPr>
          <p:cNvPr id="2097216" name="图片 1"/>
          <p:cNvPicPr>
            <a:picLocks noChangeAspect="1"/>
          </p:cNvPicPr>
          <p:nvPr/>
        </p:nvPicPr>
        <p:blipFill>
          <a:blip r:embed="rId3"/>
          <a:srcRect t="1374"/>
          <a:stretch>
            <a:fillRect/>
          </a:stretch>
        </p:blipFill>
        <p:spPr>
          <a:xfrm>
            <a:off x="1467485" y="740410"/>
            <a:ext cx="9295765" cy="579818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0" name="组合 5"/>
          <p:cNvGrpSpPr/>
          <p:nvPr/>
        </p:nvGrpSpPr>
        <p:grpSpPr>
          <a:xfrm>
            <a:off x="-1" y="6553200"/>
            <a:ext cx="12192001" cy="304800"/>
            <a:chOff x="0" y="6569404"/>
            <a:chExt cx="9144000" cy="288000"/>
          </a:xfrm>
        </p:grpSpPr>
        <p:sp>
          <p:nvSpPr>
            <p:cNvPr id="1049472"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473"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47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57</a:t>
            </a:fld>
            <a:endParaRPr lang="zh-HK" altLang="en-US" sz="1600" dirty="0">
              <a:solidFill>
                <a:schemeClr val="bg1"/>
              </a:solidFill>
            </a:endParaRPr>
          </a:p>
        </p:txBody>
      </p:sp>
      <p:pic>
        <p:nvPicPr>
          <p:cNvPr id="2097217"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501" name="组合 18"/>
          <p:cNvGrpSpPr/>
          <p:nvPr/>
        </p:nvGrpSpPr>
        <p:grpSpPr bwMode="auto">
          <a:xfrm>
            <a:off x="2409457" y="2650330"/>
            <a:ext cx="1505450" cy="1479472"/>
            <a:chOff x="1709739" y="2636838"/>
            <a:chExt cx="1590160" cy="1584325"/>
          </a:xfrm>
          <a:solidFill>
            <a:srgbClr val="044875"/>
          </a:solidFill>
        </p:grpSpPr>
        <p:sp>
          <p:nvSpPr>
            <p:cNvPr id="1049475"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476"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477"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478"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479"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480"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481"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482"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483"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484"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02" name="组合 71"/>
          <p:cNvGrpSpPr/>
          <p:nvPr>
            <p:custDataLst>
              <p:tags r:id="rId1"/>
            </p:custDataLst>
          </p:nvPr>
        </p:nvGrpSpPr>
        <p:grpSpPr>
          <a:xfrm>
            <a:off x="4523741" y="2047924"/>
            <a:ext cx="5370513" cy="534987"/>
            <a:chOff x="3281952" y="1484784"/>
            <a:chExt cx="5370513" cy="534987"/>
          </a:xfrm>
        </p:grpSpPr>
        <p:grpSp>
          <p:nvGrpSpPr>
            <p:cNvPr id="503" name="组合 72"/>
            <p:cNvGrpSpPr/>
            <p:nvPr/>
          </p:nvGrpSpPr>
          <p:grpSpPr>
            <a:xfrm>
              <a:off x="3943940" y="1484784"/>
              <a:ext cx="4708525" cy="534987"/>
              <a:chOff x="3943940" y="1626760"/>
              <a:chExt cx="4708525" cy="534987"/>
            </a:xfrm>
          </p:grpSpPr>
          <p:sp>
            <p:nvSpPr>
              <p:cNvPr id="1049485"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486"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487"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04" name="组合 73"/>
            <p:cNvGrpSpPr/>
            <p:nvPr/>
          </p:nvGrpSpPr>
          <p:grpSpPr>
            <a:xfrm>
              <a:off x="3281952" y="1484784"/>
              <a:ext cx="689642" cy="534987"/>
              <a:chOff x="3281952" y="1626760"/>
              <a:chExt cx="689642" cy="534987"/>
            </a:xfrm>
          </p:grpSpPr>
          <p:sp>
            <p:nvSpPr>
              <p:cNvPr id="1049488"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489"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505" name="组合 80"/>
          <p:cNvGrpSpPr/>
          <p:nvPr>
            <p:custDataLst>
              <p:tags r:id="rId2"/>
            </p:custDataLst>
          </p:nvPr>
        </p:nvGrpSpPr>
        <p:grpSpPr>
          <a:xfrm>
            <a:off x="4503593" y="3688642"/>
            <a:ext cx="5372100" cy="534987"/>
            <a:chOff x="3261805" y="3188752"/>
            <a:chExt cx="5372100" cy="534987"/>
          </a:xfrm>
        </p:grpSpPr>
        <p:grpSp>
          <p:nvGrpSpPr>
            <p:cNvPr id="506" name="组合 81"/>
            <p:cNvGrpSpPr/>
            <p:nvPr/>
          </p:nvGrpSpPr>
          <p:grpSpPr>
            <a:xfrm>
              <a:off x="3261805" y="3188752"/>
              <a:ext cx="689593" cy="534987"/>
              <a:chOff x="3261805" y="3188752"/>
              <a:chExt cx="689593" cy="534987"/>
            </a:xfrm>
          </p:grpSpPr>
          <p:sp>
            <p:nvSpPr>
              <p:cNvPr id="1049490"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491"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507" name="组合 82"/>
            <p:cNvGrpSpPr/>
            <p:nvPr/>
          </p:nvGrpSpPr>
          <p:grpSpPr>
            <a:xfrm>
              <a:off x="3923792" y="3188752"/>
              <a:ext cx="4710113" cy="534987"/>
              <a:chOff x="3923792" y="3188752"/>
              <a:chExt cx="4710113" cy="534987"/>
            </a:xfrm>
          </p:grpSpPr>
          <p:sp>
            <p:nvSpPr>
              <p:cNvPr id="1049492"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493"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494"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508" name="组合 98"/>
          <p:cNvGrpSpPr/>
          <p:nvPr>
            <p:custDataLst>
              <p:tags r:id="rId3"/>
            </p:custDataLst>
          </p:nvPr>
        </p:nvGrpSpPr>
        <p:grpSpPr>
          <a:xfrm>
            <a:off x="4503593" y="4509001"/>
            <a:ext cx="5372100" cy="534987"/>
            <a:chOff x="3261805" y="4046141"/>
            <a:chExt cx="5372100" cy="534987"/>
          </a:xfrm>
        </p:grpSpPr>
        <p:grpSp>
          <p:nvGrpSpPr>
            <p:cNvPr id="509" name="组合 99"/>
            <p:cNvGrpSpPr/>
            <p:nvPr/>
          </p:nvGrpSpPr>
          <p:grpSpPr>
            <a:xfrm>
              <a:off x="3261805" y="4046141"/>
              <a:ext cx="689447" cy="534987"/>
              <a:chOff x="3261805" y="3969748"/>
              <a:chExt cx="689447" cy="534987"/>
            </a:xfrm>
          </p:grpSpPr>
          <p:sp>
            <p:nvSpPr>
              <p:cNvPr id="1049495"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496"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10" name="组合 100"/>
            <p:cNvGrpSpPr/>
            <p:nvPr/>
          </p:nvGrpSpPr>
          <p:grpSpPr>
            <a:xfrm>
              <a:off x="3923792" y="4046141"/>
              <a:ext cx="4710113" cy="534987"/>
              <a:chOff x="3923792" y="3969748"/>
              <a:chExt cx="4710113" cy="534987"/>
            </a:xfrm>
          </p:grpSpPr>
          <p:sp>
            <p:nvSpPr>
              <p:cNvPr id="1049497"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498"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8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499"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11" name="组合 107"/>
          <p:cNvGrpSpPr/>
          <p:nvPr>
            <p:custDataLst>
              <p:tags r:id="rId4"/>
            </p:custDataLst>
          </p:nvPr>
        </p:nvGrpSpPr>
        <p:grpSpPr>
          <a:xfrm>
            <a:off x="4517645" y="2868283"/>
            <a:ext cx="5370513" cy="534987"/>
            <a:chOff x="3275856" y="2348880"/>
            <a:chExt cx="5370513" cy="534987"/>
          </a:xfrm>
        </p:grpSpPr>
        <p:grpSp>
          <p:nvGrpSpPr>
            <p:cNvPr id="512" name="组合 108"/>
            <p:cNvGrpSpPr/>
            <p:nvPr/>
          </p:nvGrpSpPr>
          <p:grpSpPr>
            <a:xfrm>
              <a:off x="3275856" y="2348880"/>
              <a:ext cx="689474" cy="534987"/>
              <a:chOff x="3275856" y="2407756"/>
              <a:chExt cx="689474" cy="534987"/>
            </a:xfrm>
          </p:grpSpPr>
          <p:sp>
            <p:nvSpPr>
              <p:cNvPr id="1049500"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01"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13" name="组合 109"/>
            <p:cNvGrpSpPr/>
            <p:nvPr/>
          </p:nvGrpSpPr>
          <p:grpSpPr>
            <a:xfrm>
              <a:off x="3937844" y="2348880"/>
              <a:ext cx="4708525" cy="534987"/>
              <a:chOff x="3937844" y="2407756"/>
              <a:chExt cx="4708525" cy="534987"/>
            </a:xfrm>
          </p:grpSpPr>
          <p:sp>
            <p:nvSpPr>
              <p:cNvPr id="1049502"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03"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04"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0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0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17" name="组合 54"/>
          <p:cNvGrpSpPr/>
          <p:nvPr/>
        </p:nvGrpSpPr>
        <p:grpSpPr>
          <a:xfrm>
            <a:off x="-1" y="6553200"/>
            <a:ext cx="12192001" cy="304800"/>
            <a:chOff x="0" y="6569404"/>
            <a:chExt cx="9144000" cy="288000"/>
          </a:xfrm>
        </p:grpSpPr>
        <p:sp>
          <p:nvSpPr>
            <p:cNvPr id="104951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1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12"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58</a:t>
            </a:fld>
            <a:endParaRPr lang="zh-HK" altLang="en-US" sz="1600" dirty="0">
              <a:solidFill>
                <a:schemeClr val="bg1"/>
              </a:solidFill>
            </a:endParaRPr>
          </a:p>
        </p:txBody>
      </p:sp>
      <p:pic>
        <p:nvPicPr>
          <p:cNvPr id="2097218" name="图片 1"/>
          <p:cNvPicPr>
            <a:picLocks noChangeAspect="1"/>
          </p:cNvPicPr>
          <p:nvPr/>
        </p:nvPicPr>
        <p:blipFill>
          <a:blip r:embed="rId3"/>
          <a:stretch>
            <a:fillRect/>
          </a:stretch>
        </p:blipFill>
        <p:spPr>
          <a:xfrm>
            <a:off x="1776095" y="1629410"/>
            <a:ext cx="9239250" cy="23241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1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1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21" name="组合 54"/>
          <p:cNvGrpSpPr/>
          <p:nvPr/>
        </p:nvGrpSpPr>
        <p:grpSpPr>
          <a:xfrm>
            <a:off x="-1" y="6553200"/>
            <a:ext cx="12192001" cy="304800"/>
            <a:chOff x="0" y="6569404"/>
            <a:chExt cx="9144000" cy="288000"/>
          </a:xfrm>
        </p:grpSpPr>
        <p:sp>
          <p:nvSpPr>
            <p:cNvPr id="104951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1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2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59</a:t>
            </a:fld>
            <a:endParaRPr lang="zh-HK" altLang="en-US" sz="1600" dirty="0">
              <a:solidFill>
                <a:schemeClr val="bg1"/>
              </a:solidFill>
            </a:endParaRPr>
          </a:p>
        </p:txBody>
      </p:sp>
      <p:pic>
        <p:nvPicPr>
          <p:cNvPr id="2097219" name="图片 2"/>
          <p:cNvPicPr>
            <a:picLocks noChangeAspect="1"/>
          </p:cNvPicPr>
          <p:nvPr/>
        </p:nvPicPr>
        <p:blipFill>
          <a:blip r:embed="rId3"/>
          <a:stretch>
            <a:fillRect/>
          </a:stretch>
        </p:blipFill>
        <p:spPr>
          <a:xfrm>
            <a:off x="1991995" y="980440"/>
            <a:ext cx="9444990" cy="500951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2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2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25" name="组合 54"/>
          <p:cNvGrpSpPr/>
          <p:nvPr/>
        </p:nvGrpSpPr>
        <p:grpSpPr>
          <a:xfrm>
            <a:off x="-1" y="6553200"/>
            <a:ext cx="12192001" cy="304800"/>
            <a:chOff x="0" y="6569404"/>
            <a:chExt cx="9144000" cy="288000"/>
          </a:xfrm>
        </p:grpSpPr>
        <p:sp>
          <p:nvSpPr>
            <p:cNvPr id="104952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2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2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60</a:t>
            </a:fld>
            <a:endParaRPr lang="zh-HK" altLang="en-US" sz="1600" dirty="0">
              <a:solidFill>
                <a:schemeClr val="bg1"/>
              </a:solidFill>
            </a:endParaRPr>
          </a:p>
        </p:txBody>
      </p:sp>
      <p:pic>
        <p:nvPicPr>
          <p:cNvPr id="2097220" name="图片 1"/>
          <p:cNvPicPr>
            <a:picLocks noChangeAspect="1"/>
          </p:cNvPicPr>
          <p:nvPr/>
        </p:nvPicPr>
        <p:blipFill>
          <a:blip r:embed="rId3"/>
          <a:stretch>
            <a:fillRect/>
          </a:stretch>
        </p:blipFill>
        <p:spPr>
          <a:xfrm>
            <a:off x="3719999" y="772376"/>
            <a:ext cx="5944065" cy="571224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3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3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29" name="组合 54"/>
          <p:cNvGrpSpPr/>
          <p:nvPr/>
        </p:nvGrpSpPr>
        <p:grpSpPr>
          <a:xfrm>
            <a:off x="-1" y="6553200"/>
            <a:ext cx="12192001" cy="304800"/>
            <a:chOff x="0" y="6569404"/>
            <a:chExt cx="9144000" cy="288000"/>
          </a:xfrm>
        </p:grpSpPr>
        <p:sp>
          <p:nvSpPr>
            <p:cNvPr id="104953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3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3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61</a:t>
            </a:fld>
            <a:endParaRPr lang="zh-HK" altLang="en-US" sz="1600" dirty="0">
              <a:solidFill>
                <a:schemeClr val="bg1"/>
              </a:solidFill>
            </a:endParaRPr>
          </a:p>
        </p:txBody>
      </p:sp>
      <p:pic>
        <p:nvPicPr>
          <p:cNvPr id="2097221" name="图片 1"/>
          <p:cNvPicPr>
            <a:picLocks noChangeAspect="1"/>
          </p:cNvPicPr>
          <p:nvPr/>
        </p:nvPicPr>
        <p:blipFill>
          <a:blip r:embed="rId3"/>
          <a:stretch>
            <a:fillRect/>
          </a:stretch>
        </p:blipFill>
        <p:spPr>
          <a:xfrm>
            <a:off x="1271905" y="1053465"/>
            <a:ext cx="9992360" cy="524891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4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33" name="组合 54"/>
          <p:cNvGrpSpPr/>
          <p:nvPr/>
        </p:nvGrpSpPr>
        <p:grpSpPr>
          <a:xfrm>
            <a:off x="-1" y="6553200"/>
            <a:ext cx="12192001" cy="304800"/>
            <a:chOff x="0" y="6569404"/>
            <a:chExt cx="9144000" cy="288000"/>
          </a:xfrm>
        </p:grpSpPr>
        <p:sp>
          <p:nvSpPr>
            <p:cNvPr id="104954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4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4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62</a:t>
            </a:fld>
            <a:endParaRPr lang="zh-HK" altLang="en-US" sz="1600" dirty="0">
              <a:solidFill>
                <a:schemeClr val="bg1"/>
              </a:solidFill>
            </a:endParaRPr>
          </a:p>
        </p:txBody>
      </p:sp>
      <p:pic>
        <p:nvPicPr>
          <p:cNvPr id="2097222" name="图片 1"/>
          <p:cNvPicPr>
            <a:picLocks noChangeAspect="1"/>
          </p:cNvPicPr>
          <p:nvPr/>
        </p:nvPicPr>
        <p:blipFill>
          <a:blip r:embed="rId3"/>
          <a:stretch>
            <a:fillRect/>
          </a:stretch>
        </p:blipFill>
        <p:spPr>
          <a:xfrm>
            <a:off x="1237615" y="720725"/>
            <a:ext cx="9622790" cy="3168015"/>
          </a:xfrm>
          <a:prstGeom prst="rect">
            <a:avLst/>
          </a:prstGeom>
        </p:spPr>
      </p:pic>
      <p:pic>
        <p:nvPicPr>
          <p:cNvPr id="2097223" name="图片 2"/>
          <p:cNvPicPr>
            <a:picLocks noChangeAspect="1"/>
          </p:cNvPicPr>
          <p:nvPr/>
        </p:nvPicPr>
        <p:blipFill>
          <a:blip r:embed="rId4"/>
          <a:stretch>
            <a:fillRect/>
          </a:stretch>
        </p:blipFill>
        <p:spPr>
          <a:xfrm>
            <a:off x="1452245" y="3892550"/>
            <a:ext cx="8902065" cy="2629535"/>
          </a:xfrm>
          <a:prstGeom prst="rect">
            <a:avLst/>
          </a:prstGeom>
        </p:spPr>
      </p:pic>
      <mc:AlternateContent xmlns:mc="http://schemas.openxmlformats.org/markup-compatibility/2006" xmlns:p14="http://schemas.microsoft.com/office/powerpoint/2010/main">
        <mc:Choice Requires="p14">
          <p:contentPart p14:bwMode="auto" r:id="rId5">
            <p14:nvContentPartPr>
              <p14:cNvPr id="2097224" name="墨迹 3"/>
              <p14:cNvContentPartPr/>
              <p14:nvPr/>
            </p14:nvContentPartPr>
            <p14:xfrm>
              <a:off x="5555880" y="1599200"/>
              <a:ext cx="1270440" cy="7920"/>
            </p14:xfrm>
          </p:contentPart>
        </mc:Choice>
        <mc:Fallback xmlns="">
          <p:pic>
            <p:nvPicPr>
              <p:cNvPr id="2097224" name="墨迹 3"/>
            </p:nvPicPr>
            <p:blipFill>
              <a:blip r:embed="rId6"/>
            </p:blipFill>
            <p:spPr>
              <a:xfrm>
                <a:off x="5555880" y="1599200"/>
                <a:ext cx="1270440" cy="7920"/>
              </a:xfrm>
              <a:prstGeom prst="rect"/>
            </p:spPr>
          </p:pic>
        </mc:Fallback>
      </mc:AlternateContent>
      <mc:AlternateContent xmlns:mc="http://schemas.openxmlformats.org/markup-compatibility/2006" xmlns:p14="http://schemas.microsoft.com/office/powerpoint/2010/main">
        <mc:Choice Requires="p14">
          <p:contentPart p14:bwMode="auto" r:id="rId7">
            <p14:nvContentPartPr>
              <p14:cNvPr id="2097225" name="墨迹 4"/>
              <p14:cNvContentPartPr/>
              <p14:nvPr/>
            </p14:nvContentPartPr>
            <p14:xfrm>
              <a:off x="7181640" y="1542680"/>
              <a:ext cx="2412720" cy="27000"/>
            </p14:xfrm>
          </p:contentPart>
        </mc:Choice>
        <mc:Fallback xmlns="">
          <p:pic>
            <p:nvPicPr>
              <p:cNvPr id="2097225" name="墨迹 4"/>
            </p:nvPicPr>
            <p:blipFill>
              <a:blip r:embed="rId8"/>
            </p:blipFill>
            <p:spPr>
              <a:xfrm>
                <a:off x="7181640" y="1542680"/>
                <a:ext cx="2412720" cy="27000"/>
              </a:xfrm>
              <a:prstGeom prst="rect"/>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4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54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537" name="组合 54"/>
          <p:cNvGrpSpPr/>
          <p:nvPr/>
        </p:nvGrpSpPr>
        <p:grpSpPr>
          <a:xfrm>
            <a:off x="-1" y="6553200"/>
            <a:ext cx="12192001" cy="304800"/>
            <a:chOff x="0" y="6569404"/>
            <a:chExt cx="9144000" cy="288000"/>
          </a:xfrm>
        </p:grpSpPr>
        <p:sp>
          <p:nvSpPr>
            <p:cNvPr id="104955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5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52"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63</a:t>
            </a:fld>
            <a:endParaRPr lang="zh-HK" altLang="en-US" sz="1600" dirty="0">
              <a:solidFill>
                <a:schemeClr val="bg1"/>
              </a:solidFill>
            </a:endParaRPr>
          </a:p>
        </p:txBody>
      </p:sp>
      <p:pic>
        <p:nvPicPr>
          <p:cNvPr id="2097226" name="图片 1"/>
          <p:cNvPicPr>
            <a:picLocks noChangeAspect="1"/>
          </p:cNvPicPr>
          <p:nvPr/>
        </p:nvPicPr>
        <p:blipFill>
          <a:blip r:embed="rId3"/>
          <a:stretch>
            <a:fillRect/>
          </a:stretch>
        </p:blipFill>
        <p:spPr>
          <a:xfrm>
            <a:off x="191770" y="785495"/>
            <a:ext cx="8064230" cy="3667028"/>
          </a:xfrm>
          <a:prstGeom prst="rect">
            <a:avLst/>
          </a:prstGeom>
        </p:spPr>
      </p:pic>
      <p:pic>
        <p:nvPicPr>
          <p:cNvPr id="2097227" name="图片 3"/>
          <p:cNvPicPr>
            <a:picLocks noChangeAspect="1"/>
          </p:cNvPicPr>
          <p:nvPr/>
        </p:nvPicPr>
        <p:blipFill>
          <a:blip r:embed="rId4"/>
          <a:stretch>
            <a:fillRect/>
          </a:stretch>
        </p:blipFill>
        <p:spPr>
          <a:xfrm>
            <a:off x="3864000" y="4246881"/>
            <a:ext cx="7717765" cy="225932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1" name="组合 108"/>
          <p:cNvGrpSpPr/>
          <p:nvPr/>
        </p:nvGrpSpPr>
        <p:grpSpPr>
          <a:xfrm>
            <a:off x="1524000" y="6569404"/>
            <a:ext cx="9144000" cy="288596"/>
            <a:chOff x="0" y="6569404"/>
            <a:chExt cx="9144000" cy="288596"/>
          </a:xfrm>
        </p:grpSpPr>
        <p:sp>
          <p:nvSpPr>
            <p:cNvPr id="1049556"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557"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58"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559"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9560"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64</a:t>
            </a:fld>
            <a:endParaRPr lang="zh-HK" altLang="en-US">
              <a:solidFill>
                <a:prstClr val="black">
                  <a:tint val="75000"/>
                </a:prstClr>
              </a:solidFill>
            </a:endParaRPr>
          </a:p>
        </p:txBody>
      </p:sp>
      <p:grpSp>
        <p:nvGrpSpPr>
          <p:cNvPr id="542" name="组合 7"/>
          <p:cNvGrpSpPr/>
          <p:nvPr/>
        </p:nvGrpSpPr>
        <p:grpSpPr>
          <a:xfrm>
            <a:off x="-1" y="6553200"/>
            <a:ext cx="12192001" cy="304800"/>
            <a:chOff x="0" y="6569404"/>
            <a:chExt cx="9144000" cy="288000"/>
          </a:xfrm>
        </p:grpSpPr>
        <p:sp>
          <p:nvSpPr>
            <p:cNvPr id="1049561"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562"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563"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64</a:t>
            </a:fld>
            <a:endParaRPr lang="zh-HK" altLang="en-US" sz="1600" dirty="0">
              <a:solidFill>
                <a:schemeClr val="bg1"/>
              </a:solidFill>
            </a:endParaRPr>
          </a:p>
        </p:txBody>
      </p:sp>
      <p:pic>
        <p:nvPicPr>
          <p:cNvPr id="2097228"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543" name="组合 18"/>
          <p:cNvGrpSpPr/>
          <p:nvPr/>
        </p:nvGrpSpPr>
        <p:grpSpPr bwMode="auto">
          <a:xfrm>
            <a:off x="2409457" y="2650330"/>
            <a:ext cx="1505450" cy="1479472"/>
            <a:chOff x="1709739" y="2636838"/>
            <a:chExt cx="1590160" cy="1584325"/>
          </a:xfrm>
          <a:solidFill>
            <a:srgbClr val="044875"/>
          </a:solidFill>
        </p:grpSpPr>
        <p:sp>
          <p:nvSpPr>
            <p:cNvPr id="1049564"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565"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566"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567"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568"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569"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570"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571"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572"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573"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44" name="组合 77"/>
          <p:cNvGrpSpPr/>
          <p:nvPr>
            <p:custDataLst>
              <p:tags r:id="rId1"/>
            </p:custDataLst>
          </p:nvPr>
        </p:nvGrpSpPr>
        <p:grpSpPr>
          <a:xfrm>
            <a:off x="4523741" y="2047924"/>
            <a:ext cx="5370513" cy="534987"/>
            <a:chOff x="3281952" y="1484784"/>
            <a:chExt cx="5370513" cy="534987"/>
          </a:xfrm>
        </p:grpSpPr>
        <p:grpSp>
          <p:nvGrpSpPr>
            <p:cNvPr id="545" name="组合 78"/>
            <p:cNvGrpSpPr/>
            <p:nvPr/>
          </p:nvGrpSpPr>
          <p:grpSpPr>
            <a:xfrm>
              <a:off x="3943940" y="1484784"/>
              <a:ext cx="4708525" cy="534987"/>
              <a:chOff x="3943940" y="1626760"/>
              <a:chExt cx="4708525" cy="534987"/>
            </a:xfrm>
          </p:grpSpPr>
          <p:sp>
            <p:nvSpPr>
              <p:cNvPr id="1049574"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575"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76"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46" name="组合 79"/>
            <p:cNvGrpSpPr/>
            <p:nvPr/>
          </p:nvGrpSpPr>
          <p:grpSpPr>
            <a:xfrm>
              <a:off x="3281952" y="1484784"/>
              <a:ext cx="689642" cy="534987"/>
              <a:chOff x="3281952" y="1626760"/>
              <a:chExt cx="689642" cy="534987"/>
            </a:xfrm>
          </p:grpSpPr>
          <p:sp>
            <p:nvSpPr>
              <p:cNvPr id="1049577"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78"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547" name="组合 87"/>
          <p:cNvGrpSpPr/>
          <p:nvPr>
            <p:custDataLst>
              <p:tags r:id="rId2"/>
            </p:custDataLst>
          </p:nvPr>
        </p:nvGrpSpPr>
        <p:grpSpPr>
          <a:xfrm>
            <a:off x="4503593" y="3688642"/>
            <a:ext cx="5372100" cy="534987"/>
            <a:chOff x="3261805" y="3188752"/>
            <a:chExt cx="5372100" cy="534987"/>
          </a:xfrm>
        </p:grpSpPr>
        <p:grpSp>
          <p:nvGrpSpPr>
            <p:cNvPr id="548" name="组合 90"/>
            <p:cNvGrpSpPr/>
            <p:nvPr/>
          </p:nvGrpSpPr>
          <p:grpSpPr>
            <a:xfrm>
              <a:off x="3261805" y="3188752"/>
              <a:ext cx="689593" cy="534987"/>
              <a:chOff x="3261805" y="3188752"/>
              <a:chExt cx="689593" cy="534987"/>
            </a:xfrm>
          </p:grpSpPr>
          <p:sp>
            <p:nvSpPr>
              <p:cNvPr id="1049579"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80"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49" name="组合 94"/>
            <p:cNvGrpSpPr/>
            <p:nvPr/>
          </p:nvGrpSpPr>
          <p:grpSpPr>
            <a:xfrm>
              <a:off x="3923792" y="3188752"/>
              <a:ext cx="4710113" cy="534987"/>
              <a:chOff x="3923792" y="3188752"/>
              <a:chExt cx="4710113" cy="534987"/>
            </a:xfrm>
          </p:grpSpPr>
          <p:sp>
            <p:nvSpPr>
              <p:cNvPr id="1049581"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82"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83"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50" name="组合 104"/>
          <p:cNvGrpSpPr/>
          <p:nvPr>
            <p:custDataLst>
              <p:tags r:id="rId3"/>
            </p:custDataLst>
          </p:nvPr>
        </p:nvGrpSpPr>
        <p:grpSpPr>
          <a:xfrm>
            <a:off x="4503593" y="4509001"/>
            <a:ext cx="5372100" cy="534987"/>
            <a:chOff x="3261805" y="4046141"/>
            <a:chExt cx="5372100" cy="534987"/>
          </a:xfrm>
        </p:grpSpPr>
        <p:grpSp>
          <p:nvGrpSpPr>
            <p:cNvPr id="551" name="组合 105"/>
            <p:cNvGrpSpPr/>
            <p:nvPr/>
          </p:nvGrpSpPr>
          <p:grpSpPr>
            <a:xfrm>
              <a:off x="3261805" y="4046141"/>
              <a:ext cx="689447" cy="534987"/>
              <a:chOff x="3261805" y="3969748"/>
              <a:chExt cx="689447" cy="534987"/>
            </a:xfrm>
          </p:grpSpPr>
          <p:sp>
            <p:nvSpPr>
              <p:cNvPr id="1049584"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85"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552" name="组合 106"/>
            <p:cNvGrpSpPr/>
            <p:nvPr/>
          </p:nvGrpSpPr>
          <p:grpSpPr>
            <a:xfrm>
              <a:off x="3923792" y="4046141"/>
              <a:ext cx="4710113" cy="534987"/>
              <a:chOff x="3923792" y="3969748"/>
              <a:chExt cx="4710113" cy="534987"/>
            </a:xfrm>
          </p:grpSpPr>
          <p:sp>
            <p:nvSpPr>
              <p:cNvPr id="1049586"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587"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88"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553" name="组合 116"/>
          <p:cNvGrpSpPr/>
          <p:nvPr>
            <p:custDataLst>
              <p:tags r:id="rId4"/>
            </p:custDataLst>
          </p:nvPr>
        </p:nvGrpSpPr>
        <p:grpSpPr>
          <a:xfrm>
            <a:off x="4517645" y="2868283"/>
            <a:ext cx="5370513" cy="534987"/>
            <a:chOff x="3275856" y="2348880"/>
            <a:chExt cx="5370513" cy="534987"/>
          </a:xfrm>
        </p:grpSpPr>
        <p:grpSp>
          <p:nvGrpSpPr>
            <p:cNvPr id="554" name="组合 117"/>
            <p:cNvGrpSpPr/>
            <p:nvPr/>
          </p:nvGrpSpPr>
          <p:grpSpPr>
            <a:xfrm>
              <a:off x="3275856" y="2348880"/>
              <a:ext cx="689474" cy="534987"/>
              <a:chOff x="3275856" y="2407756"/>
              <a:chExt cx="689474" cy="534987"/>
            </a:xfrm>
          </p:grpSpPr>
          <p:sp>
            <p:nvSpPr>
              <p:cNvPr id="1049589"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590"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55" name="组合 118"/>
            <p:cNvGrpSpPr/>
            <p:nvPr/>
          </p:nvGrpSpPr>
          <p:grpSpPr>
            <a:xfrm>
              <a:off x="3937844" y="2348880"/>
              <a:ext cx="4708525" cy="534987"/>
              <a:chOff x="3937844" y="2407756"/>
              <a:chExt cx="4708525" cy="534987"/>
            </a:xfrm>
          </p:grpSpPr>
          <p:sp>
            <p:nvSpPr>
              <p:cNvPr id="1049591"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592"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593"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597"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598"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1049599" name="矩形 1"/>
          <p:cNvSpPr/>
          <p:nvPr/>
        </p:nvSpPr>
        <p:spPr>
          <a:xfrm>
            <a:off x="264000" y="980999"/>
            <a:ext cx="11736000" cy="3096001"/>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9600"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049601" name="文本框 13"/>
          <p:cNvSpPr txBox="1"/>
          <p:nvPr/>
        </p:nvSpPr>
        <p:spPr>
          <a:xfrm>
            <a:off x="451882" y="1484020"/>
            <a:ext cx="11357425" cy="193802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ea typeface="微软雅黑" panose="020B0503020204020204" charset="-122"/>
              </a:rPr>
              <a:t>This work introduces a quantum-enhanced forecasting framework for multivariate time-series analysis. Through the incorporation of frequency-domain transformations and graph-based relational modeling, the framework establishes a structured pipeline for capturing both global periodic patterns and local temporal dependencies. </a:t>
            </a:r>
          </a:p>
        </p:txBody>
      </p:sp>
      <p:grpSp>
        <p:nvGrpSpPr>
          <p:cNvPr id="559" name="组合 19"/>
          <p:cNvGrpSpPr/>
          <p:nvPr/>
        </p:nvGrpSpPr>
        <p:grpSpPr>
          <a:xfrm>
            <a:off x="-1" y="6553200"/>
            <a:ext cx="12192001" cy="304800"/>
            <a:chOff x="0" y="6569404"/>
            <a:chExt cx="9144000" cy="288000"/>
          </a:xfrm>
        </p:grpSpPr>
        <p:sp>
          <p:nvSpPr>
            <p:cNvPr id="1049602"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03"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04"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65</a:t>
            </a:fld>
            <a:endParaRPr lang="zh-HK" altLang="en-US" sz="1600" dirty="0">
              <a:solidFill>
                <a:schemeClr val="bg1"/>
              </a:solidFill>
            </a:endParaRPr>
          </a:p>
        </p:txBody>
      </p:sp>
      <p:sp>
        <p:nvSpPr>
          <p:cNvPr id="1049605" name="矩形 3"/>
          <p:cNvSpPr/>
          <p:nvPr/>
        </p:nvSpPr>
        <p:spPr>
          <a:xfrm>
            <a:off x="241320" y="4271670"/>
            <a:ext cx="11736000" cy="1915262"/>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49606" name="矩形 4"/>
          <p:cNvSpPr/>
          <p:nvPr/>
        </p:nvSpPr>
        <p:spPr>
          <a:xfrm>
            <a:off x="349808" y="4395309"/>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049607" name="文本框 5"/>
          <p:cNvSpPr txBox="1"/>
          <p:nvPr/>
        </p:nvSpPr>
        <p:spPr>
          <a:xfrm>
            <a:off x="551577" y="4822850"/>
            <a:ext cx="11357425" cy="1014730"/>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en-US" altLang="zh-CN" sz="2000" dirty="0">
                <a:ea typeface="微软雅黑" panose="020B0503020204020204" charset="-122"/>
              </a:rPr>
              <a:t>Future research should consider algorithmic refinements to reduce computational complexity, such as incorporating approximate quantum transformations or sparse spectral filtering.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 name="组合 3"/>
          <p:cNvGrpSpPr/>
          <p:nvPr/>
        </p:nvGrpSpPr>
        <p:grpSpPr>
          <a:xfrm>
            <a:off x="-72374" y="1960245"/>
            <a:ext cx="12748565" cy="2525451"/>
            <a:chOff x="1522095" y="1960245"/>
            <a:chExt cx="9527981" cy="2525451"/>
          </a:xfrm>
        </p:grpSpPr>
        <p:sp>
          <p:nvSpPr>
            <p:cNvPr id="1049611"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612" name="文本框 8"/>
            <p:cNvSpPr txBox="1"/>
            <p:nvPr/>
          </p:nvSpPr>
          <p:spPr>
            <a:xfrm>
              <a:off x="1818014" y="2154890"/>
              <a:ext cx="8555970" cy="13051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a:t>
              </a:r>
            </a:p>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algorithms for large-scale machinelearning models</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9613" name="文本框 2"/>
            <p:cNvSpPr txBox="1"/>
            <p:nvPr/>
          </p:nvSpPr>
          <p:spPr>
            <a:xfrm>
              <a:off x="1687636" y="3654699"/>
              <a:ext cx="9362440" cy="830997"/>
            </a:xfrm>
            <a:prstGeom prst="rect">
              <a:avLst/>
            </a:prstGeom>
            <a:noFill/>
          </p:spPr>
          <p:txBody>
            <a:bodyPr wrap="square" rtlCol="0">
              <a:spAutoFit/>
            </a:bodyPr>
            <a:lstStyle/>
            <a:p>
              <a:r>
                <a:rPr lang="en-US" altLang="zh-CN" sz="1600">
                  <a:solidFill>
                    <a:schemeClr val="bg1"/>
                  </a:solidFill>
                  <a:latin typeface="Arial" panose="020B0604020202020204" pitchFamily="34" charset="0"/>
                  <a:cs typeface="Arial" panose="020B0604020202020204" pitchFamily="34" charset="0"/>
                </a:rPr>
                <a:t>Junyu Liu, Minzhao Liu, Jin-Peng Liu, Ziyu Ye</a:t>
              </a:r>
            </a:p>
            <a:p>
              <a:r>
                <a:rPr lang="en-US" altLang="zh-CN" sz="1600">
                  <a:solidFill>
                    <a:schemeClr val="bg1"/>
                  </a:solidFill>
                  <a:latin typeface="Arial" panose="020B0604020202020204" pitchFamily="34" charset="0"/>
                  <a:cs typeface="Arial" panose="020B0604020202020204" pitchFamily="34" charset="0"/>
                </a:rPr>
                <a:t>,</a:t>
              </a:r>
            </a:p>
            <a:p>
              <a:r>
                <a:rPr lang="en-US" altLang="zh-CN" sz="1600">
                  <a:solidFill>
                    <a:schemeClr val="bg1"/>
                  </a:solidFill>
                  <a:latin typeface="Arial" panose="020B0604020202020204" pitchFamily="34" charset="0"/>
                  <a:cs typeface="Arial" panose="020B0604020202020204" pitchFamily="34" charset="0"/>
                </a:rPr>
                <a:t>Yunfei Wang12, Yuri Alexeev2,3,8, Jens Eisert 13 &amp; Liang Jiang</a:t>
              </a:r>
              <a:endParaRPr lang="zh-CN" altLang="en-US" sz="1600" dirty="0">
                <a:solidFill>
                  <a:schemeClr val="bg1"/>
                </a:solidFill>
                <a:latin typeface="Arial" panose="020B0604020202020204" pitchFamily="34" charset="0"/>
                <a:cs typeface="Arial" panose="020B0604020202020204" pitchFamily="34" charset="0"/>
              </a:endParaRPr>
            </a:p>
          </p:txBody>
        </p:sp>
      </p:grpSp>
      <p:sp>
        <p:nvSpPr>
          <p:cNvPr id="1049614"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4</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64" name="组合 15"/>
          <p:cNvGrpSpPr/>
          <p:nvPr/>
        </p:nvGrpSpPr>
        <p:grpSpPr>
          <a:xfrm>
            <a:off x="-1" y="6553200"/>
            <a:ext cx="12192001" cy="304800"/>
            <a:chOff x="0" y="6569404"/>
            <a:chExt cx="9144000" cy="288000"/>
          </a:xfrm>
        </p:grpSpPr>
        <p:sp>
          <p:nvSpPr>
            <p:cNvPr id="1049615"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16"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1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66</a:t>
            </a:fld>
            <a:endParaRPr lang="zh-HK" altLang="en-US" sz="1600" dirty="0">
              <a:solidFill>
                <a:schemeClr val="bg1"/>
              </a:solidFill>
            </a:endParaRPr>
          </a:p>
        </p:txBody>
      </p:sp>
      <p:grpSp>
        <p:nvGrpSpPr>
          <p:cNvPr id="565" name="组合 9"/>
          <p:cNvGrpSpPr/>
          <p:nvPr/>
        </p:nvGrpSpPr>
        <p:grpSpPr>
          <a:xfrm>
            <a:off x="351876" y="4596014"/>
            <a:ext cx="11648124" cy="1117600"/>
            <a:chOff x="623" y="7327"/>
            <a:chExt cx="15962" cy="1760"/>
          </a:xfrm>
        </p:grpSpPr>
        <p:sp>
          <p:nvSpPr>
            <p:cNvPr id="1049618" name="文本框 11"/>
            <p:cNvSpPr txBox="1"/>
            <p:nvPr/>
          </p:nvSpPr>
          <p:spPr>
            <a:xfrm>
              <a:off x="623" y="7327"/>
              <a:ext cx="15962" cy="582"/>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Nature Communication</a:t>
              </a:r>
              <a:endParaRPr lang="en-US" altLang="zh-CN" dirty="0">
                <a:latin typeface="Arial" panose="020B0604020202020204" pitchFamily="34" charset="0"/>
                <a:cs typeface="Arial" panose="020B0604020202020204" pitchFamily="34" charset="0"/>
              </a:endParaRPr>
            </a:p>
          </p:txBody>
        </p:sp>
        <p:sp>
          <p:nvSpPr>
            <p:cNvPr id="1049619"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apple-system"/>
                  <a:cs typeface="Arial" panose="020B0604020202020204" pitchFamily="34" charset="0"/>
                </a:rPr>
                <a:t>2024</a:t>
              </a:r>
              <a:endParaRPr lang="en-US" altLang="zh-CN" dirty="0">
                <a:latin typeface="Arial" panose="020B0604020202020204" pitchFamily="34" charset="0"/>
                <a:cs typeface="Arial" panose="020B0604020202020204" pitchFamily="34" charset="0"/>
              </a:endParaRPr>
            </a:p>
          </p:txBody>
        </p:sp>
      </p:grpSp>
      <p:pic>
        <p:nvPicPr>
          <p:cNvPr id="2097229"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9" name="组合 18"/>
          <p:cNvGrpSpPr/>
          <p:nvPr/>
        </p:nvGrpSpPr>
        <p:grpSpPr bwMode="auto">
          <a:xfrm>
            <a:off x="2409457" y="2650330"/>
            <a:ext cx="1505450" cy="1479472"/>
            <a:chOff x="1709739" y="2636838"/>
            <a:chExt cx="1590160" cy="1584325"/>
          </a:xfrm>
          <a:solidFill>
            <a:srgbClr val="044875"/>
          </a:solidFill>
        </p:grpSpPr>
        <p:sp>
          <p:nvSpPr>
            <p:cNvPr id="104962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62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62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62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62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62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62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63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63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632"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70" name="组合 18"/>
          <p:cNvGrpSpPr/>
          <p:nvPr>
            <p:custDataLst>
              <p:tags r:id="rId1"/>
            </p:custDataLst>
          </p:nvPr>
        </p:nvGrpSpPr>
        <p:grpSpPr>
          <a:xfrm>
            <a:off x="4523741" y="2047924"/>
            <a:ext cx="5370513" cy="534987"/>
            <a:chOff x="3281952" y="1484784"/>
            <a:chExt cx="5370513" cy="534987"/>
          </a:xfrm>
        </p:grpSpPr>
        <p:grpSp>
          <p:nvGrpSpPr>
            <p:cNvPr id="571" name="组合 13"/>
            <p:cNvGrpSpPr/>
            <p:nvPr/>
          </p:nvGrpSpPr>
          <p:grpSpPr>
            <a:xfrm>
              <a:off x="3943940" y="1484784"/>
              <a:ext cx="4708525" cy="534987"/>
              <a:chOff x="3943940" y="1626760"/>
              <a:chExt cx="4708525" cy="534987"/>
            </a:xfrm>
          </p:grpSpPr>
          <p:sp>
            <p:nvSpPr>
              <p:cNvPr id="104963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63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635"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72" name="组合 9"/>
            <p:cNvGrpSpPr/>
            <p:nvPr/>
          </p:nvGrpSpPr>
          <p:grpSpPr>
            <a:xfrm>
              <a:off x="3281952" y="1484784"/>
              <a:ext cx="689642" cy="534987"/>
              <a:chOff x="3281952" y="1626760"/>
              <a:chExt cx="689642" cy="534987"/>
            </a:xfrm>
          </p:grpSpPr>
          <p:sp>
            <p:nvSpPr>
              <p:cNvPr id="1049636"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3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73" name="组合 21"/>
          <p:cNvGrpSpPr/>
          <p:nvPr>
            <p:custDataLst>
              <p:tags r:id="rId2"/>
            </p:custDataLst>
          </p:nvPr>
        </p:nvGrpSpPr>
        <p:grpSpPr>
          <a:xfrm>
            <a:off x="4503593" y="3688642"/>
            <a:ext cx="5372100" cy="534987"/>
            <a:chOff x="3261805" y="3188752"/>
            <a:chExt cx="5372100" cy="534987"/>
          </a:xfrm>
        </p:grpSpPr>
        <p:grpSp>
          <p:nvGrpSpPr>
            <p:cNvPr id="574" name="组合 11"/>
            <p:cNvGrpSpPr/>
            <p:nvPr/>
          </p:nvGrpSpPr>
          <p:grpSpPr>
            <a:xfrm>
              <a:off x="3261805" y="3188752"/>
              <a:ext cx="689593" cy="534987"/>
              <a:chOff x="3261805" y="3188752"/>
              <a:chExt cx="689593" cy="534987"/>
            </a:xfrm>
          </p:grpSpPr>
          <p:sp>
            <p:nvSpPr>
              <p:cNvPr id="1049638"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3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575" name="组合 15"/>
            <p:cNvGrpSpPr/>
            <p:nvPr/>
          </p:nvGrpSpPr>
          <p:grpSpPr>
            <a:xfrm>
              <a:off x="3923792" y="3188752"/>
              <a:ext cx="4710113" cy="534987"/>
              <a:chOff x="3923792" y="3188752"/>
              <a:chExt cx="4710113" cy="534987"/>
            </a:xfrm>
          </p:grpSpPr>
          <p:sp>
            <p:nvSpPr>
              <p:cNvPr id="104964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641"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4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576" name="组合 22"/>
          <p:cNvGrpSpPr/>
          <p:nvPr>
            <p:custDataLst>
              <p:tags r:id="rId3"/>
            </p:custDataLst>
          </p:nvPr>
        </p:nvGrpSpPr>
        <p:grpSpPr>
          <a:xfrm>
            <a:off x="4503593" y="4509001"/>
            <a:ext cx="5372100" cy="534987"/>
            <a:chOff x="3261805" y="4046141"/>
            <a:chExt cx="5372100" cy="534987"/>
          </a:xfrm>
        </p:grpSpPr>
        <p:grpSp>
          <p:nvGrpSpPr>
            <p:cNvPr id="577" name="组合 12"/>
            <p:cNvGrpSpPr/>
            <p:nvPr/>
          </p:nvGrpSpPr>
          <p:grpSpPr>
            <a:xfrm>
              <a:off x="3261805" y="4046141"/>
              <a:ext cx="689447" cy="534987"/>
              <a:chOff x="3261805" y="3969748"/>
              <a:chExt cx="689447" cy="534987"/>
            </a:xfrm>
          </p:grpSpPr>
          <p:sp>
            <p:nvSpPr>
              <p:cNvPr id="1049643"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4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578" name="组合 16"/>
            <p:cNvGrpSpPr/>
            <p:nvPr/>
          </p:nvGrpSpPr>
          <p:grpSpPr>
            <a:xfrm>
              <a:off x="3923792" y="4046141"/>
              <a:ext cx="4710113" cy="534987"/>
              <a:chOff x="3923792" y="3969748"/>
              <a:chExt cx="4710113" cy="534987"/>
            </a:xfrm>
          </p:grpSpPr>
          <p:sp>
            <p:nvSpPr>
              <p:cNvPr id="104964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646"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4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579" name="组合 19"/>
          <p:cNvGrpSpPr/>
          <p:nvPr>
            <p:custDataLst>
              <p:tags r:id="rId4"/>
            </p:custDataLst>
          </p:nvPr>
        </p:nvGrpSpPr>
        <p:grpSpPr>
          <a:xfrm>
            <a:off x="4517645" y="2868283"/>
            <a:ext cx="5370513" cy="534987"/>
            <a:chOff x="3275856" y="2348880"/>
            <a:chExt cx="5370513" cy="534987"/>
          </a:xfrm>
        </p:grpSpPr>
        <p:grpSp>
          <p:nvGrpSpPr>
            <p:cNvPr id="580" name="组合 10"/>
            <p:cNvGrpSpPr/>
            <p:nvPr/>
          </p:nvGrpSpPr>
          <p:grpSpPr>
            <a:xfrm>
              <a:off x="3275856" y="2348880"/>
              <a:ext cx="689474" cy="534987"/>
              <a:chOff x="3275856" y="2407756"/>
              <a:chExt cx="689474" cy="534987"/>
            </a:xfrm>
          </p:grpSpPr>
          <p:sp>
            <p:nvSpPr>
              <p:cNvPr id="1049648"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4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581" name="组合 14"/>
            <p:cNvGrpSpPr/>
            <p:nvPr/>
          </p:nvGrpSpPr>
          <p:grpSpPr>
            <a:xfrm>
              <a:off x="3937844" y="2348880"/>
              <a:ext cx="4708525" cy="534987"/>
              <a:chOff x="3937844" y="2407756"/>
              <a:chExt cx="4708525" cy="534987"/>
            </a:xfrm>
          </p:grpSpPr>
          <p:sp>
            <p:nvSpPr>
              <p:cNvPr id="104965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651"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5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582" name="组合 6"/>
          <p:cNvGrpSpPr/>
          <p:nvPr/>
        </p:nvGrpSpPr>
        <p:grpSpPr>
          <a:xfrm>
            <a:off x="-1" y="6553200"/>
            <a:ext cx="12192001" cy="304800"/>
            <a:chOff x="0" y="6569404"/>
            <a:chExt cx="9144000" cy="288000"/>
          </a:xfrm>
        </p:grpSpPr>
        <p:sp>
          <p:nvSpPr>
            <p:cNvPr id="1049653"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54"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5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67</a:t>
            </a:fld>
            <a:endParaRPr lang="zh-HK" altLang="en-US" sz="1600" dirty="0">
              <a:solidFill>
                <a:schemeClr val="bg1"/>
              </a:solidFill>
            </a:endParaRPr>
          </a:p>
        </p:txBody>
      </p:sp>
      <p:pic>
        <p:nvPicPr>
          <p:cNvPr id="2097230"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6" name="组合 6"/>
          <p:cNvGrpSpPr/>
          <p:nvPr/>
        </p:nvGrpSpPr>
        <p:grpSpPr>
          <a:xfrm>
            <a:off x="-1" y="6553200"/>
            <a:ext cx="12192001" cy="304800"/>
            <a:chOff x="0" y="6569404"/>
            <a:chExt cx="9144000" cy="288000"/>
          </a:xfrm>
        </p:grpSpPr>
        <p:sp>
          <p:nvSpPr>
            <p:cNvPr id="1049659"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60"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66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68</a:t>
            </a:fld>
            <a:endParaRPr lang="zh-HK" altLang="en-US" sz="1600" dirty="0">
              <a:solidFill>
                <a:schemeClr val="bg1"/>
              </a:solidFill>
            </a:endParaRPr>
          </a:p>
        </p:txBody>
      </p:sp>
      <p:pic>
        <p:nvPicPr>
          <p:cNvPr id="2097231"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587" name="组合 18"/>
          <p:cNvGrpSpPr/>
          <p:nvPr/>
        </p:nvGrpSpPr>
        <p:grpSpPr bwMode="auto">
          <a:xfrm>
            <a:off x="2409457" y="2650330"/>
            <a:ext cx="1505450" cy="1479472"/>
            <a:chOff x="1709739" y="2636838"/>
            <a:chExt cx="1590160" cy="1584325"/>
          </a:xfrm>
          <a:solidFill>
            <a:srgbClr val="044875"/>
          </a:solidFill>
        </p:grpSpPr>
        <p:sp>
          <p:nvSpPr>
            <p:cNvPr id="104966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66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66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66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66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66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66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66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67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671"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588" name="组合 506"/>
          <p:cNvGrpSpPr/>
          <p:nvPr>
            <p:custDataLst>
              <p:tags r:id="rId1"/>
            </p:custDataLst>
          </p:nvPr>
        </p:nvGrpSpPr>
        <p:grpSpPr>
          <a:xfrm>
            <a:off x="4523741" y="2047924"/>
            <a:ext cx="5370513" cy="534987"/>
            <a:chOff x="3281952" y="1484784"/>
            <a:chExt cx="5370513" cy="534987"/>
          </a:xfrm>
        </p:grpSpPr>
        <p:grpSp>
          <p:nvGrpSpPr>
            <p:cNvPr id="589" name="组合 507"/>
            <p:cNvGrpSpPr/>
            <p:nvPr/>
          </p:nvGrpSpPr>
          <p:grpSpPr>
            <a:xfrm>
              <a:off x="3943940" y="1484784"/>
              <a:ext cx="4708525" cy="534987"/>
              <a:chOff x="3943940" y="1626760"/>
              <a:chExt cx="4708525" cy="534987"/>
            </a:xfrm>
          </p:grpSpPr>
          <p:sp>
            <p:nvSpPr>
              <p:cNvPr id="104967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67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67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79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590" name="组合 508"/>
            <p:cNvGrpSpPr/>
            <p:nvPr/>
          </p:nvGrpSpPr>
          <p:grpSpPr>
            <a:xfrm>
              <a:off x="3281952" y="1484784"/>
              <a:ext cx="689642" cy="534987"/>
              <a:chOff x="3281952" y="1626760"/>
              <a:chExt cx="689642" cy="534987"/>
            </a:xfrm>
          </p:grpSpPr>
          <p:sp>
            <p:nvSpPr>
              <p:cNvPr id="1049675"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7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591" name="组合 515"/>
          <p:cNvGrpSpPr/>
          <p:nvPr>
            <p:custDataLst>
              <p:tags r:id="rId2"/>
            </p:custDataLst>
          </p:nvPr>
        </p:nvGrpSpPr>
        <p:grpSpPr>
          <a:xfrm>
            <a:off x="4503593" y="3688642"/>
            <a:ext cx="5372100" cy="534987"/>
            <a:chOff x="3261805" y="3188752"/>
            <a:chExt cx="5372100" cy="534987"/>
          </a:xfrm>
        </p:grpSpPr>
        <p:grpSp>
          <p:nvGrpSpPr>
            <p:cNvPr id="592" name="组合 516"/>
            <p:cNvGrpSpPr/>
            <p:nvPr/>
          </p:nvGrpSpPr>
          <p:grpSpPr>
            <a:xfrm>
              <a:off x="3261805" y="3188752"/>
              <a:ext cx="689593" cy="534987"/>
              <a:chOff x="3261805" y="3188752"/>
              <a:chExt cx="689593" cy="534987"/>
            </a:xfrm>
          </p:grpSpPr>
          <p:sp>
            <p:nvSpPr>
              <p:cNvPr id="1049677"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7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593" name="组合 517"/>
            <p:cNvGrpSpPr/>
            <p:nvPr/>
          </p:nvGrpSpPr>
          <p:grpSpPr>
            <a:xfrm>
              <a:off x="3923792" y="3188752"/>
              <a:ext cx="4710113" cy="534987"/>
              <a:chOff x="3923792" y="3188752"/>
              <a:chExt cx="4710113" cy="534987"/>
            </a:xfrm>
          </p:grpSpPr>
          <p:sp>
            <p:nvSpPr>
              <p:cNvPr id="104967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68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8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94" name="组合 524"/>
          <p:cNvGrpSpPr/>
          <p:nvPr>
            <p:custDataLst>
              <p:tags r:id="rId3"/>
            </p:custDataLst>
          </p:nvPr>
        </p:nvGrpSpPr>
        <p:grpSpPr>
          <a:xfrm>
            <a:off x="4503593" y="4509001"/>
            <a:ext cx="5372100" cy="534987"/>
            <a:chOff x="3261805" y="4046141"/>
            <a:chExt cx="5372100" cy="534987"/>
          </a:xfrm>
        </p:grpSpPr>
        <p:grpSp>
          <p:nvGrpSpPr>
            <p:cNvPr id="595" name="组合 525"/>
            <p:cNvGrpSpPr/>
            <p:nvPr/>
          </p:nvGrpSpPr>
          <p:grpSpPr>
            <a:xfrm>
              <a:off x="3261805" y="4046141"/>
              <a:ext cx="689447" cy="534987"/>
              <a:chOff x="3261805" y="3969748"/>
              <a:chExt cx="689447" cy="534987"/>
            </a:xfrm>
          </p:grpSpPr>
          <p:sp>
            <p:nvSpPr>
              <p:cNvPr id="104968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8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596" name="组合 526"/>
            <p:cNvGrpSpPr/>
            <p:nvPr/>
          </p:nvGrpSpPr>
          <p:grpSpPr>
            <a:xfrm>
              <a:off x="3923792" y="4046141"/>
              <a:ext cx="4710113" cy="534987"/>
              <a:chOff x="3923792" y="3969748"/>
              <a:chExt cx="4710113" cy="534987"/>
            </a:xfrm>
          </p:grpSpPr>
          <p:sp>
            <p:nvSpPr>
              <p:cNvPr id="104968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685"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8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597" name="组合 533"/>
          <p:cNvGrpSpPr/>
          <p:nvPr>
            <p:custDataLst>
              <p:tags r:id="rId4"/>
            </p:custDataLst>
          </p:nvPr>
        </p:nvGrpSpPr>
        <p:grpSpPr>
          <a:xfrm>
            <a:off x="4517645" y="2868283"/>
            <a:ext cx="5370513" cy="534987"/>
            <a:chOff x="3275856" y="2348880"/>
            <a:chExt cx="5370513" cy="534987"/>
          </a:xfrm>
        </p:grpSpPr>
        <p:grpSp>
          <p:nvGrpSpPr>
            <p:cNvPr id="598" name="组合 534"/>
            <p:cNvGrpSpPr/>
            <p:nvPr/>
          </p:nvGrpSpPr>
          <p:grpSpPr>
            <a:xfrm>
              <a:off x="3275856" y="2348880"/>
              <a:ext cx="689474" cy="534987"/>
              <a:chOff x="3275856" y="2407756"/>
              <a:chExt cx="689474" cy="534987"/>
            </a:xfrm>
          </p:grpSpPr>
          <p:sp>
            <p:nvSpPr>
              <p:cNvPr id="1049687"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68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599" name="组合 535"/>
            <p:cNvGrpSpPr/>
            <p:nvPr/>
          </p:nvGrpSpPr>
          <p:grpSpPr>
            <a:xfrm>
              <a:off x="3937844" y="2348880"/>
              <a:ext cx="4708525" cy="534987"/>
              <a:chOff x="3937844" y="2407756"/>
              <a:chExt cx="4708525" cy="534987"/>
            </a:xfrm>
          </p:grpSpPr>
          <p:sp>
            <p:nvSpPr>
              <p:cNvPr id="104968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690"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69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695"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696"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697" name="文本框 7"/>
          <p:cNvSpPr txBox="1"/>
          <p:nvPr/>
        </p:nvSpPr>
        <p:spPr>
          <a:xfrm>
            <a:off x="194275" y="1088933"/>
            <a:ext cx="11805725" cy="4196020"/>
          </a:xfrm>
          <a:prstGeom prst="rect">
            <a:avLst/>
          </a:prstGeom>
          <a:noFill/>
          <a:ln>
            <a:solidFill>
              <a:srgbClr val="0174AB"/>
            </a:solidFill>
          </a:ln>
        </p:spPr>
        <p:txBody>
          <a:bodyPr wrap="square" rtlCol="0">
            <a:spAutoFit/>
          </a:bodyPr>
          <a:lstStyle/>
          <a:p>
            <a:pPr indent="457200">
              <a:lnSpc>
                <a:spcPct val="150000"/>
              </a:lnSpc>
            </a:pPr>
            <a:r>
              <a:rPr lang="en-US" altLang="zh-CN" dirty="0">
                <a:solidFill>
                  <a:srgbClr val="000000"/>
                </a:solidFill>
                <a:latin typeface="Arial" panose="020B0604020202020204" pitchFamily="34" charset="0"/>
                <a:cs typeface="Arial" panose="020B0604020202020204" pitchFamily="34" charset="0"/>
              </a:rPr>
              <a:t>In this work, we show that </a:t>
            </a:r>
            <a:r>
              <a:rPr lang="en-US" altLang="zh-CN" b="1" dirty="0">
                <a:solidFill>
                  <a:srgbClr val="FF0000"/>
                </a:solidFill>
                <a:latin typeface="Arial" panose="020B0604020202020204" pitchFamily="34" charset="0"/>
                <a:cs typeface="Arial" panose="020B0604020202020204" pitchFamily="34" charset="0"/>
              </a:rPr>
              <a:t>quantum computing</a:t>
            </a:r>
            <a:r>
              <a:rPr lang="en-US" altLang="zh-CN" dirty="0">
                <a:solidFill>
                  <a:srgbClr val="000000"/>
                </a:solidFill>
                <a:latin typeface="Arial" panose="020B0604020202020204" pitchFamily="34" charset="0"/>
                <a:cs typeface="Arial" panose="020B0604020202020204" pitchFamily="34" charset="0"/>
              </a:rPr>
              <a:t> could possibly provide provably efficient resolutions for generic </a:t>
            </a:r>
            <a:r>
              <a:rPr lang="en-US" altLang="zh-CN" b="1" dirty="0">
                <a:solidFill>
                  <a:srgbClr val="FF0000"/>
                </a:solidFill>
                <a:latin typeface="Arial" panose="020B0604020202020204" pitchFamily="34" charset="0"/>
                <a:cs typeface="Arial" panose="020B0604020202020204" pitchFamily="34" charset="0"/>
              </a:rPr>
              <a:t>stochastic gradient descent algorithms</a:t>
            </a:r>
            <a:r>
              <a:rPr lang="en-US" altLang="zh-CN" dirty="0">
                <a:solidFill>
                  <a:srgbClr val="000000"/>
                </a:solidFill>
                <a:latin typeface="Arial" panose="020B0604020202020204" pitchFamily="34" charset="0"/>
                <a:cs typeface="Arial" panose="020B0604020202020204" pitchFamily="34" charset="0"/>
              </a:rPr>
              <a:t>. In practice, we benchmark instances of </a:t>
            </a:r>
            <a:r>
              <a:rPr lang="en-US" altLang="zh-CN" b="1" dirty="0">
                <a:solidFill>
                  <a:srgbClr val="FF0000"/>
                </a:solidFill>
                <a:latin typeface="Arial" panose="020B0604020202020204" pitchFamily="34" charset="0"/>
                <a:cs typeface="Arial" panose="020B0604020202020204" pitchFamily="34" charset="0"/>
              </a:rPr>
              <a:t>large machine learning </a:t>
            </a:r>
            <a:r>
              <a:rPr lang="en-US" altLang="zh-CN" dirty="0">
                <a:solidFill>
                  <a:srgbClr val="000000"/>
                </a:solidFill>
                <a:latin typeface="Arial" panose="020B0604020202020204" pitchFamily="34" charset="0"/>
                <a:cs typeface="Arial" panose="020B0604020202020204" pitchFamily="34" charset="0"/>
              </a:rPr>
              <a:t>models from 7 million to 103 million parameters. We find in the context of sparse training, a quantum enhancement is possible at the early stage of learning after model pruning, motivating a sparse parameter download and re-upload scheme.</a:t>
            </a:r>
            <a:endParaRPr lang="en-US" altLang="zh-CN" sz="1800" dirty="0">
              <a:solidFill>
                <a:srgbClr val="000000"/>
              </a:solidFill>
              <a:latin typeface="Arial" panose="020B0604020202020204" pitchFamily="34" charset="0"/>
              <a:ea typeface="微软雅黑" panose="020B0503020204020204" charset="-122"/>
              <a:cs typeface="Arial" panose="020B0604020202020204" pitchFamily="34" charset="0"/>
            </a:endParaRPr>
          </a:p>
          <a:p>
            <a:pPr indent="457200">
              <a:lnSpc>
                <a:spcPct val="150000"/>
              </a:lnSpc>
            </a:pPr>
            <a:r>
              <a:rPr lang="en-US" altLang="zh-CN" sz="1800" b="1" dirty="0">
                <a:latin typeface="Arial" panose="020B0604020202020204" pitchFamily="34" charset="0"/>
                <a:ea typeface="微软雅黑" panose="020B0503020204020204" charset="-122"/>
                <a:cs typeface="Arial" panose="020B0604020202020204" pitchFamily="34" charset="0"/>
              </a:rPr>
              <a:t>Method:</a:t>
            </a:r>
            <a:endParaRPr lang="en-US" altLang="zh-CN" b="1" dirty="0">
              <a:latin typeface="Arial" panose="020B0604020202020204" pitchFamily="34" charset="0"/>
              <a:ea typeface="微软雅黑" panose="020B0503020204020204" charset="-122"/>
              <a:cs typeface="Arial" panose="020B0604020202020204" pitchFamily="34" charset="0"/>
            </a:endParaRPr>
          </a:p>
          <a:p>
            <a:pPr>
              <a:lnSpc>
                <a:spcPct val="150000"/>
              </a:lnSpc>
            </a:pPr>
            <a:r>
              <a:rPr lang="en-US" altLang="zh-CN" dirty="0">
                <a:latin typeface="Arial" panose="020B0604020202020204" pitchFamily="34" charset="0"/>
                <a:ea typeface="微软雅黑" panose="020B0503020204020204" charset="-122"/>
                <a:cs typeface="Arial" panose="020B0604020202020204" pitchFamily="34" charset="0"/>
              </a:rPr>
              <a:t>         This paper using </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quantum </a:t>
            </a:r>
            <a:r>
              <a:rPr lang="en-US" altLang="zh-CN" b="1" dirty="0" err="1">
                <a:solidFill>
                  <a:srgbClr val="FF0000"/>
                </a:solidFill>
                <a:latin typeface="Arial" panose="020B0604020202020204" pitchFamily="34" charset="0"/>
                <a:ea typeface="微软雅黑" panose="020B0503020204020204" charset="-122"/>
                <a:cs typeface="Arial" panose="020B0604020202020204" pitchFamily="34" charset="0"/>
              </a:rPr>
              <a:t>Carleman</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 linearization method </a:t>
            </a:r>
            <a:r>
              <a:rPr lang="en-US" altLang="zh-CN" dirty="0">
                <a:latin typeface="Arial" panose="020B0604020202020204" pitchFamily="34" charset="0"/>
                <a:ea typeface="微软雅黑" panose="020B0503020204020204" charset="-122"/>
                <a:cs typeface="Arial" panose="020B0604020202020204" pitchFamily="34" charset="0"/>
              </a:rPr>
              <a:t>to linearization the nonlinear gradient descent process to an infinite-dimensional system of linear equations, followed by truncation to accommodate the solution of digital quantum systems. Afterwards, a variant of the </a:t>
            </a:r>
            <a:r>
              <a:rPr lang="en-US" altLang="zh-CN" b="1" dirty="0">
                <a:solidFill>
                  <a:srgbClr val="FF0000"/>
                </a:solidFill>
                <a:latin typeface="Arial" panose="020B0604020202020204" pitchFamily="34" charset="0"/>
                <a:ea typeface="微软雅黑" panose="020B0503020204020204" charset="-122"/>
                <a:cs typeface="Arial" panose="020B0604020202020204" pitchFamily="34" charset="0"/>
              </a:rPr>
              <a:t>HHL algorithm is used to solve the matrix inverse problem after linearization</a:t>
            </a:r>
            <a:r>
              <a:rPr lang="en-US" altLang="zh-CN" dirty="0">
                <a:latin typeface="Arial" panose="020B0604020202020204" pitchFamily="34" charset="0"/>
                <a:ea typeface="微软雅黑" panose="020B0503020204020204" charset="-122"/>
                <a:cs typeface="Arial" panose="020B0604020202020204" pitchFamily="34" charset="0"/>
              </a:rPr>
              <a:t>, thus enabling the solution of gradient descent dynamics on a quantum computer.</a:t>
            </a:r>
            <a:endParaRPr lang="en-US" altLang="zh-CN" dirty="0">
              <a:latin typeface="Arial" panose="020B0604020202020204" pitchFamily="34" charset="0"/>
              <a:cs typeface="Arial" panose="020B0604020202020204" pitchFamily="34" charset="0"/>
            </a:endParaRPr>
          </a:p>
        </p:txBody>
      </p:sp>
      <p:grpSp>
        <p:nvGrpSpPr>
          <p:cNvPr id="603" name="组合 11"/>
          <p:cNvGrpSpPr/>
          <p:nvPr/>
        </p:nvGrpSpPr>
        <p:grpSpPr>
          <a:xfrm>
            <a:off x="-1" y="6553200"/>
            <a:ext cx="12192001" cy="304800"/>
            <a:chOff x="0" y="6569404"/>
            <a:chExt cx="9144000" cy="288000"/>
          </a:xfrm>
        </p:grpSpPr>
        <p:sp>
          <p:nvSpPr>
            <p:cNvPr id="1049698"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699"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0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69</a:t>
            </a:fld>
            <a:endParaRPr lang="zh-HK" altLang="en-US" sz="1600" dirty="0">
              <a:solidFill>
                <a:schemeClr val="bg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7" name="组合 2"/>
          <p:cNvGrpSpPr/>
          <p:nvPr/>
        </p:nvGrpSpPr>
        <p:grpSpPr>
          <a:xfrm>
            <a:off x="-1" y="6553200"/>
            <a:ext cx="12192001" cy="304800"/>
            <a:chOff x="0" y="6569404"/>
            <a:chExt cx="9144000" cy="288000"/>
          </a:xfrm>
        </p:grpSpPr>
        <p:sp>
          <p:nvSpPr>
            <p:cNvPr id="104970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0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0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70</a:t>
            </a:fld>
            <a:endParaRPr lang="zh-HK" altLang="en-US" sz="1600" dirty="0">
              <a:solidFill>
                <a:schemeClr val="bg1"/>
              </a:solidFill>
            </a:endParaRPr>
          </a:p>
        </p:txBody>
      </p:sp>
      <p:pic>
        <p:nvPicPr>
          <p:cNvPr id="2097232"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08" name="组合 18"/>
          <p:cNvGrpSpPr/>
          <p:nvPr/>
        </p:nvGrpSpPr>
        <p:grpSpPr bwMode="auto">
          <a:xfrm>
            <a:off x="2409457" y="2650330"/>
            <a:ext cx="1505450" cy="1479472"/>
            <a:chOff x="1709739" y="2636838"/>
            <a:chExt cx="1590160" cy="1584325"/>
          </a:xfrm>
          <a:solidFill>
            <a:srgbClr val="044875"/>
          </a:solidFill>
        </p:grpSpPr>
        <p:sp>
          <p:nvSpPr>
            <p:cNvPr id="104970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70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70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71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71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71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71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71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71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716"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09" name="组合 73"/>
          <p:cNvGrpSpPr/>
          <p:nvPr>
            <p:custDataLst>
              <p:tags r:id="rId1"/>
            </p:custDataLst>
          </p:nvPr>
        </p:nvGrpSpPr>
        <p:grpSpPr>
          <a:xfrm>
            <a:off x="4523741" y="2047924"/>
            <a:ext cx="5370513" cy="534987"/>
            <a:chOff x="3281952" y="1484784"/>
            <a:chExt cx="5370513" cy="534987"/>
          </a:xfrm>
        </p:grpSpPr>
        <p:grpSp>
          <p:nvGrpSpPr>
            <p:cNvPr id="610" name="组合 74"/>
            <p:cNvGrpSpPr/>
            <p:nvPr/>
          </p:nvGrpSpPr>
          <p:grpSpPr>
            <a:xfrm>
              <a:off x="3943940" y="1484784"/>
              <a:ext cx="4708525" cy="534987"/>
              <a:chOff x="3943940" y="1626760"/>
              <a:chExt cx="4708525" cy="534987"/>
            </a:xfrm>
          </p:grpSpPr>
          <p:sp>
            <p:nvSpPr>
              <p:cNvPr id="104971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718"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19"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11" name="组合 75"/>
            <p:cNvGrpSpPr/>
            <p:nvPr/>
          </p:nvGrpSpPr>
          <p:grpSpPr>
            <a:xfrm>
              <a:off x="3281952" y="1484784"/>
              <a:ext cx="689642" cy="534987"/>
              <a:chOff x="3281952" y="1626760"/>
              <a:chExt cx="689642" cy="534987"/>
            </a:xfrm>
          </p:grpSpPr>
          <p:sp>
            <p:nvSpPr>
              <p:cNvPr id="1049720"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21"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612" name="组合 82"/>
          <p:cNvGrpSpPr/>
          <p:nvPr>
            <p:custDataLst>
              <p:tags r:id="rId2"/>
            </p:custDataLst>
          </p:nvPr>
        </p:nvGrpSpPr>
        <p:grpSpPr>
          <a:xfrm>
            <a:off x="4503593" y="3688642"/>
            <a:ext cx="5372100" cy="534987"/>
            <a:chOff x="3261805" y="3188752"/>
            <a:chExt cx="5372100" cy="534987"/>
          </a:xfrm>
        </p:grpSpPr>
        <p:grpSp>
          <p:nvGrpSpPr>
            <p:cNvPr id="613" name="组合 83"/>
            <p:cNvGrpSpPr/>
            <p:nvPr/>
          </p:nvGrpSpPr>
          <p:grpSpPr>
            <a:xfrm>
              <a:off x="3261805" y="3188752"/>
              <a:ext cx="689593" cy="534987"/>
              <a:chOff x="3261805" y="3188752"/>
              <a:chExt cx="689593" cy="534987"/>
            </a:xfrm>
          </p:grpSpPr>
          <p:sp>
            <p:nvSpPr>
              <p:cNvPr id="1049722"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23"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614" name="组合 84"/>
            <p:cNvGrpSpPr/>
            <p:nvPr/>
          </p:nvGrpSpPr>
          <p:grpSpPr>
            <a:xfrm>
              <a:off x="3923792" y="3188752"/>
              <a:ext cx="4710113" cy="534987"/>
              <a:chOff x="3923792" y="3188752"/>
              <a:chExt cx="4710113" cy="534987"/>
            </a:xfrm>
          </p:grpSpPr>
          <p:sp>
            <p:nvSpPr>
              <p:cNvPr id="1049724"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25"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26"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15" name="组合 101"/>
          <p:cNvGrpSpPr/>
          <p:nvPr>
            <p:custDataLst>
              <p:tags r:id="rId3"/>
            </p:custDataLst>
          </p:nvPr>
        </p:nvGrpSpPr>
        <p:grpSpPr>
          <a:xfrm>
            <a:off x="4503593" y="4509001"/>
            <a:ext cx="5372100" cy="534987"/>
            <a:chOff x="3261805" y="4046141"/>
            <a:chExt cx="5372100" cy="534987"/>
          </a:xfrm>
        </p:grpSpPr>
        <p:grpSp>
          <p:nvGrpSpPr>
            <p:cNvPr id="616" name="组合 102"/>
            <p:cNvGrpSpPr/>
            <p:nvPr/>
          </p:nvGrpSpPr>
          <p:grpSpPr>
            <a:xfrm>
              <a:off x="3261805" y="4046141"/>
              <a:ext cx="689447" cy="534987"/>
              <a:chOff x="3261805" y="3969748"/>
              <a:chExt cx="689447" cy="534987"/>
            </a:xfrm>
          </p:grpSpPr>
          <p:sp>
            <p:nvSpPr>
              <p:cNvPr id="1049727"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28"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617" name="组合 103"/>
            <p:cNvGrpSpPr/>
            <p:nvPr/>
          </p:nvGrpSpPr>
          <p:grpSpPr>
            <a:xfrm>
              <a:off x="3923792" y="4046141"/>
              <a:ext cx="4710113" cy="534987"/>
              <a:chOff x="3923792" y="3969748"/>
              <a:chExt cx="4710113" cy="534987"/>
            </a:xfrm>
          </p:grpSpPr>
          <p:sp>
            <p:nvSpPr>
              <p:cNvPr id="1049729"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730"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3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18" name="组合 110"/>
          <p:cNvGrpSpPr/>
          <p:nvPr>
            <p:custDataLst>
              <p:tags r:id="rId4"/>
            </p:custDataLst>
          </p:nvPr>
        </p:nvGrpSpPr>
        <p:grpSpPr>
          <a:xfrm>
            <a:off x="4517645" y="2868283"/>
            <a:ext cx="5370513" cy="534987"/>
            <a:chOff x="3275856" y="2348880"/>
            <a:chExt cx="5370513" cy="534987"/>
          </a:xfrm>
        </p:grpSpPr>
        <p:grpSp>
          <p:nvGrpSpPr>
            <p:cNvPr id="619" name="组合 111"/>
            <p:cNvGrpSpPr/>
            <p:nvPr/>
          </p:nvGrpSpPr>
          <p:grpSpPr>
            <a:xfrm>
              <a:off x="3275856" y="2348880"/>
              <a:ext cx="689474" cy="534987"/>
              <a:chOff x="3275856" y="2407756"/>
              <a:chExt cx="689474" cy="534987"/>
            </a:xfrm>
          </p:grpSpPr>
          <p:sp>
            <p:nvSpPr>
              <p:cNvPr id="1049732"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33"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620" name="组合 112"/>
            <p:cNvGrpSpPr/>
            <p:nvPr/>
          </p:nvGrpSpPr>
          <p:grpSpPr>
            <a:xfrm>
              <a:off x="3937844" y="2348880"/>
              <a:ext cx="4708525" cy="534987"/>
              <a:chOff x="3937844" y="2407756"/>
              <a:chExt cx="4708525" cy="534987"/>
            </a:xfrm>
          </p:grpSpPr>
          <p:sp>
            <p:nvSpPr>
              <p:cNvPr id="1049734"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73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3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4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74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624" name="组合 54"/>
          <p:cNvGrpSpPr/>
          <p:nvPr/>
        </p:nvGrpSpPr>
        <p:grpSpPr>
          <a:xfrm>
            <a:off x="-1" y="6553200"/>
            <a:ext cx="12192001" cy="304800"/>
            <a:chOff x="0" y="6569404"/>
            <a:chExt cx="9144000" cy="288000"/>
          </a:xfrm>
        </p:grpSpPr>
        <p:sp>
          <p:nvSpPr>
            <p:cNvPr id="104974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4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4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71</a:t>
            </a:fld>
            <a:endParaRPr lang="zh-HK" altLang="en-US" sz="1600" dirty="0">
              <a:solidFill>
                <a:schemeClr val="bg1"/>
              </a:solidFill>
            </a:endParaRPr>
          </a:p>
        </p:txBody>
      </p:sp>
      <p:pic>
        <p:nvPicPr>
          <p:cNvPr id="2097233" name="图片 4"/>
          <p:cNvPicPr>
            <a:picLocks noChangeAspect="1"/>
          </p:cNvPicPr>
          <p:nvPr/>
        </p:nvPicPr>
        <p:blipFill>
          <a:blip r:embed="rId3"/>
          <a:stretch>
            <a:fillRect/>
          </a:stretch>
        </p:blipFill>
        <p:spPr>
          <a:xfrm>
            <a:off x="264000" y="1053000"/>
            <a:ext cx="7944959" cy="4277322"/>
          </a:xfrm>
          <a:prstGeom prst="rect">
            <a:avLst/>
          </a:prstGeom>
        </p:spPr>
      </p:pic>
      <p:sp>
        <p:nvSpPr>
          <p:cNvPr id="1049745" name="文本框 6"/>
          <p:cNvSpPr txBox="1"/>
          <p:nvPr/>
        </p:nvSpPr>
        <p:spPr>
          <a:xfrm>
            <a:off x="8400000" y="1413000"/>
            <a:ext cx="3877985" cy="369332"/>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注：量子计算的</a:t>
            </a:r>
            <a:r>
              <a:rPr lang="zh-CN" altLang="en-US" b="1">
                <a:solidFill>
                  <a:srgbClr val="FF0000"/>
                </a:solidFill>
                <a:latin typeface="微软雅黑" panose="020B0503020204020204" charset="-122"/>
                <a:ea typeface="微软雅黑" panose="020B0503020204020204" charset="-122"/>
              </a:rPr>
              <a:t>时间复杂度</a:t>
            </a:r>
            <a:r>
              <a:rPr lang="zh-CN" altLang="en-US" b="1">
                <a:latin typeface="微软雅黑" panose="020B0503020204020204" charset="-122"/>
                <a:ea typeface="微软雅黑" panose="020B0503020204020204" charset="-122"/>
              </a:rPr>
              <a:t>上界定理</a:t>
            </a:r>
          </a:p>
        </p:txBody>
      </p:sp>
      <p:sp>
        <p:nvSpPr>
          <p:cNvPr id="1049746" name="文本框 3"/>
          <p:cNvSpPr txBox="1"/>
          <p:nvPr/>
        </p:nvSpPr>
        <p:spPr>
          <a:xfrm>
            <a:off x="8388918" y="2061000"/>
            <a:ext cx="3683081" cy="1200329"/>
          </a:xfrm>
          <a:prstGeom prst="rect">
            <a:avLst/>
          </a:prstGeom>
          <a:noFill/>
        </p:spPr>
        <p:txBody>
          <a:bodyPr wrap="square" rtlCol="0">
            <a:spAutoFit/>
          </a:bodyPr>
          <a:lstStyle/>
          <a:p>
            <a:r>
              <a:rPr lang="zh-CN" altLang="en-US" b="1" dirty="0">
                <a:latin typeface="微软雅黑" panose="020B0503020204020204" charset="-122"/>
                <a:ea typeface="微软雅黑" panose="020B0503020204020204" charset="-122"/>
              </a:rPr>
              <a:t>注：经典计算的</a:t>
            </a:r>
            <a:r>
              <a:rPr lang="zh-CN" altLang="en-US" b="1" dirty="0">
                <a:solidFill>
                  <a:srgbClr val="FF0000"/>
                </a:solidFill>
                <a:latin typeface="微软雅黑" panose="020B0503020204020204" charset="-122"/>
                <a:ea typeface="微软雅黑" panose="020B0503020204020204" charset="-122"/>
              </a:rPr>
              <a:t>时间复杂度</a:t>
            </a:r>
            <a:r>
              <a:rPr lang="zh-CN" altLang="en-US" b="1" dirty="0">
                <a:latin typeface="微软雅黑" panose="020B0503020204020204" charset="-122"/>
                <a:ea typeface="微软雅黑" panose="020B0503020204020204" charset="-122"/>
              </a:rPr>
              <a:t>通常需要 </a:t>
            </a:r>
            <a:r>
              <a:rPr lang="en-US" altLang="zh-CN" b="1" dirty="0">
                <a:solidFill>
                  <a:srgbClr val="FF0000"/>
                </a:solidFill>
                <a:latin typeface="微软雅黑" panose="020B0503020204020204" charset="-122"/>
                <a:ea typeface="微软雅黑" panose="020B0503020204020204" charset="-122"/>
              </a:rPr>
              <a:t>O(</a:t>
            </a:r>
            <a:r>
              <a:rPr lang="en-US" altLang="zh-CN" b="1" dirty="0" err="1">
                <a:solidFill>
                  <a:srgbClr val="FF0000"/>
                </a:solidFill>
                <a:latin typeface="微软雅黑" panose="020B0503020204020204" charset="-122"/>
                <a:ea typeface="微软雅黑" panose="020B0503020204020204" charset="-122"/>
              </a:rPr>
              <a:t>nT</a:t>
            </a:r>
            <a:r>
              <a:rPr lang="en-US" altLang="zh-CN" b="1" dirty="0">
                <a:solidFill>
                  <a:srgbClr val="FF0000"/>
                </a:solidFill>
                <a:latin typeface="微软雅黑" panose="020B0503020204020204" charset="-122"/>
                <a:ea typeface="微软雅黑" panose="020B0503020204020204" charset="-122"/>
              </a:rPr>
              <a:t>) </a:t>
            </a:r>
            <a:r>
              <a:rPr lang="zh-CN" altLang="en-US" b="1" dirty="0">
                <a:latin typeface="微软雅黑" panose="020B0503020204020204" charset="-122"/>
                <a:ea typeface="微软雅黑" panose="020B0503020204020204" charset="-122"/>
              </a:rPr>
              <a:t>，此定理为量子计算提供理论上的性能保证。且量子算法在</a:t>
            </a:r>
            <a:r>
              <a:rPr lang="zh-CN" altLang="en-US" b="1" dirty="0">
                <a:solidFill>
                  <a:srgbClr val="FF0000"/>
                </a:solidFill>
                <a:latin typeface="微软雅黑" panose="020B0503020204020204" charset="-122"/>
                <a:ea typeface="微软雅黑" panose="020B0503020204020204" charset="-122"/>
              </a:rPr>
              <a:t>高精度要求下</a:t>
            </a:r>
            <a:r>
              <a:rPr lang="zh-CN" altLang="en-US" b="1" dirty="0">
                <a:latin typeface="微软雅黑" panose="020B0503020204020204" charset="-122"/>
                <a:ea typeface="微软雅黑" panose="020B0503020204020204" charset="-122"/>
              </a:rPr>
              <a:t>仍然保持高效。</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75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75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628" name="组合 54"/>
          <p:cNvGrpSpPr/>
          <p:nvPr/>
        </p:nvGrpSpPr>
        <p:grpSpPr>
          <a:xfrm>
            <a:off x="-1" y="6553200"/>
            <a:ext cx="12192001" cy="304800"/>
            <a:chOff x="0" y="6569404"/>
            <a:chExt cx="9144000" cy="288000"/>
          </a:xfrm>
        </p:grpSpPr>
        <p:sp>
          <p:nvSpPr>
            <p:cNvPr id="104975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5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5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72</a:t>
            </a:fld>
            <a:endParaRPr lang="zh-HK" altLang="en-US" sz="1600" dirty="0">
              <a:solidFill>
                <a:schemeClr val="bg1"/>
              </a:solidFill>
            </a:endParaRPr>
          </a:p>
        </p:txBody>
      </p:sp>
      <p:sp>
        <p:nvSpPr>
          <p:cNvPr id="1049755" name="文本框 5"/>
          <p:cNvSpPr txBox="1"/>
          <p:nvPr/>
        </p:nvSpPr>
        <p:spPr>
          <a:xfrm>
            <a:off x="264000" y="909000"/>
            <a:ext cx="6624000" cy="461665"/>
          </a:xfrm>
          <a:prstGeom prst="rect">
            <a:avLst/>
          </a:prstGeom>
          <a:noFill/>
        </p:spPr>
        <p:txBody>
          <a:bodyPr wrap="square">
            <a:spAutoFit/>
          </a:bodyPr>
          <a:lstStyle/>
          <a:p>
            <a:r>
              <a:rPr lang="en-US" altLang="zh-CN" sz="2400" b="1" dirty="0">
                <a:latin typeface="Arial" panose="020B0604020202020204" pitchFamily="34" charset="0"/>
                <a:ea typeface="Arial Unicode MS" panose="020B0604020202020204" charset="-122"/>
                <a:cs typeface="Arial" panose="020B0604020202020204" pitchFamily="34" charset="0"/>
              </a:rPr>
              <a:t>(1)</a:t>
            </a:r>
            <a:r>
              <a:rPr lang="zh-CN" altLang="en-US" sz="2400" b="1" dirty="0">
                <a:latin typeface="Arial" panose="020B0604020202020204" pitchFamily="34" charset="0"/>
                <a:ea typeface="Arial Unicode MS" panose="020B0604020202020204" charset="-122"/>
                <a:cs typeface="Arial" panose="020B0604020202020204" pitchFamily="34" charset="0"/>
              </a:rPr>
              <a:t> Nonlinear stochastic gradient descent</a:t>
            </a:r>
          </a:p>
        </p:txBody>
      </p:sp>
      <p:pic>
        <p:nvPicPr>
          <p:cNvPr id="2097234" name="图片 7"/>
          <p:cNvPicPr>
            <a:picLocks noChangeAspect="1"/>
          </p:cNvPicPr>
          <p:nvPr/>
        </p:nvPicPr>
        <p:blipFill>
          <a:blip r:embed="rId3"/>
          <a:srcRect l="3243" r="23231"/>
          <a:stretch>
            <a:fillRect/>
          </a:stretch>
        </p:blipFill>
        <p:spPr>
          <a:xfrm>
            <a:off x="1037995" y="1495718"/>
            <a:ext cx="4248000" cy="1181965"/>
          </a:xfrm>
          <a:prstGeom prst="rect">
            <a:avLst/>
          </a:prstGeom>
        </p:spPr>
      </p:pic>
      <p:pic>
        <p:nvPicPr>
          <p:cNvPr id="2097235" name="图片 9"/>
          <p:cNvPicPr>
            <a:picLocks noChangeAspect="1"/>
          </p:cNvPicPr>
          <p:nvPr/>
        </p:nvPicPr>
        <p:blipFill>
          <a:blip r:embed="rId4"/>
          <a:stretch>
            <a:fillRect/>
          </a:stretch>
        </p:blipFill>
        <p:spPr>
          <a:xfrm>
            <a:off x="1128000" y="3391246"/>
            <a:ext cx="3961848" cy="2923127"/>
          </a:xfrm>
          <a:prstGeom prst="rect">
            <a:avLst/>
          </a:prstGeom>
        </p:spPr>
      </p:pic>
      <p:sp>
        <p:nvSpPr>
          <p:cNvPr id="1049756" name="文本框 10"/>
          <p:cNvSpPr txBox="1"/>
          <p:nvPr/>
        </p:nvSpPr>
        <p:spPr>
          <a:xfrm>
            <a:off x="264000" y="3119309"/>
            <a:ext cx="6141944" cy="461665"/>
          </a:xfrm>
          <a:prstGeom prst="rect">
            <a:avLst/>
          </a:prstGeom>
          <a:noFill/>
        </p:spPr>
        <p:txBody>
          <a:bodyPr wrap="square">
            <a:spAutoFit/>
          </a:bodyPr>
          <a:lstStyle/>
          <a:p>
            <a:r>
              <a:rPr lang="en-US" altLang="zh-CN" sz="2400" b="1" dirty="0">
                <a:latin typeface="Arial" panose="020B0604020202020204" pitchFamily="34" charset="0"/>
                <a:ea typeface="Arial Unicode MS" panose="020B0604020202020204" charset="-122"/>
                <a:cs typeface="Arial" panose="020B0604020202020204" pitchFamily="34" charset="0"/>
              </a:rPr>
              <a:t>(2)</a:t>
            </a:r>
            <a:r>
              <a:rPr lang="zh-CN" altLang="en-US" sz="2400" b="1" dirty="0">
                <a:latin typeface="Arial" panose="020B0604020202020204" pitchFamily="34" charset="0"/>
                <a:ea typeface="Arial Unicode MS" panose="020B0604020202020204" charset="-122"/>
                <a:cs typeface="Arial" panose="020B0604020202020204" pitchFamily="34" charset="0"/>
              </a:rPr>
              <a:t> </a:t>
            </a:r>
            <a:r>
              <a:rPr lang="en-US" altLang="zh-CN" sz="2400" b="1" dirty="0">
                <a:latin typeface="Arial" panose="020B0604020202020204" pitchFamily="34" charset="0"/>
                <a:ea typeface="Arial Unicode MS" panose="020B0604020202020204" charset="-122"/>
                <a:cs typeface="Arial" panose="020B0604020202020204" pitchFamily="34" charset="0"/>
              </a:rPr>
              <a:t>Quantum </a:t>
            </a:r>
            <a:r>
              <a:rPr lang="en-US" altLang="zh-CN" sz="2400" b="1" dirty="0" err="1">
                <a:latin typeface="Arial" panose="020B0604020202020204" pitchFamily="34" charset="0"/>
                <a:ea typeface="Arial Unicode MS" panose="020B0604020202020204" charset="-122"/>
                <a:cs typeface="Arial" panose="020B0604020202020204" pitchFamily="34" charset="0"/>
              </a:rPr>
              <a:t>Carleman</a:t>
            </a:r>
            <a:r>
              <a:rPr lang="en-US" altLang="zh-CN" sz="2400" b="1" dirty="0">
                <a:latin typeface="Arial" panose="020B0604020202020204" pitchFamily="34" charset="0"/>
                <a:ea typeface="Arial Unicode MS" panose="020B0604020202020204" charset="-122"/>
                <a:cs typeface="Arial" panose="020B0604020202020204" pitchFamily="34" charset="0"/>
              </a:rPr>
              <a:t> linearization</a:t>
            </a:r>
            <a:endParaRPr lang="zh-CN" altLang="en-US" sz="2400" b="1" dirty="0">
              <a:latin typeface="Arial" panose="020B0604020202020204" pitchFamily="34" charset="0"/>
              <a:ea typeface="Arial Unicode MS" panose="020B0604020202020204" charset="-122"/>
              <a:cs typeface="Arial" panose="020B0604020202020204" pitchFamily="34" charset="0"/>
            </a:endParaRPr>
          </a:p>
        </p:txBody>
      </p:sp>
      <p:pic>
        <p:nvPicPr>
          <p:cNvPr id="2097236" name="图片 12"/>
          <p:cNvPicPr>
            <a:picLocks noChangeAspect="1"/>
          </p:cNvPicPr>
          <p:nvPr/>
        </p:nvPicPr>
        <p:blipFill>
          <a:blip r:embed="rId5"/>
          <a:stretch>
            <a:fillRect/>
          </a:stretch>
        </p:blipFill>
        <p:spPr>
          <a:xfrm>
            <a:off x="6121366" y="4162392"/>
            <a:ext cx="5684359" cy="1849418"/>
          </a:xfrm>
          <a:prstGeom prst="rect">
            <a:avLst/>
          </a:prstGeom>
        </p:spPr>
      </p:pic>
      <p:sp>
        <p:nvSpPr>
          <p:cNvPr id="1049757" name="箭头: 右 13"/>
          <p:cNvSpPr/>
          <p:nvPr/>
        </p:nvSpPr>
        <p:spPr>
          <a:xfrm>
            <a:off x="5155301" y="4890241"/>
            <a:ext cx="915334"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758" name="箭头: 下 14"/>
          <p:cNvSpPr/>
          <p:nvPr/>
        </p:nvSpPr>
        <p:spPr>
          <a:xfrm>
            <a:off x="2856000" y="2695608"/>
            <a:ext cx="288000" cy="4243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759" name="文本框 15"/>
          <p:cNvSpPr txBox="1"/>
          <p:nvPr/>
        </p:nvSpPr>
        <p:spPr>
          <a:xfrm>
            <a:off x="5786057" y="2925000"/>
            <a:ext cx="6141944" cy="923330"/>
          </a:xfrm>
          <a:prstGeom prst="rect">
            <a:avLst/>
          </a:prstGeom>
          <a:noFill/>
        </p:spPr>
        <p:txBody>
          <a:bodyPr wrap="square" rtlCol="0">
            <a:spAutoFit/>
          </a:bodyPr>
          <a:lstStyle/>
          <a:p>
            <a:r>
              <a:rPr lang="zh-CN" altLang="en-US" b="1">
                <a:latin typeface="微软雅黑" panose="020B0503020204020204" charset="-122"/>
                <a:ea typeface="微软雅黑" panose="020B0503020204020204" charset="-122"/>
              </a:rPr>
              <a:t>注：</a:t>
            </a:r>
            <a:r>
              <a:rPr lang="zh-CN" altLang="en-US" b="1" i="0">
                <a:effectLst/>
                <a:latin typeface="微软雅黑" panose="020B0503020204020204" charset="-122"/>
                <a:ea typeface="微软雅黑" panose="020B0503020204020204" charset="-122"/>
              </a:rPr>
              <a:t> </a:t>
            </a:r>
            <a:r>
              <a:rPr lang="en-US" altLang="zh-CN" b="1" i="0">
                <a:solidFill>
                  <a:srgbClr val="FF0000"/>
                </a:solidFill>
                <a:effectLst/>
                <a:latin typeface="微软雅黑" panose="020B0503020204020204" charset="-122"/>
                <a:ea typeface="微软雅黑" panose="020B0503020204020204" charset="-122"/>
              </a:rPr>
              <a:t>HHL</a:t>
            </a:r>
            <a:r>
              <a:rPr lang="zh-CN" altLang="en-US" b="1" i="0">
                <a:solidFill>
                  <a:srgbClr val="FF0000"/>
                </a:solidFill>
                <a:effectLst/>
                <a:latin typeface="微软雅黑" panose="020B0503020204020204" charset="-122"/>
                <a:ea typeface="微软雅黑" panose="020B0503020204020204" charset="-122"/>
              </a:rPr>
              <a:t>算法</a:t>
            </a:r>
            <a:r>
              <a:rPr lang="zh-CN" altLang="en-US" b="1" i="0">
                <a:effectLst/>
                <a:latin typeface="微软雅黑" panose="020B0503020204020204" charset="-122"/>
                <a:ea typeface="微软雅黑" panose="020B0503020204020204" charset="-122"/>
              </a:rPr>
              <a:t>是一种用于求解线性方程组的量子算法。即</a:t>
            </a:r>
            <a:r>
              <a:rPr lang="zh-CN" altLang="en-US" b="1">
                <a:latin typeface="微软雅黑" panose="020B0503020204020204" charset="-122"/>
                <a:ea typeface="微软雅黑" panose="020B0503020204020204" charset="-122"/>
              </a:rPr>
              <a:t>在定理</a:t>
            </a:r>
            <a:r>
              <a:rPr lang="en-US" altLang="zh-CN" b="1">
                <a:latin typeface="微软雅黑" panose="020B0503020204020204" charset="-122"/>
                <a:ea typeface="微软雅黑" panose="020B0503020204020204" charset="-122"/>
              </a:rPr>
              <a:t>1</a:t>
            </a:r>
            <a:r>
              <a:rPr lang="zh-CN" altLang="en-US" b="1">
                <a:latin typeface="微软雅黑" panose="020B0503020204020204" charset="-122"/>
                <a:ea typeface="微软雅黑" panose="020B0503020204020204" charset="-122"/>
              </a:rPr>
              <a:t>的基础上，可以保证在时间复杂度</a:t>
            </a:r>
            <a:endParaRPr lang="en-US" altLang="zh-CN" b="1">
              <a:latin typeface="微软雅黑" panose="020B0503020204020204" charset="-122"/>
              <a:ea typeface="微软雅黑" panose="020B0503020204020204" charset="-122"/>
            </a:endParaRPr>
          </a:p>
          <a:p>
            <a:r>
              <a:rPr lang="zh-CN" altLang="en-US" b="1">
                <a:latin typeface="微软雅黑" panose="020B0503020204020204" charset="-122"/>
                <a:ea typeface="微软雅黑" panose="020B0503020204020204" charset="-122"/>
              </a:rPr>
              <a:t>下实现求解 </a:t>
            </a:r>
            <a:r>
              <a:rPr lang="en-US" altLang="zh-CN" b="1">
                <a:latin typeface="微软雅黑" panose="020B0503020204020204" charset="-122"/>
                <a:ea typeface="微软雅黑" panose="020B0503020204020204" charset="-122"/>
              </a:rPr>
              <a:t>n×n </a:t>
            </a:r>
            <a:r>
              <a:rPr lang="zh-CN" altLang="en-US" b="1">
                <a:latin typeface="微软雅黑" panose="020B0503020204020204" charset="-122"/>
                <a:ea typeface="微软雅黑" panose="020B0503020204020204" charset="-122"/>
              </a:rPr>
              <a:t>稀疏矩阵的逆问题。</a:t>
            </a:r>
          </a:p>
        </p:txBody>
      </p:sp>
      <p:pic>
        <p:nvPicPr>
          <p:cNvPr id="2097237" name="图片 17"/>
          <p:cNvPicPr>
            <a:picLocks noChangeAspect="1"/>
          </p:cNvPicPr>
          <p:nvPr/>
        </p:nvPicPr>
        <p:blipFill>
          <a:blip r:embed="rId6"/>
          <a:stretch>
            <a:fillRect/>
          </a:stretch>
        </p:blipFill>
        <p:spPr>
          <a:xfrm>
            <a:off x="10165456" y="3260549"/>
            <a:ext cx="1793370" cy="310782"/>
          </a:xfrm>
          <a:prstGeom prst="rect">
            <a:avLst/>
          </a:prstGeom>
        </p:spPr>
      </p:pic>
      <p:pic>
        <p:nvPicPr>
          <p:cNvPr id="2097238" name="图片 2"/>
          <p:cNvPicPr>
            <a:picLocks noChangeAspect="1"/>
          </p:cNvPicPr>
          <p:nvPr/>
        </p:nvPicPr>
        <p:blipFill>
          <a:blip r:embed="rId7"/>
          <a:stretch>
            <a:fillRect/>
          </a:stretch>
        </p:blipFill>
        <p:spPr>
          <a:xfrm>
            <a:off x="6600000" y="1701477"/>
            <a:ext cx="3258005" cy="952633"/>
          </a:xfrm>
          <a:prstGeom prst="rect">
            <a:avLst/>
          </a:prstGeom>
        </p:spPr>
      </p:pic>
      <p:sp>
        <p:nvSpPr>
          <p:cNvPr id="1049760" name="箭头: 右 3"/>
          <p:cNvSpPr/>
          <p:nvPr/>
        </p:nvSpPr>
        <p:spPr>
          <a:xfrm rot="10800000">
            <a:off x="5638332" y="2078160"/>
            <a:ext cx="915334"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761" name="矩形 4"/>
          <p:cNvSpPr/>
          <p:nvPr/>
        </p:nvSpPr>
        <p:spPr>
          <a:xfrm>
            <a:off x="6672000" y="1693189"/>
            <a:ext cx="3258005" cy="1035636"/>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2" name="组合 5"/>
          <p:cNvGrpSpPr/>
          <p:nvPr/>
        </p:nvGrpSpPr>
        <p:grpSpPr>
          <a:xfrm>
            <a:off x="-1" y="6553200"/>
            <a:ext cx="12192001" cy="304800"/>
            <a:chOff x="0" y="6569404"/>
            <a:chExt cx="9144000" cy="288000"/>
          </a:xfrm>
        </p:grpSpPr>
        <p:sp>
          <p:nvSpPr>
            <p:cNvPr id="1049765"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766"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76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73</a:t>
            </a:fld>
            <a:endParaRPr lang="zh-HK" altLang="en-US" sz="1600" dirty="0">
              <a:solidFill>
                <a:schemeClr val="bg1"/>
              </a:solidFill>
            </a:endParaRPr>
          </a:p>
        </p:txBody>
      </p:sp>
      <p:pic>
        <p:nvPicPr>
          <p:cNvPr id="2097239"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33" name="组合 18"/>
          <p:cNvGrpSpPr/>
          <p:nvPr/>
        </p:nvGrpSpPr>
        <p:grpSpPr bwMode="auto">
          <a:xfrm>
            <a:off x="2409457" y="2650330"/>
            <a:ext cx="1505450" cy="1479472"/>
            <a:chOff x="1709739" y="2636838"/>
            <a:chExt cx="1590160" cy="1584325"/>
          </a:xfrm>
          <a:solidFill>
            <a:srgbClr val="044875"/>
          </a:solidFill>
        </p:grpSpPr>
        <p:sp>
          <p:nvSpPr>
            <p:cNvPr id="104976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76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77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77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77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77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77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77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77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777"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34" name="组合 71"/>
          <p:cNvGrpSpPr/>
          <p:nvPr>
            <p:custDataLst>
              <p:tags r:id="rId1"/>
            </p:custDataLst>
          </p:nvPr>
        </p:nvGrpSpPr>
        <p:grpSpPr>
          <a:xfrm>
            <a:off x="4523741" y="2047924"/>
            <a:ext cx="5370513" cy="534987"/>
            <a:chOff x="3281952" y="1484784"/>
            <a:chExt cx="5370513" cy="534987"/>
          </a:xfrm>
        </p:grpSpPr>
        <p:grpSp>
          <p:nvGrpSpPr>
            <p:cNvPr id="635" name="组合 72"/>
            <p:cNvGrpSpPr/>
            <p:nvPr/>
          </p:nvGrpSpPr>
          <p:grpSpPr>
            <a:xfrm>
              <a:off x="3943940" y="1484784"/>
              <a:ext cx="4708525" cy="534987"/>
              <a:chOff x="3943940" y="1626760"/>
              <a:chExt cx="4708525" cy="534987"/>
            </a:xfrm>
          </p:grpSpPr>
          <p:sp>
            <p:nvSpPr>
              <p:cNvPr id="1049778"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779"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80"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36" name="组合 73"/>
            <p:cNvGrpSpPr/>
            <p:nvPr/>
          </p:nvGrpSpPr>
          <p:grpSpPr>
            <a:xfrm>
              <a:off x="3281952" y="1484784"/>
              <a:ext cx="689642" cy="534987"/>
              <a:chOff x="3281952" y="1626760"/>
              <a:chExt cx="689642" cy="534987"/>
            </a:xfrm>
          </p:grpSpPr>
          <p:sp>
            <p:nvSpPr>
              <p:cNvPr id="1049781"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82"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637" name="组合 80"/>
          <p:cNvGrpSpPr/>
          <p:nvPr>
            <p:custDataLst>
              <p:tags r:id="rId2"/>
            </p:custDataLst>
          </p:nvPr>
        </p:nvGrpSpPr>
        <p:grpSpPr>
          <a:xfrm>
            <a:off x="4503593" y="3688642"/>
            <a:ext cx="5372100" cy="534987"/>
            <a:chOff x="3261805" y="3188752"/>
            <a:chExt cx="5372100" cy="534987"/>
          </a:xfrm>
        </p:grpSpPr>
        <p:grpSp>
          <p:nvGrpSpPr>
            <p:cNvPr id="638" name="组合 81"/>
            <p:cNvGrpSpPr/>
            <p:nvPr/>
          </p:nvGrpSpPr>
          <p:grpSpPr>
            <a:xfrm>
              <a:off x="3261805" y="3188752"/>
              <a:ext cx="689593" cy="534987"/>
              <a:chOff x="3261805" y="3188752"/>
              <a:chExt cx="689593" cy="534987"/>
            </a:xfrm>
          </p:grpSpPr>
          <p:sp>
            <p:nvSpPr>
              <p:cNvPr id="1049783"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84"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639" name="组合 82"/>
            <p:cNvGrpSpPr/>
            <p:nvPr/>
          </p:nvGrpSpPr>
          <p:grpSpPr>
            <a:xfrm>
              <a:off x="3923792" y="3188752"/>
              <a:ext cx="4710113" cy="534987"/>
              <a:chOff x="3923792" y="3188752"/>
              <a:chExt cx="4710113" cy="534987"/>
            </a:xfrm>
          </p:grpSpPr>
          <p:sp>
            <p:nvSpPr>
              <p:cNvPr id="1049785"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786"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87"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640" name="组合 98"/>
          <p:cNvGrpSpPr/>
          <p:nvPr>
            <p:custDataLst>
              <p:tags r:id="rId3"/>
            </p:custDataLst>
          </p:nvPr>
        </p:nvGrpSpPr>
        <p:grpSpPr>
          <a:xfrm>
            <a:off x="4503593" y="4509001"/>
            <a:ext cx="5372100" cy="534987"/>
            <a:chOff x="3261805" y="4046141"/>
            <a:chExt cx="5372100" cy="534987"/>
          </a:xfrm>
        </p:grpSpPr>
        <p:grpSp>
          <p:nvGrpSpPr>
            <p:cNvPr id="641" name="组合 99"/>
            <p:cNvGrpSpPr/>
            <p:nvPr/>
          </p:nvGrpSpPr>
          <p:grpSpPr>
            <a:xfrm>
              <a:off x="3261805" y="4046141"/>
              <a:ext cx="689447" cy="534987"/>
              <a:chOff x="3261805" y="3969748"/>
              <a:chExt cx="689447" cy="534987"/>
            </a:xfrm>
          </p:grpSpPr>
          <p:sp>
            <p:nvSpPr>
              <p:cNvPr id="1049788"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89"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642" name="组合 100"/>
            <p:cNvGrpSpPr/>
            <p:nvPr/>
          </p:nvGrpSpPr>
          <p:grpSpPr>
            <a:xfrm>
              <a:off x="3923792" y="4046141"/>
              <a:ext cx="4710113" cy="534987"/>
              <a:chOff x="3923792" y="3969748"/>
              <a:chExt cx="4710113" cy="534987"/>
            </a:xfrm>
          </p:grpSpPr>
          <p:sp>
            <p:nvSpPr>
              <p:cNvPr id="1049790"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791"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0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92"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43" name="组合 107"/>
          <p:cNvGrpSpPr/>
          <p:nvPr>
            <p:custDataLst>
              <p:tags r:id="rId4"/>
            </p:custDataLst>
          </p:nvPr>
        </p:nvGrpSpPr>
        <p:grpSpPr>
          <a:xfrm>
            <a:off x="4517645" y="2868283"/>
            <a:ext cx="5370513" cy="534987"/>
            <a:chOff x="3275856" y="2348880"/>
            <a:chExt cx="5370513" cy="534987"/>
          </a:xfrm>
        </p:grpSpPr>
        <p:grpSp>
          <p:nvGrpSpPr>
            <p:cNvPr id="644" name="组合 108"/>
            <p:cNvGrpSpPr/>
            <p:nvPr/>
          </p:nvGrpSpPr>
          <p:grpSpPr>
            <a:xfrm>
              <a:off x="3275856" y="2348880"/>
              <a:ext cx="689474" cy="534987"/>
              <a:chOff x="3275856" y="2407756"/>
              <a:chExt cx="689474" cy="534987"/>
            </a:xfrm>
          </p:grpSpPr>
          <p:sp>
            <p:nvSpPr>
              <p:cNvPr id="1049793"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794"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645" name="组合 109"/>
            <p:cNvGrpSpPr/>
            <p:nvPr/>
          </p:nvGrpSpPr>
          <p:grpSpPr>
            <a:xfrm>
              <a:off x="3937844" y="2348880"/>
              <a:ext cx="4708525" cy="534987"/>
              <a:chOff x="3937844" y="2407756"/>
              <a:chExt cx="4708525" cy="534987"/>
            </a:xfrm>
          </p:grpSpPr>
          <p:sp>
            <p:nvSpPr>
              <p:cNvPr id="1049795"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796"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79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801"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802"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649" name="组合 54"/>
          <p:cNvGrpSpPr/>
          <p:nvPr/>
        </p:nvGrpSpPr>
        <p:grpSpPr>
          <a:xfrm>
            <a:off x="-1" y="6553200"/>
            <a:ext cx="12192001" cy="304800"/>
            <a:chOff x="0" y="6569404"/>
            <a:chExt cx="9144000" cy="288000"/>
          </a:xfrm>
        </p:grpSpPr>
        <p:sp>
          <p:nvSpPr>
            <p:cNvPr id="1049803"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04"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05"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74</a:t>
            </a:fld>
            <a:endParaRPr lang="zh-HK" altLang="en-US" sz="1600" dirty="0">
              <a:solidFill>
                <a:schemeClr val="bg1"/>
              </a:solidFill>
            </a:endParaRPr>
          </a:p>
        </p:txBody>
      </p:sp>
      <p:pic>
        <p:nvPicPr>
          <p:cNvPr id="2097240" name="图片 5"/>
          <p:cNvPicPr>
            <a:picLocks noChangeAspect="1"/>
          </p:cNvPicPr>
          <p:nvPr/>
        </p:nvPicPr>
        <p:blipFill>
          <a:blip r:embed="rId3"/>
          <a:stretch>
            <a:fillRect/>
          </a:stretch>
        </p:blipFill>
        <p:spPr>
          <a:xfrm>
            <a:off x="624000" y="796090"/>
            <a:ext cx="4896000" cy="5672770"/>
          </a:xfrm>
          <a:prstGeom prst="rect">
            <a:avLst/>
          </a:prstGeom>
        </p:spPr>
      </p:pic>
      <p:sp>
        <p:nvSpPr>
          <p:cNvPr id="1049806" name="文本框 9"/>
          <p:cNvSpPr txBox="1"/>
          <p:nvPr/>
        </p:nvSpPr>
        <p:spPr>
          <a:xfrm>
            <a:off x="5808000" y="750598"/>
            <a:ext cx="6361587" cy="2031325"/>
          </a:xfrm>
          <a:prstGeom prst="rect">
            <a:avLst/>
          </a:prstGeom>
          <a:noFill/>
        </p:spPr>
        <p:txBody>
          <a:bodyPr wrap="square">
            <a:spAutoFit/>
          </a:bodyPr>
          <a:lstStyle/>
          <a:p>
            <a:pPr>
              <a:buNone/>
            </a:pPr>
            <a:r>
              <a:rPr lang="en-US" altLang="zh-CN" sz="1800">
                <a:solidFill>
                  <a:srgbClr val="000000"/>
                </a:solidFill>
                <a:effectLst/>
                <a:latin typeface="Arial" panose="020B0604020202020204" pitchFamily="34" charset="0"/>
                <a:ea typeface="Arial Unicode MS" panose="020B0604020202020204" charset="-122"/>
                <a:cs typeface="Arial" panose="020B0604020202020204" pitchFamily="34" charset="0"/>
              </a:rPr>
              <a:t>       First</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 we study a model with </a:t>
            </a:r>
            <a:r>
              <a:rPr lang="en-US" altLang="zh-CN" sz="1800" b="1" dirty="0">
                <a:solidFill>
                  <a:srgbClr val="FF0000"/>
                </a:solidFill>
                <a:effectLst/>
                <a:latin typeface="Arial" panose="020B0604020202020204" pitchFamily="34" charset="0"/>
                <a:ea typeface="Arial Unicode MS" panose="020B0604020202020204" charset="-122"/>
                <a:cs typeface="Arial" panose="020B0604020202020204" pitchFamily="34" charset="0"/>
              </a:rPr>
              <a:t>7 million trainable parameters</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 trained to distinguish images of 100 classes. We first pre-train the neural network, use the largest 10% of learned parameters for initialization, and use the quantum ODE system to obtain a sparse output model. We record the </a:t>
            </a:r>
            <a:r>
              <a:rPr lang="en-US" altLang="zh-CN" sz="1800" b="1" dirty="0">
                <a:solidFill>
                  <a:srgbClr val="FF0000"/>
                </a:solidFill>
                <a:effectLst/>
                <a:latin typeface="Arial" panose="020B0604020202020204" pitchFamily="34" charset="0"/>
                <a:ea typeface="Arial Unicode MS" panose="020B0604020202020204" charset="-122"/>
                <a:cs typeface="Arial" panose="020B0604020202020204" pitchFamily="34" charset="0"/>
              </a:rPr>
              <a:t>Hessian spectra </a:t>
            </a:r>
            <a:r>
              <a:rPr lang="en-US" altLang="zh-CN"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during sparse training, allowing us to track the evolution of an error bound related quantity, given by</a:t>
            </a:r>
            <a:r>
              <a:rPr lang="zh-CN" altLang="en-US" sz="1800" dirty="0">
                <a:solidFill>
                  <a:srgbClr val="000000"/>
                </a:solidFill>
                <a:effectLst/>
                <a:latin typeface="Arial" panose="020B0604020202020204" pitchFamily="34" charset="0"/>
                <a:ea typeface="Arial Unicode MS" panose="020B0604020202020204" charset="-122"/>
                <a:cs typeface="Arial" panose="020B0604020202020204" pitchFamily="34" charset="0"/>
              </a:rPr>
              <a:t>：</a:t>
            </a:r>
            <a:endParaRPr lang="zh-CN" altLang="en-US" dirty="0">
              <a:latin typeface="Arial" panose="020B0604020202020204" pitchFamily="34" charset="0"/>
              <a:ea typeface="Arial Unicode MS" panose="020B0604020202020204" charset="-122"/>
              <a:cs typeface="Arial" panose="020B0604020202020204" pitchFamily="34" charset="0"/>
            </a:endParaRPr>
          </a:p>
        </p:txBody>
      </p:sp>
      <p:pic>
        <p:nvPicPr>
          <p:cNvPr id="2097241" name="图片 11"/>
          <p:cNvPicPr>
            <a:picLocks noChangeAspect="1"/>
          </p:cNvPicPr>
          <p:nvPr/>
        </p:nvPicPr>
        <p:blipFill>
          <a:blip r:embed="rId4"/>
          <a:stretch>
            <a:fillRect/>
          </a:stretch>
        </p:blipFill>
        <p:spPr>
          <a:xfrm>
            <a:off x="5834771" y="3002304"/>
            <a:ext cx="6195653" cy="310509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3" name="组合 108"/>
          <p:cNvGrpSpPr/>
          <p:nvPr/>
        </p:nvGrpSpPr>
        <p:grpSpPr>
          <a:xfrm>
            <a:off x="1524000" y="6569404"/>
            <a:ext cx="9144000" cy="288596"/>
            <a:chOff x="0" y="6569404"/>
            <a:chExt cx="9144000" cy="288596"/>
          </a:xfrm>
        </p:grpSpPr>
        <p:sp>
          <p:nvSpPr>
            <p:cNvPr id="1049810" name="矩形 109"/>
            <p:cNvSpPr/>
            <p:nvPr/>
          </p:nvSpPr>
          <p:spPr>
            <a:xfrm>
              <a:off x="8856000" y="6570000"/>
              <a:ext cx="288000" cy="288000"/>
            </a:xfrm>
            <a:prstGeom prst="rect">
              <a:avLst/>
            </a:prstGeom>
            <a:solidFill>
              <a:srgbClr val="0174AB"/>
            </a:solidFill>
          </p:spPr>
          <p:txBody>
            <a:bodyPr wrap="square" anchor="ctr">
              <a:spAutoFit/>
            </a:bodyPr>
            <a:lstStyle/>
            <a:p>
              <a:pPr algn="ctr"/>
              <a:r>
                <a:rPr lang="en-US" altLang="zh-CN" sz="1200"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811" name="矩形 110"/>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 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12" name="矩形 62"/>
          <p:cNvSpPr/>
          <p:nvPr/>
        </p:nvSpPr>
        <p:spPr>
          <a:xfrm>
            <a:off x="10380000" y="6575502"/>
            <a:ext cx="288000" cy="276999"/>
          </a:xfrm>
          <a:prstGeom prst="rect">
            <a:avLst/>
          </a:prstGeom>
          <a:solidFill>
            <a:srgbClr val="0174AB"/>
          </a:solidFill>
        </p:spPr>
        <p:txBody>
          <a:bodyPr wrap="square" anchor="ctr">
            <a:spAutoFit/>
          </a:bodyPr>
          <a:lstStyle/>
          <a:p>
            <a:pPr algn="ctr"/>
            <a:endParaRPr lang="zh-CN" altLang="en-US" sz="1200" dirty="0">
              <a:solidFill>
                <a:schemeClr val="bg1"/>
              </a:solidFill>
              <a:latin typeface="Times New Roman" panose="02020603050405020304" pitchFamily="18" charset="0"/>
              <a:cs typeface="Times New Roman" panose="02020603050405020304" pitchFamily="18" charset="0"/>
            </a:endParaRPr>
          </a:p>
        </p:txBody>
      </p:sp>
      <p:sp>
        <p:nvSpPr>
          <p:cNvPr id="1049813" name="矩形 65"/>
          <p:cNvSpPr/>
          <p:nvPr/>
        </p:nvSpPr>
        <p:spPr>
          <a:xfrm>
            <a:off x="10356361" y="6575500"/>
            <a:ext cx="335280" cy="275590"/>
          </a:xfrm>
          <a:prstGeom prst="rect">
            <a:avLst/>
          </a:prstGeom>
        </p:spPr>
        <p:txBody>
          <a:bodyPr wrap="none">
            <a:spAutoFit/>
          </a:bodyPr>
          <a:lstStyle/>
          <a:p>
            <a:pPr algn="ctr"/>
            <a:r>
              <a:rPr lang="en-US" altLang="zh-CN"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rPr>
              <a:t>18</a:t>
            </a:r>
            <a:endParaRPr lang="zh-CN" altLang="en-US" sz="1200" b="1" dirty="0">
              <a:solidFill>
                <a:schemeClr val="bg1"/>
              </a:solidFill>
              <a:latin typeface="Times New Roman" panose="02020603050405020304" pitchFamily="18" charset="0"/>
              <a:cs typeface="Times New Roman" panose="02020603050405020304" pitchFamily="18" charset="0"/>
            </a:endParaRPr>
          </a:p>
        </p:txBody>
      </p:sp>
      <p:sp>
        <p:nvSpPr>
          <p:cNvPr id="1049814" name="灯片编号占位符 6"/>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75</a:t>
            </a:fld>
            <a:endParaRPr lang="zh-HK" altLang="en-US">
              <a:solidFill>
                <a:prstClr val="black">
                  <a:tint val="75000"/>
                </a:prstClr>
              </a:solidFill>
            </a:endParaRPr>
          </a:p>
        </p:txBody>
      </p:sp>
      <p:grpSp>
        <p:nvGrpSpPr>
          <p:cNvPr id="654" name="组合 7"/>
          <p:cNvGrpSpPr/>
          <p:nvPr/>
        </p:nvGrpSpPr>
        <p:grpSpPr>
          <a:xfrm>
            <a:off x="-1" y="6553200"/>
            <a:ext cx="12192001" cy="304800"/>
            <a:chOff x="0" y="6569404"/>
            <a:chExt cx="9144000" cy="288000"/>
          </a:xfrm>
        </p:grpSpPr>
        <p:sp>
          <p:nvSpPr>
            <p:cNvPr id="1049815" name="矩形 8"/>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16"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1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75</a:t>
            </a:fld>
            <a:endParaRPr lang="zh-HK" altLang="en-US" sz="1600" dirty="0">
              <a:solidFill>
                <a:schemeClr val="bg1"/>
              </a:solidFill>
            </a:endParaRPr>
          </a:p>
        </p:txBody>
      </p:sp>
      <p:pic>
        <p:nvPicPr>
          <p:cNvPr id="2097242" name="图片 23"/>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55" name="组合 18"/>
          <p:cNvGrpSpPr/>
          <p:nvPr/>
        </p:nvGrpSpPr>
        <p:grpSpPr bwMode="auto">
          <a:xfrm>
            <a:off x="2409457" y="2650330"/>
            <a:ext cx="1505450" cy="1479472"/>
            <a:chOff x="1709739" y="2636838"/>
            <a:chExt cx="1590160" cy="1584325"/>
          </a:xfrm>
          <a:solidFill>
            <a:srgbClr val="044875"/>
          </a:solidFill>
        </p:grpSpPr>
        <p:sp>
          <p:nvSpPr>
            <p:cNvPr id="1049818"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819"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820"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821"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822"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823"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824"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825"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826"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827" name="文本框 76"/>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56" name="组合 77"/>
          <p:cNvGrpSpPr/>
          <p:nvPr>
            <p:custDataLst>
              <p:tags r:id="rId1"/>
            </p:custDataLst>
          </p:nvPr>
        </p:nvGrpSpPr>
        <p:grpSpPr>
          <a:xfrm>
            <a:off x="4523741" y="2047924"/>
            <a:ext cx="5370513" cy="534987"/>
            <a:chOff x="3281952" y="1484784"/>
            <a:chExt cx="5370513" cy="534987"/>
          </a:xfrm>
        </p:grpSpPr>
        <p:grpSp>
          <p:nvGrpSpPr>
            <p:cNvPr id="657" name="组合 78"/>
            <p:cNvGrpSpPr/>
            <p:nvPr/>
          </p:nvGrpSpPr>
          <p:grpSpPr>
            <a:xfrm>
              <a:off x="3943940" y="1484784"/>
              <a:ext cx="4708525" cy="534987"/>
              <a:chOff x="3943940" y="1626760"/>
              <a:chExt cx="4708525" cy="534987"/>
            </a:xfrm>
          </p:grpSpPr>
          <p:sp>
            <p:nvSpPr>
              <p:cNvPr id="1049828"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829"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830" name="矩形 84"/>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1" name="直接连接符 86"/>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58" name="组合 79"/>
            <p:cNvGrpSpPr/>
            <p:nvPr/>
          </p:nvGrpSpPr>
          <p:grpSpPr>
            <a:xfrm>
              <a:off x="3281952" y="1484784"/>
              <a:ext cx="689642" cy="534987"/>
              <a:chOff x="3281952" y="1626760"/>
              <a:chExt cx="689642" cy="534987"/>
            </a:xfrm>
          </p:grpSpPr>
          <p:sp>
            <p:nvSpPr>
              <p:cNvPr id="1049831" name="矩形 80"/>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32"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659" name="组合 87"/>
          <p:cNvGrpSpPr/>
          <p:nvPr>
            <p:custDataLst>
              <p:tags r:id="rId2"/>
            </p:custDataLst>
          </p:nvPr>
        </p:nvGrpSpPr>
        <p:grpSpPr>
          <a:xfrm>
            <a:off x="4503593" y="3688642"/>
            <a:ext cx="5372100" cy="534987"/>
            <a:chOff x="3261805" y="3188752"/>
            <a:chExt cx="5372100" cy="534987"/>
          </a:xfrm>
        </p:grpSpPr>
        <p:grpSp>
          <p:nvGrpSpPr>
            <p:cNvPr id="660" name="组合 90"/>
            <p:cNvGrpSpPr/>
            <p:nvPr/>
          </p:nvGrpSpPr>
          <p:grpSpPr>
            <a:xfrm>
              <a:off x="3261805" y="3188752"/>
              <a:ext cx="689593" cy="534987"/>
              <a:chOff x="3261805" y="3188752"/>
              <a:chExt cx="689593" cy="534987"/>
            </a:xfrm>
          </p:grpSpPr>
          <p:sp>
            <p:nvSpPr>
              <p:cNvPr id="1049833" name="矩形 10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34"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661" name="组合 94"/>
            <p:cNvGrpSpPr/>
            <p:nvPr/>
          </p:nvGrpSpPr>
          <p:grpSpPr>
            <a:xfrm>
              <a:off x="3923792" y="3188752"/>
              <a:ext cx="4710113" cy="534987"/>
              <a:chOff x="3923792" y="3188752"/>
              <a:chExt cx="4710113" cy="534987"/>
            </a:xfrm>
          </p:grpSpPr>
          <p:sp>
            <p:nvSpPr>
              <p:cNvPr id="1049835"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836" name="矩形 9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2" name="直接连接符 10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37"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662" name="组合 104"/>
          <p:cNvGrpSpPr/>
          <p:nvPr>
            <p:custDataLst>
              <p:tags r:id="rId3"/>
            </p:custDataLst>
          </p:nvPr>
        </p:nvGrpSpPr>
        <p:grpSpPr>
          <a:xfrm>
            <a:off x="4503593" y="4509001"/>
            <a:ext cx="5372100" cy="534987"/>
            <a:chOff x="3261805" y="4046141"/>
            <a:chExt cx="5372100" cy="534987"/>
          </a:xfrm>
        </p:grpSpPr>
        <p:grpSp>
          <p:nvGrpSpPr>
            <p:cNvPr id="663" name="组合 105"/>
            <p:cNvGrpSpPr/>
            <p:nvPr/>
          </p:nvGrpSpPr>
          <p:grpSpPr>
            <a:xfrm>
              <a:off x="3261805" y="4046141"/>
              <a:ext cx="689447" cy="534987"/>
              <a:chOff x="3261805" y="3969748"/>
              <a:chExt cx="689447" cy="534987"/>
            </a:xfrm>
          </p:grpSpPr>
          <p:sp>
            <p:nvSpPr>
              <p:cNvPr id="1049838" name="矩形 114"/>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39"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nvGrpSpPr>
            <p:cNvPr id="664" name="组合 106"/>
            <p:cNvGrpSpPr/>
            <p:nvPr/>
          </p:nvGrpSpPr>
          <p:grpSpPr>
            <a:xfrm>
              <a:off x="3923792" y="4046141"/>
              <a:ext cx="4710113" cy="534987"/>
              <a:chOff x="3923792" y="3969748"/>
              <a:chExt cx="4710113" cy="534987"/>
            </a:xfrm>
          </p:grpSpPr>
          <p:sp>
            <p:nvSpPr>
              <p:cNvPr id="1049840"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841" name="矩形 111"/>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3" name="直接连接符 112"/>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42"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665" name="组合 116"/>
          <p:cNvGrpSpPr/>
          <p:nvPr>
            <p:custDataLst>
              <p:tags r:id="rId4"/>
            </p:custDataLst>
          </p:nvPr>
        </p:nvGrpSpPr>
        <p:grpSpPr>
          <a:xfrm>
            <a:off x="4517645" y="2868283"/>
            <a:ext cx="5370513" cy="534987"/>
            <a:chOff x="3275856" y="2348880"/>
            <a:chExt cx="5370513" cy="534987"/>
          </a:xfrm>
        </p:grpSpPr>
        <p:grpSp>
          <p:nvGrpSpPr>
            <p:cNvPr id="666" name="组合 117"/>
            <p:cNvGrpSpPr/>
            <p:nvPr/>
          </p:nvGrpSpPr>
          <p:grpSpPr>
            <a:xfrm>
              <a:off x="3275856" y="2348880"/>
              <a:ext cx="689474" cy="534987"/>
              <a:chOff x="3275856" y="2407756"/>
              <a:chExt cx="689474" cy="534987"/>
            </a:xfrm>
          </p:grpSpPr>
          <p:sp>
            <p:nvSpPr>
              <p:cNvPr id="1049843" name="矩形 123"/>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44"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667" name="组合 118"/>
            <p:cNvGrpSpPr/>
            <p:nvPr/>
          </p:nvGrpSpPr>
          <p:grpSpPr>
            <a:xfrm>
              <a:off x="3937844" y="2348880"/>
              <a:ext cx="4708525" cy="534987"/>
              <a:chOff x="3937844" y="2407756"/>
              <a:chExt cx="4708525" cy="534987"/>
            </a:xfrm>
          </p:grpSpPr>
          <p:sp>
            <p:nvSpPr>
              <p:cNvPr id="1049845"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846" name="矩形 120"/>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4" name="直接连接符 121"/>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47"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1" name="组合 3"/>
          <p:cNvGrpSpPr/>
          <p:nvPr/>
        </p:nvGrpSpPr>
        <p:grpSpPr>
          <a:xfrm>
            <a:off x="-72374" y="1960245"/>
            <a:ext cx="12576374" cy="2045019"/>
            <a:chOff x="1522095" y="1960245"/>
            <a:chExt cx="9399290" cy="2045019"/>
          </a:xfrm>
        </p:grpSpPr>
        <p:sp>
          <p:nvSpPr>
            <p:cNvPr id="1049851" name="矩形 7"/>
            <p:cNvSpPr/>
            <p:nvPr/>
          </p:nvSpPr>
          <p:spPr>
            <a:xfrm>
              <a:off x="1522095" y="1960245"/>
              <a:ext cx="9147810" cy="2045019"/>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852" name="文本框 8"/>
            <p:cNvSpPr txBox="1"/>
            <p:nvPr/>
          </p:nvSpPr>
          <p:spPr>
            <a:xfrm>
              <a:off x="1818014" y="2154890"/>
              <a:ext cx="8555970" cy="1305165"/>
            </a:xfrm>
            <a:prstGeom prst="rect">
              <a:avLst/>
            </a:prstGeom>
            <a:noFill/>
          </p:spPr>
          <p:txBody>
            <a:bodyPr wrap="square" rtlCol="0" anchor="ctr">
              <a:spAutoFit/>
            </a:bodyPr>
            <a:lstStyle/>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Towards provably efficient quantum</a:t>
              </a:r>
            </a:p>
            <a:p>
              <a:pPr algn="ctr">
                <a:lnSpc>
                  <a:spcPct val="150000"/>
                </a:lnSpc>
              </a:pPr>
              <a:r>
                <a:rPr lang="en-US" altLang="zh-CN" sz="2800" b="1">
                  <a:solidFill>
                    <a:schemeClr val="bg1"/>
                  </a:solidFill>
                  <a:latin typeface="Arial" panose="020B0604020202020204" pitchFamily="34" charset="0"/>
                  <a:ea typeface="微软雅黑" panose="020B0503020204020204" charset="-122"/>
                  <a:cs typeface="Arial" panose="020B0604020202020204" pitchFamily="34" charset="0"/>
                </a:rPr>
                <a:t>algorithms for large-scale machine learning models</a:t>
              </a:r>
              <a:endParaRPr lang="en-US" altLang="zh-CN" sz="2800" b="1" dirty="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49853" name="文本框 2"/>
            <p:cNvSpPr txBox="1"/>
            <p:nvPr/>
          </p:nvSpPr>
          <p:spPr>
            <a:xfrm>
              <a:off x="1558945" y="3697223"/>
              <a:ext cx="9362440" cy="307777"/>
            </a:xfrm>
            <a:prstGeom prst="rect">
              <a:avLst/>
            </a:prstGeom>
            <a:noFill/>
          </p:spPr>
          <p:txBody>
            <a:bodyPr wrap="square" rtlCol="0">
              <a:spAutoFit/>
            </a:bodyPr>
            <a:lstStyle/>
            <a:p>
              <a:pPr>
                <a:buNone/>
              </a:pP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Matthias C. Caro,</a:t>
              </a:r>
              <a:r>
                <a:rPr lang="en-US"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Hsin-Yuan Huang,</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M. Cerezo, Kunal Sharma,</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 Andrew Sornborger,</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Lukasz Cincio,</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a:t>
              </a:r>
              <a:r>
                <a:rPr lang="zh-CN" altLang="zh-CN" sz="1400">
                  <a:solidFill>
                    <a:schemeClr val="bg1"/>
                  </a:solidFill>
                  <a:effectLst/>
                  <a:latin typeface="Arial Unicode MS" panose="020B0604020202020204" charset="-122"/>
                  <a:ea typeface="Arial Unicode MS" panose="020B0604020202020204" charset="-122"/>
                  <a:cs typeface="Arial Unicode MS" panose="020B0604020202020204" charset="-122"/>
                </a:rPr>
                <a:t>and Patrick J. Coles</a:t>
              </a:r>
              <a:r>
                <a:rPr lang="en-US" altLang="zh-CN" sz="1400">
                  <a:solidFill>
                    <a:schemeClr val="bg1"/>
                  </a:solidFill>
                  <a:latin typeface="Arial Unicode MS" panose="020B0604020202020204" charset="-122"/>
                  <a:ea typeface="Arial Unicode MS" panose="020B0604020202020204" charset="-122"/>
                  <a:cs typeface="Arial Unicode MS" panose="020B0604020202020204" charset="-122"/>
                </a:rPr>
                <a:t>, Yunfei Wang, Yuri Alexeev</a:t>
              </a:r>
              <a:endParaRPr lang="zh-CN" altLang="en-US" sz="1400" dirty="0">
                <a:solidFill>
                  <a:schemeClr val="bg1"/>
                </a:solidFill>
                <a:latin typeface="Arial Unicode MS" panose="020B0604020202020204" charset="-122"/>
                <a:ea typeface="Arial Unicode MS" panose="020B0604020202020204" charset="-122"/>
                <a:cs typeface="Arial Unicode MS" panose="020B0604020202020204" charset="-122"/>
              </a:endParaRPr>
            </a:p>
          </p:txBody>
        </p:sp>
      </p:grpSp>
      <p:sp>
        <p:nvSpPr>
          <p:cNvPr id="1049854" name="文本框 1"/>
          <p:cNvSpPr txBox="1"/>
          <p:nvPr/>
        </p:nvSpPr>
        <p:spPr bwMode="auto">
          <a:xfrm>
            <a:off x="351876" y="165152"/>
            <a:ext cx="2054225" cy="646331"/>
          </a:xfrm>
          <a:prstGeom prst="rect">
            <a:avLst/>
          </a:prstGeom>
          <a:noFill/>
        </p:spPr>
        <p:txBody>
          <a:bodyPr>
            <a:spAutoFit/>
          </a:bodyPr>
          <a:lstStyle/>
          <a:p>
            <a:pPr algn="ctr" fontAlgn="auto"/>
            <a:r>
              <a:rPr lang="en-US" altLang="zh-CN"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Paper 5</a:t>
            </a:r>
            <a:endParaRPr lang="zh-HK" altLang="en-US" sz="36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72" name="组合 15"/>
          <p:cNvGrpSpPr/>
          <p:nvPr/>
        </p:nvGrpSpPr>
        <p:grpSpPr>
          <a:xfrm>
            <a:off x="-1" y="6553200"/>
            <a:ext cx="12192001" cy="304800"/>
            <a:chOff x="0" y="6569404"/>
            <a:chExt cx="9144000" cy="288000"/>
          </a:xfrm>
        </p:grpSpPr>
        <p:sp>
          <p:nvSpPr>
            <p:cNvPr id="1049855" name="矩形 1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56" name="矩形 1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5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76</a:t>
            </a:fld>
            <a:endParaRPr lang="zh-HK" altLang="en-US" sz="1600" dirty="0">
              <a:solidFill>
                <a:schemeClr val="bg1"/>
              </a:solidFill>
            </a:endParaRPr>
          </a:p>
        </p:txBody>
      </p:sp>
      <p:grpSp>
        <p:nvGrpSpPr>
          <p:cNvPr id="673" name="组合 9"/>
          <p:cNvGrpSpPr/>
          <p:nvPr/>
        </p:nvGrpSpPr>
        <p:grpSpPr>
          <a:xfrm>
            <a:off x="351876" y="4596014"/>
            <a:ext cx="11648124" cy="1117600"/>
            <a:chOff x="623" y="7327"/>
            <a:chExt cx="15962" cy="1760"/>
          </a:xfrm>
        </p:grpSpPr>
        <p:sp>
          <p:nvSpPr>
            <p:cNvPr id="1049858" name="文本框 11"/>
            <p:cNvSpPr txBox="1"/>
            <p:nvPr/>
          </p:nvSpPr>
          <p:spPr>
            <a:xfrm>
              <a:off x="623" y="7327"/>
              <a:ext cx="15962" cy="582"/>
            </a:xfrm>
            <a:prstGeom prst="rect">
              <a:avLst/>
            </a:prstGeom>
            <a:noFill/>
          </p:spPr>
          <p:txBody>
            <a:bodyPr wrap="square" rtlCol="0">
              <a:spAutoFit/>
            </a:bodyPr>
            <a:lstStyle/>
            <a:p>
              <a:r>
                <a:rPr lang="en-US" altLang="zh-CN" b="1">
                  <a:latin typeface="Arial" panose="020B0604020202020204" pitchFamily="34" charset="0"/>
                  <a:cs typeface="Arial" panose="020B0604020202020204" pitchFamily="34" charset="0"/>
                </a:rPr>
                <a:t>Published in: </a:t>
              </a:r>
              <a:r>
                <a:rPr lang="en-US" altLang="zh-CN">
                  <a:latin typeface="Arial" panose="020B0604020202020204" pitchFamily="34" charset="0"/>
                  <a:cs typeface="Arial" panose="020B0604020202020204" pitchFamily="34" charset="0"/>
                </a:rPr>
                <a:t>Nature Communication</a:t>
              </a:r>
              <a:endParaRPr lang="en-US" altLang="zh-CN" dirty="0">
                <a:latin typeface="Arial" panose="020B0604020202020204" pitchFamily="34" charset="0"/>
                <a:cs typeface="Arial" panose="020B0604020202020204" pitchFamily="34" charset="0"/>
              </a:endParaRPr>
            </a:p>
          </p:txBody>
        </p:sp>
        <p:sp>
          <p:nvSpPr>
            <p:cNvPr id="1049859" name="文本框 13"/>
            <p:cNvSpPr txBox="1"/>
            <p:nvPr/>
          </p:nvSpPr>
          <p:spPr>
            <a:xfrm>
              <a:off x="623" y="8507"/>
              <a:ext cx="9184" cy="580"/>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Published Time</a:t>
              </a:r>
              <a:r>
                <a:rPr lang="en-US" altLang="zh-CN" b="1">
                  <a:latin typeface="Arial" panose="020B0604020202020204" pitchFamily="34" charset="0"/>
                  <a:cs typeface="Arial" panose="020B0604020202020204" pitchFamily="34" charset="0"/>
                </a:rPr>
                <a:t>:</a:t>
              </a:r>
              <a:r>
                <a:rPr lang="en-US" altLang="zh-CN">
                  <a:latin typeface="Arial" panose="020B0604020202020204" pitchFamily="34" charset="0"/>
                  <a:cs typeface="Arial" panose="020B0604020202020204" pitchFamily="34" charset="0"/>
                </a:rPr>
                <a:t> </a:t>
              </a:r>
              <a:r>
                <a:rPr lang="en-US" altLang="zh-CN">
                  <a:latin typeface="-apple-system"/>
                  <a:cs typeface="Arial" panose="020B0604020202020204" pitchFamily="34" charset="0"/>
                </a:rPr>
                <a:t>2024</a:t>
              </a:r>
              <a:endParaRPr lang="en-US" altLang="zh-CN" dirty="0">
                <a:latin typeface="Arial" panose="020B0604020202020204" pitchFamily="34" charset="0"/>
                <a:cs typeface="Arial" panose="020B0604020202020204" pitchFamily="34" charset="0"/>
              </a:endParaRPr>
            </a:p>
          </p:txBody>
        </p:sp>
      </p:grpSp>
      <p:pic>
        <p:nvPicPr>
          <p:cNvPr id="2097243" name="图片 14"/>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7" name="组合 18"/>
          <p:cNvGrpSpPr/>
          <p:nvPr/>
        </p:nvGrpSpPr>
        <p:grpSpPr bwMode="auto">
          <a:xfrm>
            <a:off x="2409457" y="2650330"/>
            <a:ext cx="1505450" cy="1479472"/>
            <a:chOff x="1709739" y="2636838"/>
            <a:chExt cx="1590160" cy="1584325"/>
          </a:xfrm>
          <a:solidFill>
            <a:srgbClr val="044875"/>
          </a:solidFill>
        </p:grpSpPr>
        <p:sp>
          <p:nvSpPr>
            <p:cNvPr id="104986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86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86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86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86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86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86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87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87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872" name="文本框 3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78" name="组合 18"/>
          <p:cNvGrpSpPr/>
          <p:nvPr>
            <p:custDataLst>
              <p:tags r:id="rId1"/>
            </p:custDataLst>
          </p:nvPr>
        </p:nvGrpSpPr>
        <p:grpSpPr>
          <a:xfrm>
            <a:off x="4523741" y="2047924"/>
            <a:ext cx="5370513" cy="534987"/>
            <a:chOff x="3281952" y="1484784"/>
            <a:chExt cx="5370513" cy="534987"/>
          </a:xfrm>
        </p:grpSpPr>
        <p:grpSp>
          <p:nvGrpSpPr>
            <p:cNvPr id="679" name="组合 13"/>
            <p:cNvGrpSpPr/>
            <p:nvPr/>
          </p:nvGrpSpPr>
          <p:grpSpPr>
            <a:xfrm>
              <a:off x="3943940" y="1484784"/>
              <a:ext cx="4708525" cy="534987"/>
              <a:chOff x="3943940" y="1626760"/>
              <a:chExt cx="4708525" cy="534987"/>
            </a:xfrm>
          </p:grpSpPr>
          <p:sp>
            <p:nvSpPr>
              <p:cNvPr id="104987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87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875" name="矩形 5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5" name="直接连接符 5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80" name="组合 9"/>
            <p:cNvGrpSpPr/>
            <p:nvPr/>
          </p:nvGrpSpPr>
          <p:grpSpPr>
            <a:xfrm>
              <a:off x="3281952" y="1484784"/>
              <a:ext cx="689642" cy="534987"/>
              <a:chOff x="3281952" y="1626760"/>
              <a:chExt cx="689642" cy="534987"/>
            </a:xfrm>
          </p:grpSpPr>
          <p:sp>
            <p:nvSpPr>
              <p:cNvPr id="1049876" name="矩形 52"/>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7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681" name="组合 21"/>
          <p:cNvGrpSpPr/>
          <p:nvPr>
            <p:custDataLst>
              <p:tags r:id="rId2"/>
            </p:custDataLst>
          </p:nvPr>
        </p:nvGrpSpPr>
        <p:grpSpPr>
          <a:xfrm>
            <a:off x="4503593" y="3688642"/>
            <a:ext cx="5372100" cy="534987"/>
            <a:chOff x="3261805" y="3188752"/>
            <a:chExt cx="5372100" cy="534987"/>
          </a:xfrm>
        </p:grpSpPr>
        <p:grpSp>
          <p:nvGrpSpPr>
            <p:cNvPr id="682" name="组合 11"/>
            <p:cNvGrpSpPr/>
            <p:nvPr/>
          </p:nvGrpSpPr>
          <p:grpSpPr>
            <a:xfrm>
              <a:off x="3261805" y="3188752"/>
              <a:ext cx="689593" cy="534987"/>
              <a:chOff x="3261805" y="3188752"/>
              <a:chExt cx="689593" cy="534987"/>
            </a:xfrm>
          </p:grpSpPr>
          <p:sp>
            <p:nvSpPr>
              <p:cNvPr id="1049878" name="矩形 6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7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03</a:t>
                </a:r>
                <a:endParaRPr lang="zh-CN" altLang="en-US" sz="2700">
                  <a:solidFill>
                    <a:srgbClr val="044875"/>
                  </a:solidFill>
                  <a:latin typeface="Impact" panose="020B0806030902050204" pitchFamily="34" charset="0"/>
                </a:endParaRPr>
              </a:p>
            </p:txBody>
          </p:sp>
        </p:grpSp>
        <p:grpSp>
          <p:nvGrpSpPr>
            <p:cNvPr id="683" name="组合 15"/>
            <p:cNvGrpSpPr/>
            <p:nvPr/>
          </p:nvGrpSpPr>
          <p:grpSpPr>
            <a:xfrm>
              <a:off x="3923792" y="3188752"/>
              <a:ext cx="4710113" cy="534987"/>
              <a:chOff x="3923792" y="3188752"/>
              <a:chExt cx="4710113" cy="534987"/>
            </a:xfrm>
          </p:grpSpPr>
          <p:sp>
            <p:nvSpPr>
              <p:cNvPr id="104988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881" name="矩形 56"/>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6" name="直接连接符 57"/>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8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prstClr val="black"/>
                  </a:solidFill>
                </a:endParaRPr>
              </a:p>
            </p:txBody>
          </p:sp>
        </p:grpSp>
      </p:grpSp>
      <p:grpSp>
        <p:nvGrpSpPr>
          <p:cNvPr id="684" name="组合 22"/>
          <p:cNvGrpSpPr/>
          <p:nvPr>
            <p:custDataLst>
              <p:tags r:id="rId3"/>
            </p:custDataLst>
          </p:nvPr>
        </p:nvGrpSpPr>
        <p:grpSpPr>
          <a:xfrm>
            <a:off x="4503593" y="4509001"/>
            <a:ext cx="5372100" cy="534987"/>
            <a:chOff x="3261805" y="4046141"/>
            <a:chExt cx="5372100" cy="534987"/>
          </a:xfrm>
        </p:grpSpPr>
        <p:grpSp>
          <p:nvGrpSpPr>
            <p:cNvPr id="685" name="组合 12"/>
            <p:cNvGrpSpPr/>
            <p:nvPr/>
          </p:nvGrpSpPr>
          <p:grpSpPr>
            <a:xfrm>
              <a:off x="3261805" y="4046141"/>
              <a:ext cx="689447" cy="534987"/>
              <a:chOff x="3261805" y="3969748"/>
              <a:chExt cx="689447" cy="534987"/>
            </a:xfrm>
          </p:grpSpPr>
          <p:sp>
            <p:nvSpPr>
              <p:cNvPr id="1049883" name="矩形 8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8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04</a:t>
                </a:r>
                <a:endParaRPr lang="zh-CN" altLang="en-US" sz="2700">
                  <a:solidFill>
                    <a:srgbClr val="044875"/>
                  </a:solidFill>
                  <a:latin typeface="Impact" panose="020B0806030902050204" pitchFamily="34" charset="0"/>
                </a:endParaRPr>
              </a:p>
            </p:txBody>
          </p:sp>
        </p:grpSp>
        <p:grpSp>
          <p:nvGrpSpPr>
            <p:cNvPr id="686" name="组合 16"/>
            <p:cNvGrpSpPr/>
            <p:nvPr/>
          </p:nvGrpSpPr>
          <p:grpSpPr>
            <a:xfrm>
              <a:off x="3923792" y="4046141"/>
              <a:ext cx="4710113" cy="534987"/>
              <a:chOff x="3923792" y="3969748"/>
              <a:chExt cx="4710113" cy="534987"/>
            </a:xfrm>
          </p:grpSpPr>
          <p:sp>
            <p:nvSpPr>
              <p:cNvPr id="104988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Conclusion</a:t>
                </a:r>
              </a:p>
            </p:txBody>
          </p:sp>
          <p:sp>
            <p:nvSpPr>
              <p:cNvPr id="1049886" name="矩形 64"/>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7" name="直接连接符 85"/>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8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rgbClr val="044875"/>
              </a:solidFill>
              <a:ln>
                <a:noFill/>
              </a:ln>
            </p:spPr>
            <p:txBody>
              <a:bodyPr/>
              <a:lstStyle/>
              <a:p>
                <a:endParaRPr lang="zh-CN" altLang="en-US" b="1">
                  <a:solidFill>
                    <a:prstClr val="black"/>
                  </a:solidFill>
                </a:endParaRPr>
              </a:p>
            </p:txBody>
          </p:sp>
        </p:grpSp>
      </p:grpSp>
      <p:grpSp>
        <p:nvGrpSpPr>
          <p:cNvPr id="687" name="组合 19"/>
          <p:cNvGrpSpPr/>
          <p:nvPr>
            <p:custDataLst>
              <p:tags r:id="rId4"/>
            </p:custDataLst>
          </p:nvPr>
        </p:nvGrpSpPr>
        <p:grpSpPr>
          <a:xfrm>
            <a:off x="4517645" y="2868283"/>
            <a:ext cx="5370513" cy="534987"/>
            <a:chOff x="3275856" y="2348880"/>
            <a:chExt cx="5370513" cy="534987"/>
          </a:xfrm>
        </p:grpSpPr>
        <p:grpSp>
          <p:nvGrpSpPr>
            <p:cNvPr id="688" name="组合 10"/>
            <p:cNvGrpSpPr/>
            <p:nvPr/>
          </p:nvGrpSpPr>
          <p:grpSpPr>
            <a:xfrm>
              <a:off x="3275856" y="2348880"/>
              <a:ext cx="689474" cy="534987"/>
              <a:chOff x="3275856" y="2407756"/>
              <a:chExt cx="689474" cy="534987"/>
            </a:xfrm>
          </p:grpSpPr>
          <p:sp>
            <p:nvSpPr>
              <p:cNvPr id="1049888" name="矩形 96"/>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88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689" name="组合 14"/>
            <p:cNvGrpSpPr/>
            <p:nvPr/>
          </p:nvGrpSpPr>
          <p:grpSpPr>
            <a:xfrm>
              <a:off x="3937844" y="2348880"/>
              <a:ext cx="4708525" cy="534987"/>
              <a:chOff x="3937844" y="2407756"/>
              <a:chExt cx="4708525" cy="534987"/>
            </a:xfrm>
          </p:grpSpPr>
          <p:sp>
            <p:nvSpPr>
              <p:cNvPr id="104989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891" name="矩形 92"/>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8" name="直接连接符 93"/>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89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a:solidFill>
                    <a:prstClr val="black"/>
                  </a:solidFill>
                </a:endParaRPr>
              </a:p>
            </p:txBody>
          </p:sp>
        </p:grpSp>
      </p:grpSp>
      <p:grpSp>
        <p:nvGrpSpPr>
          <p:cNvPr id="690" name="组合 6"/>
          <p:cNvGrpSpPr/>
          <p:nvPr/>
        </p:nvGrpSpPr>
        <p:grpSpPr>
          <a:xfrm>
            <a:off x="-1" y="6553200"/>
            <a:ext cx="12192001" cy="304800"/>
            <a:chOff x="0" y="6569404"/>
            <a:chExt cx="9144000" cy="288000"/>
          </a:xfrm>
        </p:grpSpPr>
        <p:sp>
          <p:nvSpPr>
            <p:cNvPr id="1049893"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894"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895"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77</a:t>
            </a:fld>
            <a:endParaRPr lang="zh-HK" altLang="en-US" sz="1600" dirty="0">
              <a:solidFill>
                <a:schemeClr val="bg1"/>
              </a:solidFill>
            </a:endParaRPr>
          </a:p>
        </p:txBody>
      </p:sp>
      <p:pic>
        <p:nvPicPr>
          <p:cNvPr id="2097244"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4" name="组合 6"/>
          <p:cNvGrpSpPr/>
          <p:nvPr/>
        </p:nvGrpSpPr>
        <p:grpSpPr>
          <a:xfrm>
            <a:off x="-1" y="6553200"/>
            <a:ext cx="12192001" cy="304800"/>
            <a:chOff x="0" y="6569404"/>
            <a:chExt cx="9144000" cy="288000"/>
          </a:xfrm>
        </p:grpSpPr>
        <p:sp>
          <p:nvSpPr>
            <p:cNvPr id="1049899" name="矩形 7"/>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00" name="矩形 8"/>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01"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78</a:t>
            </a:fld>
            <a:endParaRPr lang="zh-HK" altLang="en-US" sz="1600" dirty="0">
              <a:solidFill>
                <a:schemeClr val="bg1"/>
              </a:solidFill>
            </a:endParaRPr>
          </a:p>
        </p:txBody>
      </p:sp>
      <p:pic>
        <p:nvPicPr>
          <p:cNvPr id="2097245" name="图片 24"/>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695" name="组合 18"/>
          <p:cNvGrpSpPr/>
          <p:nvPr/>
        </p:nvGrpSpPr>
        <p:grpSpPr bwMode="auto">
          <a:xfrm>
            <a:off x="2409457" y="2650330"/>
            <a:ext cx="1505450" cy="1479472"/>
            <a:chOff x="1709739" y="2636838"/>
            <a:chExt cx="1590160" cy="1584325"/>
          </a:xfrm>
          <a:solidFill>
            <a:srgbClr val="044875"/>
          </a:solidFill>
        </p:grpSpPr>
        <p:sp>
          <p:nvSpPr>
            <p:cNvPr id="1049902"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903"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904"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905"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906"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907"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908"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909"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910"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911" name="文本框 505"/>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696" name="组合 506"/>
          <p:cNvGrpSpPr/>
          <p:nvPr>
            <p:custDataLst>
              <p:tags r:id="rId1"/>
            </p:custDataLst>
          </p:nvPr>
        </p:nvGrpSpPr>
        <p:grpSpPr>
          <a:xfrm>
            <a:off x="4523741" y="2047924"/>
            <a:ext cx="5370513" cy="534987"/>
            <a:chOff x="3281952" y="1484784"/>
            <a:chExt cx="5370513" cy="534987"/>
          </a:xfrm>
        </p:grpSpPr>
        <p:grpSp>
          <p:nvGrpSpPr>
            <p:cNvPr id="697" name="组合 507"/>
            <p:cNvGrpSpPr/>
            <p:nvPr/>
          </p:nvGrpSpPr>
          <p:grpSpPr>
            <a:xfrm>
              <a:off x="3943940" y="1484784"/>
              <a:ext cx="4708525" cy="534987"/>
              <a:chOff x="3943940" y="1626760"/>
              <a:chExt cx="4708525" cy="534987"/>
            </a:xfrm>
          </p:grpSpPr>
          <p:sp>
            <p:nvSpPr>
              <p:cNvPr id="1049912"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044875"/>
              </a:solidFill>
              <a:ln>
                <a:noFill/>
              </a:ln>
            </p:spPr>
            <p:txBody>
              <a:bodyPr/>
              <a:lstStyle/>
              <a:p>
                <a:endParaRPr lang="zh-CN" altLang="en-US" b="1">
                  <a:solidFill>
                    <a:prstClr val="black"/>
                  </a:solidFill>
                </a:endParaRPr>
              </a:p>
            </p:txBody>
          </p:sp>
          <p:sp>
            <p:nvSpPr>
              <p:cNvPr id="1049913"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rPr>
                  <a:t>Problem Description</a:t>
                </a:r>
                <a:endParaRPr lang="zh-CN" altLang="en-US" sz="2400" b="1" dirty="0">
                  <a:solidFill>
                    <a:srgbClr val="044875"/>
                  </a:solidFill>
                  <a:latin typeface="Times New Roman" panose="02020603050405020304" pitchFamily="18" charset="0"/>
                  <a:ea typeface="微软雅黑" panose="020B0503020204020204" charset="-122"/>
                </a:endParaRPr>
              </a:p>
            </p:txBody>
          </p:sp>
          <p:sp>
            <p:nvSpPr>
              <p:cNvPr id="1049914" name="矩形 513"/>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19" name="直接连接符 514"/>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698" name="组合 508"/>
            <p:cNvGrpSpPr/>
            <p:nvPr/>
          </p:nvGrpSpPr>
          <p:grpSpPr>
            <a:xfrm>
              <a:off x="3281952" y="1484784"/>
              <a:ext cx="689642" cy="534987"/>
              <a:chOff x="3281952" y="1626760"/>
              <a:chExt cx="689642" cy="534987"/>
            </a:xfrm>
          </p:grpSpPr>
          <p:sp>
            <p:nvSpPr>
              <p:cNvPr id="1049915" name="矩形 509"/>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16"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01</a:t>
                </a:r>
                <a:endParaRPr lang="zh-CN" altLang="en-US" sz="2700" dirty="0">
                  <a:solidFill>
                    <a:srgbClr val="044875"/>
                  </a:solidFill>
                  <a:latin typeface="Impact" panose="020B0806030902050204" pitchFamily="34" charset="0"/>
                </a:endParaRPr>
              </a:p>
            </p:txBody>
          </p:sp>
        </p:grpSp>
      </p:grpSp>
      <p:grpSp>
        <p:nvGrpSpPr>
          <p:cNvPr id="699" name="组合 515"/>
          <p:cNvGrpSpPr/>
          <p:nvPr>
            <p:custDataLst>
              <p:tags r:id="rId2"/>
            </p:custDataLst>
          </p:nvPr>
        </p:nvGrpSpPr>
        <p:grpSpPr>
          <a:xfrm>
            <a:off x="4503593" y="3688642"/>
            <a:ext cx="5372100" cy="534987"/>
            <a:chOff x="3261805" y="3188752"/>
            <a:chExt cx="5372100" cy="534987"/>
          </a:xfrm>
        </p:grpSpPr>
        <p:grpSp>
          <p:nvGrpSpPr>
            <p:cNvPr id="700" name="组合 516"/>
            <p:cNvGrpSpPr/>
            <p:nvPr/>
          </p:nvGrpSpPr>
          <p:grpSpPr>
            <a:xfrm>
              <a:off x="3261805" y="3188752"/>
              <a:ext cx="689593" cy="534987"/>
              <a:chOff x="3261805" y="3188752"/>
              <a:chExt cx="689593" cy="534987"/>
            </a:xfrm>
          </p:grpSpPr>
          <p:sp>
            <p:nvSpPr>
              <p:cNvPr id="1049917" name="矩形 522"/>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18"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701" name="组合 517"/>
            <p:cNvGrpSpPr/>
            <p:nvPr/>
          </p:nvGrpSpPr>
          <p:grpSpPr>
            <a:xfrm>
              <a:off x="3923792" y="3188752"/>
              <a:ext cx="4710113" cy="534987"/>
              <a:chOff x="3923792" y="3188752"/>
              <a:chExt cx="4710113" cy="534987"/>
            </a:xfrm>
          </p:grpSpPr>
          <p:sp>
            <p:nvSpPr>
              <p:cNvPr id="1049919"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20" name="矩形 519"/>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0" name="直接连接符 520"/>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21"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02" name="组合 524"/>
          <p:cNvGrpSpPr/>
          <p:nvPr>
            <p:custDataLst>
              <p:tags r:id="rId3"/>
            </p:custDataLst>
          </p:nvPr>
        </p:nvGrpSpPr>
        <p:grpSpPr>
          <a:xfrm>
            <a:off x="4503593" y="4509001"/>
            <a:ext cx="5372100" cy="534987"/>
            <a:chOff x="3261805" y="4046141"/>
            <a:chExt cx="5372100" cy="534987"/>
          </a:xfrm>
        </p:grpSpPr>
        <p:grpSp>
          <p:nvGrpSpPr>
            <p:cNvPr id="703" name="组合 525"/>
            <p:cNvGrpSpPr/>
            <p:nvPr/>
          </p:nvGrpSpPr>
          <p:grpSpPr>
            <a:xfrm>
              <a:off x="3261805" y="4046141"/>
              <a:ext cx="689447" cy="534987"/>
              <a:chOff x="3261805" y="3969748"/>
              <a:chExt cx="689447" cy="534987"/>
            </a:xfrm>
          </p:grpSpPr>
          <p:sp>
            <p:nvSpPr>
              <p:cNvPr id="1049922" name="矩形 531"/>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23"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704" name="组合 526"/>
            <p:cNvGrpSpPr/>
            <p:nvPr/>
          </p:nvGrpSpPr>
          <p:grpSpPr>
            <a:xfrm>
              <a:off x="3923792" y="4046141"/>
              <a:ext cx="4710113" cy="534987"/>
              <a:chOff x="3923792" y="3969748"/>
              <a:chExt cx="4710113" cy="534987"/>
            </a:xfrm>
          </p:grpSpPr>
          <p:sp>
            <p:nvSpPr>
              <p:cNvPr id="1049924"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925" name="矩形 528"/>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1" name="直接连接符 529"/>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26"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05" name="组合 533"/>
          <p:cNvGrpSpPr/>
          <p:nvPr>
            <p:custDataLst>
              <p:tags r:id="rId4"/>
            </p:custDataLst>
          </p:nvPr>
        </p:nvGrpSpPr>
        <p:grpSpPr>
          <a:xfrm>
            <a:off x="4517645" y="2868283"/>
            <a:ext cx="5370513" cy="534987"/>
            <a:chOff x="3275856" y="2348880"/>
            <a:chExt cx="5370513" cy="534987"/>
          </a:xfrm>
        </p:grpSpPr>
        <p:grpSp>
          <p:nvGrpSpPr>
            <p:cNvPr id="706" name="组合 534"/>
            <p:cNvGrpSpPr/>
            <p:nvPr/>
          </p:nvGrpSpPr>
          <p:grpSpPr>
            <a:xfrm>
              <a:off x="3275856" y="2348880"/>
              <a:ext cx="689474" cy="534987"/>
              <a:chOff x="3275856" y="2407756"/>
              <a:chExt cx="689474" cy="534987"/>
            </a:xfrm>
          </p:grpSpPr>
          <p:sp>
            <p:nvSpPr>
              <p:cNvPr id="1049927" name="矩形 540"/>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28"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707" name="组合 535"/>
            <p:cNvGrpSpPr/>
            <p:nvPr/>
          </p:nvGrpSpPr>
          <p:grpSpPr>
            <a:xfrm>
              <a:off x="3937844" y="2348880"/>
              <a:ext cx="4708525" cy="534987"/>
              <a:chOff x="3937844" y="2407756"/>
              <a:chExt cx="4708525" cy="534987"/>
            </a:xfrm>
          </p:grpSpPr>
          <p:sp>
            <p:nvSpPr>
              <p:cNvPr id="1049929"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30" name="矩形 537"/>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2" name="直接连接符 538"/>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31"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35" name="矩形 18"/>
          <p:cNvSpPr/>
          <p:nvPr/>
        </p:nvSpPr>
        <p:spPr>
          <a:xfrm>
            <a:off x="3810" y="1"/>
            <a:ext cx="12188190"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49936" name="文本框 71"/>
          <p:cNvSpPr txBox="1"/>
          <p:nvPr/>
        </p:nvSpPr>
        <p:spPr>
          <a:xfrm>
            <a:off x="120000" y="31704"/>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Problem Description </a:t>
            </a:r>
          </a:p>
        </p:txBody>
      </p:sp>
      <p:sp>
        <p:nvSpPr>
          <p:cNvPr id="1049937" name="文本框 7"/>
          <p:cNvSpPr txBox="1"/>
          <p:nvPr/>
        </p:nvSpPr>
        <p:spPr>
          <a:xfrm>
            <a:off x="194275" y="1088933"/>
            <a:ext cx="11805725" cy="5115311"/>
          </a:xfrm>
          <a:prstGeom prst="rect">
            <a:avLst/>
          </a:prstGeom>
          <a:noFill/>
          <a:ln>
            <a:solidFill>
              <a:srgbClr val="0174AB"/>
            </a:solidFill>
          </a:ln>
        </p:spPr>
        <p:txBody>
          <a:bodyPr wrap="square" rtlCol="0">
            <a:spAutoFit/>
          </a:bodyPr>
          <a:lstStyle/>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In this work, we prove highly general theoretical bounds on the generalization error in variational QML: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The generalization error is approximately upper bounded by </a:t>
            </a:r>
            <a:r>
              <a:rPr lang="zh-CN" altLang="zh-CN" sz="2000" i="1">
                <a:solidFill>
                  <a:srgbClr val="000000"/>
                </a:solidFill>
                <a:effectLst/>
                <a:latin typeface="Times New Roman" panose="02020603050405020304" pitchFamily="18" charset="0"/>
                <a:cs typeface="Times New Roman" panose="02020603050405020304" pitchFamily="18" charset="0"/>
              </a:rPr>
              <a:t>T /N</a:t>
            </a:r>
            <a:r>
              <a:rPr lang="zh-CN" altLang="zh-CN" sz="2000">
                <a:solidFill>
                  <a:srgbClr val="000000"/>
                </a:solidFill>
                <a:effectLst/>
                <a:latin typeface="Times New Roman" panose="02020603050405020304" pitchFamily="18" charset="0"/>
                <a:cs typeface="Times New Roman" panose="02020603050405020304" pitchFamily="18" charset="0"/>
              </a:rPr>
              <a:t>.</a:t>
            </a:r>
            <a:r>
              <a:rPr lang="en-US"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00"/>
                </a:solidFill>
                <a:effectLst/>
                <a:latin typeface="Times New Roman" panose="02020603050405020304" pitchFamily="18" charset="0"/>
                <a:cs typeface="Times New Roman" panose="02020603050405020304" pitchFamily="18" charset="0"/>
              </a:rPr>
              <a:t>In our proofs, we first establish covering num</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ber bounds for the class of quantum operations that a variational QML model can implement. From these, we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then derive generalization error bounds using the chaining technique for random processes. A key implication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of our results is that an efficiently implementable QML model, one such that </a:t>
            </a:r>
            <a:r>
              <a:rPr lang="zh-CN" altLang="zh-CN" sz="2000" i="1">
                <a:solidFill>
                  <a:srgbClr val="000000"/>
                </a:solidFill>
                <a:effectLst/>
                <a:latin typeface="Times New Roman" panose="02020603050405020304" pitchFamily="18" charset="0"/>
                <a:cs typeface="Times New Roman" panose="02020603050405020304" pitchFamily="18" charset="0"/>
              </a:rPr>
              <a:t>T ∈ O</a:t>
            </a:r>
            <a:r>
              <a:rPr lang="zh-CN" altLang="zh-CN" sz="2000">
                <a:solidFill>
                  <a:srgbClr val="000000"/>
                </a:solidFill>
                <a:effectLst/>
                <a:latin typeface="Times New Roman" panose="02020603050405020304" pitchFamily="18" charset="0"/>
                <a:cs typeface="Times New Roman" panose="02020603050405020304" pitchFamily="18" charset="0"/>
              </a:rPr>
              <a:t>(poly </a:t>
            </a:r>
            <a:r>
              <a:rPr lang="zh-CN" altLang="zh-CN" sz="2000" i="1">
                <a:solidFill>
                  <a:srgbClr val="000000"/>
                </a:solidFill>
                <a:effectLst/>
                <a:latin typeface="Times New Roman" panose="02020603050405020304" pitchFamily="18" charset="0"/>
                <a:cs typeface="Times New Roman" panose="02020603050405020304" pitchFamily="18" charset="0"/>
              </a:rPr>
              <a:t>n</a:t>
            </a:r>
            <a:r>
              <a:rPr lang="zh-CN" altLang="zh-CN" sz="2000">
                <a:solidFill>
                  <a:srgbClr val="000000"/>
                </a:solidFill>
                <a:effectLst/>
                <a:latin typeface="Times New Roman" panose="02020603050405020304" pitchFamily="18" charset="0"/>
                <a:cs typeface="Times New Roman" panose="02020603050405020304" pitchFamily="18" charset="0"/>
              </a:rPr>
              <a:t>), only requires an ef-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ficient amount of training data, </a:t>
            </a:r>
            <a:r>
              <a:rPr lang="zh-CN" altLang="zh-CN" sz="2000" i="1">
                <a:solidFill>
                  <a:srgbClr val="000000"/>
                </a:solidFill>
                <a:effectLst/>
                <a:latin typeface="Times New Roman" panose="02020603050405020304" pitchFamily="18" charset="0"/>
                <a:cs typeface="Times New Roman" panose="02020603050405020304" pitchFamily="18" charset="0"/>
              </a:rPr>
              <a:t>N ∈ O</a:t>
            </a:r>
            <a:r>
              <a:rPr lang="zh-CN" altLang="zh-CN" sz="2000">
                <a:solidFill>
                  <a:srgbClr val="000000"/>
                </a:solidFill>
                <a:effectLst/>
                <a:latin typeface="Times New Roman" panose="02020603050405020304" pitchFamily="18" charset="0"/>
                <a:cs typeface="Times New Roman" panose="02020603050405020304" pitchFamily="18" charset="0"/>
              </a:rPr>
              <a:t>(poly </a:t>
            </a:r>
            <a:r>
              <a:rPr lang="zh-CN" altLang="zh-CN" sz="2000" i="1">
                <a:solidFill>
                  <a:srgbClr val="000000"/>
                </a:solidFill>
                <a:effectLst/>
                <a:latin typeface="Times New Roman" panose="02020603050405020304" pitchFamily="18" charset="0"/>
                <a:cs typeface="Times New Roman" panose="02020603050405020304" pitchFamily="18" charset="0"/>
              </a:rPr>
              <a:t>n</a:t>
            </a:r>
            <a:r>
              <a:rPr lang="zh-CN" altLang="zh-CN" sz="2000">
                <a:solidFill>
                  <a:srgbClr val="000000"/>
                </a:solidFill>
                <a:effectLst/>
                <a:latin typeface="Times New Roman" panose="02020603050405020304" pitchFamily="18" charset="0"/>
                <a:cs typeface="Times New Roman" panose="02020603050405020304" pitchFamily="18" charset="0"/>
              </a:rPr>
              <a:t>), to obtain good generalization. This implication, by itself, will im</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prove the efficiency guarantees of variational quantum algorithms [</a:t>
            </a:r>
            <a:r>
              <a:rPr lang="zh-CN" altLang="zh-CN" sz="2000">
                <a:solidFill>
                  <a:srgbClr val="0000FF"/>
                </a:solidFill>
                <a:effectLst/>
                <a:latin typeface="Times New Roman" panose="02020603050405020304" pitchFamily="18" charset="0"/>
                <a:cs typeface="Times New Roman" panose="02020603050405020304" pitchFamily="18" charset="0"/>
              </a:rPr>
              <a:t>10</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41</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42</a:t>
            </a:r>
            <a:r>
              <a:rPr lang="zh-CN" altLang="zh-CN" sz="2000">
                <a:solidFill>
                  <a:srgbClr val="000000"/>
                </a:solidFill>
                <a:effectLst/>
                <a:latin typeface="Times New Roman" panose="02020603050405020304" pitchFamily="18" charset="0"/>
                <a:cs typeface="Times New Roman" panose="02020603050405020304" pitchFamily="18" charset="0"/>
              </a:rPr>
              <a:t>] that employ training data, such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as quantum autoencoders [</a:t>
            </a:r>
            <a:r>
              <a:rPr lang="zh-CN" altLang="zh-CN" sz="2000">
                <a:solidFill>
                  <a:srgbClr val="0000FF"/>
                </a:solidFill>
                <a:effectLst/>
                <a:latin typeface="Times New Roman" panose="02020603050405020304" pitchFamily="18" charset="0"/>
                <a:cs typeface="Times New Roman" panose="02020603050405020304" pitchFamily="18" charset="0"/>
              </a:rPr>
              <a:t>13</a:t>
            </a:r>
            <a:r>
              <a:rPr lang="zh-CN" altLang="zh-CN" sz="2000">
                <a:solidFill>
                  <a:srgbClr val="000000"/>
                </a:solidFill>
                <a:effectLst/>
                <a:latin typeface="Times New Roman" panose="02020603050405020304" pitchFamily="18" charset="0"/>
                <a:cs typeface="Times New Roman" panose="02020603050405020304" pitchFamily="18" charset="0"/>
              </a:rPr>
              <a:t>], quantum generative adversarial networks [</a:t>
            </a:r>
            <a:r>
              <a:rPr lang="zh-CN" altLang="zh-CN" sz="2000">
                <a:solidFill>
                  <a:srgbClr val="0000FF"/>
                </a:solidFill>
                <a:effectLst/>
                <a:latin typeface="Times New Roman" panose="02020603050405020304" pitchFamily="18" charset="0"/>
                <a:cs typeface="Times New Roman" panose="02020603050405020304" pitchFamily="18" charset="0"/>
              </a:rPr>
              <a:t>43</a:t>
            </a:r>
            <a:r>
              <a:rPr lang="zh-CN" altLang="zh-CN" sz="2000">
                <a:solidFill>
                  <a:srgbClr val="000000"/>
                </a:solidFill>
                <a:effectLst/>
                <a:latin typeface="Times New Roman" panose="02020603050405020304" pitchFamily="18" charset="0"/>
                <a:cs typeface="Times New Roman" panose="02020603050405020304" pitchFamily="18" charset="0"/>
              </a:rPr>
              <a:t>], variational quantum error cor</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rection [</a:t>
            </a:r>
            <a:r>
              <a:rPr lang="zh-CN" altLang="zh-CN" sz="2000">
                <a:solidFill>
                  <a:srgbClr val="0000FF"/>
                </a:solidFill>
                <a:effectLst/>
                <a:latin typeface="Times New Roman" panose="02020603050405020304" pitchFamily="18" charset="0"/>
                <a:cs typeface="Times New Roman" panose="02020603050405020304" pitchFamily="18" charset="0"/>
              </a:rPr>
              <a:t>44</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45</a:t>
            </a:r>
            <a:r>
              <a:rPr lang="zh-CN" altLang="zh-CN" sz="2000">
                <a:solidFill>
                  <a:srgbClr val="000000"/>
                </a:solidFill>
                <a:effectLst/>
                <a:latin typeface="Times New Roman" panose="02020603050405020304" pitchFamily="18" charset="0"/>
                <a:cs typeface="Times New Roman" panose="02020603050405020304" pitchFamily="18" charset="0"/>
              </a:rPr>
              <a:t>], variational quantum compiling [</a:t>
            </a:r>
            <a:r>
              <a:rPr lang="zh-CN" altLang="zh-CN" sz="2000">
                <a:solidFill>
                  <a:srgbClr val="0000FF"/>
                </a:solidFill>
                <a:effectLst/>
                <a:latin typeface="Times New Roman" panose="02020603050405020304" pitchFamily="18" charset="0"/>
                <a:cs typeface="Times New Roman" panose="02020603050405020304" pitchFamily="18" charset="0"/>
              </a:rPr>
              <a:t>46</a:t>
            </a:r>
            <a:r>
              <a:rPr lang="zh-CN" altLang="zh-CN" sz="2000">
                <a:solidFill>
                  <a:srgbClr val="000000"/>
                </a:solidFill>
                <a:effectLst/>
                <a:latin typeface="Times New Roman" panose="02020603050405020304" pitchFamily="18" charset="0"/>
                <a:cs typeface="Times New Roman" panose="02020603050405020304" pitchFamily="18" charset="0"/>
              </a:rPr>
              <a:t>, </a:t>
            </a:r>
            <a:r>
              <a:rPr lang="zh-CN" altLang="zh-CN" sz="2000">
                <a:solidFill>
                  <a:srgbClr val="0000FF"/>
                </a:solidFill>
                <a:effectLst/>
                <a:latin typeface="Times New Roman" panose="02020603050405020304" pitchFamily="18" charset="0"/>
                <a:cs typeface="Times New Roman" panose="02020603050405020304" pitchFamily="18" charset="0"/>
              </a:rPr>
              <a:t>47</a:t>
            </a:r>
            <a:r>
              <a:rPr lang="zh-CN" altLang="zh-CN" sz="2000">
                <a:solidFill>
                  <a:srgbClr val="000000"/>
                </a:solidFill>
                <a:effectLst/>
                <a:latin typeface="Times New Roman" panose="02020603050405020304" pitchFamily="18" charset="0"/>
                <a:cs typeface="Times New Roman" panose="02020603050405020304" pitchFamily="18" charset="0"/>
              </a:rPr>
              <a:t>], and variational dynamical simulation [</a:t>
            </a:r>
            <a:r>
              <a:rPr lang="zh-CN" altLang="zh-CN" sz="2000">
                <a:solidFill>
                  <a:srgbClr val="0000FF"/>
                </a:solidFill>
                <a:effectLst/>
                <a:latin typeface="Times New Roman" panose="02020603050405020304" pitchFamily="18" charset="0"/>
                <a:cs typeface="Times New Roman" panose="02020603050405020304" pitchFamily="18" charset="0"/>
              </a:rPr>
              <a:t>48</a:t>
            </a:r>
            <a:r>
              <a:rPr lang="zh-CN" altLang="zh-CN" sz="2000">
                <a:solidFill>
                  <a:srgbClr val="000000"/>
                </a:solidFill>
                <a:effectLst/>
                <a:latin typeface="Times New Roman" panose="02020603050405020304" pitchFamily="18" charset="0"/>
                <a:cs typeface="Times New Roman" panose="02020603050405020304" pitchFamily="18" charset="0"/>
              </a:rPr>
              <a:t>–</a:t>
            </a:r>
            <a:r>
              <a:rPr lang="zh-CN" altLang="zh-CN" sz="2000">
                <a:solidFill>
                  <a:srgbClr val="0000FF"/>
                </a:solidFill>
                <a:effectLst/>
                <a:latin typeface="Times New Roman" panose="02020603050405020304" pitchFamily="18" charset="0"/>
                <a:cs typeface="Times New Roman" panose="02020603050405020304" pitchFamily="18" charset="0"/>
              </a:rPr>
              <a:t>51</a:t>
            </a:r>
            <a:r>
              <a:rPr lang="zh-CN" altLang="zh-CN" sz="2000">
                <a:solidFill>
                  <a:srgbClr val="000000"/>
                </a:solidFill>
                <a:effectLst/>
                <a:latin typeface="Times New Roman" panose="02020603050405020304" pitchFamily="18" charset="0"/>
                <a:cs typeface="Times New Roman" panose="02020603050405020304" pitchFamily="18" charset="0"/>
              </a:rPr>
              <a:t>]. It also </a:t>
            </a:r>
            <a:endParaRPr lang="zh-CN" altLang="zh-CN" sz="2000">
              <a:latin typeface="Times New Roman" panose="02020603050405020304" pitchFamily="18" charset="0"/>
              <a:cs typeface="Times New Roman" panose="02020603050405020304" pitchFamily="18" charset="0"/>
            </a:endParaRPr>
          </a:p>
          <a:p>
            <a:pPr>
              <a:lnSpc>
                <a:spcPct val="150000"/>
              </a:lnSpc>
              <a:buNone/>
            </a:pPr>
            <a:r>
              <a:rPr lang="zh-CN" altLang="zh-CN" sz="2000">
                <a:solidFill>
                  <a:srgbClr val="000000"/>
                </a:solidFill>
                <a:effectLst/>
                <a:latin typeface="Times New Roman" panose="02020603050405020304" pitchFamily="18" charset="0"/>
                <a:cs typeface="Times New Roman" panose="02020603050405020304" pitchFamily="18" charset="0"/>
              </a:rPr>
              <a:t>yields improved efficiency guarantees for classical algorithms that simulate QML models.</a:t>
            </a:r>
            <a:endParaRPr lang="en-US" altLang="zh-CN" sz="2000">
              <a:latin typeface="Times New Roman" panose="02020603050405020304" pitchFamily="18" charset="0"/>
              <a:ea typeface="微软雅黑" panose="020B0503020204020204" charset="-122"/>
              <a:cs typeface="Times New Roman" panose="02020603050405020304" pitchFamily="18" charset="0"/>
            </a:endParaRPr>
          </a:p>
          <a:p>
            <a:pPr indent="457200" algn="just">
              <a:lnSpc>
                <a:spcPct val="150000"/>
              </a:lnSpc>
            </a:pPr>
            <a:endParaRPr lang="en-US" altLang="zh-CN" sz="2000" dirty="0">
              <a:latin typeface="Times New Roman" panose="02020603050405020304" pitchFamily="18" charset="0"/>
              <a:cs typeface="Times New Roman" panose="02020603050405020304" pitchFamily="18" charset="0"/>
            </a:endParaRPr>
          </a:p>
        </p:txBody>
      </p:sp>
      <p:grpSp>
        <p:nvGrpSpPr>
          <p:cNvPr id="711" name="组合 11"/>
          <p:cNvGrpSpPr/>
          <p:nvPr/>
        </p:nvGrpSpPr>
        <p:grpSpPr>
          <a:xfrm>
            <a:off x="-1" y="6553200"/>
            <a:ext cx="12192001" cy="304800"/>
            <a:chOff x="0" y="6569404"/>
            <a:chExt cx="9144000" cy="288000"/>
          </a:xfrm>
        </p:grpSpPr>
        <p:sp>
          <p:nvSpPr>
            <p:cNvPr id="1049938" name="矩形 12"/>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39" name="矩形 13"/>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40"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79</a:t>
            </a:fld>
            <a:endParaRPr lang="zh-HK" altLang="en-US" sz="1600" dirty="0">
              <a:solidFill>
                <a:schemeClr val="bg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5" name="组合 2"/>
          <p:cNvGrpSpPr/>
          <p:nvPr/>
        </p:nvGrpSpPr>
        <p:grpSpPr>
          <a:xfrm>
            <a:off x="-1" y="6553200"/>
            <a:ext cx="12192001" cy="304800"/>
            <a:chOff x="0" y="6569404"/>
            <a:chExt cx="9144000" cy="288000"/>
          </a:xfrm>
        </p:grpSpPr>
        <p:sp>
          <p:nvSpPr>
            <p:cNvPr id="1049944" name="矩形 3"/>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45" name="矩形 4"/>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46"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80</a:t>
            </a:fld>
            <a:endParaRPr lang="zh-HK" altLang="en-US" sz="1600" dirty="0">
              <a:solidFill>
                <a:schemeClr val="bg1"/>
              </a:solidFill>
            </a:endParaRPr>
          </a:p>
        </p:txBody>
      </p:sp>
      <p:pic>
        <p:nvPicPr>
          <p:cNvPr id="2097246" name="图片 6"/>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716" name="组合 18"/>
          <p:cNvGrpSpPr/>
          <p:nvPr/>
        </p:nvGrpSpPr>
        <p:grpSpPr bwMode="auto">
          <a:xfrm>
            <a:off x="2409457" y="2650330"/>
            <a:ext cx="1505450" cy="1479472"/>
            <a:chOff x="1709739" y="2636838"/>
            <a:chExt cx="1590160" cy="1584325"/>
          </a:xfrm>
          <a:solidFill>
            <a:srgbClr val="044875"/>
          </a:solidFill>
        </p:grpSpPr>
        <p:sp>
          <p:nvSpPr>
            <p:cNvPr id="1049947"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49948"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49949"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49950"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49951"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49952"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49953"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49954"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49955"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49956" name="文本框 72"/>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17" name="组合 73"/>
          <p:cNvGrpSpPr/>
          <p:nvPr>
            <p:custDataLst>
              <p:tags r:id="rId1"/>
            </p:custDataLst>
          </p:nvPr>
        </p:nvGrpSpPr>
        <p:grpSpPr>
          <a:xfrm>
            <a:off x="4523741" y="2047924"/>
            <a:ext cx="5370513" cy="534987"/>
            <a:chOff x="3281952" y="1484784"/>
            <a:chExt cx="5370513" cy="534987"/>
          </a:xfrm>
        </p:grpSpPr>
        <p:grpSp>
          <p:nvGrpSpPr>
            <p:cNvPr id="718" name="组合 74"/>
            <p:cNvGrpSpPr/>
            <p:nvPr/>
          </p:nvGrpSpPr>
          <p:grpSpPr>
            <a:xfrm>
              <a:off x="3943940" y="1484784"/>
              <a:ext cx="4708525" cy="534987"/>
              <a:chOff x="3943940" y="1626760"/>
              <a:chExt cx="4708525" cy="534987"/>
            </a:xfrm>
          </p:grpSpPr>
          <p:sp>
            <p:nvSpPr>
              <p:cNvPr id="1049957"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49958"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59" name="矩形 80"/>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3" name="直接连接符 81"/>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19" name="组合 75"/>
            <p:cNvGrpSpPr/>
            <p:nvPr/>
          </p:nvGrpSpPr>
          <p:grpSpPr>
            <a:xfrm>
              <a:off x="3281952" y="1484784"/>
              <a:ext cx="689642" cy="534987"/>
              <a:chOff x="3281952" y="1626760"/>
              <a:chExt cx="689642" cy="534987"/>
            </a:xfrm>
          </p:grpSpPr>
          <p:sp>
            <p:nvSpPr>
              <p:cNvPr id="1049960" name="矩形 76"/>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61"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720" name="组合 82"/>
          <p:cNvGrpSpPr/>
          <p:nvPr>
            <p:custDataLst>
              <p:tags r:id="rId2"/>
            </p:custDataLst>
          </p:nvPr>
        </p:nvGrpSpPr>
        <p:grpSpPr>
          <a:xfrm>
            <a:off x="4503593" y="3688642"/>
            <a:ext cx="5372100" cy="534987"/>
            <a:chOff x="3261805" y="3188752"/>
            <a:chExt cx="5372100" cy="534987"/>
          </a:xfrm>
        </p:grpSpPr>
        <p:grpSp>
          <p:nvGrpSpPr>
            <p:cNvPr id="721" name="组合 83"/>
            <p:cNvGrpSpPr/>
            <p:nvPr/>
          </p:nvGrpSpPr>
          <p:grpSpPr>
            <a:xfrm>
              <a:off x="3261805" y="3188752"/>
              <a:ext cx="689593" cy="534987"/>
              <a:chOff x="3261805" y="3188752"/>
              <a:chExt cx="689593" cy="534987"/>
            </a:xfrm>
          </p:grpSpPr>
          <p:sp>
            <p:nvSpPr>
              <p:cNvPr id="1049962" name="矩形 99"/>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63"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03</a:t>
                </a:r>
                <a:endParaRPr lang="zh-CN" altLang="en-US" sz="2700" dirty="0">
                  <a:solidFill>
                    <a:schemeClr val="bg2">
                      <a:lumMod val="90000"/>
                    </a:schemeClr>
                  </a:solidFill>
                  <a:latin typeface="Impact" panose="020B0806030902050204" pitchFamily="34" charset="0"/>
                </a:endParaRPr>
              </a:p>
            </p:txBody>
          </p:sp>
        </p:grpSp>
        <p:grpSp>
          <p:nvGrpSpPr>
            <p:cNvPr id="722" name="组合 84"/>
            <p:cNvGrpSpPr/>
            <p:nvPr/>
          </p:nvGrpSpPr>
          <p:grpSpPr>
            <a:xfrm>
              <a:off x="3923792" y="3188752"/>
              <a:ext cx="4710113" cy="534987"/>
              <a:chOff x="3923792" y="3188752"/>
              <a:chExt cx="4710113" cy="534987"/>
            </a:xfrm>
          </p:grpSpPr>
          <p:sp>
            <p:nvSpPr>
              <p:cNvPr id="1049964"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Experiment Results</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49965" name="矩形 90"/>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4" name="直接连接符 94"/>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66"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23" name="组合 101"/>
          <p:cNvGrpSpPr/>
          <p:nvPr>
            <p:custDataLst>
              <p:tags r:id="rId3"/>
            </p:custDataLst>
          </p:nvPr>
        </p:nvGrpSpPr>
        <p:grpSpPr>
          <a:xfrm>
            <a:off x="4503593" y="4509001"/>
            <a:ext cx="5372100" cy="534987"/>
            <a:chOff x="3261805" y="4046141"/>
            <a:chExt cx="5372100" cy="534987"/>
          </a:xfrm>
        </p:grpSpPr>
        <p:grpSp>
          <p:nvGrpSpPr>
            <p:cNvPr id="724" name="组合 102"/>
            <p:cNvGrpSpPr/>
            <p:nvPr/>
          </p:nvGrpSpPr>
          <p:grpSpPr>
            <a:xfrm>
              <a:off x="3261805" y="4046141"/>
              <a:ext cx="689447" cy="534987"/>
              <a:chOff x="3261805" y="3969748"/>
              <a:chExt cx="689447" cy="534987"/>
            </a:xfrm>
          </p:grpSpPr>
          <p:sp>
            <p:nvSpPr>
              <p:cNvPr id="1049967" name="矩形 108"/>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68"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725" name="组合 103"/>
            <p:cNvGrpSpPr/>
            <p:nvPr/>
          </p:nvGrpSpPr>
          <p:grpSpPr>
            <a:xfrm>
              <a:off x="3923792" y="4046141"/>
              <a:ext cx="4710113" cy="534987"/>
              <a:chOff x="3923792" y="3969748"/>
              <a:chExt cx="4710113" cy="534987"/>
            </a:xfrm>
          </p:grpSpPr>
          <p:sp>
            <p:nvSpPr>
              <p:cNvPr id="1049969"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49970" name="矩形 105"/>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5" name="直接连接符 106"/>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71"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26" name="组合 110"/>
          <p:cNvGrpSpPr/>
          <p:nvPr>
            <p:custDataLst>
              <p:tags r:id="rId4"/>
            </p:custDataLst>
          </p:nvPr>
        </p:nvGrpSpPr>
        <p:grpSpPr>
          <a:xfrm>
            <a:off x="4517645" y="2868283"/>
            <a:ext cx="5370513" cy="534987"/>
            <a:chOff x="3275856" y="2348880"/>
            <a:chExt cx="5370513" cy="534987"/>
          </a:xfrm>
        </p:grpSpPr>
        <p:grpSp>
          <p:nvGrpSpPr>
            <p:cNvPr id="727" name="组合 111"/>
            <p:cNvGrpSpPr/>
            <p:nvPr/>
          </p:nvGrpSpPr>
          <p:grpSpPr>
            <a:xfrm>
              <a:off x="3275856" y="2348880"/>
              <a:ext cx="689474" cy="534987"/>
              <a:chOff x="3275856" y="2407756"/>
              <a:chExt cx="689474" cy="534987"/>
            </a:xfrm>
          </p:grpSpPr>
          <p:sp>
            <p:nvSpPr>
              <p:cNvPr id="1049972" name="矩形 117"/>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49973"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nvGrpSpPr>
            <p:cNvPr id="728" name="组合 112"/>
            <p:cNvGrpSpPr/>
            <p:nvPr/>
          </p:nvGrpSpPr>
          <p:grpSpPr>
            <a:xfrm>
              <a:off x="3937844" y="2348880"/>
              <a:ext cx="4708525" cy="534987"/>
              <a:chOff x="3937844" y="2407756"/>
              <a:chExt cx="4708525" cy="534987"/>
            </a:xfrm>
          </p:grpSpPr>
          <p:sp>
            <p:nvSpPr>
              <p:cNvPr id="1049974"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Method Design</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49975" name="矩形 114"/>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6" name="直接连接符 115"/>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9976"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044875"/>
              </a:solidFill>
              <a:ln>
                <a:noFill/>
              </a:ln>
            </p:spPr>
            <p:txBody>
              <a:bodyPr/>
              <a:lstStyle/>
              <a:p>
                <a:endParaRPr lang="zh-CN" altLang="en-US" b="1" dirty="0">
                  <a:solidFill>
                    <a:prstClr val="black"/>
                  </a:solidFill>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981"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32" name="组合 54"/>
          <p:cNvGrpSpPr/>
          <p:nvPr/>
        </p:nvGrpSpPr>
        <p:grpSpPr>
          <a:xfrm>
            <a:off x="-1" y="6553200"/>
            <a:ext cx="12192001" cy="304800"/>
            <a:chOff x="0" y="6569404"/>
            <a:chExt cx="9144000" cy="288000"/>
          </a:xfrm>
        </p:grpSpPr>
        <p:sp>
          <p:nvSpPr>
            <p:cNvPr id="1049982"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83"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84"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81</a:t>
            </a:fld>
            <a:endParaRPr lang="zh-HK" altLang="en-US" sz="1600" dirty="0">
              <a:solidFill>
                <a:schemeClr val="bg1"/>
              </a:solidFill>
            </a:endParaRPr>
          </a:p>
        </p:txBody>
      </p:sp>
      <p:pic>
        <p:nvPicPr>
          <p:cNvPr id="2097247" name="图片 2"/>
          <p:cNvPicPr>
            <a:picLocks noChangeAspect="1"/>
          </p:cNvPicPr>
          <p:nvPr/>
        </p:nvPicPr>
        <p:blipFill>
          <a:blip r:embed="rId3"/>
          <a:stretch>
            <a:fillRect/>
          </a:stretch>
        </p:blipFill>
        <p:spPr>
          <a:xfrm>
            <a:off x="1560000" y="763326"/>
            <a:ext cx="9794070" cy="574869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88"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989"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36" name="组合 54"/>
          <p:cNvGrpSpPr/>
          <p:nvPr/>
        </p:nvGrpSpPr>
        <p:grpSpPr>
          <a:xfrm>
            <a:off x="-1" y="6553200"/>
            <a:ext cx="12192001" cy="304800"/>
            <a:chOff x="0" y="6569404"/>
            <a:chExt cx="9144000" cy="288000"/>
          </a:xfrm>
        </p:grpSpPr>
        <p:sp>
          <p:nvSpPr>
            <p:cNvPr id="1049990"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91"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49992"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82</a:t>
            </a:fld>
            <a:endParaRPr lang="zh-HK" altLang="en-US" sz="1600" dirty="0">
              <a:solidFill>
                <a:schemeClr val="bg1"/>
              </a:solidFill>
            </a:endParaRPr>
          </a:p>
        </p:txBody>
      </p:sp>
      <p:pic>
        <p:nvPicPr>
          <p:cNvPr id="2097248" name="图片 6"/>
          <p:cNvPicPr>
            <a:picLocks noChangeAspect="1"/>
          </p:cNvPicPr>
          <p:nvPr/>
        </p:nvPicPr>
        <p:blipFill>
          <a:blip r:embed="rId3"/>
          <a:stretch>
            <a:fillRect/>
          </a:stretch>
        </p:blipFill>
        <p:spPr>
          <a:xfrm>
            <a:off x="981997" y="878178"/>
            <a:ext cx="5131064" cy="5486682"/>
          </a:xfrm>
          <a:prstGeom prst="rect">
            <a:avLst/>
          </a:prstGeom>
        </p:spPr>
      </p:pic>
      <p:pic>
        <p:nvPicPr>
          <p:cNvPr id="2097249" name="图片 11"/>
          <p:cNvPicPr>
            <a:picLocks noChangeAspect="1"/>
          </p:cNvPicPr>
          <p:nvPr/>
        </p:nvPicPr>
        <p:blipFill>
          <a:blip r:embed="rId4"/>
          <a:srcRect t="271"/>
          <a:stretch>
            <a:fillRect/>
          </a:stretch>
        </p:blipFill>
        <p:spPr>
          <a:xfrm>
            <a:off x="6543942" y="908341"/>
            <a:ext cx="5131064" cy="516786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99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4999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40" name="组合 54"/>
          <p:cNvGrpSpPr/>
          <p:nvPr/>
        </p:nvGrpSpPr>
        <p:grpSpPr>
          <a:xfrm>
            <a:off x="-1" y="6553200"/>
            <a:ext cx="12192001" cy="304800"/>
            <a:chOff x="0" y="6569404"/>
            <a:chExt cx="9144000" cy="288000"/>
          </a:xfrm>
        </p:grpSpPr>
        <p:sp>
          <p:nvSpPr>
            <p:cNvPr id="104999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4999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0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83</a:t>
            </a:fld>
            <a:endParaRPr lang="zh-HK" altLang="en-US" sz="1600" dirty="0">
              <a:solidFill>
                <a:schemeClr val="bg1"/>
              </a:solidFill>
            </a:endParaRPr>
          </a:p>
        </p:txBody>
      </p:sp>
      <p:pic>
        <p:nvPicPr>
          <p:cNvPr id="2097250" name="图片 2"/>
          <p:cNvPicPr>
            <a:picLocks noChangeAspect="1"/>
          </p:cNvPicPr>
          <p:nvPr/>
        </p:nvPicPr>
        <p:blipFill>
          <a:blip r:embed="rId3"/>
          <a:stretch>
            <a:fillRect/>
          </a:stretch>
        </p:blipFill>
        <p:spPr>
          <a:xfrm>
            <a:off x="1056000" y="1014539"/>
            <a:ext cx="5181866" cy="5315223"/>
          </a:xfrm>
          <a:prstGeom prst="rect">
            <a:avLst/>
          </a:prstGeom>
        </p:spPr>
      </p:pic>
      <p:pic>
        <p:nvPicPr>
          <p:cNvPr id="2097251" name="图片 4"/>
          <p:cNvPicPr>
            <a:picLocks noChangeAspect="1"/>
          </p:cNvPicPr>
          <p:nvPr/>
        </p:nvPicPr>
        <p:blipFill>
          <a:blip r:embed="rId4"/>
          <a:stretch>
            <a:fillRect/>
          </a:stretch>
        </p:blipFill>
        <p:spPr>
          <a:xfrm>
            <a:off x="6833217" y="1629000"/>
            <a:ext cx="4972508" cy="762616"/>
          </a:xfrm>
          <a:prstGeom prst="rect">
            <a:avLst/>
          </a:prstGeom>
        </p:spPr>
      </p:pic>
      <p:pic>
        <p:nvPicPr>
          <p:cNvPr id="2097252" name="图片 7"/>
          <p:cNvPicPr>
            <a:picLocks noChangeAspect="1"/>
          </p:cNvPicPr>
          <p:nvPr/>
        </p:nvPicPr>
        <p:blipFill>
          <a:blip r:embed="rId5"/>
          <a:stretch>
            <a:fillRect/>
          </a:stretch>
        </p:blipFill>
        <p:spPr>
          <a:xfrm>
            <a:off x="6790483" y="2349000"/>
            <a:ext cx="5137517" cy="387689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0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0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44" name="组合 54"/>
          <p:cNvGrpSpPr/>
          <p:nvPr/>
        </p:nvGrpSpPr>
        <p:grpSpPr>
          <a:xfrm>
            <a:off x="-1" y="6553200"/>
            <a:ext cx="12192001" cy="304800"/>
            <a:chOff x="0" y="6569404"/>
            <a:chExt cx="9144000" cy="288000"/>
          </a:xfrm>
        </p:grpSpPr>
        <p:sp>
          <p:nvSpPr>
            <p:cNvPr id="105000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0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0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84</a:t>
            </a:fld>
            <a:endParaRPr lang="zh-HK" altLang="en-US" sz="1600" dirty="0">
              <a:solidFill>
                <a:schemeClr val="bg1"/>
              </a:solidFill>
            </a:endParaRPr>
          </a:p>
        </p:txBody>
      </p:sp>
      <p:pic>
        <p:nvPicPr>
          <p:cNvPr id="2097253" name="图片 3"/>
          <p:cNvPicPr>
            <a:picLocks noChangeAspect="1"/>
          </p:cNvPicPr>
          <p:nvPr/>
        </p:nvPicPr>
        <p:blipFill>
          <a:blip r:embed="rId3"/>
          <a:stretch>
            <a:fillRect/>
          </a:stretch>
        </p:blipFill>
        <p:spPr>
          <a:xfrm>
            <a:off x="3511417" y="1244487"/>
            <a:ext cx="5169166" cy="436902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1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1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48" name="组合 54"/>
          <p:cNvGrpSpPr/>
          <p:nvPr/>
        </p:nvGrpSpPr>
        <p:grpSpPr>
          <a:xfrm>
            <a:off x="-1" y="6553200"/>
            <a:ext cx="12192001" cy="304800"/>
            <a:chOff x="0" y="6569404"/>
            <a:chExt cx="9144000" cy="288000"/>
          </a:xfrm>
        </p:grpSpPr>
        <p:sp>
          <p:nvSpPr>
            <p:cNvPr id="105001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1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1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85</a:t>
            </a:fld>
            <a:endParaRPr lang="zh-HK" altLang="en-US" sz="1600" dirty="0">
              <a:solidFill>
                <a:schemeClr val="bg1"/>
              </a:solidFill>
            </a:endParaRPr>
          </a:p>
        </p:txBody>
      </p:sp>
      <p:pic>
        <p:nvPicPr>
          <p:cNvPr id="2097254" name="图片 2"/>
          <p:cNvPicPr>
            <a:picLocks noChangeAspect="1"/>
          </p:cNvPicPr>
          <p:nvPr/>
        </p:nvPicPr>
        <p:blipFill>
          <a:blip r:embed="rId3"/>
          <a:stretch>
            <a:fillRect/>
          </a:stretch>
        </p:blipFill>
        <p:spPr>
          <a:xfrm>
            <a:off x="3000000" y="795561"/>
            <a:ext cx="5256000" cy="2000714"/>
          </a:xfrm>
          <a:prstGeom prst="rect">
            <a:avLst/>
          </a:prstGeom>
        </p:spPr>
      </p:pic>
      <p:pic>
        <p:nvPicPr>
          <p:cNvPr id="2097255" name="图片 4"/>
          <p:cNvPicPr>
            <a:picLocks noChangeAspect="1"/>
          </p:cNvPicPr>
          <p:nvPr/>
        </p:nvPicPr>
        <p:blipFill>
          <a:blip r:embed="rId4"/>
          <a:stretch>
            <a:fillRect/>
          </a:stretch>
        </p:blipFill>
        <p:spPr>
          <a:xfrm>
            <a:off x="3000000" y="2793069"/>
            <a:ext cx="5304625" cy="3083931"/>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2" name="组合 5"/>
          <p:cNvGrpSpPr/>
          <p:nvPr/>
        </p:nvGrpSpPr>
        <p:grpSpPr>
          <a:xfrm>
            <a:off x="-1" y="6553200"/>
            <a:ext cx="12192001" cy="304800"/>
            <a:chOff x="0" y="6569404"/>
            <a:chExt cx="9144000" cy="288000"/>
          </a:xfrm>
        </p:grpSpPr>
        <p:sp>
          <p:nvSpPr>
            <p:cNvPr id="1050020" name="矩形 6"/>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21" name="矩形 7"/>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22"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86</a:t>
            </a:fld>
            <a:endParaRPr lang="zh-HK" altLang="en-US" sz="1600" dirty="0">
              <a:solidFill>
                <a:schemeClr val="bg1"/>
              </a:solidFill>
            </a:endParaRPr>
          </a:p>
        </p:txBody>
      </p:sp>
      <p:pic>
        <p:nvPicPr>
          <p:cNvPr id="2097256" name="图片 20"/>
          <p:cNvPicPr>
            <a:picLocks noChangeAspect="1"/>
          </p:cNvPicPr>
          <p:nvPr/>
        </p:nvPicPr>
        <p:blipFill>
          <a:blip r:embed="rId31"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grpSp>
        <p:nvGrpSpPr>
          <p:cNvPr id="753" name="组合 18"/>
          <p:cNvGrpSpPr/>
          <p:nvPr/>
        </p:nvGrpSpPr>
        <p:grpSpPr bwMode="auto">
          <a:xfrm>
            <a:off x="2409457" y="2650330"/>
            <a:ext cx="1505450" cy="1479472"/>
            <a:chOff x="1709739" y="2636838"/>
            <a:chExt cx="1590160" cy="1584325"/>
          </a:xfrm>
          <a:solidFill>
            <a:srgbClr val="044875"/>
          </a:solidFill>
        </p:grpSpPr>
        <p:sp>
          <p:nvSpPr>
            <p:cNvPr id="1050023" name="Freeform 6"/>
            <p:cNvSpPr>
              <a:spLocks noChangeArrowheads="1"/>
            </p:cNvSpPr>
            <p:nvPr/>
          </p:nvSpPr>
          <p:spPr bwMode="auto">
            <a:xfrm>
              <a:off x="1709739" y="2636838"/>
              <a:ext cx="1468102" cy="1467130"/>
            </a:xfrm>
            <a:custGeom>
              <a:avLst/>
              <a:gdLst>
                <a:gd name="T0" fmla="*/ 691 w 1276"/>
                <a:gd name="T1" fmla="*/ 1168 h 1274"/>
                <a:gd name="T2" fmla="*/ 662 w 1276"/>
                <a:gd name="T3" fmla="*/ 1267 h 1274"/>
                <a:gd name="T4" fmla="*/ 654 w 1276"/>
                <a:gd name="T5" fmla="*/ 1273 h 1274"/>
                <a:gd name="T6" fmla="*/ 643 w 1276"/>
                <a:gd name="T7" fmla="*/ 1274 h 1274"/>
                <a:gd name="T8" fmla="*/ 172 w 1276"/>
                <a:gd name="T9" fmla="*/ 1274 h 1274"/>
                <a:gd name="T10" fmla="*/ 81 w 1276"/>
                <a:gd name="T11" fmla="*/ 1253 h 1274"/>
                <a:gd name="T12" fmla="*/ 1 w 1276"/>
                <a:gd name="T13" fmla="*/ 1113 h 1274"/>
                <a:gd name="T14" fmla="*/ 0 w 1276"/>
                <a:gd name="T15" fmla="*/ 892 h 1274"/>
                <a:gd name="T16" fmla="*/ 0 w 1276"/>
                <a:gd name="T17" fmla="*/ 170 h 1274"/>
                <a:gd name="T18" fmla="*/ 170 w 1276"/>
                <a:gd name="T19" fmla="*/ 0 h 1274"/>
                <a:gd name="T20" fmla="*/ 1110 w 1276"/>
                <a:gd name="T21" fmla="*/ 0 h 1274"/>
                <a:gd name="T22" fmla="*/ 1273 w 1276"/>
                <a:gd name="T23" fmla="*/ 131 h 1274"/>
                <a:gd name="T24" fmla="*/ 1276 w 1276"/>
                <a:gd name="T25" fmla="*/ 168 h 1274"/>
                <a:gd name="T26" fmla="*/ 1276 w 1276"/>
                <a:gd name="T27" fmla="*/ 629 h 1274"/>
                <a:gd name="T28" fmla="*/ 1275 w 1276"/>
                <a:gd name="T29" fmla="*/ 645 h 1274"/>
                <a:gd name="T30" fmla="*/ 1171 w 1276"/>
                <a:gd name="T31" fmla="*/ 659 h 1274"/>
                <a:gd name="T32" fmla="*/ 1171 w 1276"/>
                <a:gd name="T33" fmla="*/ 214 h 1274"/>
                <a:gd name="T34" fmla="*/ 106 w 1276"/>
                <a:gd name="T35" fmla="*/ 214 h 1274"/>
                <a:gd name="T36" fmla="*/ 106 w 1276"/>
                <a:gd name="T37" fmla="*/ 230 h 1274"/>
                <a:gd name="T38" fmla="*/ 105 w 1276"/>
                <a:gd name="T39" fmla="*/ 1102 h 1274"/>
                <a:gd name="T40" fmla="*/ 171 w 1276"/>
                <a:gd name="T41" fmla="*/ 1168 h 1274"/>
                <a:gd name="T42" fmla="*/ 671 w 1276"/>
                <a:gd name="T43" fmla="*/ 1168 h 1274"/>
                <a:gd name="T44" fmla="*/ 691 w 1276"/>
                <a:gd name="T45" fmla="*/ 1168 h 1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76" h="1274">
                  <a:moveTo>
                    <a:pt x="691" y="1168"/>
                  </a:moveTo>
                  <a:cubicBezTo>
                    <a:pt x="681" y="1203"/>
                    <a:pt x="672" y="1235"/>
                    <a:pt x="662" y="1267"/>
                  </a:cubicBezTo>
                  <a:cubicBezTo>
                    <a:pt x="661" y="1270"/>
                    <a:pt x="657" y="1272"/>
                    <a:pt x="654" y="1273"/>
                  </a:cubicBezTo>
                  <a:cubicBezTo>
                    <a:pt x="651" y="1274"/>
                    <a:pt x="647" y="1274"/>
                    <a:pt x="643" y="1274"/>
                  </a:cubicBezTo>
                  <a:cubicBezTo>
                    <a:pt x="486" y="1274"/>
                    <a:pt x="329" y="1273"/>
                    <a:pt x="172" y="1274"/>
                  </a:cubicBezTo>
                  <a:cubicBezTo>
                    <a:pt x="140" y="1274"/>
                    <a:pt x="109" y="1269"/>
                    <a:pt x="81" y="1253"/>
                  </a:cubicBezTo>
                  <a:cubicBezTo>
                    <a:pt x="29" y="1221"/>
                    <a:pt x="1" y="1174"/>
                    <a:pt x="1" y="1113"/>
                  </a:cubicBezTo>
                  <a:cubicBezTo>
                    <a:pt x="0" y="1039"/>
                    <a:pt x="0" y="966"/>
                    <a:pt x="0" y="892"/>
                  </a:cubicBezTo>
                  <a:cubicBezTo>
                    <a:pt x="0" y="651"/>
                    <a:pt x="0" y="411"/>
                    <a:pt x="0" y="170"/>
                  </a:cubicBezTo>
                  <a:cubicBezTo>
                    <a:pt x="0" y="68"/>
                    <a:pt x="68" y="0"/>
                    <a:pt x="170" y="0"/>
                  </a:cubicBezTo>
                  <a:cubicBezTo>
                    <a:pt x="483" y="0"/>
                    <a:pt x="797" y="0"/>
                    <a:pt x="1110" y="0"/>
                  </a:cubicBezTo>
                  <a:cubicBezTo>
                    <a:pt x="1194" y="0"/>
                    <a:pt x="1258" y="51"/>
                    <a:pt x="1273" y="131"/>
                  </a:cubicBezTo>
                  <a:cubicBezTo>
                    <a:pt x="1276" y="143"/>
                    <a:pt x="1276" y="156"/>
                    <a:pt x="1276" y="168"/>
                  </a:cubicBezTo>
                  <a:cubicBezTo>
                    <a:pt x="1276" y="322"/>
                    <a:pt x="1276" y="475"/>
                    <a:pt x="1276" y="629"/>
                  </a:cubicBezTo>
                  <a:cubicBezTo>
                    <a:pt x="1276" y="634"/>
                    <a:pt x="1276" y="638"/>
                    <a:pt x="1275" y="645"/>
                  </a:cubicBezTo>
                  <a:cubicBezTo>
                    <a:pt x="1239" y="640"/>
                    <a:pt x="1205" y="643"/>
                    <a:pt x="1171" y="659"/>
                  </a:cubicBezTo>
                  <a:cubicBezTo>
                    <a:pt x="1171" y="509"/>
                    <a:pt x="1171" y="362"/>
                    <a:pt x="1171" y="214"/>
                  </a:cubicBezTo>
                  <a:cubicBezTo>
                    <a:pt x="816" y="214"/>
                    <a:pt x="462" y="214"/>
                    <a:pt x="106" y="214"/>
                  </a:cubicBezTo>
                  <a:cubicBezTo>
                    <a:pt x="106" y="219"/>
                    <a:pt x="106" y="224"/>
                    <a:pt x="106" y="230"/>
                  </a:cubicBezTo>
                  <a:cubicBezTo>
                    <a:pt x="106" y="521"/>
                    <a:pt x="106" y="812"/>
                    <a:pt x="105" y="1102"/>
                  </a:cubicBezTo>
                  <a:cubicBezTo>
                    <a:pt x="105" y="1141"/>
                    <a:pt x="125" y="1169"/>
                    <a:pt x="171" y="1168"/>
                  </a:cubicBezTo>
                  <a:cubicBezTo>
                    <a:pt x="338" y="1167"/>
                    <a:pt x="504" y="1168"/>
                    <a:pt x="671" y="1168"/>
                  </a:cubicBezTo>
                  <a:cubicBezTo>
                    <a:pt x="677" y="1168"/>
                    <a:pt x="683" y="1168"/>
                    <a:pt x="691" y="1168"/>
                  </a:cubicBezTo>
                  <a:close/>
                </a:path>
              </a:pathLst>
            </a:custGeom>
            <a:grpFill/>
            <a:ln>
              <a:noFill/>
            </a:ln>
          </p:spPr>
          <p:txBody>
            <a:bodyPr/>
            <a:lstStyle/>
            <a:p>
              <a:endParaRPr lang="zh-HK" altLang="en-US">
                <a:ea typeface="PMingLiU-ExtB" panose="02020500000000000000" charset="-120"/>
              </a:endParaRPr>
            </a:p>
          </p:txBody>
        </p:sp>
        <p:sp>
          <p:nvSpPr>
            <p:cNvPr id="1050024" name="Freeform 7"/>
            <p:cNvSpPr>
              <a:spLocks noEditPoints="1" noChangeArrowheads="1"/>
            </p:cNvSpPr>
            <p:nvPr/>
          </p:nvSpPr>
          <p:spPr bwMode="auto">
            <a:xfrm>
              <a:off x="2571440" y="3653665"/>
              <a:ext cx="569443" cy="567498"/>
            </a:xfrm>
            <a:custGeom>
              <a:avLst/>
              <a:gdLst>
                <a:gd name="T0" fmla="*/ 328 w 495"/>
                <a:gd name="T1" fmla="*/ 1 h 493"/>
                <a:gd name="T2" fmla="*/ 495 w 495"/>
                <a:gd name="T3" fmla="*/ 167 h 493"/>
                <a:gd name="T4" fmla="*/ 427 w 495"/>
                <a:gd name="T5" fmla="*/ 236 h 493"/>
                <a:gd name="T6" fmla="*/ 240 w 495"/>
                <a:gd name="T7" fmla="*/ 421 h 493"/>
                <a:gd name="T8" fmla="*/ 216 w 495"/>
                <a:gd name="T9" fmla="*/ 436 h 493"/>
                <a:gd name="T10" fmla="*/ 40 w 495"/>
                <a:gd name="T11" fmla="*/ 488 h 493"/>
                <a:gd name="T12" fmla="*/ 9 w 495"/>
                <a:gd name="T13" fmla="*/ 484 h 493"/>
                <a:gd name="T14" fmla="*/ 6 w 495"/>
                <a:gd name="T15" fmla="*/ 454 h 493"/>
                <a:gd name="T16" fmla="*/ 58 w 495"/>
                <a:gd name="T17" fmla="*/ 276 h 493"/>
                <a:gd name="T18" fmla="*/ 67 w 495"/>
                <a:gd name="T19" fmla="*/ 259 h 493"/>
                <a:gd name="T20" fmla="*/ 327 w 495"/>
                <a:gd name="T21" fmla="*/ 1 h 493"/>
                <a:gd name="T22" fmla="*/ 328 w 495"/>
                <a:gd name="T23" fmla="*/ 1 h 493"/>
                <a:gd name="T24" fmla="*/ 102 w 495"/>
                <a:gd name="T25" fmla="*/ 292 h 493"/>
                <a:gd name="T26" fmla="*/ 72 w 495"/>
                <a:gd name="T27" fmla="*/ 396 h 493"/>
                <a:gd name="T28" fmla="*/ 74 w 495"/>
                <a:gd name="T29" fmla="*/ 405 h 493"/>
                <a:gd name="T30" fmla="*/ 113 w 495"/>
                <a:gd name="T31" fmla="*/ 418 h 493"/>
                <a:gd name="T32" fmla="*/ 148 w 495"/>
                <a:gd name="T33" fmla="*/ 408 h 493"/>
                <a:gd name="T34" fmla="*/ 200 w 495"/>
                <a:gd name="T35" fmla="*/ 393 h 493"/>
                <a:gd name="T36" fmla="*/ 185 w 495"/>
                <a:gd name="T37" fmla="*/ 316 h 493"/>
                <a:gd name="T38" fmla="*/ 178 w 495"/>
                <a:gd name="T39" fmla="*/ 308 h 493"/>
                <a:gd name="T40" fmla="*/ 102 w 495"/>
                <a:gd name="T41" fmla="*/ 292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5" h="493">
                  <a:moveTo>
                    <a:pt x="328" y="1"/>
                  </a:moveTo>
                  <a:cubicBezTo>
                    <a:pt x="384" y="56"/>
                    <a:pt x="439" y="112"/>
                    <a:pt x="495" y="167"/>
                  </a:cubicBezTo>
                  <a:cubicBezTo>
                    <a:pt x="473" y="190"/>
                    <a:pt x="450" y="213"/>
                    <a:pt x="427" y="236"/>
                  </a:cubicBezTo>
                  <a:cubicBezTo>
                    <a:pt x="365" y="298"/>
                    <a:pt x="303" y="360"/>
                    <a:pt x="240" y="421"/>
                  </a:cubicBezTo>
                  <a:cubicBezTo>
                    <a:pt x="233" y="428"/>
                    <a:pt x="225" y="433"/>
                    <a:pt x="216" y="436"/>
                  </a:cubicBezTo>
                  <a:cubicBezTo>
                    <a:pt x="157" y="454"/>
                    <a:pt x="98" y="471"/>
                    <a:pt x="40" y="488"/>
                  </a:cubicBezTo>
                  <a:cubicBezTo>
                    <a:pt x="28" y="492"/>
                    <a:pt x="18" y="493"/>
                    <a:pt x="9" y="484"/>
                  </a:cubicBezTo>
                  <a:cubicBezTo>
                    <a:pt x="0" y="475"/>
                    <a:pt x="3" y="464"/>
                    <a:pt x="6" y="454"/>
                  </a:cubicBezTo>
                  <a:cubicBezTo>
                    <a:pt x="23" y="395"/>
                    <a:pt x="40" y="335"/>
                    <a:pt x="58" y="276"/>
                  </a:cubicBezTo>
                  <a:cubicBezTo>
                    <a:pt x="60" y="270"/>
                    <a:pt x="63" y="264"/>
                    <a:pt x="67" y="259"/>
                  </a:cubicBezTo>
                  <a:cubicBezTo>
                    <a:pt x="154" y="173"/>
                    <a:pt x="240" y="87"/>
                    <a:pt x="327" y="1"/>
                  </a:cubicBezTo>
                  <a:cubicBezTo>
                    <a:pt x="328" y="1"/>
                    <a:pt x="329" y="0"/>
                    <a:pt x="328" y="1"/>
                  </a:cubicBezTo>
                  <a:close/>
                  <a:moveTo>
                    <a:pt x="102" y="292"/>
                  </a:moveTo>
                  <a:cubicBezTo>
                    <a:pt x="91" y="327"/>
                    <a:pt x="81" y="362"/>
                    <a:pt x="72" y="396"/>
                  </a:cubicBezTo>
                  <a:cubicBezTo>
                    <a:pt x="71" y="399"/>
                    <a:pt x="72" y="403"/>
                    <a:pt x="74" y="405"/>
                  </a:cubicBezTo>
                  <a:cubicBezTo>
                    <a:pt x="87" y="423"/>
                    <a:pt x="92" y="425"/>
                    <a:pt x="113" y="418"/>
                  </a:cubicBezTo>
                  <a:cubicBezTo>
                    <a:pt x="125" y="415"/>
                    <a:pt x="136" y="411"/>
                    <a:pt x="148" y="408"/>
                  </a:cubicBezTo>
                  <a:cubicBezTo>
                    <a:pt x="165" y="403"/>
                    <a:pt x="182" y="398"/>
                    <a:pt x="200" y="393"/>
                  </a:cubicBezTo>
                  <a:cubicBezTo>
                    <a:pt x="195" y="365"/>
                    <a:pt x="190" y="341"/>
                    <a:pt x="185" y="316"/>
                  </a:cubicBezTo>
                  <a:cubicBezTo>
                    <a:pt x="185" y="313"/>
                    <a:pt x="181" y="309"/>
                    <a:pt x="178" y="308"/>
                  </a:cubicBezTo>
                  <a:cubicBezTo>
                    <a:pt x="153" y="302"/>
                    <a:pt x="128" y="297"/>
                    <a:pt x="102" y="292"/>
                  </a:cubicBezTo>
                  <a:close/>
                </a:path>
              </a:pathLst>
            </a:custGeom>
            <a:grpFill/>
            <a:ln>
              <a:noFill/>
            </a:ln>
          </p:spPr>
          <p:txBody>
            <a:bodyPr/>
            <a:lstStyle/>
            <a:p>
              <a:endParaRPr lang="zh-HK" altLang="en-US">
                <a:ea typeface="PMingLiU-ExtB" panose="02020500000000000000" charset="-120"/>
              </a:endParaRPr>
            </a:p>
          </p:txBody>
        </p:sp>
        <p:sp>
          <p:nvSpPr>
            <p:cNvPr id="1050025" name="Freeform 8"/>
            <p:cNvSpPr>
              <a:spLocks noChangeArrowheads="1"/>
            </p:cNvSpPr>
            <p:nvPr/>
          </p:nvSpPr>
          <p:spPr bwMode="auto">
            <a:xfrm>
              <a:off x="2262162" y="3371619"/>
              <a:ext cx="608346" cy="119627"/>
            </a:xfrm>
            <a:custGeom>
              <a:avLst/>
              <a:gdLst>
                <a:gd name="T0" fmla="*/ 0 w 529"/>
                <a:gd name="T1" fmla="*/ 104 h 104"/>
                <a:gd name="T2" fmla="*/ 0 w 529"/>
                <a:gd name="T3" fmla="*/ 0 h 104"/>
                <a:gd name="T4" fmla="*/ 529 w 529"/>
                <a:gd name="T5" fmla="*/ 0 h 104"/>
                <a:gd name="T6" fmla="*/ 529 w 529"/>
                <a:gd name="T7" fmla="*/ 104 h 104"/>
                <a:gd name="T8" fmla="*/ 0 w 529"/>
                <a:gd name="T9" fmla="*/ 104 h 104"/>
              </a:gdLst>
              <a:ahLst/>
              <a:cxnLst>
                <a:cxn ang="0">
                  <a:pos x="T0" y="T1"/>
                </a:cxn>
                <a:cxn ang="0">
                  <a:pos x="T2" y="T3"/>
                </a:cxn>
                <a:cxn ang="0">
                  <a:pos x="T4" y="T5"/>
                </a:cxn>
                <a:cxn ang="0">
                  <a:pos x="T6" y="T7"/>
                </a:cxn>
                <a:cxn ang="0">
                  <a:pos x="T8" y="T9"/>
                </a:cxn>
              </a:cxnLst>
              <a:rect l="0" t="0" r="r" b="b"/>
              <a:pathLst>
                <a:path w="529" h="104">
                  <a:moveTo>
                    <a:pt x="0" y="104"/>
                  </a:moveTo>
                  <a:cubicBezTo>
                    <a:pt x="0" y="69"/>
                    <a:pt x="0" y="35"/>
                    <a:pt x="0" y="0"/>
                  </a:cubicBezTo>
                  <a:cubicBezTo>
                    <a:pt x="177" y="0"/>
                    <a:pt x="352" y="0"/>
                    <a:pt x="529" y="0"/>
                  </a:cubicBezTo>
                  <a:cubicBezTo>
                    <a:pt x="529" y="35"/>
                    <a:pt x="529" y="69"/>
                    <a:pt x="529" y="104"/>
                  </a:cubicBezTo>
                  <a:cubicBezTo>
                    <a:pt x="353" y="104"/>
                    <a:pt x="177" y="104"/>
                    <a:pt x="0" y="104"/>
                  </a:cubicBezTo>
                  <a:close/>
                </a:path>
              </a:pathLst>
            </a:custGeom>
            <a:grpFill/>
            <a:ln>
              <a:noFill/>
            </a:ln>
          </p:spPr>
          <p:txBody>
            <a:bodyPr/>
            <a:lstStyle/>
            <a:p>
              <a:endParaRPr lang="zh-HK" altLang="en-US">
                <a:ea typeface="PMingLiU-ExtB" panose="02020500000000000000" charset="-120"/>
              </a:endParaRPr>
            </a:p>
          </p:txBody>
        </p:sp>
        <p:sp>
          <p:nvSpPr>
            <p:cNvPr id="1050026" name="Freeform 9"/>
            <p:cNvSpPr>
              <a:spLocks noChangeArrowheads="1"/>
            </p:cNvSpPr>
            <p:nvPr/>
          </p:nvSpPr>
          <p:spPr bwMode="auto">
            <a:xfrm>
              <a:off x="2263134" y="3127502"/>
              <a:ext cx="607373" cy="119627"/>
            </a:xfrm>
            <a:custGeom>
              <a:avLst/>
              <a:gdLst>
                <a:gd name="T0" fmla="*/ 528 w 528"/>
                <a:gd name="T1" fmla="*/ 0 h 104"/>
                <a:gd name="T2" fmla="*/ 528 w 528"/>
                <a:gd name="T3" fmla="*/ 104 h 104"/>
                <a:gd name="T4" fmla="*/ 0 w 528"/>
                <a:gd name="T5" fmla="*/ 104 h 104"/>
                <a:gd name="T6" fmla="*/ 0 w 528"/>
                <a:gd name="T7" fmla="*/ 0 h 104"/>
                <a:gd name="T8" fmla="*/ 528 w 528"/>
                <a:gd name="T9" fmla="*/ 0 h 104"/>
              </a:gdLst>
              <a:ahLst/>
              <a:cxnLst>
                <a:cxn ang="0">
                  <a:pos x="T0" y="T1"/>
                </a:cxn>
                <a:cxn ang="0">
                  <a:pos x="T2" y="T3"/>
                </a:cxn>
                <a:cxn ang="0">
                  <a:pos x="T4" y="T5"/>
                </a:cxn>
                <a:cxn ang="0">
                  <a:pos x="T6" y="T7"/>
                </a:cxn>
                <a:cxn ang="0">
                  <a:pos x="T8" y="T9"/>
                </a:cxn>
              </a:cxnLst>
              <a:rect l="0" t="0" r="r" b="b"/>
              <a:pathLst>
                <a:path w="528" h="104">
                  <a:moveTo>
                    <a:pt x="528" y="0"/>
                  </a:moveTo>
                  <a:cubicBezTo>
                    <a:pt x="528" y="35"/>
                    <a:pt x="528" y="69"/>
                    <a:pt x="528" y="104"/>
                  </a:cubicBezTo>
                  <a:cubicBezTo>
                    <a:pt x="352" y="104"/>
                    <a:pt x="177" y="104"/>
                    <a:pt x="0" y="104"/>
                  </a:cubicBezTo>
                  <a:cubicBezTo>
                    <a:pt x="0" y="70"/>
                    <a:pt x="0" y="36"/>
                    <a:pt x="0" y="0"/>
                  </a:cubicBezTo>
                  <a:cubicBezTo>
                    <a:pt x="176" y="0"/>
                    <a:pt x="352" y="0"/>
                    <a:pt x="528" y="0"/>
                  </a:cubicBezTo>
                  <a:close/>
                </a:path>
              </a:pathLst>
            </a:custGeom>
            <a:grpFill/>
            <a:ln>
              <a:noFill/>
            </a:ln>
          </p:spPr>
          <p:txBody>
            <a:bodyPr/>
            <a:lstStyle/>
            <a:p>
              <a:endParaRPr lang="zh-HK" altLang="en-US">
                <a:ea typeface="PMingLiU-ExtB" panose="02020500000000000000" charset="-120"/>
              </a:endParaRPr>
            </a:p>
          </p:txBody>
        </p:sp>
        <p:sp>
          <p:nvSpPr>
            <p:cNvPr id="1050027" name="Freeform 10"/>
            <p:cNvSpPr>
              <a:spLocks noChangeArrowheads="1"/>
            </p:cNvSpPr>
            <p:nvPr/>
          </p:nvSpPr>
          <p:spPr bwMode="auto">
            <a:xfrm>
              <a:off x="2263134" y="3615735"/>
              <a:ext cx="549991" cy="120599"/>
            </a:xfrm>
            <a:custGeom>
              <a:avLst/>
              <a:gdLst>
                <a:gd name="T0" fmla="*/ 0 w 478"/>
                <a:gd name="T1" fmla="*/ 0 h 105"/>
                <a:gd name="T2" fmla="*/ 478 w 478"/>
                <a:gd name="T3" fmla="*/ 0 h 105"/>
                <a:gd name="T4" fmla="*/ 472 w 478"/>
                <a:gd name="T5" fmla="*/ 8 h 105"/>
                <a:gd name="T6" fmla="*/ 383 w 478"/>
                <a:gd name="T7" fmla="*/ 97 h 105"/>
                <a:gd name="T8" fmla="*/ 366 w 478"/>
                <a:gd name="T9" fmla="*/ 104 h 105"/>
                <a:gd name="T10" fmla="*/ 8 w 478"/>
                <a:gd name="T11" fmla="*/ 105 h 105"/>
                <a:gd name="T12" fmla="*/ 0 w 478"/>
                <a:gd name="T13" fmla="*/ 104 h 105"/>
                <a:gd name="T14" fmla="*/ 0 w 478"/>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8" h="105">
                  <a:moveTo>
                    <a:pt x="0" y="0"/>
                  </a:moveTo>
                  <a:cubicBezTo>
                    <a:pt x="159" y="0"/>
                    <a:pt x="318" y="0"/>
                    <a:pt x="478" y="0"/>
                  </a:cubicBezTo>
                  <a:cubicBezTo>
                    <a:pt x="476" y="3"/>
                    <a:pt x="474" y="6"/>
                    <a:pt x="472" y="8"/>
                  </a:cubicBezTo>
                  <a:cubicBezTo>
                    <a:pt x="443" y="38"/>
                    <a:pt x="413" y="68"/>
                    <a:pt x="383" y="97"/>
                  </a:cubicBezTo>
                  <a:cubicBezTo>
                    <a:pt x="379" y="101"/>
                    <a:pt x="372" y="104"/>
                    <a:pt x="366" y="104"/>
                  </a:cubicBezTo>
                  <a:cubicBezTo>
                    <a:pt x="247" y="105"/>
                    <a:pt x="127" y="105"/>
                    <a:pt x="8" y="105"/>
                  </a:cubicBezTo>
                  <a:cubicBezTo>
                    <a:pt x="6" y="105"/>
                    <a:pt x="3" y="104"/>
                    <a:pt x="0" y="104"/>
                  </a:cubicBezTo>
                  <a:cubicBezTo>
                    <a:pt x="0" y="69"/>
                    <a:pt x="0" y="35"/>
                    <a:pt x="0" y="0"/>
                  </a:cubicBezTo>
                  <a:close/>
                </a:path>
              </a:pathLst>
            </a:custGeom>
            <a:grpFill/>
            <a:ln>
              <a:noFill/>
            </a:ln>
          </p:spPr>
          <p:txBody>
            <a:bodyPr/>
            <a:lstStyle/>
            <a:p>
              <a:endParaRPr lang="zh-HK" altLang="en-US">
                <a:ea typeface="PMingLiU-ExtB" panose="02020500000000000000" charset="-120"/>
              </a:endParaRPr>
            </a:p>
          </p:txBody>
        </p:sp>
        <p:sp>
          <p:nvSpPr>
            <p:cNvPr id="1050028" name="Freeform 11"/>
            <p:cNvSpPr>
              <a:spLocks noChangeArrowheads="1"/>
            </p:cNvSpPr>
            <p:nvPr/>
          </p:nvSpPr>
          <p:spPr bwMode="auto">
            <a:xfrm>
              <a:off x="3016880" y="3492218"/>
              <a:ext cx="283019" cy="281074"/>
            </a:xfrm>
            <a:custGeom>
              <a:avLst/>
              <a:gdLst>
                <a:gd name="T0" fmla="*/ 0 w 246"/>
                <a:gd name="T1" fmla="*/ 87 h 244"/>
                <a:gd name="T2" fmla="*/ 66 w 246"/>
                <a:gd name="T3" fmla="*/ 20 h 244"/>
                <a:gd name="T4" fmla="*/ 139 w 246"/>
                <a:gd name="T5" fmla="*/ 20 h 244"/>
                <a:gd name="T6" fmla="*/ 225 w 246"/>
                <a:gd name="T7" fmla="*/ 106 h 244"/>
                <a:gd name="T8" fmla="*/ 227 w 246"/>
                <a:gd name="T9" fmla="*/ 178 h 244"/>
                <a:gd name="T10" fmla="*/ 159 w 246"/>
                <a:gd name="T11" fmla="*/ 244 h 244"/>
                <a:gd name="T12" fmla="*/ 0 w 246"/>
                <a:gd name="T13" fmla="*/ 87 h 244"/>
              </a:gdLst>
              <a:ahLst/>
              <a:cxnLst>
                <a:cxn ang="0">
                  <a:pos x="T0" y="T1"/>
                </a:cxn>
                <a:cxn ang="0">
                  <a:pos x="T2" y="T3"/>
                </a:cxn>
                <a:cxn ang="0">
                  <a:pos x="T4" y="T5"/>
                </a:cxn>
                <a:cxn ang="0">
                  <a:pos x="T6" y="T7"/>
                </a:cxn>
                <a:cxn ang="0">
                  <a:pos x="T8" y="T9"/>
                </a:cxn>
                <a:cxn ang="0">
                  <a:pos x="T10" y="T11"/>
                </a:cxn>
                <a:cxn ang="0">
                  <a:pos x="T12" y="T13"/>
                </a:cxn>
              </a:cxnLst>
              <a:rect l="0" t="0" r="r" b="b"/>
              <a:pathLst>
                <a:path w="246" h="244">
                  <a:moveTo>
                    <a:pt x="0" y="87"/>
                  </a:moveTo>
                  <a:cubicBezTo>
                    <a:pt x="22" y="64"/>
                    <a:pt x="43" y="41"/>
                    <a:pt x="66" y="20"/>
                  </a:cubicBezTo>
                  <a:cubicBezTo>
                    <a:pt x="87" y="1"/>
                    <a:pt x="118" y="0"/>
                    <a:pt x="139" y="20"/>
                  </a:cubicBezTo>
                  <a:cubicBezTo>
                    <a:pt x="169" y="48"/>
                    <a:pt x="198" y="76"/>
                    <a:pt x="225" y="106"/>
                  </a:cubicBezTo>
                  <a:cubicBezTo>
                    <a:pt x="245" y="127"/>
                    <a:pt x="246" y="158"/>
                    <a:pt x="227" y="178"/>
                  </a:cubicBezTo>
                  <a:cubicBezTo>
                    <a:pt x="205" y="202"/>
                    <a:pt x="181" y="223"/>
                    <a:pt x="159" y="244"/>
                  </a:cubicBezTo>
                  <a:cubicBezTo>
                    <a:pt x="107" y="193"/>
                    <a:pt x="54" y="140"/>
                    <a:pt x="0" y="87"/>
                  </a:cubicBezTo>
                  <a:close/>
                </a:path>
              </a:pathLst>
            </a:custGeom>
            <a:grpFill/>
            <a:ln>
              <a:noFill/>
            </a:ln>
          </p:spPr>
          <p:txBody>
            <a:bodyPr/>
            <a:lstStyle/>
            <a:p>
              <a:endParaRPr lang="zh-HK" altLang="en-US">
                <a:ea typeface="PMingLiU-ExtB" panose="02020500000000000000" charset="-120"/>
              </a:endParaRPr>
            </a:p>
          </p:txBody>
        </p:sp>
        <p:sp>
          <p:nvSpPr>
            <p:cNvPr id="1050029" name="Freeform 12"/>
            <p:cNvSpPr>
              <a:spLocks noChangeArrowheads="1"/>
            </p:cNvSpPr>
            <p:nvPr/>
          </p:nvSpPr>
          <p:spPr bwMode="auto">
            <a:xfrm>
              <a:off x="2017073" y="3372591"/>
              <a:ext cx="119627" cy="117682"/>
            </a:xfrm>
            <a:custGeom>
              <a:avLst/>
              <a:gdLst>
                <a:gd name="T0" fmla="*/ 0 w 104"/>
                <a:gd name="T1" fmla="*/ 102 h 102"/>
                <a:gd name="T2" fmla="*/ 0 w 104"/>
                <a:gd name="T3" fmla="*/ 0 h 102"/>
                <a:gd name="T4" fmla="*/ 104 w 104"/>
                <a:gd name="T5" fmla="*/ 0 h 102"/>
                <a:gd name="T6" fmla="*/ 104 w 104"/>
                <a:gd name="T7" fmla="*/ 102 h 102"/>
                <a:gd name="T8" fmla="*/ 0 w 104"/>
                <a:gd name="T9" fmla="*/ 102 h 102"/>
              </a:gdLst>
              <a:ahLst/>
              <a:cxnLst>
                <a:cxn ang="0">
                  <a:pos x="T0" y="T1"/>
                </a:cxn>
                <a:cxn ang="0">
                  <a:pos x="T2" y="T3"/>
                </a:cxn>
                <a:cxn ang="0">
                  <a:pos x="T4" y="T5"/>
                </a:cxn>
                <a:cxn ang="0">
                  <a:pos x="T6" y="T7"/>
                </a:cxn>
                <a:cxn ang="0">
                  <a:pos x="T8" y="T9"/>
                </a:cxn>
              </a:cxnLst>
              <a:rect l="0" t="0" r="r" b="b"/>
              <a:pathLst>
                <a:path w="104" h="102">
                  <a:moveTo>
                    <a:pt x="0" y="102"/>
                  </a:moveTo>
                  <a:cubicBezTo>
                    <a:pt x="0" y="68"/>
                    <a:pt x="0" y="34"/>
                    <a:pt x="0" y="0"/>
                  </a:cubicBezTo>
                  <a:cubicBezTo>
                    <a:pt x="35" y="0"/>
                    <a:pt x="69" y="0"/>
                    <a:pt x="104" y="0"/>
                  </a:cubicBezTo>
                  <a:cubicBezTo>
                    <a:pt x="104" y="34"/>
                    <a:pt x="104" y="67"/>
                    <a:pt x="104" y="102"/>
                  </a:cubicBezTo>
                  <a:cubicBezTo>
                    <a:pt x="70" y="102"/>
                    <a:pt x="36" y="102"/>
                    <a:pt x="0" y="102"/>
                  </a:cubicBezTo>
                  <a:close/>
                </a:path>
              </a:pathLst>
            </a:custGeom>
            <a:grpFill/>
            <a:ln>
              <a:noFill/>
            </a:ln>
          </p:spPr>
          <p:txBody>
            <a:bodyPr/>
            <a:lstStyle/>
            <a:p>
              <a:endParaRPr lang="zh-HK" altLang="en-US">
                <a:ea typeface="PMingLiU-ExtB" panose="02020500000000000000" charset="-120"/>
              </a:endParaRPr>
            </a:p>
          </p:txBody>
        </p:sp>
        <p:sp>
          <p:nvSpPr>
            <p:cNvPr id="1050030" name="Freeform 13"/>
            <p:cNvSpPr>
              <a:spLocks noChangeArrowheads="1"/>
            </p:cNvSpPr>
            <p:nvPr/>
          </p:nvSpPr>
          <p:spPr bwMode="auto">
            <a:xfrm>
              <a:off x="2018045" y="3128475"/>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4" y="103"/>
                    <a:pt x="0" y="103"/>
                  </a:cubicBezTo>
                  <a:cubicBezTo>
                    <a:pt x="0" y="68"/>
                    <a:pt x="0" y="35"/>
                    <a:pt x="0" y="0"/>
                  </a:cubicBezTo>
                  <a:cubicBezTo>
                    <a:pt x="34" y="0"/>
                    <a:pt x="68" y="0"/>
                    <a:pt x="103" y="0"/>
                  </a:cubicBezTo>
                  <a:cubicBezTo>
                    <a:pt x="103" y="34"/>
                    <a:pt x="103" y="68"/>
                    <a:pt x="103" y="103"/>
                  </a:cubicBezTo>
                  <a:close/>
                </a:path>
              </a:pathLst>
            </a:custGeom>
            <a:grpFill/>
            <a:ln>
              <a:noFill/>
            </a:ln>
          </p:spPr>
          <p:txBody>
            <a:bodyPr/>
            <a:lstStyle/>
            <a:p>
              <a:endParaRPr lang="zh-HK" altLang="en-US">
                <a:ea typeface="PMingLiU-ExtB" panose="02020500000000000000" charset="-120"/>
              </a:endParaRPr>
            </a:p>
          </p:txBody>
        </p:sp>
        <p:sp>
          <p:nvSpPr>
            <p:cNvPr id="1050031" name="Freeform 14"/>
            <p:cNvSpPr>
              <a:spLocks noChangeArrowheads="1"/>
            </p:cNvSpPr>
            <p:nvPr/>
          </p:nvSpPr>
          <p:spPr bwMode="auto">
            <a:xfrm>
              <a:off x="2018045" y="3616708"/>
              <a:ext cx="118654" cy="118654"/>
            </a:xfrm>
            <a:custGeom>
              <a:avLst/>
              <a:gdLst>
                <a:gd name="T0" fmla="*/ 103 w 103"/>
                <a:gd name="T1" fmla="*/ 103 h 103"/>
                <a:gd name="T2" fmla="*/ 0 w 103"/>
                <a:gd name="T3" fmla="*/ 103 h 103"/>
                <a:gd name="T4" fmla="*/ 0 w 103"/>
                <a:gd name="T5" fmla="*/ 0 h 103"/>
                <a:gd name="T6" fmla="*/ 103 w 103"/>
                <a:gd name="T7" fmla="*/ 0 h 103"/>
                <a:gd name="T8" fmla="*/ 103 w 103"/>
                <a:gd name="T9" fmla="*/ 103 h 103"/>
              </a:gdLst>
              <a:ahLst/>
              <a:cxnLst>
                <a:cxn ang="0">
                  <a:pos x="T0" y="T1"/>
                </a:cxn>
                <a:cxn ang="0">
                  <a:pos x="T2" y="T3"/>
                </a:cxn>
                <a:cxn ang="0">
                  <a:pos x="T4" y="T5"/>
                </a:cxn>
                <a:cxn ang="0">
                  <a:pos x="T6" y="T7"/>
                </a:cxn>
                <a:cxn ang="0">
                  <a:pos x="T8" y="T9"/>
                </a:cxn>
              </a:cxnLst>
              <a:rect l="0" t="0" r="r" b="b"/>
              <a:pathLst>
                <a:path w="103" h="103">
                  <a:moveTo>
                    <a:pt x="103" y="103"/>
                  </a:moveTo>
                  <a:cubicBezTo>
                    <a:pt x="68" y="103"/>
                    <a:pt x="35" y="103"/>
                    <a:pt x="0" y="103"/>
                  </a:cubicBezTo>
                  <a:cubicBezTo>
                    <a:pt x="0" y="68"/>
                    <a:pt x="0" y="35"/>
                    <a:pt x="0" y="0"/>
                  </a:cubicBezTo>
                  <a:cubicBezTo>
                    <a:pt x="34" y="0"/>
                    <a:pt x="68" y="0"/>
                    <a:pt x="103" y="0"/>
                  </a:cubicBezTo>
                  <a:cubicBezTo>
                    <a:pt x="103" y="33"/>
                    <a:pt x="103" y="67"/>
                    <a:pt x="103" y="103"/>
                  </a:cubicBezTo>
                  <a:close/>
                </a:path>
              </a:pathLst>
            </a:custGeom>
            <a:grpFill/>
            <a:ln>
              <a:noFill/>
            </a:ln>
          </p:spPr>
          <p:txBody>
            <a:bodyPr/>
            <a:lstStyle/>
            <a:p>
              <a:endParaRPr lang="zh-HK" altLang="en-US">
                <a:ea typeface="PMingLiU-ExtB" panose="02020500000000000000" charset="-120"/>
              </a:endParaRPr>
            </a:p>
          </p:txBody>
        </p:sp>
      </p:grpSp>
      <p:sp>
        <p:nvSpPr>
          <p:cNvPr id="1050032" name="文本框 70"/>
          <p:cNvSpPr txBox="1"/>
          <p:nvPr/>
        </p:nvSpPr>
        <p:spPr bwMode="auto">
          <a:xfrm>
            <a:off x="2135561" y="4129802"/>
            <a:ext cx="2054225" cy="523334"/>
          </a:xfrm>
          <a:prstGeom prst="rect">
            <a:avLst/>
          </a:prstGeom>
          <a:noFill/>
        </p:spPr>
        <p:txBody>
          <a:bodyPr>
            <a:spAutoFit/>
          </a:bodyPr>
          <a:lstStyle/>
          <a:p>
            <a:pPr algn="ctr" fontAlgn="auto"/>
            <a:r>
              <a:rPr lang="en-US" altLang="zh-CN"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rPr>
              <a:t>Contents</a:t>
            </a:r>
            <a:endParaRPr lang="zh-HK" altLang="en-US" sz="2800" b="1" noProof="1">
              <a:solidFill>
                <a:srgbClr val="044875"/>
              </a:solidFill>
              <a:latin typeface="Times New Roman" panose="02020603050405020304" pitchFamily="18" charset="0"/>
              <a:ea typeface="微软雅黑" panose="020B0503020204020204" charset="-122"/>
              <a:cs typeface="Times New Roman" panose="02020603050405020304" pitchFamily="18" charset="0"/>
            </a:endParaRPr>
          </a:p>
        </p:txBody>
      </p:sp>
      <p:grpSp>
        <p:nvGrpSpPr>
          <p:cNvPr id="754" name="组合 71"/>
          <p:cNvGrpSpPr/>
          <p:nvPr>
            <p:custDataLst>
              <p:tags r:id="rId1"/>
            </p:custDataLst>
          </p:nvPr>
        </p:nvGrpSpPr>
        <p:grpSpPr>
          <a:xfrm>
            <a:off x="4523741" y="2047924"/>
            <a:ext cx="5370513" cy="534987"/>
            <a:chOff x="3281952" y="1484784"/>
            <a:chExt cx="5370513" cy="534987"/>
          </a:xfrm>
        </p:grpSpPr>
        <p:grpSp>
          <p:nvGrpSpPr>
            <p:cNvPr id="755" name="组合 72"/>
            <p:cNvGrpSpPr/>
            <p:nvPr/>
          </p:nvGrpSpPr>
          <p:grpSpPr>
            <a:xfrm>
              <a:off x="3943940" y="1484784"/>
              <a:ext cx="4708525" cy="534987"/>
              <a:chOff x="3943940" y="1626760"/>
              <a:chExt cx="4708525" cy="534987"/>
            </a:xfrm>
          </p:grpSpPr>
          <p:sp>
            <p:nvSpPr>
              <p:cNvPr id="1050033" name="Freeform 74"/>
              <p:cNvSpPr>
                <a:spLocks noEditPoints="1"/>
              </p:cNvSpPr>
              <p:nvPr>
                <p:custDataLst>
                  <p:tags r:id="rId25"/>
                </p:custDataLst>
              </p:nvPr>
            </p:nvSpPr>
            <p:spPr bwMode="auto">
              <a:xfrm>
                <a:off x="4050302" y="1772810"/>
                <a:ext cx="403225" cy="263525"/>
              </a:xfrm>
              <a:custGeom>
                <a:avLst/>
                <a:gdLst>
                  <a:gd name="T0" fmla="*/ 18 w 99"/>
                  <a:gd name="T1" fmla="*/ 58 h 65"/>
                  <a:gd name="T2" fmla="*/ 53 w 99"/>
                  <a:gd name="T3" fmla="*/ 65 h 65"/>
                  <a:gd name="T4" fmla="*/ 87 w 99"/>
                  <a:gd name="T5" fmla="*/ 57 h 65"/>
                  <a:gd name="T6" fmla="*/ 87 w 99"/>
                  <a:gd name="T7" fmla="*/ 23 h 65"/>
                  <a:gd name="T8" fmla="*/ 53 w 99"/>
                  <a:gd name="T9" fmla="*/ 28 h 65"/>
                  <a:gd name="T10" fmla="*/ 18 w 99"/>
                  <a:gd name="T11" fmla="*/ 23 h 65"/>
                  <a:gd name="T12" fmla="*/ 18 w 99"/>
                  <a:gd name="T13" fmla="*/ 58 h 65"/>
                  <a:gd name="T14" fmla="*/ 99 w 99"/>
                  <a:gd name="T15" fmla="*/ 8 h 65"/>
                  <a:gd name="T16" fmla="*/ 99 w 99"/>
                  <a:gd name="T17" fmla="*/ 17 h 65"/>
                  <a:gd name="T18" fmla="*/ 53 w 99"/>
                  <a:gd name="T19" fmla="*/ 24 h 65"/>
                  <a:gd name="T20" fmla="*/ 7 w 99"/>
                  <a:gd name="T21" fmla="*/ 17 h 65"/>
                  <a:gd name="T22" fmla="*/ 7 w 99"/>
                  <a:gd name="T23" fmla="*/ 34 h 65"/>
                  <a:gd name="T24" fmla="*/ 9 w 99"/>
                  <a:gd name="T25" fmla="*/ 37 h 65"/>
                  <a:gd name="T26" fmla="*/ 5 w 99"/>
                  <a:gd name="T27" fmla="*/ 41 h 65"/>
                  <a:gd name="T28" fmla="*/ 2 w 99"/>
                  <a:gd name="T29" fmla="*/ 37 h 65"/>
                  <a:gd name="T30" fmla="*/ 4 w 99"/>
                  <a:gd name="T31" fmla="*/ 34 h 65"/>
                  <a:gd name="T32" fmla="*/ 4 w 99"/>
                  <a:gd name="T33" fmla="*/ 8 h 65"/>
                  <a:gd name="T34" fmla="*/ 53 w 99"/>
                  <a:gd name="T35" fmla="*/ 0 h 65"/>
                  <a:gd name="T36" fmla="*/ 99 w 99"/>
                  <a:gd name="T37" fmla="*/ 8 h 65"/>
                  <a:gd name="T38" fmla="*/ 8 w 99"/>
                  <a:gd name="T39" fmla="*/ 42 h 65"/>
                  <a:gd name="T40" fmla="*/ 3 w 99"/>
                  <a:gd name="T41" fmla="*/ 42 h 65"/>
                  <a:gd name="T42" fmla="*/ 0 w 99"/>
                  <a:gd name="T43" fmla="*/ 58 h 65"/>
                  <a:gd name="T44" fmla="*/ 2 w 99"/>
                  <a:gd name="T45" fmla="*/ 58 h 65"/>
                  <a:gd name="T46" fmla="*/ 3 w 99"/>
                  <a:gd name="T47" fmla="*/ 56 h 65"/>
                  <a:gd name="T48" fmla="*/ 3 w 99"/>
                  <a:gd name="T49" fmla="*/ 58 h 65"/>
                  <a:gd name="T50" fmla="*/ 6 w 99"/>
                  <a:gd name="T51" fmla="*/ 59 h 65"/>
                  <a:gd name="T52" fmla="*/ 7 w 99"/>
                  <a:gd name="T53" fmla="*/ 57 h 65"/>
                  <a:gd name="T54" fmla="*/ 7 w 99"/>
                  <a:gd name="T55" fmla="*/ 59 h 65"/>
                  <a:gd name="T56" fmla="*/ 8 w 99"/>
                  <a:gd name="T57" fmla="*/ 59 h 65"/>
                  <a:gd name="T58" fmla="*/ 8 w 99"/>
                  <a:gd name="T59" fmla="*/ 51 h 65"/>
                  <a:gd name="T60" fmla="*/ 9 w 99"/>
                  <a:gd name="T61" fmla="*/ 58 h 65"/>
                  <a:gd name="T62" fmla="*/ 11 w 99"/>
                  <a:gd name="T63" fmla="*/ 58 h 65"/>
                  <a:gd name="T64" fmla="*/ 8 w 99"/>
                  <a:gd name="T65"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chemeClr val="bg2">
                  <a:lumMod val="90000"/>
                </a:schemeClr>
              </a:solidFill>
              <a:ln>
                <a:noFill/>
              </a:ln>
            </p:spPr>
            <p:txBody>
              <a:bodyPr/>
              <a:lstStyle/>
              <a:p>
                <a:endParaRPr lang="zh-CN" altLang="en-US" b="1">
                  <a:solidFill>
                    <a:prstClr val="black"/>
                  </a:solidFill>
                </a:endParaRPr>
              </a:p>
            </p:txBody>
          </p:sp>
          <p:sp>
            <p:nvSpPr>
              <p:cNvPr id="1050034" name="文本框 20"/>
              <p:cNvSpPr txBox="1">
                <a:spLocks noChangeArrowheads="1"/>
              </p:cNvSpPr>
              <p:nvPr>
                <p:custDataLst>
                  <p:tags r:id="rId26"/>
                </p:custDataLst>
              </p:nvPr>
            </p:nvSpPr>
            <p:spPr bwMode="auto">
              <a:xfrm>
                <a:off x="4599577" y="1648846"/>
                <a:ext cx="3989387" cy="46166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Problem Description</a:t>
                </a:r>
                <a:endParaRPr lang="zh-CN" altLang="en-US"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50035" name="矩形 78"/>
              <p:cNvSpPr/>
              <p:nvPr>
                <p:custDataLst>
                  <p:tags r:id="rId27"/>
                </p:custDataLst>
              </p:nvPr>
            </p:nvSpPr>
            <p:spPr bwMode="auto">
              <a:xfrm>
                <a:off x="3943940" y="1626760"/>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7" name="直接连接符 79"/>
              <p:cNvCxnSpPr/>
              <p:nvPr>
                <p:custDataLst>
                  <p:tags r:id="rId28"/>
                </p:custDataLst>
              </p:nvPr>
            </p:nvCxnSpPr>
            <p:spPr bwMode="auto">
              <a:xfrm flipH="1">
                <a:off x="4593227" y="1626760"/>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756" name="组合 73"/>
            <p:cNvGrpSpPr/>
            <p:nvPr/>
          </p:nvGrpSpPr>
          <p:grpSpPr>
            <a:xfrm>
              <a:off x="3281952" y="1484784"/>
              <a:ext cx="689642" cy="534987"/>
              <a:chOff x="3281952" y="1626760"/>
              <a:chExt cx="689642" cy="534987"/>
            </a:xfrm>
          </p:grpSpPr>
          <p:sp>
            <p:nvSpPr>
              <p:cNvPr id="1050036" name="矩形 74"/>
              <p:cNvSpPr/>
              <p:nvPr>
                <p:custDataLst>
                  <p:tags r:id="rId23"/>
                </p:custDataLst>
              </p:nvPr>
            </p:nvSpPr>
            <p:spPr bwMode="auto">
              <a:xfrm>
                <a:off x="3359740" y="1626760"/>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37" name="文本框 18"/>
              <p:cNvSpPr txBox="1">
                <a:spLocks noChangeArrowheads="1"/>
              </p:cNvSpPr>
              <p:nvPr>
                <p:custDataLst>
                  <p:tags r:id="rId24"/>
                </p:custDataLst>
              </p:nvPr>
            </p:nvSpPr>
            <p:spPr bwMode="auto">
              <a:xfrm>
                <a:off x="3281952" y="1628800"/>
                <a:ext cx="689642"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01</a:t>
                </a:r>
                <a:endParaRPr lang="zh-CN" altLang="en-US" sz="2700" dirty="0">
                  <a:solidFill>
                    <a:schemeClr val="bg2">
                      <a:lumMod val="90000"/>
                    </a:schemeClr>
                  </a:solidFill>
                  <a:latin typeface="Impact" panose="020B0806030902050204" pitchFamily="34" charset="0"/>
                </a:endParaRPr>
              </a:p>
            </p:txBody>
          </p:sp>
        </p:grpSp>
      </p:grpSp>
      <p:grpSp>
        <p:nvGrpSpPr>
          <p:cNvPr id="757" name="组合 80"/>
          <p:cNvGrpSpPr/>
          <p:nvPr>
            <p:custDataLst>
              <p:tags r:id="rId2"/>
            </p:custDataLst>
          </p:nvPr>
        </p:nvGrpSpPr>
        <p:grpSpPr>
          <a:xfrm>
            <a:off x="4503593" y="3688642"/>
            <a:ext cx="5372100" cy="534987"/>
            <a:chOff x="3261805" y="3188752"/>
            <a:chExt cx="5372100" cy="534987"/>
          </a:xfrm>
        </p:grpSpPr>
        <p:grpSp>
          <p:nvGrpSpPr>
            <p:cNvPr id="758" name="组合 81"/>
            <p:cNvGrpSpPr/>
            <p:nvPr/>
          </p:nvGrpSpPr>
          <p:grpSpPr>
            <a:xfrm>
              <a:off x="3261805" y="3188752"/>
              <a:ext cx="689593" cy="534987"/>
              <a:chOff x="3261805" y="3188752"/>
              <a:chExt cx="689593" cy="534987"/>
            </a:xfrm>
          </p:grpSpPr>
          <p:sp>
            <p:nvSpPr>
              <p:cNvPr id="1050038" name="矩形 90"/>
              <p:cNvSpPr/>
              <p:nvPr>
                <p:custDataLst>
                  <p:tags r:id="rId21"/>
                </p:custDataLst>
              </p:nvPr>
            </p:nvSpPr>
            <p:spPr bwMode="auto">
              <a:xfrm>
                <a:off x="3339592" y="3188752"/>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39" name="文本框 86"/>
              <p:cNvSpPr txBox="1">
                <a:spLocks noChangeArrowheads="1"/>
              </p:cNvSpPr>
              <p:nvPr>
                <p:custDataLst>
                  <p:tags r:id="rId22"/>
                </p:custDataLst>
              </p:nvPr>
            </p:nvSpPr>
            <p:spPr bwMode="auto">
              <a:xfrm>
                <a:off x="3261805" y="3188752"/>
                <a:ext cx="689593"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nvGrpSpPr>
            <p:cNvPr id="759" name="组合 82"/>
            <p:cNvGrpSpPr/>
            <p:nvPr/>
          </p:nvGrpSpPr>
          <p:grpSpPr>
            <a:xfrm>
              <a:off x="3923792" y="3188752"/>
              <a:ext cx="4710113" cy="534987"/>
              <a:chOff x="3923792" y="3188752"/>
              <a:chExt cx="4710113" cy="534987"/>
            </a:xfrm>
          </p:grpSpPr>
          <p:sp>
            <p:nvSpPr>
              <p:cNvPr id="1050040" name="文本框 81"/>
              <p:cNvSpPr txBox="1">
                <a:spLocks noChangeArrowheads="1"/>
              </p:cNvSpPr>
              <p:nvPr>
                <p:custDataLst>
                  <p:tags r:id="rId17"/>
                </p:custDataLst>
              </p:nvPr>
            </p:nvSpPr>
            <p:spPr bwMode="auto">
              <a:xfrm>
                <a:off x="4876292" y="3235107"/>
                <a:ext cx="3398520"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rgbClr val="044875"/>
                    </a:solidFill>
                    <a:latin typeface="Times New Roman" panose="02020603050405020304" pitchFamily="18" charset="0"/>
                    <a:ea typeface="微软雅黑" panose="020B0503020204020204" charset="-122"/>
                    <a:sym typeface="+mn-ea"/>
                  </a:rPr>
                  <a:t>Experiment Results</a:t>
                </a:r>
                <a:endParaRPr lang="en-US" altLang="zh-CN" sz="2400" b="1" dirty="0">
                  <a:solidFill>
                    <a:srgbClr val="044875"/>
                  </a:solidFill>
                  <a:latin typeface="Times New Roman" panose="02020603050405020304" pitchFamily="18" charset="0"/>
                  <a:ea typeface="微软雅黑" panose="020B0503020204020204" charset="-122"/>
                </a:endParaRPr>
              </a:p>
            </p:txBody>
          </p:sp>
          <p:sp>
            <p:nvSpPr>
              <p:cNvPr id="1050041" name="矩形 84"/>
              <p:cNvSpPr/>
              <p:nvPr>
                <p:custDataLst>
                  <p:tags r:id="rId18"/>
                </p:custDataLst>
              </p:nvPr>
            </p:nvSpPr>
            <p:spPr bwMode="auto">
              <a:xfrm>
                <a:off x="3923792" y="3188752"/>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8" name="直接连接符 86"/>
              <p:cNvCxnSpPr/>
              <p:nvPr>
                <p:custDataLst>
                  <p:tags r:id="rId19"/>
                </p:custDataLst>
              </p:nvPr>
            </p:nvCxnSpPr>
            <p:spPr bwMode="auto">
              <a:xfrm flipH="1">
                <a:off x="4573080" y="3188752"/>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0042" name="Freeform 71"/>
              <p:cNvSpPr>
                <a:spLocks noEditPoints="1"/>
              </p:cNvSpPr>
              <p:nvPr>
                <p:custDataLst>
                  <p:tags r:id="rId20"/>
                </p:custDataLst>
              </p:nvPr>
            </p:nvSpPr>
            <p:spPr bwMode="auto">
              <a:xfrm>
                <a:off x="4038092" y="3253839"/>
                <a:ext cx="382588" cy="404813"/>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044875"/>
              </a:solidFill>
              <a:ln>
                <a:noFill/>
              </a:ln>
            </p:spPr>
            <p:txBody>
              <a:bodyPr/>
              <a:lstStyle/>
              <a:p>
                <a:endParaRPr lang="zh-CN" altLang="en-US" b="1">
                  <a:solidFill>
                    <a:srgbClr val="044875"/>
                  </a:solidFill>
                </a:endParaRPr>
              </a:p>
            </p:txBody>
          </p:sp>
        </p:grpSp>
      </p:grpSp>
      <p:grpSp>
        <p:nvGrpSpPr>
          <p:cNvPr id="760" name="组合 98"/>
          <p:cNvGrpSpPr/>
          <p:nvPr>
            <p:custDataLst>
              <p:tags r:id="rId3"/>
            </p:custDataLst>
          </p:nvPr>
        </p:nvGrpSpPr>
        <p:grpSpPr>
          <a:xfrm>
            <a:off x="4503593" y="4509001"/>
            <a:ext cx="5372100" cy="534987"/>
            <a:chOff x="3261805" y="4046141"/>
            <a:chExt cx="5372100" cy="534987"/>
          </a:xfrm>
        </p:grpSpPr>
        <p:grpSp>
          <p:nvGrpSpPr>
            <p:cNvPr id="761" name="组合 99"/>
            <p:cNvGrpSpPr/>
            <p:nvPr/>
          </p:nvGrpSpPr>
          <p:grpSpPr>
            <a:xfrm>
              <a:off x="3261805" y="4046141"/>
              <a:ext cx="689447" cy="534987"/>
              <a:chOff x="3261805" y="3969748"/>
              <a:chExt cx="689447" cy="534987"/>
            </a:xfrm>
          </p:grpSpPr>
          <p:sp>
            <p:nvSpPr>
              <p:cNvPr id="1050043" name="矩形 105"/>
              <p:cNvSpPr/>
              <p:nvPr>
                <p:custDataLst>
                  <p:tags r:id="rId15"/>
                </p:custDataLst>
              </p:nvPr>
            </p:nvSpPr>
            <p:spPr bwMode="auto">
              <a:xfrm>
                <a:off x="3339592" y="3969748"/>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44" name="文本框 131"/>
              <p:cNvSpPr txBox="1">
                <a:spLocks noChangeArrowheads="1"/>
              </p:cNvSpPr>
              <p:nvPr>
                <p:custDataLst>
                  <p:tags r:id="rId16"/>
                </p:custDataLst>
              </p:nvPr>
            </p:nvSpPr>
            <p:spPr bwMode="auto">
              <a:xfrm>
                <a:off x="3261805" y="3969748"/>
                <a:ext cx="689447" cy="508207"/>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04</a:t>
                </a:r>
                <a:endParaRPr lang="zh-CN" altLang="en-US" sz="2700" dirty="0">
                  <a:solidFill>
                    <a:schemeClr val="bg2">
                      <a:lumMod val="90000"/>
                    </a:schemeClr>
                  </a:solidFill>
                  <a:latin typeface="Impact" panose="020B0806030902050204" pitchFamily="34" charset="0"/>
                </a:endParaRPr>
              </a:p>
            </p:txBody>
          </p:sp>
        </p:grpSp>
        <p:grpSp>
          <p:nvGrpSpPr>
            <p:cNvPr id="762" name="组合 100"/>
            <p:cNvGrpSpPr/>
            <p:nvPr/>
          </p:nvGrpSpPr>
          <p:grpSpPr>
            <a:xfrm>
              <a:off x="3923792" y="4046141"/>
              <a:ext cx="4710113" cy="534987"/>
              <a:chOff x="3923792" y="3969748"/>
              <a:chExt cx="4710113" cy="534987"/>
            </a:xfrm>
          </p:grpSpPr>
          <p:sp>
            <p:nvSpPr>
              <p:cNvPr id="1050045" name="文本框 126"/>
              <p:cNvSpPr txBox="1">
                <a:spLocks noChangeArrowheads="1"/>
              </p:cNvSpPr>
              <p:nvPr>
                <p:custDataLst>
                  <p:tags r:id="rId11"/>
                </p:custDataLst>
              </p:nvPr>
            </p:nvSpPr>
            <p:spPr bwMode="auto">
              <a:xfrm>
                <a:off x="4571492" y="4002700"/>
                <a:ext cx="4041775" cy="460375"/>
              </a:xfrm>
              <a:prstGeom prst="rect">
                <a:avLst/>
              </a:prstGeom>
              <a:noFill/>
              <a:ln>
                <a:noFill/>
              </a:ln>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rPr>
                  <a:t>Conclusion</a:t>
                </a:r>
              </a:p>
            </p:txBody>
          </p:sp>
          <p:sp>
            <p:nvSpPr>
              <p:cNvPr id="1050046" name="矩形 102"/>
              <p:cNvSpPr/>
              <p:nvPr>
                <p:custDataLst>
                  <p:tags r:id="rId12"/>
                </p:custDataLst>
              </p:nvPr>
            </p:nvSpPr>
            <p:spPr bwMode="auto">
              <a:xfrm>
                <a:off x="3923792" y="3969748"/>
                <a:ext cx="4710113"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29" name="直接连接符 103"/>
              <p:cNvCxnSpPr/>
              <p:nvPr>
                <p:custDataLst>
                  <p:tags r:id="rId13"/>
                </p:custDataLst>
              </p:nvPr>
            </p:nvCxnSpPr>
            <p:spPr bwMode="auto">
              <a:xfrm flipH="1">
                <a:off x="4573080" y="3969748"/>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0047" name="Freeform 306"/>
              <p:cNvSpPr>
                <a:spLocks noEditPoints="1"/>
              </p:cNvSpPr>
              <p:nvPr>
                <p:custDataLst>
                  <p:tags r:id="rId14"/>
                </p:custDataLst>
              </p:nvPr>
            </p:nvSpPr>
            <p:spPr bwMode="auto">
              <a:xfrm>
                <a:off x="4061905" y="4028951"/>
                <a:ext cx="404812" cy="401637"/>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90000"/>
                </a:schemeClr>
              </a:solidFill>
              <a:ln>
                <a:noFill/>
              </a:ln>
            </p:spPr>
            <p:txBody>
              <a:bodyPr/>
              <a:lstStyle/>
              <a:p>
                <a:endParaRPr lang="zh-CN" altLang="en-US" b="1">
                  <a:solidFill>
                    <a:prstClr val="black"/>
                  </a:solidFill>
                </a:endParaRPr>
              </a:p>
            </p:txBody>
          </p:sp>
        </p:grpSp>
      </p:grpSp>
      <p:grpSp>
        <p:nvGrpSpPr>
          <p:cNvPr id="763" name="组合 107"/>
          <p:cNvGrpSpPr/>
          <p:nvPr>
            <p:custDataLst>
              <p:tags r:id="rId4"/>
            </p:custDataLst>
          </p:nvPr>
        </p:nvGrpSpPr>
        <p:grpSpPr>
          <a:xfrm>
            <a:off x="4517645" y="2868283"/>
            <a:ext cx="5370513" cy="534987"/>
            <a:chOff x="3275856" y="2348880"/>
            <a:chExt cx="5370513" cy="534987"/>
          </a:xfrm>
        </p:grpSpPr>
        <p:grpSp>
          <p:nvGrpSpPr>
            <p:cNvPr id="764" name="组合 108"/>
            <p:cNvGrpSpPr/>
            <p:nvPr/>
          </p:nvGrpSpPr>
          <p:grpSpPr>
            <a:xfrm>
              <a:off x="3275856" y="2348880"/>
              <a:ext cx="689474" cy="534987"/>
              <a:chOff x="3275856" y="2407756"/>
              <a:chExt cx="689474" cy="534987"/>
            </a:xfrm>
          </p:grpSpPr>
          <p:sp>
            <p:nvSpPr>
              <p:cNvPr id="1050048" name="矩形 114"/>
              <p:cNvSpPr/>
              <p:nvPr>
                <p:custDataLst>
                  <p:tags r:id="rId9"/>
                </p:custDataLst>
              </p:nvPr>
            </p:nvSpPr>
            <p:spPr bwMode="auto">
              <a:xfrm>
                <a:off x="3353644" y="2407756"/>
                <a:ext cx="533400"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1050049" name="文本框 78"/>
              <p:cNvSpPr txBox="1">
                <a:spLocks noChangeArrowheads="1"/>
              </p:cNvSpPr>
              <p:nvPr>
                <p:custDataLst>
                  <p:tags r:id="rId10"/>
                </p:custDataLst>
              </p:nvPr>
            </p:nvSpPr>
            <p:spPr bwMode="auto">
              <a:xfrm>
                <a:off x="3275856" y="2407757"/>
                <a:ext cx="689474" cy="508208"/>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700" dirty="0">
                    <a:solidFill>
                      <a:schemeClr val="bg2">
                        <a:lumMod val="90000"/>
                      </a:schemeClr>
                    </a:solidFill>
                    <a:latin typeface="Impact" panose="020B0806030902050204" pitchFamily="34" charset="0"/>
                  </a:rPr>
                  <a:t>02</a:t>
                </a:r>
                <a:endParaRPr lang="zh-CN" altLang="en-US" sz="2700" dirty="0">
                  <a:solidFill>
                    <a:schemeClr val="bg2">
                      <a:lumMod val="90000"/>
                    </a:schemeClr>
                  </a:solidFill>
                  <a:latin typeface="Impact" panose="020B0806030902050204" pitchFamily="34" charset="0"/>
                </a:endParaRPr>
              </a:p>
            </p:txBody>
          </p:sp>
        </p:grpSp>
        <p:grpSp>
          <p:nvGrpSpPr>
            <p:cNvPr id="765" name="组合 109"/>
            <p:cNvGrpSpPr/>
            <p:nvPr/>
          </p:nvGrpSpPr>
          <p:grpSpPr>
            <a:xfrm>
              <a:off x="3937844" y="2348880"/>
              <a:ext cx="4708525" cy="534987"/>
              <a:chOff x="3937844" y="2407756"/>
              <a:chExt cx="4708525" cy="534987"/>
            </a:xfrm>
          </p:grpSpPr>
          <p:sp>
            <p:nvSpPr>
              <p:cNvPr id="1050050" name="文本框 73"/>
              <p:cNvSpPr txBox="1">
                <a:spLocks noChangeArrowheads="1"/>
              </p:cNvSpPr>
              <p:nvPr>
                <p:custDataLst>
                  <p:tags r:id="rId5"/>
                </p:custDataLst>
              </p:nvPr>
            </p:nvSpPr>
            <p:spPr bwMode="auto">
              <a:xfrm>
                <a:off x="5326034" y="2449079"/>
                <a:ext cx="2499719" cy="460375"/>
              </a:xfrm>
              <a:prstGeom prst="rect">
                <a:avLst/>
              </a:prstGeom>
              <a:noFill/>
              <a:ln>
                <a:noFill/>
              </a:ln>
            </p:spPr>
            <p:txBody>
              <a:bodyPr>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r>
                  <a:rPr lang="en-US" altLang="zh-CN" sz="2400" b="1" dirty="0">
                    <a:solidFill>
                      <a:schemeClr val="bg2">
                        <a:lumMod val="90000"/>
                      </a:schemeClr>
                    </a:solidFill>
                    <a:latin typeface="Times New Roman" panose="02020603050405020304" pitchFamily="18" charset="0"/>
                    <a:ea typeface="微软雅黑" panose="020B0503020204020204" charset="-122"/>
                    <a:sym typeface="+mn-ea"/>
                  </a:rPr>
                  <a:t>Method Design</a:t>
                </a:r>
                <a:endParaRPr lang="en-US" altLang="zh-CN" sz="2400" b="1" dirty="0">
                  <a:solidFill>
                    <a:schemeClr val="bg2">
                      <a:lumMod val="90000"/>
                    </a:schemeClr>
                  </a:solidFill>
                  <a:latin typeface="Times New Roman" panose="02020603050405020304" pitchFamily="18" charset="0"/>
                  <a:ea typeface="微软雅黑" panose="020B0503020204020204" charset="-122"/>
                </a:endParaRPr>
              </a:p>
            </p:txBody>
          </p:sp>
          <p:sp>
            <p:nvSpPr>
              <p:cNvPr id="1050051" name="矩形 111"/>
              <p:cNvSpPr/>
              <p:nvPr>
                <p:custDataLst>
                  <p:tags r:id="rId6"/>
                </p:custDataLst>
              </p:nvPr>
            </p:nvSpPr>
            <p:spPr bwMode="auto">
              <a:xfrm>
                <a:off x="3937844" y="2407756"/>
                <a:ext cx="4708525" cy="53498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p>
            </p:txBody>
          </p:sp>
          <p:cxnSp>
            <p:nvCxnSpPr>
              <p:cNvPr id="3145830" name="直接连接符 112"/>
              <p:cNvCxnSpPr/>
              <p:nvPr>
                <p:custDataLst>
                  <p:tags r:id="rId7"/>
                </p:custDataLst>
              </p:nvPr>
            </p:nvCxnSpPr>
            <p:spPr bwMode="auto">
              <a:xfrm flipH="1">
                <a:off x="4587131" y="2407756"/>
                <a:ext cx="9525" cy="534987"/>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50052" name="Freeform 30"/>
              <p:cNvSpPr>
                <a:spLocks noEditPoints="1"/>
              </p:cNvSpPr>
              <p:nvPr>
                <p:custDataLst>
                  <p:tags r:id="rId8"/>
                </p:custDataLst>
              </p:nvPr>
            </p:nvSpPr>
            <p:spPr bwMode="auto">
              <a:xfrm>
                <a:off x="4095006" y="2512531"/>
                <a:ext cx="301625" cy="396875"/>
              </a:xfrm>
              <a:custGeom>
                <a:avLst/>
                <a:gdLst>
                  <a:gd name="T0" fmla="*/ 60 w 74"/>
                  <a:gd name="T1" fmla="*/ 0 h 97"/>
                  <a:gd name="T2" fmla="*/ 72 w 74"/>
                  <a:gd name="T3" fmla="*/ 11 h 97"/>
                  <a:gd name="T4" fmla="*/ 70 w 74"/>
                  <a:gd name="T5" fmla="*/ 52 h 97"/>
                  <a:gd name="T6" fmla="*/ 63 w 74"/>
                  <a:gd name="T7" fmla="*/ 11 h 97"/>
                  <a:gd name="T8" fmla="*/ 60 w 74"/>
                  <a:gd name="T9" fmla="*/ 8 h 97"/>
                  <a:gd name="T10" fmla="*/ 26 w 74"/>
                  <a:gd name="T11" fmla="*/ 11 h 97"/>
                  <a:gd name="T12" fmla="*/ 26 w 74"/>
                  <a:gd name="T13" fmla="*/ 18 h 97"/>
                  <a:gd name="T14" fmla="*/ 19 w 74"/>
                  <a:gd name="T15" fmla="*/ 24 h 97"/>
                  <a:gd name="T16" fmla="*/ 12 w 74"/>
                  <a:gd name="T17" fmla="*/ 24 h 97"/>
                  <a:gd name="T18" fmla="*/ 8 w 74"/>
                  <a:gd name="T19" fmla="*/ 79 h 97"/>
                  <a:gd name="T20" fmla="*/ 9 w 74"/>
                  <a:gd name="T21" fmla="*/ 81 h 97"/>
                  <a:gd name="T22" fmla="*/ 28 w 74"/>
                  <a:gd name="T23" fmla="*/ 82 h 97"/>
                  <a:gd name="T24" fmla="*/ 37 w 74"/>
                  <a:gd name="T25" fmla="*/ 90 h 97"/>
                  <a:gd name="T26" fmla="*/ 3 w 74"/>
                  <a:gd name="T27" fmla="*/ 87 h 97"/>
                  <a:gd name="T28" fmla="*/ 3 w 74"/>
                  <a:gd name="T29" fmla="*/ 87 h 97"/>
                  <a:gd name="T30" fmla="*/ 0 w 74"/>
                  <a:gd name="T31" fmla="*/ 20 h 97"/>
                  <a:gd name="T32" fmla="*/ 1 w 74"/>
                  <a:gd name="T33" fmla="*/ 17 h 97"/>
                  <a:gd name="T34" fmla="*/ 19 w 74"/>
                  <a:gd name="T35" fmla="*/ 0 h 97"/>
                  <a:gd name="T36" fmla="*/ 17 w 74"/>
                  <a:gd name="T37" fmla="*/ 52 h 97"/>
                  <a:gd name="T38" fmla="*/ 27 w 74"/>
                  <a:gd name="T39" fmla="*/ 56 h 97"/>
                  <a:gd name="T40" fmla="*/ 17 w 74"/>
                  <a:gd name="T41" fmla="*/ 52 h 97"/>
                  <a:gd name="T42" fmla="*/ 17 w 74"/>
                  <a:gd name="T43" fmla="*/ 44 h 97"/>
                  <a:gd name="T44" fmla="*/ 56 w 74"/>
                  <a:gd name="T45" fmla="*/ 40 h 97"/>
                  <a:gd name="T46" fmla="*/ 17 w 74"/>
                  <a:gd name="T47" fmla="*/ 28 h 97"/>
                  <a:gd name="T48" fmla="*/ 56 w 74"/>
                  <a:gd name="T49" fmla="*/ 33 h 97"/>
                  <a:gd name="T50" fmla="*/ 17 w 74"/>
                  <a:gd name="T51" fmla="*/ 28 h 97"/>
                  <a:gd name="T52" fmla="*/ 34 w 74"/>
                  <a:gd name="T53" fmla="*/ 22 h 97"/>
                  <a:gd name="T54" fmla="*/ 56 w 74"/>
                  <a:gd name="T55" fmla="*/ 17 h 97"/>
                  <a:gd name="T56" fmla="*/ 41 w 74"/>
                  <a:gd name="T57" fmla="*/ 69 h 97"/>
                  <a:gd name="T58" fmla="*/ 41 w 74"/>
                  <a:gd name="T59" fmla="*/ 69 h 97"/>
                  <a:gd name="T60" fmla="*/ 31 w 74"/>
                  <a:gd name="T61" fmla="*/ 66 h 97"/>
                  <a:gd name="T62" fmla="*/ 47 w 74"/>
                  <a:gd name="T63" fmla="*/ 86 h 97"/>
                  <a:gd name="T64" fmla="*/ 59 w 74"/>
                  <a:gd name="T65" fmla="*/ 87 h 97"/>
                  <a:gd name="T66" fmla="*/ 71 w 74"/>
                  <a:gd name="T67" fmla="*/ 96 h 97"/>
                  <a:gd name="T68" fmla="*/ 72 w 74"/>
                  <a:gd name="T69" fmla="*/ 90 h 97"/>
                  <a:gd name="T70" fmla="*/ 63 w 74"/>
                  <a:gd name="T71" fmla="*/ 80 h 97"/>
                  <a:gd name="T72" fmla="*/ 64 w 74"/>
                  <a:gd name="T73" fmla="*/ 57 h 97"/>
                  <a:gd name="T74" fmla="*/ 38 w 74"/>
                  <a:gd name="T75" fmla="*/ 54 h 97"/>
                  <a:gd name="T76" fmla="*/ 42 w 74"/>
                  <a:gd name="T77" fmla="*/ 58 h 97"/>
                  <a:gd name="T78" fmla="*/ 40 w 74"/>
                  <a:gd name="T79" fmla="*/ 76 h 97"/>
                  <a:gd name="T80" fmla="*/ 57 w 74"/>
                  <a:gd name="T81" fmla="*/ 78 h 97"/>
                  <a:gd name="T82" fmla="*/ 59 w 74"/>
                  <a:gd name="T83" fmla="*/ 61 h 97"/>
                  <a:gd name="T84" fmla="*/ 21 w 74"/>
                  <a:gd name="T85" fmla="*/ 9 h 97"/>
                  <a:gd name="T86" fmla="*/ 13 w 74"/>
                  <a:gd name="T87" fmla="*/ 19 h 97"/>
                  <a:gd name="T88" fmla="*/ 17 w 74"/>
                  <a:gd name="T89" fmla="*/ 20 h 97"/>
                  <a:gd name="T90" fmla="*/ 18 w 74"/>
                  <a:gd name="T91" fmla="*/ 20 h 97"/>
                  <a:gd name="T92" fmla="*/ 22 w 74"/>
                  <a:gd name="T93" fmla="*/ 17 h 97"/>
                  <a:gd name="T94" fmla="*/ 22 w 74"/>
                  <a:gd name="T95" fmla="*/ 15 h 97"/>
                  <a:gd name="T96" fmla="*/ 21 w 74"/>
                  <a:gd name="T97" fmla="*/ 1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chemeClr val="bg2">
                  <a:lumMod val="90000"/>
                </a:schemeClr>
              </a:solidFill>
              <a:ln>
                <a:noFill/>
              </a:ln>
            </p:spPr>
            <p:txBody>
              <a:bodyPr/>
              <a:lstStyle/>
              <a:p>
                <a:endParaRPr lang="zh-CN" altLang="en-US" b="1" dirty="0">
                  <a:solidFill>
                    <a:prstClr val="black"/>
                  </a:solidFill>
                </a:endParaRPr>
              </a:p>
            </p:txBody>
          </p:sp>
        </p:gr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56"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57"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69" name="组合 54"/>
          <p:cNvGrpSpPr/>
          <p:nvPr/>
        </p:nvGrpSpPr>
        <p:grpSpPr>
          <a:xfrm>
            <a:off x="-1" y="6553200"/>
            <a:ext cx="12192001" cy="304800"/>
            <a:chOff x="0" y="6569404"/>
            <a:chExt cx="9144000" cy="288000"/>
          </a:xfrm>
        </p:grpSpPr>
        <p:sp>
          <p:nvSpPr>
            <p:cNvPr id="1050058"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59"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60"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87</a:t>
            </a:fld>
            <a:endParaRPr lang="zh-HK" altLang="en-US" sz="1600" dirty="0">
              <a:solidFill>
                <a:schemeClr val="bg1"/>
              </a:solidFill>
            </a:endParaRPr>
          </a:p>
        </p:txBody>
      </p:sp>
      <p:pic>
        <p:nvPicPr>
          <p:cNvPr id="2097257" name="图片 2"/>
          <p:cNvPicPr>
            <a:picLocks noChangeAspect="1"/>
          </p:cNvPicPr>
          <p:nvPr/>
        </p:nvPicPr>
        <p:blipFill>
          <a:blip r:embed="rId3"/>
          <a:stretch>
            <a:fillRect/>
          </a:stretch>
        </p:blipFill>
        <p:spPr>
          <a:xfrm>
            <a:off x="1776000" y="889230"/>
            <a:ext cx="9438274" cy="5511278"/>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6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65"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73" name="组合 54"/>
          <p:cNvGrpSpPr/>
          <p:nvPr/>
        </p:nvGrpSpPr>
        <p:grpSpPr>
          <a:xfrm>
            <a:off x="-1" y="6553200"/>
            <a:ext cx="12192001" cy="304800"/>
            <a:chOff x="0" y="6569404"/>
            <a:chExt cx="9144000" cy="288000"/>
          </a:xfrm>
        </p:grpSpPr>
        <p:sp>
          <p:nvSpPr>
            <p:cNvPr id="1050066"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67"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68"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88</a:t>
            </a:fld>
            <a:endParaRPr lang="zh-HK" altLang="en-US" sz="1600" dirty="0">
              <a:solidFill>
                <a:schemeClr val="bg1"/>
              </a:solidFill>
            </a:endParaRPr>
          </a:p>
        </p:txBody>
      </p:sp>
      <p:pic>
        <p:nvPicPr>
          <p:cNvPr id="2097258" name="图片 4"/>
          <p:cNvPicPr>
            <a:picLocks noChangeAspect="1"/>
          </p:cNvPicPr>
          <p:nvPr/>
        </p:nvPicPr>
        <p:blipFill>
          <a:blip r:embed="rId3"/>
          <a:stretch>
            <a:fillRect/>
          </a:stretch>
        </p:blipFill>
        <p:spPr>
          <a:xfrm>
            <a:off x="1560000" y="821661"/>
            <a:ext cx="9509245" cy="554371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72"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Arial" panose="020B0604020202020204" pitchFamily="34" charset="0"/>
              <a:cs typeface="Arial" panose="020B0604020202020204" pitchFamily="34" charset="0"/>
            </a:endParaRPr>
          </a:p>
        </p:txBody>
      </p:sp>
      <p:sp>
        <p:nvSpPr>
          <p:cNvPr id="1050073" name="文本框 71"/>
          <p:cNvSpPr txBox="1"/>
          <p:nvPr/>
        </p:nvSpPr>
        <p:spPr>
          <a:xfrm>
            <a:off x="126280" y="75561"/>
            <a:ext cx="11945719"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Arial" panose="020B0604020202020204" pitchFamily="34" charset="0"/>
                <a:ea typeface="微软雅黑" panose="020B0503020204020204" charset="-122"/>
                <a:cs typeface="Arial" panose="020B0604020202020204" pitchFamily="34" charset="0"/>
              </a:rPr>
              <a:t>Method Design</a:t>
            </a:r>
          </a:p>
        </p:txBody>
      </p:sp>
      <p:grpSp>
        <p:nvGrpSpPr>
          <p:cNvPr id="777" name="组合 54"/>
          <p:cNvGrpSpPr/>
          <p:nvPr/>
        </p:nvGrpSpPr>
        <p:grpSpPr>
          <a:xfrm>
            <a:off x="-1" y="6553200"/>
            <a:ext cx="12192001" cy="304800"/>
            <a:chOff x="0" y="6569404"/>
            <a:chExt cx="9144000" cy="288000"/>
          </a:xfrm>
        </p:grpSpPr>
        <p:sp>
          <p:nvSpPr>
            <p:cNvPr id="1050074" name="矩形 55"/>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75" name="矩形 56"/>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76" name="灯片编号占位符 5"/>
          <p:cNvSpPr txBox="1"/>
          <p:nvPr/>
        </p:nvSpPr>
        <p:spPr>
          <a:xfrm>
            <a:off x="11640000"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89</a:t>
            </a:fld>
            <a:endParaRPr lang="zh-HK" altLang="en-US" sz="1600" dirty="0">
              <a:solidFill>
                <a:schemeClr val="bg1"/>
              </a:solidFill>
            </a:endParaRPr>
          </a:p>
        </p:txBody>
      </p:sp>
      <p:pic>
        <p:nvPicPr>
          <p:cNvPr id="2097259" name="图片 3"/>
          <p:cNvPicPr>
            <a:picLocks noChangeAspect="1"/>
          </p:cNvPicPr>
          <p:nvPr/>
        </p:nvPicPr>
        <p:blipFill>
          <a:blip r:embed="rId3"/>
          <a:stretch>
            <a:fillRect/>
          </a:stretch>
        </p:blipFill>
        <p:spPr>
          <a:xfrm>
            <a:off x="3920949" y="746663"/>
            <a:ext cx="4350100" cy="567680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80"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50081" name="文本框 71"/>
          <p:cNvSpPr txBox="1"/>
          <p:nvPr/>
        </p:nvSpPr>
        <p:spPr>
          <a:xfrm>
            <a:off x="-8687" y="72603"/>
            <a:ext cx="4914152" cy="58477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Future Work</a:t>
            </a:r>
          </a:p>
        </p:txBody>
      </p:sp>
      <p:sp>
        <p:nvSpPr>
          <p:cNvPr id="1050082" name="矩形 1"/>
          <p:cNvSpPr/>
          <p:nvPr/>
        </p:nvSpPr>
        <p:spPr>
          <a:xfrm>
            <a:off x="264000" y="980999"/>
            <a:ext cx="11736000" cy="3096001"/>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50083" name="矩形 2"/>
          <p:cNvSpPr/>
          <p:nvPr/>
        </p:nvSpPr>
        <p:spPr>
          <a:xfrm>
            <a:off x="631210" y="752888"/>
            <a:ext cx="1864789" cy="51611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Contributions</a:t>
            </a:r>
          </a:p>
        </p:txBody>
      </p:sp>
      <p:sp>
        <p:nvSpPr>
          <p:cNvPr id="1050084" name="文本框 13"/>
          <p:cNvSpPr txBox="1"/>
          <p:nvPr/>
        </p:nvSpPr>
        <p:spPr>
          <a:xfrm>
            <a:off x="417285" y="1124477"/>
            <a:ext cx="11357425" cy="2809167"/>
          </a:xfrm>
          <a:prstGeom prst="rect">
            <a:avLst/>
          </a:prstGeom>
          <a:noFill/>
        </p:spPr>
        <p:txBody>
          <a:bodyPr wrap="square">
            <a:spAutoFit/>
          </a:bodyPr>
          <a:lstStyle>
            <a:defPPr>
              <a:defRPr lang="zh-CN"/>
            </a:defPPr>
            <a:lvl1pPr>
              <a:defRPr>
                <a:latin typeface="Arial" panose="020B0604020202020204" pitchFamily="34" charset="0"/>
                <a:cs typeface="Arial" panose="020B0604020202020204" pitchFamily="34" charset="0"/>
              </a:defRPr>
            </a:lvl1pPr>
          </a:lstStyle>
          <a:p>
            <a:pPr algn="just">
              <a:lnSpc>
                <a:spcPct val="150000"/>
              </a:lnSpc>
            </a:pPr>
            <a:r>
              <a:rPr lang="zh-CN" altLang="zh-CN" sz="2000">
                <a:latin typeface="Arial Unicode MS" panose="020B0604020202020204" charset="-122"/>
                <a:ea typeface="Arial Unicode MS" panose="020B0604020202020204" charset="-122"/>
                <a:cs typeface="Arial Unicode MS" panose="020B0604020202020204" charset="-122"/>
              </a:rPr>
              <a:t>QMLMs can outperform classical methods, assuming both achieve small training error, only in scenarios in which QMLMs generalize well, but classical ML methods do not. We consider our results a guide in the search for quantum advantage of QML: We need to identify a task in which QMLMs with few trainable gates achieve small training error, but classical models need substantially higher model complexity to achieve the same goal. Then, our bounds guarantee that the QMLM performs well also on unseen data.</a:t>
            </a:r>
            <a:endParaRPr lang="en-US" altLang="zh-CN" sz="2000" dirty="0">
              <a:latin typeface="Arial Unicode MS" panose="020B0604020202020204" charset="-122"/>
              <a:ea typeface="Arial Unicode MS" panose="020B0604020202020204" charset="-122"/>
              <a:cs typeface="Arial Unicode MS" panose="020B0604020202020204" charset="-122"/>
            </a:endParaRPr>
          </a:p>
        </p:txBody>
      </p:sp>
      <p:grpSp>
        <p:nvGrpSpPr>
          <p:cNvPr id="781" name="组合 19"/>
          <p:cNvGrpSpPr/>
          <p:nvPr/>
        </p:nvGrpSpPr>
        <p:grpSpPr>
          <a:xfrm>
            <a:off x="-1" y="6553200"/>
            <a:ext cx="12192001" cy="304800"/>
            <a:chOff x="0" y="6569404"/>
            <a:chExt cx="9144000" cy="288000"/>
          </a:xfrm>
        </p:grpSpPr>
        <p:sp>
          <p:nvSpPr>
            <p:cNvPr id="1050085"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86"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87"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90</a:t>
            </a:fld>
            <a:endParaRPr lang="zh-HK" altLang="en-US" sz="1600" dirty="0">
              <a:solidFill>
                <a:schemeClr val="bg1"/>
              </a:solidFill>
            </a:endParaRPr>
          </a:p>
        </p:txBody>
      </p:sp>
      <p:sp>
        <p:nvSpPr>
          <p:cNvPr id="1050088" name="矩形 3"/>
          <p:cNvSpPr/>
          <p:nvPr/>
        </p:nvSpPr>
        <p:spPr>
          <a:xfrm>
            <a:off x="241320" y="4271670"/>
            <a:ext cx="11736000" cy="1915262"/>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
        <p:nvSpPr>
          <p:cNvPr id="1050089" name="矩形 4"/>
          <p:cNvSpPr/>
          <p:nvPr/>
        </p:nvSpPr>
        <p:spPr>
          <a:xfrm>
            <a:off x="349808" y="4395309"/>
            <a:ext cx="1864788" cy="2763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nSpc>
                <a:spcPct val="150000"/>
              </a:lnSpc>
            </a:pPr>
            <a:r>
              <a:rPr lang="en-US" altLang="zh-CN" sz="2000" b="1" dirty="0">
                <a:solidFill>
                  <a:srgbClr val="044875"/>
                </a:solidFill>
                <a:latin typeface="Times New Roman" panose="02020603050405020304" pitchFamily="18" charset="0"/>
                <a:cs typeface="Times New Roman" panose="02020603050405020304" pitchFamily="18" charset="0"/>
              </a:rPr>
              <a:t>Future Work</a:t>
            </a:r>
          </a:p>
        </p:txBody>
      </p:sp>
      <p:sp>
        <p:nvSpPr>
          <p:cNvPr id="1050090" name="文本框 11"/>
          <p:cNvSpPr txBox="1"/>
          <p:nvPr/>
        </p:nvSpPr>
        <p:spPr>
          <a:xfrm>
            <a:off x="478972" y="4866364"/>
            <a:ext cx="11149127" cy="962508"/>
          </a:xfrm>
          <a:prstGeom prst="rect">
            <a:avLst/>
          </a:prstGeom>
          <a:noFill/>
        </p:spPr>
        <p:txBody>
          <a:bodyPr wrap="square">
            <a:spAutoFit/>
          </a:bodyPr>
          <a:lstStyle/>
          <a:p>
            <a:pPr algn="just">
              <a:lnSpc>
                <a:spcPct val="150000"/>
              </a:lnSpc>
              <a:buNone/>
            </a:pPr>
            <a:r>
              <a:rPr lang="zh-CN" altLang="zh-CN" sz="2000">
                <a:solidFill>
                  <a:srgbClr val="000000"/>
                </a:solidFill>
                <a:effectLst/>
                <a:latin typeface="Arial Unicode MS" panose="020B0604020202020204" charset="-122"/>
                <a:ea typeface="Arial Unicode MS" panose="020B0604020202020204" charset="-122"/>
                <a:cs typeface="Arial Unicode MS" panose="020B0604020202020204" charset="-122"/>
              </a:rPr>
              <a:t>For QMLMs with exponentially many independently trainable gates, our generalization error bounds scale exponentially with </a:t>
            </a:r>
            <a:r>
              <a:rPr lang="zh-CN" altLang="zh-CN" sz="2000" i="1">
                <a:solidFill>
                  <a:srgbClr val="000000"/>
                </a:solidFill>
                <a:effectLst/>
                <a:latin typeface="Arial Unicode MS" panose="020B0604020202020204" charset="-122"/>
                <a:ea typeface="Arial Unicode MS" panose="020B0604020202020204" charset="-122"/>
                <a:cs typeface="Arial Unicode MS" panose="020B0604020202020204" charset="-122"/>
              </a:rPr>
              <a:t>n</a:t>
            </a:r>
            <a:r>
              <a:rPr lang="zh-CN" altLang="zh-CN" sz="2000">
                <a:solidFill>
                  <a:srgbClr val="000000"/>
                </a:solidFill>
                <a:effectLst/>
                <a:latin typeface="Arial Unicode MS" panose="020B0604020202020204" charset="-122"/>
                <a:ea typeface="Arial Unicode MS" panose="020B0604020202020204" charset="-122"/>
                <a:cs typeface="Arial Unicode MS" panose="020B0604020202020204" charset="-122"/>
              </a:rPr>
              <a:t>, and hence we do not make non-trivial claims about this regime.</a:t>
            </a:r>
            <a:endParaRPr lang="zh-CN" altLang="en-US" sz="2000">
              <a:latin typeface="Arial Unicode MS" panose="020B0604020202020204" charset="-122"/>
              <a:ea typeface="Arial Unicode MS" panose="020B0604020202020204" charset="-122"/>
              <a:cs typeface="Arial Unicode MS" panose="020B060402020202020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094" name="矩形 18"/>
          <p:cNvSpPr/>
          <p:nvPr/>
        </p:nvSpPr>
        <p:spPr>
          <a:xfrm>
            <a:off x="-1" y="1"/>
            <a:ext cx="12192001" cy="720000"/>
          </a:xfrm>
          <a:prstGeom prst="rect">
            <a:avLst/>
          </a:prstGeom>
          <a:solidFill>
            <a:srgbClr val="017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Times New Roman" panose="02020603050405020304" pitchFamily="18" charset="0"/>
              <a:cs typeface="Times New Roman" panose="02020603050405020304" pitchFamily="18" charset="0"/>
            </a:endParaRPr>
          </a:p>
        </p:txBody>
      </p:sp>
      <p:sp>
        <p:nvSpPr>
          <p:cNvPr id="1050095" name="文本框 71"/>
          <p:cNvSpPr txBox="1"/>
          <p:nvPr/>
        </p:nvSpPr>
        <p:spPr>
          <a:xfrm>
            <a:off x="-8687" y="72603"/>
            <a:ext cx="4914152" cy="583565"/>
          </a:xfrm>
          <a:prstGeom prst="rect">
            <a:avLst/>
          </a:prstGeom>
          <a:noFill/>
        </p:spPr>
        <p:txBody>
          <a:bodyPr wrap="square" rtlCol="0">
            <a:spAutoFit/>
          </a:bodyPr>
          <a:lstStyle/>
          <a:p>
            <a:pPr algn="just"/>
            <a:r>
              <a:rPr lang="en-US" altLang="zh-CN" sz="3200" b="1" dirty="0">
                <a:solidFill>
                  <a:srgbClr val="FFFFFF"/>
                </a:solidFill>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 Inspiration</a:t>
            </a:r>
          </a:p>
        </p:txBody>
      </p:sp>
      <p:grpSp>
        <p:nvGrpSpPr>
          <p:cNvPr id="785" name="组合 19"/>
          <p:cNvGrpSpPr/>
          <p:nvPr/>
        </p:nvGrpSpPr>
        <p:grpSpPr>
          <a:xfrm>
            <a:off x="-1" y="6553200"/>
            <a:ext cx="12192001" cy="304800"/>
            <a:chOff x="0" y="6569404"/>
            <a:chExt cx="9144000" cy="288000"/>
          </a:xfrm>
        </p:grpSpPr>
        <p:sp>
          <p:nvSpPr>
            <p:cNvPr id="1050096" name="矩形 20"/>
            <p:cNvSpPr/>
            <p:nvPr/>
          </p:nvSpPr>
          <p:spPr>
            <a:xfrm>
              <a:off x="8856000" y="6575501"/>
              <a:ext cx="288000" cy="276999"/>
            </a:xfrm>
            <a:prstGeom prst="rect">
              <a:avLst/>
            </a:prstGeom>
            <a:solidFill>
              <a:srgbClr val="0174AB"/>
            </a:solidFill>
          </p:spPr>
          <p:txBody>
            <a:bodyPr wrap="square" anchor="ctr">
              <a:spAutoFit/>
            </a:bodyPr>
            <a:lstStyle/>
            <a:p>
              <a:pPr algn="ctr"/>
              <a:endParaRPr lang="en-US" altLang="zh-CN" sz="1200" dirty="0">
                <a:solidFill>
                  <a:schemeClr val="bg1"/>
                </a:solidFill>
                <a:latin typeface="Times New Roman" panose="02020603050405020304" pitchFamily="18" charset="0"/>
                <a:cs typeface="Times New Roman" panose="02020603050405020304" pitchFamily="18" charset="0"/>
              </a:endParaRPr>
            </a:p>
          </p:txBody>
        </p:sp>
        <p:sp>
          <p:nvSpPr>
            <p:cNvPr id="1050097" name="矩形 21"/>
            <p:cNvSpPr/>
            <p:nvPr/>
          </p:nvSpPr>
          <p:spPr>
            <a:xfrm>
              <a:off x="0" y="6569404"/>
              <a:ext cx="8854294" cy="288000"/>
            </a:xfrm>
            <a:prstGeom prst="rect">
              <a:avLst/>
            </a:prstGeom>
            <a:solidFill>
              <a:schemeClr val="bg1">
                <a:lumMod val="85000"/>
              </a:schemeClr>
            </a:solidFill>
            <a:ln>
              <a:noFill/>
            </a:ln>
          </p:spPr>
          <p:txBody>
            <a:bodyPr wrap="square" anchor="ctr">
              <a:spAutoFit/>
            </a:bodyPr>
            <a:lstStyle/>
            <a:p>
              <a:r>
                <a:rPr lang="zh-CN" altLang="en-US" sz="12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1200" b="1" dirty="0">
                  <a:latin typeface="Times New Roman" panose="02020603050405020304" pitchFamily="18" charset="0"/>
                </a:rPr>
                <a:t>CPS Computational Learning Laboratory</a:t>
              </a:r>
              <a:endParaRPr lang="zh-CN" altLang="en-US" sz="1200" b="1" dirty="0">
                <a:solidFill>
                  <a:schemeClr val="bg1"/>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050098" name="灯片编号占位符 5"/>
          <p:cNvSpPr txBox="1"/>
          <p:nvPr/>
        </p:nvSpPr>
        <p:spPr>
          <a:xfrm>
            <a:off x="11601812" y="6523037"/>
            <a:ext cx="572359"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92E714-8771-4256-B120-A1444CD7D5F3}" type="slidenum">
              <a:rPr lang="zh-HK" altLang="en-US" sz="1600" smtClean="0">
                <a:solidFill>
                  <a:schemeClr val="bg1"/>
                </a:solidFill>
              </a:rPr>
              <a:t>91</a:t>
            </a:fld>
            <a:endParaRPr lang="zh-HK" altLang="en-US" sz="1600" dirty="0">
              <a:solidFill>
                <a:schemeClr val="bg1"/>
              </a:solidFill>
            </a:endParaRPr>
          </a:p>
        </p:txBody>
      </p:sp>
      <p:sp>
        <p:nvSpPr>
          <p:cNvPr id="1050099" name="文本框 5"/>
          <p:cNvSpPr txBox="1"/>
          <p:nvPr/>
        </p:nvSpPr>
        <p:spPr>
          <a:xfrm>
            <a:off x="408000" y="1413000"/>
            <a:ext cx="11520000" cy="2861310"/>
          </a:xfrm>
          <a:prstGeom prst="rect">
            <a:avLst/>
          </a:prstGeom>
          <a:noFill/>
        </p:spPr>
        <p:txBody>
          <a:bodyPr wrap="square">
            <a:spAutoFit/>
          </a:bodyPr>
          <a:lstStyle/>
          <a:p>
            <a:pPr>
              <a:lnSpc>
                <a:spcPct val="150000"/>
              </a:lnSpc>
            </a:pPr>
            <a:r>
              <a:rPr lang="en-US" altLang="zh-CN" sz="2000">
                <a:latin typeface="Arial" panose="020B0604020202020204" pitchFamily="34" charset="0"/>
                <a:cs typeface="Arial" panose="020B0604020202020204" pitchFamily="34" charset="0"/>
              </a:rPr>
              <a:t>Future work will introduce </a:t>
            </a:r>
            <a:r>
              <a:rPr lang="en-US" altLang="zh-CN" sz="2000" b="1">
                <a:solidFill>
                  <a:srgbClr val="FF0000"/>
                </a:solidFill>
                <a:latin typeface="Arial" panose="020B0604020202020204" pitchFamily="34" charset="0"/>
                <a:cs typeface="Arial" panose="020B0604020202020204" pitchFamily="34" charset="0"/>
              </a:rPr>
              <a:t>quantum spectral encoding methods</a:t>
            </a:r>
            <a:r>
              <a:rPr lang="en-US" altLang="zh-CN" sz="2000">
                <a:latin typeface="Arial" panose="020B0604020202020204" pitchFamily="34" charset="0"/>
                <a:cs typeface="Arial" panose="020B0604020202020204" pitchFamily="34" charset="0"/>
              </a:rPr>
              <a:t>, leveraging their enhanced temporal representation to characterize aluminum crystallization data—including multi-physics coupling, nonlinear/non-stationary dynamics, multiscale evolution, phase-transition abrupt changes, strong noise, and sparse/irregular sampling—for uncertainty quantification in adaptive state estimation. Meanwhile, quantum neural networks (QNNs) will be integrated as optimization modules with Kalman filters to improve state estimation accuracy under such challenging data conditions.</a:t>
            </a:r>
          </a:p>
        </p:txBody>
      </p:sp>
      <p:sp>
        <p:nvSpPr>
          <p:cNvPr id="1050100" name="矩形 6"/>
          <p:cNvSpPr/>
          <p:nvPr/>
        </p:nvSpPr>
        <p:spPr>
          <a:xfrm>
            <a:off x="264000" y="1125001"/>
            <a:ext cx="11736000" cy="4104000"/>
          </a:xfrm>
          <a:prstGeom prst="rect">
            <a:avLst/>
          </a:prstGeom>
          <a:noFill/>
          <a:ln w="28575">
            <a:solidFill>
              <a:srgbClr val="0174AB"/>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rial" panose="020B0604020202020204" pitchFamily="34" charset="0"/>
              <a:cs typeface="Arial" panose="020B0604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104" name="矩形 2"/>
          <p:cNvSpPr/>
          <p:nvPr/>
        </p:nvSpPr>
        <p:spPr>
          <a:xfrm>
            <a:off x="2152196" y="2564905"/>
            <a:ext cx="7887608" cy="1311449"/>
          </a:xfrm>
          <a:prstGeom prst="rect">
            <a:avLst/>
          </a:prstGeom>
        </p:spPr>
        <p:txBody>
          <a:bodyPr wrap="none" anchor="ctr">
            <a:spAutoFit/>
          </a:bodyPr>
          <a:lstStyle/>
          <a:p>
            <a:pPr algn="ctr">
              <a:lnSpc>
                <a:spcPct val="150000"/>
              </a:lnSpc>
            </a:pPr>
            <a:r>
              <a:rPr lang="en-US" altLang="zh-CN"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rPr>
              <a:t>Thank you for listening</a:t>
            </a:r>
            <a:endParaRPr lang="zh-CN" altLang="en-US" sz="6000" b="1" dirty="0">
              <a:solidFill>
                <a:srgbClr val="0174AB"/>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050105" name="灯片编号占位符 1"/>
          <p:cNvSpPr>
            <a:spLocks noGrp="1"/>
          </p:cNvSpPr>
          <p:nvPr>
            <p:ph type="sldNum" sz="quarter" idx="12"/>
          </p:nvPr>
        </p:nvSpPr>
        <p:spPr/>
        <p:txBody>
          <a:bodyPr/>
          <a:lstStyle/>
          <a:p>
            <a:fld id="{8592E714-8771-4256-B120-A1444CD7D5F3}" type="slidenum">
              <a:rPr lang="zh-HK" altLang="en-US" smtClean="0">
                <a:solidFill>
                  <a:prstClr val="black">
                    <a:tint val="75000"/>
                  </a:prstClr>
                </a:solidFill>
              </a:rPr>
              <a:t>92</a:t>
            </a:fld>
            <a:endParaRPr lang="zh-HK" altLang="en-US">
              <a:solidFill>
                <a:prstClr val="black">
                  <a:tint val="75000"/>
                </a:prstClr>
              </a:solidFill>
            </a:endParaRPr>
          </a:p>
        </p:txBody>
      </p:sp>
      <p:pic>
        <p:nvPicPr>
          <p:cNvPr id="2097260" name="图片 3"/>
          <p:cNvPicPr>
            <a:picLocks noChangeAspect="1"/>
          </p:cNvPicPr>
          <p:nvPr/>
        </p:nvPicPr>
        <p:blipFill>
          <a:blip r:embed="rId3" cstate="print">
            <a:clrChange>
              <a:clrFrom>
                <a:srgbClr val="FFFFFF"/>
              </a:clrFrom>
              <a:clrTo>
                <a:srgbClr val="FFFFFF">
                  <a:alpha val="0"/>
                </a:srgbClr>
              </a:clrTo>
            </a:clrChange>
          </a:blip>
          <a:stretch>
            <a:fillRect/>
          </a:stretch>
        </p:blipFill>
        <p:spPr>
          <a:xfrm>
            <a:off x="8483441" y="156931"/>
            <a:ext cx="3708559" cy="681038"/>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3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4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8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59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0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1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2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3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4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5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6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3.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4.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5.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6.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7.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8.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79.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0.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1.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ags/tag682.xml><?xml version="1.0" encoding="utf-8"?>
<p:tagLst xmlns:a="http://schemas.openxmlformats.org/drawingml/2006/main" xmlns:r="http://schemas.openxmlformats.org/officeDocument/2006/relationships" xmlns:p="http://schemas.openxmlformats.org/presentationml/2006/main">
  <p:tag name="KSO_WM_DIAGRAM_VIRTUALLY_FRAME" val="{&quot;height&quot;:300.5058267716535,&quot;left&quot;:241.8643307086614,&quot;top&quot;:133.92188976377952,&quot;width&quot;:424.5864566929134}"/>
</p:tagLst>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TotalTime>
  <Words>13765</Words>
  <Application>Microsoft Office PowerPoint</Application>
  <PresentationFormat>宽屏</PresentationFormat>
  <Paragraphs>885</Paragraphs>
  <Slides>92</Slides>
  <Notes>92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92</vt:i4>
      </vt:variant>
    </vt:vector>
  </HeadingPairs>
  <TitlesOfParts>
    <vt:vector size="108" baseType="lpstr">
      <vt:lpstr>-apple-system</vt:lpstr>
      <vt:lpstr>Arial Unicode MS</vt:lpstr>
      <vt:lpstr>Helvetica Neue</vt:lpstr>
      <vt:lpstr>inherit</vt:lpstr>
      <vt:lpstr>KaTeX_Main</vt:lpstr>
      <vt:lpstr>KaTeX_Math</vt:lpstr>
      <vt:lpstr>PMingLiU-ExtB</vt:lpstr>
      <vt:lpstr>微软雅黑</vt:lpstr>
      <vt:lpstr>Arial</vt:lpstr>
      <vt:lpstr>Calibri</vt:lpstr>
      <vt:lpstr>Calibri Light</vt:lpstr>
      <vt:lpstr>Cambria Math</vt:lpstr>
      <vt:lpstr>Impact</vt:lpstr>
      <vt:lpstr>Times New Roman</vt:lpstr>
      <vt:lpstr>Office 2013 - 2022 主题</vt:lpstr>
      <vt:lpstr>1_Office 2013 - 2022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journel club</dc:title>
  <dc:creator>刘憬昊</dc:creator>
  <cp:lastModifiedBy>jinghao liu</cp:lastModifiedBy>
  <cp:revision>8</cp:revision>
  <dcterms:created xsi:type="dcterms:W3CDTF">2026-10-05T04:31:59Z</dcterms:created>
  <dcterms:modified xsi:type="dcterms:W3CDTF">2026-10-12T07:35:24Z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2052-12.1.0.28022</vt:lpwstr>
  </property>
  <property fmtid="{D5CDD505-2E9C-101B-9397-08002B2CF9AE}" pid="3" name="ICV">
    <vt:lpwstr>61c2f51ac4794b699a0a135b145c15b5_23</vt:lpwstr>
  </property>
</Properties>
</file>