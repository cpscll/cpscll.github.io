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4.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6.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17.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notesSlides/notesSlide18.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notesSlides/notesSlide19.xml" ContentType="application/vnd.openxmlformats-officedocument.presentationml.notesSlide+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notesSlides/notesSlide23.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notesSlides/notesSlide34.xml" ContentType="application/vnd.openxmlformats-officedocument.presentationml.notesSlide+xml"/>
  <Override PartName="/ppt/tags/tag260.xml" ContentType="application/vnd.openxmlformats-officedocument.presentationml.tags+xml"/>
  <Override PartName="/ppt/tags/tag261.xml" ContentType="application/vnd.openxmlformats-officedocument.presentationml.tags+xml"/>
  <Override PartName="/ppt/notesSlides/notesSlide35.xml" ContentType="application/vnd.openxmlformats-officedocument.presentationml.notesSlide+xml"/>
  <Override PartName="/ppt/tags/tag262.xml" ContentType="application/vnd.openxmlformats-officedocument.presentationml.tags+xml"/>
  <Override PartName="/ppt/tags/tag263.xml" ContentType="application/vnd.openxmlformats-officedocument.presentationml.tags+xml"/>
  <Override PartName="/ppt/notesSlides/notesSlide36.xml" ContentType="application/vnd.openxmlformats-officedocument.presentationml.notesSlide+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notesSlides/notesSlide40.xml" ContentType="application/vnd.openxmlformats-officedocument.presentationml.notesSlide+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ink/ink5.xml" ContentType="application/inkml+xml"/>
  <Override PartName="/ppt/ink/ink6.xml" ContentType="application/inkml+xml"/>
  <Override PartName="/ppt/notesSlides/notesSlide58.xml" ContentType="application/vnd.openxmlformats-officedocument.presentationml.notesSlide+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notesSlides/notesSlide62.xml" ContentType="application/vnd.openxmlformats-officedocument.presentationml.notesSlide+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notesSlides/notesSlide72.xml" ContentType="application/vnd.openxmlformats-officedocument.presentationml.notesSlide+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90"/>
  </p:notesMasterIdLst>
  <p:handoutMasterIdLst>
    <p:handoutMasterId r:id="rId91"/>
  </p:handoutMasterIdLst>
  <p:sldIdLst>
    <p:sldId id="1128" r:id="rId3"/>
    <p:sldId id="1181" r:id="rId4"/>
    <p:sldId id="1007" r:id="rId5"/>
    <p:sldId id="1117" r:id="rId6"/>
    <p:sldId id="1076" r:id="rId7"/>
    <p:sldId id="1193" r:id="rId8"/>
    <p:sldId id="1085" r:id="rId9"/>
    <p:sldId id="1381" r:id="rId10"/>
    <p:sldId id="1273" r:id="rId11"/>
    <p:sldId id="1012" r:id="rId12"/>
    <p:sldId id="1195" r:id="rId13"/>
    <p:sldId id="1196" r:id="rId14"/>
    <p:sldId id="1197" r:id="rId15"/>
    <p:sldId id="1274" r:id="rId16"/>
    <p:sldId id="1306" r:id="rId17"/>
    <p:sldId id="1312" r:id="rId18"/>
    <p:sldId id="1089" r:id="rId19"/>
    <p:sldId id="1288" r:id="rId20"/>
    <p:sldId id="1218" r:id="rId21"/>
    <p:sldId id="1114" r:id="rId22"/>
    <p:sldId id="1233" r:id="rId23"/>
    <p:sldId id="1382" r:id="rId24"/>
    <p:sldId id="1383" r:id="rId25"/>
    <p:sldId id="1384" r:id="rId26"/>
    <p:sldId id="1385" r:id="rId27"/>
    <p:sldId id="1386" r:id="rId28"/>
    <p:sldId id="1387" r:id="rId29"/>
    <p:sldId id="1388" r:id="rId30"/>
    <p:sldId id="1389" r:id="rId31"/>
    <p:sldId id="1390" r:id="rId32"/>
    <p:sldId id="1391" r:id="rId33"/>
    <p:sldId id="1409" r:id="rId34"/>
    <p:sldId id="1410" r:id="rId35"/>
    <p:sldId id="1411" r:id="rId36"/>
    <p:sldId id="1412" r:id="rId37"/>
    <p:sldId id="1413" r:id="rId38"/>
    <p:sldId id="1414" r:id="rId39"/>
    <p:sldId id="1415" r:id="rId40"/>
    <p:sldId id="1416" r:id="rId41"/>
    <p:sldId id="1417" r:id="rId42"/>
    <p:sldId id="1418" r:id="rId43"/>
    <p:sldId id="1419" r:id="rId44"/>
    <p:sldId id="1420" r:id="rId45"/>
    <p:sldId id="1421" r:id="rId46"/>
    <p:sldId id="1422" r:id="rId47"/>
    <p:sldId id="1395" r:id="rId48"/>
    <p:sldId id="1396" r:id="rId49"/>
    <p:sldId id="1397" r:id="rId50"/>
    <p:sldId id="1398" r:id="rId51"/>
    <p:sldId id="1399" r:id="rId52"/>
    <p:sldId id="1400" r:id="rId53"/>
    <p:sldId id="1423" r:id="rId54"/>
    <p:sldId id="1424" r:id="rId55"/>
    <p:sldId id="1404" r:id="rId56"/>
    <p:sldId id="1405" r:id="rId57"/>
    <p:sldId id="1406" r:id="rId58"/>
    <p:sldId id="1408" r:id="rId59"/>
    <p:sldId id="1407" r:id="rId60"/>
    <p:sldId id="1425" r:id="rId61"/>
    <p:sldId id="1426" r:id="rId62"/>
    <p:sldId id="1034" r:id="rId63"/>
    <p:sldId id="1077" r:id="rId64"/>
    <p:sldId id="1078" r:id="rId65"/>
    <p:sldId id="1194" r:id="rId66"/>
    <p:sldId id="1086" r:id="rId67"/>
    <p:sldId id="1039" r:id="rId68"/>
    <p:sldId id="1255" r:id="rId69"/>
    <p:sldId id="1090" r:id="rId70"/>
    <p:sldId id="1256" r:id="rId71"/>
    <p:sldId id="1113" r:id="rId72"/>
    <p:sldId id="1427" r:id="rId73"/>
    <p:sldId id="1436" r:id="rId74"/>
    <p:sldId id="1437" r:id="rId75"/>
    <p:sldId id="1428" r:id="rId76"/>
    <p:sldId id="1435" r:id="rId77"/>
    <p:sldId id="1433" r:id="rId78"/>
    <p:sldId id="1429" r:id="rId79"/>
    <p:sldId id="1430" r:id="rId80"/>
    <p:sldId id="1431" r:id="rId81"/>
    <p:sldId id="1432" r:id="rId82"/>
    <p:sldId id="1438" r:id="rId83"/>
    <p:sldId id="1439" r:id="rId84"/>
    <p:sldId id="1434" r:id="rId85"/>
    <p:sldId id="1440" r:id="rId86"/>
    <p:sldId id="1234" r:id="rId87"/>
    <p:sldId id="1380" r:id="rId88"/>
    <p:sldId id="296" r:id="rId89"/>
  </p:sldIdLst>
  <p:sldSz cx="12192000" cy="6858000"/>
  <p:notesSz cx="6858000" cy="9144000"/>
  <p:custDataLst>
    <p:tags r:id="rId9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2"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y yang" initials="hy" lastIdx="2" clrIdx="0"/>
  <p:cmAuthor id="2" name="Hongyan Yang" initials="YHY"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74AB"/>
    <a:srgbClr val="0000FF"/>
    <a:srgbClr val="0E0EFF"/>
    <a:srgbClr val="044875"/>
    <a:srgbClr val="D0CECE"/>
    <a:srgbClr val="000000"/>
    <a:srgbClr val="7F7F7F"/>
    <a:srgbClr val="C00000"/>
    <a:srgbClr val="5B9BD5"/>
    <a:srgbClr val="F2F2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32" autoAdjust="0"/>
    <p:restoredTop sz="86326" autoAdjust="0"/>
  </p:normalViewPr>
  <p:slideViewPr>
    <p:cSldViewPr showGuides="1">
      <p:cViewPr varScale="1">
        <p:scale>
          <a:sx n="89" d="100"/>
          <a:sy n="89" d="100"/>
        </p:scale>
        <p:origin x="80" y="188"/>
      </p:cViewPr>
      <p:guideLst>
        <p:guide orient="horz" pos="2442"/>
        <p:guide pos="3840"/>
      </p:guideLst>
    </p:cSldViewPr>
  </p:slideViewPr>
  <p:notesTextViewPr>
    <p:cViewPr>
      <p:scale>
        <a:sx n="125" d="100"/>
        <a:sy n="125" d="100"/>
      </p:scale>
      <p:origin x="0" y="0"/>
    </p:cViewPr>
  </p:notesTextViewPr>
  <p:sorterViewPr>
    <p:cViewPr>
      <p:scale>
        <a:sx n="100" d="100"/>
        <a:sy n="100" d="100"/>
      </p:scale>
      <p:origin x="0" y="0"/>
    </p:cViewPr>
  </p:sorter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notesMaster" Target="notesMasters/notesMaster1.xml"/><Relationship Id="rId95"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handoutMaster" Target="handoutMasters/handoutMaster1.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gs" Target="tags/tag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t>2026/10/4</a:t>
            </a:fld>
            <a:endParaRPr lang="zh-CN" altLang="en-US">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t>‹#›</a:t>
            </a:fld>
            <a:endParaRPr lang="zh-CN" altLang="en-US">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3T04:07:2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1 207,'4'-3,"0"0,1 0,0 0,0 1,0-1,0 1,0 1,7-3,14-4,7-5,1 2,0 1,1 2,63-7,-34 6,-24 3,74-3,-24 11,-23 0,96-9,-144 4,33-10,-37 8,0 1,0 0,0 2,17-2,403 4,-196 1,-79-10,3-1,292 10,-425-1,37-7,22-1,484 8,-278 2,-155-11,-5 1,881 8,-464 2,-535-1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3T04:07:2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 0,'8181'0'0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5T04:08:58.92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20,'209'-1,"222"3,-294 7,45 1,1038-9,-593-2,-438-9,-7 0,1694 10,-1669-9,0-1,2321 10,-2512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5T04:09:01.11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40,'2'-2,"1"0,0 0,0 0,0 0,0 1,0-1,0 1,0 0,0 0,1 0,-1 0,0 1,5-1,49 0,-40 1,119-9,-8-1,618 9,-362 3,-368-2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9T12:17:29"/>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21,'0'-1,"0"1,0-1,1 0,-1 1,1-1,-1 1,1-1,-1 1,1-1,-1 1,1-1,-1 1,1-1,-1 1,1 0,0-1,-1 1,1 0,0-1,-1 1,1 0,0 0,-1 0,1 0,1 0,22-4,-21 4,294-6,-176 8,2593-2,-2572 9,3 1,-93-11,-38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9T12:17:32"/>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54,'246'11,"196"-2,-269-11,2274 2,-2303-9,-8-1,30 1,17 0,-39 10,257-11,-14 1,-236 11,916-2,-948-9,-16 0,152 8,-134 2,-106-1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t>2026/10/4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首先介绍第一篇</a:t>
            </a:r>
          </a:p>
        </p:txBody>
      </p:sp>
      <p:sp>
        <p:nvSpPr>
          <p:cNvPr id="4" name="灯片编号占位符 3"/>
          <p:cNvSpPr>
            <a:spLocks noGrp="1"/>
          </p:cNvSpPr>
          <p:nvPr>
            <p:ph type="sldNum" sz="quarter" idx="5"/>
          </p:nvPr>
        </p:nvSpPr>
        <p:spPr/>
        <p:txBody>
          <a:bodyPr/>
          <a:lstStyle/>
          <a:p>
            <a:fld id="{5849F42C-2DAE-424C-A4B8-3140182C3E9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首先介绍第一篇</a:t>
            </a:r>
          </a:p>
        </p:txBody>
      </p:sp>
      <p:sp>
        <p:nvSpPr>
          <p:cNvPr id="4" name="灯片编号占位符 3"/>
          <p:cNvSpPr>
            <a:spLocks noGrp="1"/>
          </p:cNvSpPr>
          <p:nvPr>
            <p:ph type="sldNum" sz="quarter" idx="5"/>
          </p:nvPr>
        </p:nvSpPr>
        <p:spPr/>
        <p:txBody>
          <a:bodyPr/>
          <a:lstStyle/>
          <a:p>
            <a:fld id="{5849F42C-2DAE-424C-A4B8-3140182C3E9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主要分为以下四个部分</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a:solidFill>
                  <a:schemeClr val="tx1"/>
                </a:solidFill>
                <a:effectLst/>
                <a:latin typeface="微软雅黑" panose="020B0503020204020204" charset="-122"/>
                <a:ea typeface="微软雅黑" panose="020B0503020204020204" charset="-122"/>
                <a:cs typeface="+mn-cs"/>
              </a:rPr>
              <a:t>本文提出了一种元学习变分量子算法，为了处理大规模模型的训练场景。之后比较并分析了目标能量和变分参数，结果显示我们的算法在学习能力方面优于</a:t>
            </a:r>
            <a:r>
              <a:rPr lang="en-US" altLang="zh-CN" sz="1600" kern="1200">
                <a:solidFill>
                  <a:schemeClr val="tx1"/>
                </a:solidFill>
                <a:effectLst/>
                <a:latin typeface="微软雅黑" panose="020B0503020204020204" charset="-122"/>
                <a:ea typeface="微软雅黑" panose="020B0503020204020204" charset="-122"/>
                <a:cs typeface="+mn-cs"/>
              </a:rPr>
              <a:t>VQE</a:t>
            </a:r>
            <a:r>
              <a:rPr lang="zh-CN" altLang="en-US" sz="1600" kern="1200">
                <a:solidFill>
                  <a:schemeClr val="tx1"/>
                </a:solidFill>
                <a:effectLst/>
                <a:latin typeface="微软雅黑" panose="020B0503020204020204" charset="-122"/>
                <a:ea typeface="微软雅黑" panose="020B0503020204020204" charset="-122"/>
                <a:cs typeface="+mn-cs"/>
              </a:rPr>
              <a:t>算法。重要的是，我们的实验表明，通过优化小规模量子算法，可以在更大系统规模上进行学习。</a:t>
            </a:r>
            <a:endParaRPr lang="en-US" altLang="zh-CN" sz="1600" kern="120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endParaRPr lang="en-US" altLang="zh-CN" sz="1600" kern="120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a:solidFill>
                  <a:schemeClr val="tx1"/>
                </a:solidFill>
                <a:effectLst/>
                <a:latin typeface="微软雅黑" panose="020B0503020204020204" charset="-122"/>
                <a:ea typeface="微软雅黑" panose="020B0503020204020204" charset="-122"/>
                <a:cs typeface="+mn-cs"/>
              </a:rPr>
              <a:t>挑战：</a:t>
            </a:r>
            <a:r>
              <a:rPr lang="zh-CN" altLang="en-US" b="0" i="0">
                <a:effectLst/>
                <a:latin typeface="-apple-system"/>
              </a:rPr>
              <a:t>传统</a:t>
            </a:r>
            <a:r>
              <a:rPr lang="en-US" altLang="zh-CN" b="0" i="0">
                <a:effectLst/>
                <a:latin typeface="-apple-system"/>
              </a:rPr>
              <a:t>VQA</a:t>
            </a:r>
            <a:r>
              <a:rPr lang="zh-CN" altLang="en-US" b="0" i="0">
                <a:effectLst/>
                <a:latin typeface="-apple-system"/>
              </a:rPr>
              <a:t>在训练过程中需要大量的迭代和采样，这限制了其在大规模量子系统中的应用。</a:t>
            </a:r>
            <a:r>
              <a:rPr lang="en-US" altLang="zh-CN" b="0" i="0">
                <a:effectLst/>
                <a:latin typeface="-apple-system"/>
              </a:rPr>
              <a:t>meta-VQA</a:t>
            </a:r>
            <a:r>
              <a:rPr lang="zh-CN" altLang="en-US" b="0" i="0">
                <a:effectLst/>
                <a:latin typeface="-apple-system"/>
              </a:rPr>
              <a:t>通过引入元学习和自适应学习率，减少了所需的采样次数和迭代次数，提高了优化效率。</a:t>
            </a:r>
            <a:endParaRPr lang="en-US" altLang="zh-CN" b="0" i="0">
              <a:effectLst/>
              <a:latin typeface="-apple-system"/>
            </a:endParaRPr>
          </a:p>
          <a:p>
            <a:pPr marL="0" marR="0" indent="0" algn="l" defTabSz="914400" rtl="0" eaLnBrk="1" fontAlgn="auto" latinLnBrk="0" hangingPunct="1">
              <a:lnSpc>
                <a:spcPct val="100000"/>
              </a:lnSpc>
              <a:spcBef>
                <a:spcPts val="0"/>
              </a:spcBef>
              <a:spcAft>
                <a:spcPts val="0"/>
              </a:spcAft>
              <a:buClrTx/>
              <a:buSzTx/>
              <a:buFontTx/>
              <a:buNone/>
              <a:defRPr/>
            </a:pPr>
            <a:endParaRPr lang="en-US" altLang="zh-CN" sz="1600" b="0" i="0" kern="1200">
              <a:solidFill>
                <a:schemeClr val="tx1"/>
              </a:solidFill>
              <a:effectLst/>
              <a:latin typeface="-apple-system"/>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b="0" i="0" kern="1200">
                <a:solidFill>
                  <a:schemeClr val="tx1"/>
                </a:solidFill>
                <a:effectLst/>
                <a:latin typeface="-apple-system"/>
                <a:ea typeface="微软雅黑" panose="020B0503020204020204" charset="-122"/>
                <a:cs typeface="+mn-cs"/>
              </a:rPr>
              <a:t>方法：</a:t>
            </a:r>
            <a:r>
              <a:rPr lang="zh-CN" altLang="en-US" b="0" i="0">
                <a:effectLst/>
                <a:latin typeface="-apple-system"/>
              </a:rPr>
              <a:t>文章提出了一种元学习变分量子算法（</a:t>
            </a:r>
            <a:r>
              <a:rPr lang="en-US" altLang="zh-CN" b="0" i="0">
                <a:effectLst/>
                <a:latin typeface="-apple-system"/>
              </a:rPr>
              <a:t>meta-VQA</a:t>
            </a:r>
            <a:r>
              <a:rPr lang="zh-CN" altLang="en-US" b="0" i="0">
                <a:effectLst/>
                <a:latin typeface="-apple-system"/>
              </a:rPr>
              <a:t>），通过训练经典的循环单元来辅助量子计算。这种方法的核心思想是让模型学会如何优化算法参数，从而在新的任务中快速适应并找到近似最优解。具体来说，就是利用循环单元处理之前的迭代信息，帮助</a:t>
            </a:r>
            <a:r>
              <a:rPr lang="en-US" altLang="zh-CN" b="0" i="0">
                <a:effectLst/>
                <a:latin typeface="-apple-system"/>
              </a:rPr>
              <a:t>VQA</a:t>
            </a:r>
            <a:r>
              <a:rPr lang="zh-CN" altLang="en-US" b="0" i="0">
                <a:effectLst/>
                <a:latin typeface="-apple-system"/>
              </a:rPr>
              <a:t>更高效地找到参数空间中的近似最优值。</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研究现状</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US" altLang="zh-CN" b="0" i="0">
                <a:solidFill>
                  <a:srgbClr val="000000"/>
                </a:solidFill>
                <a:effectLst/>
                <a:latin typeface="微软雅黑" panose="020B0503020204020204" charset="-122"/>
                <a:ea typeface="微软雅黑" panose="020B0503020204020204" charset="-122"/>
              </a:rPr>
              <a:t>VQA</a:t>
            </a:r>
            <a:r>
              <a:rPr lang="zh-CN" altLang="en-US" b="0" i="0" dirty="0">
                <a:solidFill>
                  <a:srgbClr val="000000"/>
                </a:solidFill>
                <a:effectLst/>
                <a:latin typeface="微软雅黑" panose="020B0503020204020204" charset="-122"/>
                <a:ea typeface="微软雅黑" panose="020B0503020204020204" charset="-122"/>
              </a:rPr>
              <a:t>首先初始化一量子态，之后产生一个波函数</a:t>
            </a:r>
            <a:r>
              <a:rPr lang="zh-CN" altLang="en-US" b="0" i="0">
                <a:solidFill>
                  <a:srgbClr val="000000"/>
                </a:solidFill>
                <a:effectLst/>
                <a:latin typeface="微软雅黑" panose="020B0503020204020204" charset="-122"/>
                <a:ea typeface="微软雅黑" panose="020B0503020204020204" charset="-122"/>
              </a:rPr>
              <a:t>来计算哈密顿量</a:t>
            </a:r>
            <a:r>
              <a:rPr lang="en-US" altLang="zh-CN" b="0" i="0" dirty="0">
                <a:solidFill>
                  <a:srgbClr val="000000"/>
                </a:solidFill>
                <a:effectLst/>
                <a:latin typeface="微软雅黑" panose="020B0503020204020204" charset="-122"/>
                <a:ea typeface="微软雅黑" panose="020B0503020204020204" charset="-122"/>
              </a:rPr>
              <a:t>HˆC</a:t>
            </a:r>
            <a:r>
              <a:rPr lang="zh-CN" altLang="en-US" b="0" i="0" dirty="0">
                <a:solidFill>
                  <a:srgbClr val="000000"/>
                </a:solidFill>
                <a:effectLst/>
                <a:latin typeface="微软雅黑" panose="020B0503020204020204" charset="-122"/>
                <a:ea typeface="微软雅黑" panose="020B0503020204020204" charset="-122"/>
              </a:rPr>
              <a:t>，其中目标是选择</a:t>
            </a:r>
            <a:r>
              <a:rPr lang="zh-CN" altLang="en-US" b="0" i="0">
                <a:solidFill>
                  <a:srgbClr val="000000"/>
                </a:solidFill>
                <a:effectLst/>
                <a:latin typeface="微软雅黑" panose="020B0503020204020204" charset="-122"/>
                <a:ea typeface="微软雅黑" panose="020B0503020204020204" charset="-122"/>
              </a:rPr>
              <a:t>更高的概率</a:t>
            </a:r>
            <a:r>
              <a:rPr lang="zh-CN" altLang="en-US" b="0" i="0" dirty="0">
                <a:solidFill>
                  <a:srgbClr val="000000"/>
                </a:solidFill>
                <a:effectLst/>
                <a:latin typeface="微软雅黑" panose="020B0503020204020204" charset="-122"/>
                <a:ea typeface="微软雅黑" panose="020B0503020204020204" charset="-122"/>
              </a:rPr>
              <a:t>在低能量状态下被</a:t>
            </a:r>
            <a:r>
              <a:rPr lang="zh-CN" altLang="en-US" b="0" i="0">
                <a:solidFill>
                  <a:srgbClr val="000000"/>
                </a:solidFill>
                <a:effectLst/>
                <a:latin typeface="微软雅黑" panose="020B0503020204020204" charset="-122"/>
                <a:ea typeface="微软雅黑" panose="020B0503020204020204" charset="-122"/>
              </a:rPr>
              <a:t>测量。通过代价哈密顿量与混合哈密顿量构成幺正变换矩阵，且两者彼此不正交。</a:t>
            </a:r>
            <a:endParaRPr lang="en-US" altLang="zh-CN" b="0" i="0">
              <a:solidFill>
                <a:srgbClr val="000000"/>
              </a:solidFill>
              <a:effectLst/>
              <a:latin typeface="微软雅黑" panose="020B0503020204020204" charset="-122"/>
              <a:ea typeface="微软雅黑" panose="020B0503020204020204" charset="-122"/>
            </a:endParaRPr>
          </a:p>
          <a:p>
            <a:pPr algn="just"/>
            <a:endParaRPr lang="en-US" altLang="zh-CN" b="0" i="0">
              <a:solidFill>
                <a:srgbClr val="000000"/>
              </a:solidFill>
              <a:effectLst/>
              <a:latin typeface="微软雅黑" panose="020B0503020204020204" charset="-122"/>
              <a:ea typeface="微软雅黑" panose="020B0503020204020204" charset="-122"/>
            </a:endParaRPr>
          </a:p>
          <a:p>
            <a:pPr algn="just"/>
            <a:r>
              <a:rPr lang="en-US" altLang="zh-CN" b="0" i="0">
                <a:solidFill>
                  <a:srgbClr val="000000"/>
                </a:solidFill>
                <a:effectLst/>
                <a:latin typeface="微软雅黑" panose="020B0503020204020204" charset="-122"/>
                <a:ea typeface="微软雅黑" panose="020B0503020204020204" charset="-122"/>
              </a:rPr>
              <a:t>MAXcut</a:t>
            </a:r>
            <a:r>
              <a:rPr lang="zh-CN" altLang="en-US" b="0" i="0">
                <a:solidFill>
                  <a:srgbClr val="000000"/>
                </a:solidFill>
                <a:effectLst/>
                <a:latin typeface="微软雅黑" panose="020B0503020204020204" charset="-122"/>
                <a:ea typeface="微软雅黑" panose="020B0503020204020204" charset="-122"/>
              </a:rPr>
              <a:t>问题：更高的概率在低能量状态下被测量。</a:t>
            </a:r>
            <a:endParaRPr lang="en-US" altLang="zh-CN" b="0" i="0" dirty="0">
              <a:solidFill>
                <a:srgbClr val="000000"/>
              </a:solidFill>
              <a:effectLst/>
              <a:latin typeface="微软雅黑" panose="020B0503020204020204" charset="-122"/>
              <a:ea typeface="微软雅黑" panose="020B0503020204020204" charset="-122"/>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b="0" i="0">
                <a:solidFill>
                  <a:srgbClr val="000000"/>
                </a:solidFill>
                <a:effectLst/>
                <a:latin typeface="微软雅黑" panose="020B0503020204020204" charset="-122"/>
                <a:ea typeface="微软雅黑" panose="020B0503020204020204" charset="-122"/>
              </a:rPr>
              <a:t>将本征态线性叠加可以得到所有一般的态</a:t>
            </a:r>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US" altLang="zh-CN" b="0" i="0">
                <a:solidFill>
                  <a:srgbClr val="000000"/>
                </a:solidFill>
                <a:effectLst/>
                <a:latin typeface="微软雅黑" panose="020B0503020204020204" charset="-122"/>
                <a:ea typeface="微软雅黑" panose="020B0503020204020204" charset="-122"/>
              </a:rPr>
              <a:t>VQA</a:t>
            </a:r>
            <a:r>
              <a:rPr lang="zh-CN" altLang="en-US" b="0" i="0" dirty="0">
                <a:solidFill>
                  <a:srgbClr val="000000"/>
                </a:solidFill>
                <a:effectLst/>
                <a:latin typeface="微软雅黑" panose="020B0503020204020204" charset="-122"/>
                <a:ea typeface="微软雅黑" panose="020B0503020204020204" charset="-122"/>
              </a:rPr>
              <a:t>方法的整体流程如图所示。该</a:t>
            </a:r>
            <a:r>
              <a:rPr lang="zh-CN" altLang="en-US" b="0" i="0">
                <a:solidFill>
                  <a:srgbClr val="000000"/>
                </a:solidFill>
                <a:effectLst/>
                <a:latin typeface="微软雅黑" panose="020B0503020204020204" charset="-122"/>
                <a:ea typeface="微软雅黑" panose="020B0503020204020204" charset="-122"/>
              </a:rPr>
              <a:t>方法分为来</a:t>
            </a:r>
            <a:r>
              <a:rPr lang="zh-CN" altLang="en-US" b="0" i="0" dirty="0">
                <a:solidFill>
                  <a:srgbClr val="000000"/>
                </a:solidFill>
                <a:effectLst/>
                <a:latin typeface="微软雅黑" panose="020B0503020204020204" charset="-122"/>
                <a:ea typeface="微软雅黑" panose="020B0503020204020204" charset="-122"/>
              </a:rPr>
              <a:t>实现</a:t>
            </a:r>
            <a:r>
              <a:rPr lang="en-US" altLang="zh-CN" b="0" i="0">
                <a:solidFill>
                  <a:srgbClr val="000000"/>
                </a:solidFill>
                <a:effectLst/>
                <a:latin typeface="微软雅黑" panose="020B0503020204020204" charset="-122"/>
                <a:ea typeface="微软雅黑" panose="020B0503020204020204" charset="-122"/>
              </a:rPr>
              <a:t>VQA</a:t>
            </a:r>
            <a:r>
              <a:rPr lang="zh-CN" altLang="en-US" b="0" i="0">
                <a:solidFill>
                  <a:srgbClr val="000000"/>
                </a:solidFill>
                <a:effectLst/>
                <a:latin typeface="微软雅黑" panose="020B0503020204020204" charset="-122"/>
                <a:ea typeface="微软雅黑" panose="020B0503020204020204" charset="-122"/>
              </a:rPr>
              <a:t>，量子态初始化、评估量子</a:t>
            </a:r>
            <a:r>
              <a:rPr lang="en-US" altLang="zh-CN" b="0" i="0">
                <a:solidFill>
                  <a:srgbClr val="000000"/>
                </a:solidFill>
                <a:effectLst/>
                <a:latin typeface="微软雅黑" panose="020B0503020204020204" charset="-122"/>
                <a:ea typeface="微软雅黑" panose="020B0503020204020204" charset="-122"/>
              </a:rPr>
              <a:t>PQC</a:t>
            </a:r>
            <a:r>
              <a:rPr lang="zh-CN" altLang="en-US" b="0" i="0">
                <a:solidFill>
                  <a:srgbClr val="000000"/>
                </a:solidFill>
                <a:effectLst/>
                <a:latin typeface="微软雅黑" panose="020B0503020204020204" charset="-122"/>
                <a:ea typeface="微软雅黑" panose="020B0503020204020204" charset="-122"/>
              </a:rPr>
              <a:t>电路</a:t>
            </a:r>
            <a:r>
              <a:rPr lang="zh-CN" altLang="en-US" b="0" i="0" dirty="0">
                <a:solidFill>
                  <a:srgbClr val="000000"/>
                </a:solidFill>
                <a:effectLst/>
                <a:latin typeface="微软雅黑" panose="020B0503020204020204" charset="-122"/>
                <a:ea typeface="微软雅黑" panose="020B0503020204020204" charset="-122"/>
              </a:rPr>
              <a:t>和</a:t>
            </a:r>
            <a:r>
              <a:rPr lang="zh-CN" altLang="en-US" b="0" i="0">
                <a:solidFill>
                  <a:srgbClr val="000000"/>
                </a:solidFill>
                <a:effectLst/>
                <a:latin typeface="微软雅黑" panose="020B0503020204020204" charset="-122"/>
                <a:ea typeface="微软雅黑" panose="020B0503020204020204" charset="-122"/>
              </a:rPr>
              <a:t>梯度计算三个阶段实现。</a:t>
            </a:r>
            <a:r>
              <a:rPr lang="zh-CN" altLang="en-US" b="0" i="0" dirty="0">
                <a:solidFill>
                  <a:srgbClr val="000000"/>
                </a:solidFill>
                <a:effectLst/>
                <a:latin typeface="微软雅黑" panose="020B0503020204020204" charset="-122"/>
                <a:ea typeface="微软雅黑" panose="020B0503020204020204" charset="-122"/>
              </a:rPr>
              <a:t>通过多次迭代优化变分电路参数以获得期望值，是一种可以不提供先验知识的迭代方法。</a:t>
            </a:r>
            <a:endParaRPr lang="en-US" altLang="zh-CN" b="0" i="0" dirty="0">
              <a:solidFill>
                <a:srgbClr val="000000"/>
              </a:solidFill>
              <a:effectLst/>
              <a:latin typeface="微软雅黑" panose="020B0503020204020204" charset="-122"/>
              <a:ea typeface="微软雅黑" panose="020B0503020204020204" charset="-122"/>
            </a:endParaRPr>
          </a:p>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b="0" i="0" dirty="0">
                <a:effectLst/>
                <a:latin typeface="-apple-system"/>
              </a:rPr>
              <a:t>用于描述量子变分算法（</a:t>
            </a:r>
            <a:r>
              <a:rPr lang="en-US" altLang="zh-CN" b="0" i="0" dirty="0">
                <a:effectLst/>
                <a:latin typeface="-apple-system"/>
              </a:rPr>
              <a:t>VQA</a:t>
            </a:r>
            <a:r>
              <a:rPr lang="zh-CN" altLang="en-US" b="0" i="0" dirty="0">
                <a:effectLst/>
                <a:latin typeface="-apple-system"/>
              </a:rPr>
              <a:t>）中的梯度计算和参数更新过程，特别是引入了随机梯度下降和自适应学习率方法。</a:t>
            </a:r>
            <a:endParaRPr lang="en-US" altLang="zh-CN" b="0" i="0" dirty="0">
              <a:effectLst/>
              <a:latin typeface="-apple-system"/>
            </a:endParaRPr>
          </a:p>
          <a:p>
            <a:pPr algn="l" fontAlgn="base">
              <a:lnSpc>
                <a:spcPts val="1950"/>
              </a:lnSpc>
              <a:spcAft>
                <a:spcPts val="900"/>
              </a:spcAft>
              <a:buFont typeface="Arial" panose="020B0604020202020204" pitchFamily="34" charset="0"/>
              <a:buNone/>
            </a:pPr>
            <a:r>
              <a:rPr lang="zh-CN" altLang="en-US" b="0" i="0" dirty="0">
                <a:effectLst/>
                <a:latin typeface="-apple-system"/>
              </a:rPr>
              <a:t>公式</a:t>
            </a:r>
            <a:r>
              <a:rPr lang="en-US" altLang="zh-CN" b="0" i="0" dirty="0">
                <a:effectLst/>
                <a:latin typeface="-apple-system"/>
              </a:rPr>
              <a:t>14</a:t>
            </a:r>
            <a:r>
              <a:rPr lang="zh-CN" altLang="en-US" b="0" i="0" dirty="0">
                <a:effectLst/>
                <a:latin typeface="-apple-system"/>
              </a:rPr>
              <a:t>是参数化量子电路的分析梯度公式。它通过在参数 </a:t>
            </a:r>
            <a:r>
              <a:rPr lang="en-US" altLang="zh-CN" b="0" i="1" dirty="0">
                <a:effectLst/>
                <a:latin typeface="KaTeX_Math"/>
              </a:rPr>
              <a:t>θ</a:t>
            </a:r>
            <a:r>
              <a:rPr lang="zh-CN" altLang="en-US" b="0" i="0" dirty="0">
                <a:effectLst/>
                <a:latin typeface="-apple-system"/>
              </a:rPr>
              <a:t> 的两个偏移点处评估哈密顿量的期望值来计算梯度。这个方法虽然可以直接计算梯度，但是计算成本较大。因此通过引入辅助量子比特来间接测量梯度。式</a:t>
            </a:r>
            <a:r>
              <a:rPr lang="en-US" altLang="zh-CN" b="0" i="0" dirty="0">
                <a:effectLst/>
                <a:latin typeface="-apple-system"/>
              </a:rPr>
              <a:t>(16)</a:t>
            </a:r>
            <a:r>
              <a:rPr lang="zh-CN" altLang="en-US" b="0" i="0" dirty="0">
                <a:effectLst/>
                <a:latin typeface="inherit"/>
              </a:rPr>
              <a:t>通过随机选择生成器中每个项的系数 </a:t>
            </a:r>
            <a:r>
              <a:rPr lang="en-US" altLang="zh-CN" b="0" i="1" dirty="0" err="1">
                <a:effectLst/>
                <a:latin typeface="KaTeX_Math"/>
              </a:rPr>
              <a:t>γk</a:t>
            </a:r>
            <a:r>
              <a:rPr lang="zh-CN" altLang="en-US" b="0" i="0" dirty="0">
                <a:effectLst/>
                <a:latin typeface="inherit"/>
              </a:rPr>
              <a:t>​ 来估计梯度。</a:t>
            </a:r>
          </a:p>
          <a:p>
            <a:pPr>
              <a:buNone/>
            </a:pPr>
            <a:br>
              <a:rPr lang="zh-CN" altLang="en-US" dirty="0"/>
            </a:br>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b="0" i="0" dirty="0">
                <a:effectLst/>
                <a:latin typeface="-apple-system"/>
              </a:rPr>
              <a:t>它结合了动量（</a:t>
            </a:r>
            <a:r>
              <a:rPr lang="en-US" altLang="zh-CN" b="0" i="0" dirty="0">
                <a:effectLst/>
                <a:latin typeface="-apple-system"/>
              </a:rPr>
              <a:t>momentum</a:t>
            </a:r>
            <a:r>
              <a:rPr lang="zh-CN" altLang="en-US" b="0" i="0" dirty="0">
                <a:effectLst/>
                <a:latin typeface="-apple-system"/>
              </a:rPr>
              <a:t>）和自适应矩估计（</a:t>
            </a:r>
            <a:r>
              <a:rPr lang="en-US" altLang="zh-CN" b="0" i="0" dirty="0">
                <a:effectLst/>
                <a:latin typeface="-apple-system"/>
              </a:rPr>
              <a:t>Adam</a:t>
            </a:r>
            <a:r>
              <a:rPr lang="zh-CN" altLang="en-US" b="0" i="0" dirty="0">
                <a:effectLst/>
                <a:latin typeface="-apple-system"/>
              </a:rPr>
              <a:t>）方法来自适应更新学习率。自适应学习率可以根据梯度的大小自动调整学习率，从而加速收敛并避免过冲。公式中的</a:t>
            </a:r>
            <a:r>
              <a:rPr lang="en-US" altLang="zh-CN" b="0" i="1" dirty="0" err="1">
                <a:effectLst/>
                <a:latin typeface="KaTeX_Math"/>
              </a:rPr>
              <a:t>v</a:t>
            </a:r>
            <a:r>
              <a:rPr lang="en-US" altLang="zh-CN" b="0" i="0" dirty="0" err="1">
                <a:effectLst/>
                <a:latin typeface="KaTeX_Main"/>
              </a:rPr>
              <a:t>^</a:t>
            </a:r>
            <a:r>
              <a:rPr lang="en-US" altLang="zh-CN" b="0" i="1" dirty="0" err="1">
                <a:effectLst/>
                <a:latin typeface="KaTeX_Math"/>
              </a:rPr>
              <a:t>t</a:t>
            </a:r>
            <a:r>
              <a:rPr lang="en-US" altLang="zh-CN" b="0" i="0" dirty="0">
                <a:effectLst/>
                <a:latin typeface="inherit"/>
              </a:rPr>
              <a:t>​</a:t>
            </a:r>
            <a:r>
              <a:rPr lang="en-US" altLang="zh-CN" b="0" i="0" dirty="0">
                <a:effectLst/>
                <a:latin typeface="-apple-system"/>
              </a:rPr>
              <a:t> </a:t>
            </a:r>
            <a:r>
              <a:rPr lang="zh-CN" altLang="en-US" b="0" i="0" dirty="0">
                <a:effectLst/>
                <a:latin typeface="-apple-system"/>
              </a:rPr>
              <a:t>是梯度平方的指数衰减平均值，用于调整学习率；</a:t>
            </a:r>
            <a:r>
              <a:rPr lang="en-US" altLang="zh-CN" b="0" i="1" dirty="0" err="1">
                <a:effectLst/>
                <a:latin typeface="KaTeX_Math"/>
              </a:rPr>
              <a:t>m</a:t>
            </a:r>
            <a:r>
              <a:rPr lang="en-US" altLang="zh-CN" b="0" i="0" dirty="0" err="1">
                <a:effectLst/>
                <a:latin typeface="KaTeX_Main"/>
              </a:rPr>
              <a:t>^</a:t>
            </a:r>
            <a:r>
              <a:rPr lang="en-US" altLang="zh-CN" b="0" i="1" dirty="0" err="1">
                <a:effectLst/>
                <a:latin typeface="KaTeX_Math"/>
              </a:rPr>
              <a:t>t</a:t>
            </a:r>
            <a:r>
              <a:rPr lang="zh-CN" altLang="en-US" b="0" i="0" dirty="0">
                <a:effectLst/>
                <a:latin typeface="inherit"/>
              </a:rPr>
              <a:t>​</a:t>
            </a:r>
            <a:r>
              <a:rPr lang="zh-CN" altLang="en-US" b="0" i="0" dirty="0">
                <a:effectLst/>
                <a:latin typeface="-apple-system"/>
              </a:rPr>
              <a:t> 是梯度的指数衰减平均值，用于动量计算；</a:t>
            </a:r>
            <a:r>
              <a:rPr lang="en-US" altLang="zh-CN" b="0" i="1" dirty="0">
                <a:effectLst/>
                <a:latin typeface="KaTeX_Math"/>
              </a:rPr>
              <a:t>ϵ</a:t>
            </a:r>
            <a:r>
              <a:rPr lang="zh-CN" altLang="en-US" b="0" i="0" dirty="0">
                <a:effectLst/>
                <a:latin typeface="-apple-system"/>
              </a:rPr>
              <a:t> 是一个小的常数，用于数值稳定性。</a:t>
            </a:r>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a:solidFill>
                  <a:schemeClr val="tx1"/>
                </a:solidFill>
                <a:effectLst/>
                <a:latin typeface="微软雅黑" panose="020B0503020204020204" charset="-122"/>
                <a:ea typeface="微软雅黑" panose="020B0503020204020204" charset="-122"/>
                <a:cs typeface="+mn-cs"/>
              </a:rPr>
              <a:t>元学习器需要学习原子态目标能量</a:t>
            </a:r>
            <a:endParaRPr lang="en-US" altLang="zh-CN" sz="1600" kern="120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a:solidFill>
                  <a:schemeClr val="tx1"/>
                </a:solidFill>
                <a:effectLst/>
                <a:latin typeface="微软雅黑" panose="020B0503020204020204" charset="-122"/>
                <a:ea typeface="微软雅黑" panose="020B0503020204020204" charset="-122"/>
                <a:cs typeface="+mn-cs"/>
              </a:rPr>
              <a:t>（</a:t>
            </a:r>
            <a:r>
              <a:rPr lang="en-US" altLang="zh-CN" sz="1600" kern="1200">
                <a:solidFill>
                  <a:schemeClr val="tx1"/>
                </a:solidFill>
                <a:effectLst/>
                <a:latin typeface="微软雅黑" panose="020B0503020204020204" charset="-122"/>
                <a:ea typeface="微软雅黑" panose="020B0503020204020204" charset="-122"/>
                <a:cs typeface="+mn-cs"/>
              </a:rPr>
              <a:t>1</a:t>
            </a:r>
            <a:r>
              <a:rPr lang="zh-CN" altLang="en-US" sz="1600" kern="1200">
                <a:solidFill>
                  <a:schemeClr val="tx1"/>
                </a:solidFill>
                <a:effectLst/>
                <a:latin typeface="微软雅黑" panose="020B0503020204020204" charset="-122"/>
                <a:ea typeface="微软雅黑" panose="020B0503020204020204" charset="-122"/>
                <a:cs typeface="+mn-cs"/>
              </a:rPr>
              <a:t>）分子氢</a:t>
            </a:r>
            <a:endParaRPr lang="en-US" altLang="zh-CN" sz="1600" kern="120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a:solidFill>
                  <a:schemeClr val="tx1"/>
                </a:solidFill>
                <a:effectLst/>
                <a:latin typeface="微软雅黑" panose="020B0503020204020204" charset="-122"/>
                <a:ea typeface="微软雅黑" panose="020B0503020204020204" charset="-122"/>
                <a:cs typeface="+mn-cs"/>
              </a:rPr>
              <a:t>meta-VQA</a:t>
            </a:r>
            <a:r>
              <a:rPr lang="zh-CN" altLang="en-US" sz="1600" kern="1200">
                <a:solidFill>
                  <a:schemeClr val="tx1"/>
                </a:solidFill>
                <a:effectLst/>
                <a:latin typeface="微软雅黑" panose="020B0503020204020204" charset="-122"/>
                <a:ea typeface="微软雅黑" panose="020B0503020204020204" charset="-122"/>
                <a:cs typeface="+mn-cs"/>
              </a:rPr>
              <a:t>能够学习随机曲线的基态能量。这可以理解为一个学习过程，在此过程中，元学习器智能地学习修改算法的参数（或超参数），以计算出最优值。且，</a:t>
            </a:r>
            <a:r>
              <a:rPr lang="en-US" altLang="zh-CN" sz="1600" kern="1200" dirty="0">
                <a:solidFill>
                  <a:schemeClr val="tx1"/>
                </a:solidFill>
                <a:effectLst/>
                <a:latin typeface="微软雅黑" panose="020B0503020204020204" charset="-122"/>
                <a:ea typeface="微软雅黑" panose="020B0503020204020204" charset="-122"/>
                <a:cs typeface="+mn-cs"/>
              </a:rPr>
              <a:t>meta-VQA</a:t>
            </a:r>
            <a:r>
              <a:rPr lang="zh-CN" altLang="en-US" sz="1600" kern="1200">
                <a:solidFill>
                  <a:schemeClr val="tx1"/>
                </a:solidFill>
                <a:effectLst/>
                <a:latin typeface="微软雅黑" panose="020B0503020204020204" charset="-122"/>
                <a:ea typeface="微软雅黑" panose="020B0503020204020204" charset="-122"/>
                <a:cs typeface="+mn-cs"/>
              </a:rPr>
              <a:t>生成的电路角度在相同的测试集中更接近目标值。学习</a:t>
            </a:r>
            <a:r>
              <a:rPr lang="en-US" altLang="zh-CN" sz="1600" kern="1200">
                <a:solidFill>
                  <a:schemeClr val="tx1"/>
                </a:solidFill>
                <a:effectLst/>
                <a:latin typeface="微软雅黑" panose="020B0503020204020204" charset="-122"/>
                <a:ea typeface="微软雅黑" panose="020B0503020204020204" charset="-122"/>
                <a:cs typeface="+mn-cs"/>
              </a:rPr>
              <a:t>RMSE</a:t>
            </a:r>
            <a:r>
              <a:rPr lang="zh-CN" altLang="en-US" sz="1600" kern="1200">
                <a:solidFill>
                  <a:schemeClr val="tx1"/>
                </a:solidFill>
                <a:effectLst/>
                <a:latin typeface="微软雅黑" panose="020B0503020204020204" charset="-122"/>
                <a:ea typeface="微软雅黑" panose="020B0503020204020204" charset="-122"/>
                <a:cs typeface="+mn-cs"/>
              </a:rPr>
              <a:t>也越小。</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t>18</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sz="1600" kern="1200" dirty="0">
                <a:solidFill>
                  <a:schemeClr val="tx1"/>
                </a:solidFill>
                <a:effectLst/>
                <a:latin typeface="微软雅黑" panose="020B0503020204020204" charset="-122"/>
                <a:ea typeface="微软雅黑" panose="020B0503020204020204" charset="-122"/>
                <a:cs typeface="+mn-cs"/>
              </a:rPr>
              <a:t>使用</a:t>
            </a:r>
            <a:r>
              <a:rPr lang="en-US" altLang="zh-CN" sz="1600" kern="1200" dirty="0" err="1">
                <a:solidFill>
                  <a:schemeClr val="tx1"/>
                </a:solidFill>
                <a:effectLst/>
                <a:latin typeface="微软雅黑" panose="020B0503020204020204" charset="-122"/>
                <a:ea typeface="微软雅黑" panose="020B0503020204020204" charset="-122"/>
                <a:cs typeface="+mn-cs"/>
              </a:rPr>
              <a:t>metaVQA</a:t>
            </a:r>
            <a:r>
              <a:rPr lang="zh-CN" altLang="en-US" sz="1600" kern="1200" dirty="0">
                <a:solidFill>
                  <a:schemeClr val="tx1"/>
                </a:solidFill>
                <a:effectLst/>
                <a:latin typeface="微软雅黑" panose="020B0503020204020204" charset="-122"/>
                <a:ea typeface="微软雅黑" panose="020B0503020204020204" charset="-122"/>
                <a:cs typeface="+mn-cs"/>
              </a:rPr>
              <a:t>学习不同键长的氢化锂信息。在两个图中，目标、测试集和</a:t>
            </a:r>
            <a:r>
              <a:rPr lang="en-US" altLang="zh-CN" sz="1600" kern="1200" dirty="0">
                <a:solidFill>
                  <a:schemeClr val="tx1"/>
                </a:solidFill>
                <a:effectLst/>
                <a:latin typeface="微软雅黑" panose="020B0503020204020204" charset="-122"/>
                <a:ea typeface="微软雅黑" panose="020B0503020204020204" charset="-122"/>
                <a:cs typeface="+mn-cs"/>
              </a:rPr>
              <a:t>meta-VQA</a:t>
            </a:r>
            <a:r>
              <a:rPr lang="zh-CN" altLang="en-US" sz="1600" kern="1200" dirty="0">
                <a:solidFill>
                  <a:schemeClr val="tx1"/>
                </a:solidFill>
                <a:effectLst/>
                <a:latin typeface="微软雅黑" panose="020B0503020204020204" charset="-122"/>
                <a:ea typeface="微软雅黑" panose="020B0503020204020204" charset="-122"/>
                <a:cs typeface="+mn-cs"/>
              </a:rPr>
              <a:t>分别用实线、虚线和点划线表示。</a:t>
            </a:r>
            <a:r>
              <a:rPr lang="en-US" altLang="zh-CN" sz="1600" kern="1200" dirty="0">
                <a:solidFill>
                  <a:schemeClr val="tx1"/>
                </a:solidFill>
                <a:effectLst/>
                <a:latin typeface="微软雅黑" panose="020B0503020204020204" charset="-122"/>
                <a:ea typeface="微软雅黑" panose="020B0503020204020204" charset="-122"/>
                <a:cs typeface="+mn-cs"/>
              </a:rPr>
              <a:t>(a)</a:t>
            </a:r>
            <a:r>
              <a:rPr lang="zh-CN" altLang="en-US" sz="1600" kern="1200" dirty="0">
                <a:solidFill>
                  <a:schemeClr val="tx1"/>
                </a:solidFill>
                <a:effectLst/>
                <a:latin typeface="微软雅黑" panose="020B0503020204020204" charset="-122"/>
                <a:ea typeface="微软雅黑" panose="020B0503020204020204" charset="-122"/>
                <a:cs typeface="+mn-cs"/>
              </a:rPr>
              <a:t>目标能量和优化结果对于</a:t>
            </a:r>
            <a:r>
              <a:rPr lang="en-US" altLang="zh-CN" sz="1600" kern="1200" dirty="0">
                <a:solidFill>
                  <a:schemeClr val="tx1"/>
                </a:solidFill>
                <a:effectLst/>
                <a:latin typeface="微软雅黑" panose="020B0503020204020204" charset="-122"/>
                <a:ea typeface="微软雅黑" panose="020B0503020204020204" charset="-122"/>
                <a:cs typeface="+mn-cs"/>
              </a:rPr>
              <a:t>meta-VQA</a:t>
            </a:r>
            <a:r>
              <a:rPr lang="zh-CN" altLang="en-US" sz="1600" kern="1200" dirty="0">
                <a:solidFill>
                  <a:schemeClr val="tx1"/>
                </a:solidFill>
                <a:effectLst/>
                <a:latin typeface="微软雅黑" panose="020B0503020204020204" charset="-122"/>
                <a:ea typeface="微软雅黑" panose="020B0503020204020204" charset="-122"/>
                <a:cs typeface="+mn-cs"/>
              </a:rPr>
              <a:t>。</a:t>
            </a:r>
            <a:r>
              <a:rPr lang="en-US" altLang="zh-CN" sz="1600" kern="1200" dirty="0">
                <a:solidFill>
                  <a:schemeClr val="tx1"/>
                </a:solidFill>
                <a:effectLst/>
                <a:latin typeface="微软雅黑" panose="020B0503020204020204" charset="-122"/>
                <a:ea typeface="微软雅黑" panose="020B0503020204020204" charset="-122"/>
                <a:cs typeface="+mn-cs"/>
              </a:rPr>
              <a:t>(b)</a:t>
            </a:r>
            <a:r>
              <a:rPr lang="zh-CN" altLang="en-US" sz="1600" kern="1200" dirty="0">
                <a:solidFill>
                  <a:schemeClr val="tx1"/>
                </a:solidFill>
                <a:effectLst/>
                <a:latin typeface="微软雅黑" panose="020B0503020204020204" charset="-122"/>
                <a:ea typeface="微软雅黑" panose="020B0503020204020204" charset="-122"/>
                <a:cs typeface="+mn-cs"/>
              </a:rPr>
              <a:t>两个变分参数之间的比例结果。我们可以看到，</a:t>
            </a:r>
            <a:r>
              <a:rPr lang="en-US" altLang="zh-CN" sz="1600" kern="1200" dirty="0">
                <a:solidFill>
                  <a:schemeClr val="tx1"/>
                </a:solidFill>
                <a:effectLst/>
                <a:latin typeface="微软雅黑" panose="020B0503020204020204" charset="-122"/>
                <a:ea typeface="微软雅黑" panose="020B0503020204020204" charset="-122"/>
                <a:cs typeface="+mn-cs"/>
              </a:rPr>
              <a:t>meta-VQA</a:t>
            </a:r>
            <a:r>
              <a:rPr lang="zh-CN" altLang="en-US" sz="1600" kern="1200" dirty="0">
                <a:solidFill>
                  <a:schemeClr val="tx1"/>
                </a:solidFill>
                <a:effectLst/>
                <a:latin typeface="微软雅黑" panose="020B0503020204020204" charset="-122"/>
                <a:ea typeface="微软雅黑" panose="020B0503020204020204" charset="-122"/>
                <a:cs typeface="+mn-cs"/>
              </a:rPr>
              <a:t>计算结果与目标参数一致。</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sz="1600" kern="1200">
                <a:solidFill>
                  <a:schemeClr val="tx1"/>
                </a:solidFill>
                <a:effectLst/>
                <a:latin typeface="微软雅黑" panose="020B0503020204020204" charset="-122"/>
                <a:ea typeface="微软雅黑" panose="020B0503020204020204" charset="-122"/>
                <a:cs typeface="+mn-cs"/>
              </a:rPr>
              <a:t>本文提出了元 </a:t>
            </a:r>
            <a:r>
              <a:rPr lang="en-US" altLang="zh-CN" sz="1600" kern="1200">
                <a:solidFill>
                  <a:schemeClr val="tx1"/>
                </a:solidFill>
                <a:effectLst/>
                <a:latin typeface="微软雅黑" panose="020B0503020204020204" charset="-122"/>
                <a:ea typeface="微软雅黑" panose="020B0503020204020204" charset="-122"/>
                <a:cs typeface="+mn-cs"/>
              </a:rPr>
              <a:t>VQA</a:t>
            </a:r>
            <a:r>
              <a:rPr lang="zh-CN" altLang="en-US" sz="1600" kern="1200">
                <a:solidFill>
                  <a:schemeClr val="tx1"/>
                </a:solidFill>
                <a:effectLst/>
                <a:latin typeface="微软雅黑" panose="020B0503020204020204" charset="-122"/>
                <a:ea typeface="微软雅黑" panose="020B0503020204020204" charset="-122"/>
                <a:cs typeface="+mn-cs"/>
              </a:rPr>
              <a:t>，它使用循环单元来辅助量子计算，并建立了一种权重共享方法。它有助于学习者更高效地找到参数优化</a:t>
            </a:r>
            <a:r>
              <a:rPr lang="en-US" altLang="zh-CN" sz="1600" kern="1200">
                <a:solidFill>
                  <a:schemeClr val="tx1"/>
                </a:solidFill>
                <a:effectLst/>
                <a:latin typeface="微软雅黑" panose="020B0503020204020204" charset="-122"/>
                <a:ea typeface="微软雅黑" panose="020B0503020204020204" charset="-122"/>
                <a:cs typeface="+mn-cs"/>
              </a:rPr>
              <a:t>·</a:t>
            </a:r>
            <a:r>
              <a:rPr lang="zh-CN" altLang="en-US" sz="1600" kern="1200">
                <a:solidFill>
                  <a:schemeClr val="tx1"/>
                </a:solidFill>
                <a:effectLst/>
                <a:latin typeface="微软雅黑" panose="020B0503020204020204" charset="-122"/>
                <a:ea typeface="微软雅黑" panose="020B0503020204020204" charset="-122"/>
                <a:cs typeface="+mn-cs"/>
              </a:rPr>
              <a:t>中的近似最优值。 并引入了量子随机梯度下降和自适应学习率方法来优化参数，减少了采样次数，加快了收敛速度。未来，我们将进一步研究</a:t>
            </a:r>
            <a:r>
              <a:rPr lang="en-US" altLang="zh-CN" sz="1600" kern="1200">
                <a:solidFill>
                  <a:schemeClr val="tx1"/>
                </a:solidFill>
                <a:effectLst/>
                <a:latin typeface="微软雅黑" panose="020B0503020204020204" charset="-122"/>
                <a:ea typeface="微软雅黑" panose="020B0503020204020204" charset="-122"/>
                <a:cs typeface="+mn-cs"/>
              </a:rPr>
              <a:t>meta-VQA</a:t>
            </a:r>
            <a:r>
              <a:rPr lang="zh-CN" altLang="en-US" sz="1600" kern="1200">
                <a:solidFill>
                  <a:schemeClr val="tx1"/>
                </a:solidFill>
                <a:effectLst/>
                <a:latin typeface="微软雅黑" panose="020B0503020204020204" charset="-122"/>
                <a:ea typeface="微软雅黑" panose="020B0503020204020204" charset="-122"/>
                <a:cs typeface="+mn-cs"/>
              </a:rPr>
              <a:t>分布式下的协同实现问题。</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主要分为以下四个部分</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首先是问题描述</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本文提出了一种纠缠量子联合学习（</a:t>
            </a:r>
            <a:r>
              <a:rPr lang="en-US" altLang="zh-CN" sz="1600" kern="1200" dirty="0" err="1">
                <a:solidFill>
                  <a:schemeClr val="tx1"/>
                </a:solidFill>
                <a:effectLst/>
                <a:latin typeface="微软雅黑" panose="020B0503020204020204" charset="-122"/>
                <a:ea typeface="微软雅黑" panose="020B0503020204020204" charset="-122"/>
                <a:cs typeface="+mn-cs"/>
              </a:rPr>
              <a:t>eSQFL</a:t>
            </a:r>
            <a:r>
              <a:rPr lang="zh-CN" altLang="en-US" sz="1600" kern="1200" dirty="0">
                <a:solidFill>
                  <a:schemeClr val="tx1"/>
                </a:solidFill>
                <a:effectLst/>
                <a:latin typeface="微软雅黑" panose="020B0503020204020204" charset="-122"/>
                <a:ea typeface="微软雅黑" panose="020B0503020204020204" charset="-122"/>
                <a:cs typeface="+mn-cs"/>
              </a:rPr>
              <a:t>）框架，旨在应对异构和时变的信道条件以及计算资源不同信道条件下的高效通信。为了解决高纠缠熵以及</a:t>
            </a:r>
            <a:r>
              <a:rPr lang="zh-CN" altLang="en-US" b="0" i="0" dirty="0">
                <a:effectLst/>
                <a:latin typeface="-apple-system"/>
              </a:rPr>
              <a:t>层与层之间的量子态差异</a:t>
            </a:r>
            <a:r>
              <a:rPr lang="zh-CN" altLang="en-US" sz="1600" kern="1200" dirty="0">
                <a:solidFill>
                  <a:schemeClr val="tx1"/>
                </a:solidFill>
                <a:effectLst/>
                <a:latin typeface="微软雅黑" panose="020B0503020204020204" charset="-122"/>
                <a:ea typeface="微软雅黑" panose="020B0503020204020204" charset="-122"/>
                <a:cs typeface="+mn-cs"/>
              </a:rPr>
              <a:t>的影响，本文引入了纠缠量子神经网络（</a:t>
            </a:r>
            <a:r>
              <a:rPr lang="en-US" altLang="zh-CN" sz="1600" kern="1200" dirty="0" err="1">
                <a:solidFill>
                  <a:schemeClr val="tx1"/>
                </a:solidFill>
                <a:effectLst/>
                <a:latin typeface="微软雅黑" panose="020B0503020204020204" charset="-122"/>
                <a:ea typeface="微软雅黑" panose="020B0503020204020204" charset="-122"/>
                <a:cs typeface="+mn-cs"/>
              </a:rPr>
              <a:t>eSQNN</a:t>
            </a:r>
            <a:r>
              <a:rPr lang="zh-CN" altLang="en-US" sz="1600" kern="1200" dirty="0">
                <a:solidFill>
                  <a:schemeClr val="tx1"/>
                </a:solidFill>
                <a:effectLst/>
                <a:latin typeface="微软雅黑" panose="020B0503020204020204" charset="-122"/>
                <a:ea typeface="微软雅黑" panose="020B0503020204020204" charset="-122"/>
                <a:cs typeface="+mn-cs"/>
              </a:rPr>
              <a:t>），使用受控通用（</a:t>
            </a:r>
            <a:r>
              <a:rPr lang="en-US" altLang="zh-CN" sz="1600" kern="1200" dirty="0">
                <a:solidFill>
                  <a:schemeClr val="tx1"/>
                </a:solidFill>
                <a:effectLst/>
                <a:latin typeface="微软雅黑" panose="020B0503020204020204" charset="-122"/>
                <a:ea typeface="微软雅黑" panose="020B0503020204020204" charset="-122"/>
                <a:cs typeface="+mn-cs"/>
              </a:rPr>
              <a:t>CU</a:t>
            </a:r>
            <a:r>
              <a:rPr lang="zh-CN" altLang="en-US" sz="1600" kern="1200" dirty="0">
                <a:solidFill>
                  <a:schemeClr val="tx1"/>
                </a:solidFill>
                <a:effectLst/>
                <a:latin typeface="微软雅黑" panose="020B0503020204020204" charset="-122"/>
                <a:ea typeface="微软雅黑" panose="020B0503020204020204" charset="-122"/>
                <a:cs typeface="+mn-cs"/>
              </a:rPr>
              <a:t>）门来管理纠缠水平并降低熵。该框架采用叠加编码和就地保真蒸馏（</a:t>
            </a:r>
            <a:r>
              <a:rPr lang="en-US" altLang="zh-CN" sz="1600" kern="1200" dirty="0">
                <a:solidFill>
                  <a:schemeClr val="tx1"/>
                </a:solidFill>
                <a:effectLst/>
                <a:latin typeface="微软雅黑" panose="020B0503020204020204" charset="-122"/>
                <a:ea typeface="微软雅黑" panose="020B0503020204020204" charset="-122"/>
                <a:cs typeface="+mn-cs"/>
              </a:rPr>
              <a:t>IPFD</a:t>
            </a:r>
            <a:r>
              <a:rPr lang="zh-CN" altLang="en-US" sz="1600" kern="1200" dirty="0">
                <a:solidFill>
                  <a:schemeClr val="tx1"/>
                </a:solidFill>
                <a:effectLst/>
                <a:latin typeface="微软雅黑" panose="020B0503020204020204" charset="-122"/>
                <a:ea typeface="微软雅黑" panose="020B0503020204020204" charset="-122"/>
                <a:cs typeface="+mn-cs"/>
              </a:rPr>
              <a:t>）正则器来优化参数交换。通过仿真实验，论文表明 </a:t>
            </a:r>
            <a:r>
              <a:rPr lang="en-US" altLang="zh-CN" sz="1600" kern="1200" dirty="0" err="1">
                <a:solidFill>
                  <a:schemeClr val="tx1"/>
                </a:solidFill>
                <a:effectLst/>
                <a:latin typeface="微软雅黑" panose="020B0503020204020204" charset="-122"/>
                <a:ea typeface="微软雅黑" panose="020B0503020204020204" charset="-122"/>
                <a:cs typeface="+mn-cs"/>
              </a:rPr>
              <a:t>eSQFL</a:t>
            </a:r>
            <a:r>
              <a:rPr lang="en-US" altLang="zh-CN" sz="1600" kern="1200" dirty="0">
                <a:solidFill>
                  <a:schemeClr val="tx1"/>
                </a:solidFill>
                <a:effectLst/>
                <a:latin typeface="微软雅黑" panose="020B0503020204020204" charset="-122"/>
                <a:ea typeface="微软雅黑" panose="020B0503020204020204" charset="-122"/>
                <a:cs typeface="+mn-cs"/>
              </a:rPr>
              <a:t> </a:t>
            </a:r>
            <a:r>
              <a:rPr lang="zh-CN" altLang="en-US" sz="1600" kern="1200" dirty="0">
                <a:solidFill>
                  <a:schemeClr val="tx1"/>
                </a:solidFill>
                <a:effectLst/>
                <a:latin typeface="微软雅黑" panose="020B0503020204020204" charset="-122"/>
                <a:ea typeface="微软雅黑" panose="020B0503020204020204" charset="-122"/>
                <a:cs typeface="+mn-cs"/>
              </a:rPr>
              <a:t>在不同信道条件和数据分布下的预测精度和鲁棒性优于传统 </a:t>
            </a:r>
            <a:r>
              <a:rPr lang="en-US" altLang="zh-CN" sz="1600" kern="1200" dirty="0">
                <a:solidFill>
                  <a:schemeClr val="tx1"/>
                </a:solidFill>
                <a:effectLst/>
                <a:latin typeface="微软雅黑" panose="020B0503020204020204" charset="-122"/>
                <a:ea typeface="微软雅黑" panose="020B0503020204020204" charset="-122"/>
                <a:cs typeface="+mn-cs"/>
              </a:rPr>
              <a:t>QFL </a:t>
            </a:r>
            <a:r>
              <a:rPr lang="zh-CN" altLang="en-US" sz="1600" kern="1200" dirty="0">
                <a:solidFill>
                  <a:schemeClr val="tx1"/>
                </a:solidFill>
                <a:effectLst/>
                <a:latin typeface="微软雅黑" panose="020B0503020204020204" charset="-122"/>
                <a:ea typeface="微软雅黑" panose="020B0503020204020204" charset="-122"/>
                <a:cs typeface="+mn-cs"/>
              </a:rPr>
              <a:t>方法。</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每个量子计算机或设备都用可训练的门来局部训练其量子神经网络（</a:t>
            </a:r>
            <a:r>
              <a:rPr lang="en-US" altLang="zh-CN" sz="1600" kern="1200" dirty="0">
                <a:solidFill>
                  <a:schemeClr val="tx1"/>
                </a:solidFill>
                <a:effectLst/>
                <a:latin typeface="微软雅黑" panose="020B0503020204020204" charset="-122"/>
                <a:ea typeface="微软雅黑" panose="020B0503020204020204" charset="-122"/>
                <a:cs typeface="+mn-cs"/>
              </a:rPr>
              <a:t>QNN</a:t>
            </a:r>
            <a:r>
              <a:rPr lang="zh-CN" altLang="en-US" sz="1600" kern="1200" dirty="0">
                <a:solidFill>
                  <a:schemeClr val="tx1"/>
                </a:solidFill>
                <a:effectLst/>
                <a:latin typeface="微软雅黑" panose="020B0503020204020204" charset="-122"/>
                <a:ea typeface="微软雅黑" panose="020B0503020204020204" charset="-122"/>
                <a:cs typeface="+mn-cs"/>
              </a:rPr>
              <a:t>），并且只通过经典通道通信这些门参数，而不需要昂贵的量子通信</a:t>
            </a:r>
            <a:r>
              <a:rPr lang="en-US" altLang="zh-CN" sz="1600" kern="1200" dirty="0">
                <a:solidFill>
                  <a:schemeClr val="tx1"/>
                </a:solidFill>
                <a:effectLst/>
                <a:latin typeface="微软雅黑" panose="020B0503020204020204" charset="-122"/>
                <a:ea typeface="微软雅黑" panose="020B0503020204020204" charset="-122"/>
                <a:cs typeface="+mn-cs"/>
              </a:rPr>
              <a:t>.</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研究现状</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t>35</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600" kern="120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t>36</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sz="1600" kern="1200">
                <a:solidFill>
                  <a:schemeClr val="tx1"/>
                </a:solidFill>
                <a:effectLst/>
                <a:latin typeface="微软雅黑" panose="020B0503020204020204" charset="-122"/>
                <a:ea typeface="微软雅黑" panose="020B0503020204020204" charset="-122"/>
                <a:cs typeface="+mn-cs"/>
              </a:rPr>
              <a:t>本文对量子联合学习领域做出了几项重要贡献。首先，本文介绍了一种新颖的纠缠量子神经网络（</a:t>
            </a:r>
            <a:r>
              <a:rPr lang="en-US" altLang="zh-CN" sz="1600" kern="1200">
                <a:solidFill>
                  <a:schemeClr val="tx1"/>
                </a:solidFill>
                <a:effectLst/>
                <a:latin typeface="微软雅黑" panose="020B0503020204020204" charset="-122"/>
                <a:ea typeface="微软雅黑" panose="020B0503020204020204" charset="-122"/>
                <a:cs typeface="+mn-cs"/>
              </a:rPr>
              <a:t>eSQNN</a:t>
            </a:r>
            <a:r>
              <a:rPr lang="zh-CN" altLang="en-US" sz="1600" kern="1200">
                <a:solidFill>
                  <a:schemeClr val="tx1"/>
                </a:solidFill>
                <a:effectLst/>
                <a:latin typeface="微软雅黑" panose="020B0503020204020204" charset="-122"/>
                <a:ea typeface="微软雅黑" panose="020B0503020204020204" charset="-122"/>
                <a:cs typeface="+mn-cs"/>
              </a:rPr>
              <a:t>）架构，它允许深度可控的量子神经网络，并通过（</a:t>
            </a:r>
            <a:r>
              <a:rPr lang="en-US" altLang="zh-CN" sz="1600" kern="1200">
                <a:solidFill>
                  <a:schemeClr val="tx1"/>
                </a:solidFill>
                <a:effectLst/>
                <a:latin typeface="微软雅黑" panose="020B0503020204020204" charset="-122"/>
                <a:ea typeface="微软雅黑" panose="020B0503020204020204" charset="-122"/>
                <a:cs typeface="+mn-cs"/>
              </a:rPr>
              <a:t>CU</a:t>
            </a:r>
            <a:r>
              <a:rPr lang="zh-CN" altLang="en-US" sz="1600" kern="1200">
                <a:solidFill>
                  <a:schemeClr val="tx1"/>
                </a:solidFill>
                <a:effectLst/>
                <a:latin typeface="微软雅黑" panose="020B0503020204020204" charset="-122"/>
                <a:ea typeface="微软雅黑" panose="020B0503020204020204" charset="-122"/>
                <a:cs typeface="+mn-cs"/>
              </a:rPr>
              <a:t>）门有效控制纠缠水平。其次，本文对 </a:t>
            </a:r>
            <a:r>
              <a:rPr lang="en-US" altLang="zh-CN" sz="1600" kern="1200">
                <a:solidFill>
                  <a:schemeClr val="tx1"/>
                </a:solidFill>
                <a:effectLst/>
                <a:latin typeface="微软雅黑" panose="020B0503020204020204" charset="-122"/>
                <a:ea typeface="微软雅黑" panose="020B0503020204020204" charset="-122"/>
                <a:cs typeface="+mn-cs"/>
              </a:rPr>
              <a:t>eSQFL </a:t>
            </a:r>
            <a:r>
              <a:rPr lang="zh-CN" altLang="en-US" sz="1600" kern="1200">
                <a:solidFill>
                  <a:schemeClr val="tx1"/>
                </a:solidFill>
                <a:effectLst/>
                <a:latin typeface="微软雅黑" panose="020B0503020204020204" charset="-122"/>
                <a:ea typeface="微软雅黑" panose="020B0503020204020204" charset="-122"/>
                <a:cs typeface="+mn-cs"/>
              </a:rPr>
              <a:t>算法进行了收敛性分析，并通过仿真验证了该算法的优越性能，表明在不同信道条件和数据分布下，该算法的预测精度和鲁棒性均优于现有方法。</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主要分为以下四个部分</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首先是问题描述</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本研究提出了一种基于量子傅里叶变换（</a:t>
            </a:r>
            <a:r>
              <a:rPr lang="en-US" altLang="zh-CN" sz="1600" kern="1200" dirty="0">
                <a:solidFill>
                  <a:schemeClr val="tx1"/>
                </a:solidFill>
                <a:effectLst/>
                <a:latin typeface="微软雅黑" panose="020B0503020204020204" charset="-122"/>
                <a:ea typeface="微软雅黑" panose="020B0503020204020204" charset="-122"/>
                <a:cs typeface="+mn-cs"/>
              </a:rPr>
              <a:t>QFT</a:t>
            </a:r>
            <a:r>
              <a:rPr lang="zh-CN" altLang="en-US" sz="1600" kern="1200" dirty="0">
                <a:solidFill>
                  <a:schemeClr val="tx1"/>
                </a:solidFill>
                <a:effectLst/>
                <a:latin typeface="微软雅黑" panose="020B0503020204020204" charset="-122"/>
                <a:ea typeface="微软雅黑" panose="020B0503020204020204" charset="-122"/>
                <a:cs typeface="+mn-cs"/>
              </a:rPr>
              <a:t>）的量子增强特征提取方法，并将其集成到图卷积神经网络（</a:t>
            </a:r>
            <a:r>
              <a:rPr lang="en-US" altLang="zh-CN" sz="1600" kern="1200" dirty="0">
                <a:solidFill>
                  <a:schemeClr val="tx1"/>
                </a:solidFill>
                <a:effectLst/>
                <a:latin typeface="微软雅黑" panose="020B0503020204020204" charset="-122"/>
                <a:ea typeface="微软雅黑" panose="020B0503020204020204" charset="-122"/>
                <a:cs typeface="+mn-cs"/>
              </a:rPr>
              <a:t>GCN</a:t>
            </a:r>
            <a:r>
              <a:rPr lang="zh-CN" altLang="en-US" sz="1600" kern="1200" dirty="0">
                <a:solidFill>
                  <a:schemeClr val="tx1"/>
                </a:solidFill>
                <a:effectLst/>
                <a:latin typeface="微软雅黑" panose="020B0503020204020204" charset="-122"/>
                <a:ea typeface="微软雅黑" panose="020B0503020204020204" charset="-122"/>
                <a:cs typeface="+mn-cs"/>
              </a:rPr>
              <a:t>）架构中。</a:t>
            </a:r>
            <a:r>
              <a:rPr lang="en-US" altLang="zh-CN" sz="1600" kern="1200" dirty="0">
                <a:solidFill>
                  <a:schemeClr val="tx1"/>
                </a:solidFill>
                <a:effectLst/>
                <a:latin typeface="微软雅黑" panose="020B0503020204020204" charset="-122"/>
                <a:ea typeface="微软雅黑" panose="020B0503020204020204" charset="-122"/>
                <a:cs typeface="+mn-cs"/>
              </a:rPr>
              <a:t> QFT </a:t>
            </a:r>
            <a:r>
              <a:rPr lang="zh-CN" altLang="en-US" sz="1600" kern="1200" dirty="0">
                <a:solidFill>
                  <a:schemeClr val="tx1"/>
                </a:solidFill>
                <a:effectLst/>
                <a:latin typeface="微软雅黑" panose="020B0503020204020204" charset="-122"/>
                <a:ea typeface="微软雅黑" panose="020B0503020204020204" charset="-122"/>
                <a:cs typeface="+mn-cs"/>
              </a:rPr>
              <a:t>模块的主要功能是将时序数据转换至量子空间，从而捕获对后续图卷积运算有益的频域特征。该模块通过三个基本阶段运行：振幅编码、量子傅里叶变换以及测量与后处理阶段。</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研究现状</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600" kern="1200">
                <a:solidFill>
                  <a:schemeClr val="tx1"/>
                </a:solidFill>
                <a:effectLst/>
                <a:latin typeface="微软雅黑" panose="020B0503020204020204" charset="-122"/>
                <a:ea typeface="微软雅黑" panose="020B0503020204020204" charset="-122"/>
                <a:cs typeface="+mn-cs"/>
              </a:rPr>
              <a:t>该模型的基本原理基于双层图卷积的实现，这种结构设计能够有效捕捉节点特征之间的复杂关系。通过采用两层图卷积结构，该模型能够依次通过邻接矩阵</a:t>
            </a:r>
            <a:r>
              <a:rPr lang="en-US" altLang="zh-CN" sz="1600" kern="1200">
                <a:solidFill>
                  <a:schemeClr val="tx1"/>
                </a:solidFill>
                <a:effectLst/>
                <a:latin typeface="微软雅黑" panose="020B0503020204020204" charset="-122"/>
                <a:ea typeface="微软雅黑" panose="020B0503020204020204" charset="-122"/>
                <a:cs typeface="+mn-cs"/>
              </a:rPr>
              <a:t>A(0)</a:t>
            </a:r>
            <a:r>
              <a:rPr lang="zh-CN" altLang="en-US" sz="1600" kern="1200">
                <a:solidFill>
                  <a:schemeClr val="tx1"/>
                </a:solidFill>
                <a:effectLst/>
                <a:latin typeface="微软雅黑" panose="020B0503020204020204" charset="-122"/>
                <a:ea typeface="微软雅黑" panose="020B0503020204020204" charset="-122"/>
                <a:cs typeface="+mn-cs"/>
              </a:rPr>
              <a:t>和</a:t>
            </a:r>
            <a:r>
              <a:rPr lang="en-US" altLang="zh-CN" sz="1600" kern="1200">
                <a:solidFill>
                  <a:schemeClr val="tx1"/>
                </a:solidFill>
                <a:effectLst/>
                <a:latin typeface="微软雅黑" panose="020B0503020204020204" charset="-122"/>
                <a:ea typeface="微软雅黑" panose="020B0503020204020204" charset="-122"/>
                <a:cs typeface="+mn-cs"/>
              </a:rPr>
              <a:t>A(1)</a:t>
            </a:r>
            <a:r>
              <a:rPr lang="zh-CN" altLang="en-US" sz="1600" kern="1200">
                <a:solidFill>
                  <a:schemeClr val="tx1"/>
                </a:solidFill>
                <a:effectLst/>
                <a:latin typeface="微软雅黑" panose="020B0503020204020204" charset="-122"/>
                <a:ea typeface="微软雅黑" panose="020B0503020204020204" charset="-122"/>
                <a:cs typeface="+mn-cs"/>
              </a:rPr>
              <a:t>传递节点信息。图卷积的第二层进一步传播第一层的特征，这一过程能够捕捉节点之间全局范围内的深层关系。</a:t>
            </a:r>
            <a:endParaRPr lang="en-US" altLang="zh-CN" sz="1600" kern="1200">
              <a:solidFill>
                <a:schemeClr val="tx1"/>
              </a:solidFill>
              <a:effectLst/>
              <a:latin typeface="微软雅黑" panose="020B0503020204020204" charset="-122"/>
              <a:ea typeface="微软雅黑" panose="020B0503020204020204" charset="-122"/>
              <a:cs typeface="+mn-cs"/>
            </a:endParaRPr>
          </a:p>
          <a:p>
            <a:endParaRPr lang="en-US" altLang="zh-CN" sz="1600" kern="1200">
              <a:solidFill>
                <a:schemeClr val="tx1"/>
              </a:solidFill>
              <a:effectLst/>
              <a:latin typeface="微软雅黑" panose="020B0503020204020204" charset="-122"/>
              <a:ea typeface="微软雅黑" panose="020B0503020204020204" charset="-122"/>
              <a:cs typeface="+mn-cs"/>
            </a:endParaRPr>
          </a:p>
          <a:p>
            <a:r>
              <a:rPr lang="zh-CN" altLang="en-US" sz="1600" kern="1200">
                <a:solidFill>
                  <a:schemeClr val="tx1"/>
                </a:solidFill>
                <a:effectLst/>
                <a:latin typeface="微软雅黑" panose="020B0503020204020204" charset="-122"/>
                <a:ea typeface="微软雅黑" panose="020B0503020204020204" charset="-122"/>
                <a:cs typeface="+mn-cs"/>
              </a:rPr>
              <a:t>第一层通过构建同一频段内各组件之间的图结构来关注同频域内的交互作用，从而实现对局部时间模式的精细建模；第二层则通过在高频与低频子图之间建立信息传递机制来捕捉跨频域关联，进而整合全局上下文信息。节点表示通过注意力加权聚合和残差连接进行优化，使模型能够以频率感知的方式有效编码局部与全局依赖关系。</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effectLst/>
                <a:sym typeface="+mn-ea"/>
              </a:rPr>
              <a:t>所提出的基于双层注意力机制的图卷积模块架构如图</a:t>
            </a:r>
            <a:r>
              <a:rPr lang="en-US" altLang="zh-CN" dirty="0">
                <a:effectLst/>
                <a:sym typeface="+mn-ea"/>
              </a:rPr>
              <a:t>1</a:t>
            </a:r>
            <a:r>
              <a:rPr lang="zh-CN" altLang="en-US" dirty="0">
                <a:effectLst/>
                <a:sym typeface="+mn-ea"/>
              </a:rPr>
              <a:t>所示。</a:t>
            </a:r>
            <a:r>
              <a:rPr lang="en-US" altLang="zh-CN" dirty="0">
                <a:effectLst/>
                <a:sym typeface="+mn-ea"/>
              </a:rPr>
              <a:t>D-PAD</a:t>
            </a:r>
            <a:r>
              <a:rPr lang="zh-CN" altLang="en-US" dirty="0">
                <a:effectLst/>
                <a:sym typeface="+mn-ea"/>
              </a:rPr>
              <a:t>模块由两个级联的图注意力层组成，旨在建模频域中的层次化依赖关系。第一层通过在同频段内组件之间构建图结构来关注同频交互，从而实现对局部时间模式的精细建模；第二层则通过在高频与低频子图之间建立信息传递机制来捕捉跨频关系，进而整合全局上下文信息。节点表示通过注意力加权聚合和残差连接进行优化，使模型能够以频率感知的方式有效编码局部与全局依赖关系。</a:t>
            </a:r>
            <a:endParaRPr lang="zh-CN" altLang="en-US" kern="1200" dirty="0">
              <a:solidFill>
                <a:schemeClr val="tx1"/>
              </a:solidFill>
              <a:effectLst/>
              <a:latin typeface="微软雅黑" panose="020B0503020204020204" charset="-122"/>
              <a:ea typeface="微软雅黑" panose="020B0503020204020204" charset="-122"/>
              <a:cs typeface="+mn-cs"/>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br>
              <a:rPr lang="zh-CN" altLang="en-US"/>
            </a:br>
            <a:r>
              <a:rPr lang="zh-CN" altLang="en-US"/>
              <a:t>我们针对五个常用的长期预测基准数据集（天气、交通、电力及 </a:t>
            </a:r>
            <a:r>
              <a:rPr lang="en-US" altLang="zh-CN"/>
              <a:t>ETT </a:t>
            </a:r>
            <a:r>
              <a:rPr lang="zh-CN" altLang="en-US"/>
              <a:t>数据集；其中 </a:t>
            </a:r>
            <a:r>
              <a:rPr lang="en-US" altLang="zh-CN"/>
              <a:t>ETT </a:t>
            </a:r>
            <a:r>
              <a:rPr lang="zh-CN" altLang="en-US"/>
              <a:t>数据集选用 </a:t>
            </a:r>
            <a:r>
              <a:rPr lang="en-US" altLang="zh-CN"/>
              <a:t>ETT h1</a:t>
            </a:r>
            <a:r>
              <a:rPr lang="zh-CN" altLang="en-US"/>
              <a:t>和 </a:t>
            </a:r>
            <a:r>
              <a:rPr lang="en-US" altLang="zh-CN"/>
              <a:t>ETT m1</a:t>
            </a:r>
            <a:r>
              <a:rPr lang="zh-CN" altLang="en-US"/>
              <a:t>）评估了所提出的</a:t>
            </a:r>
            <a:r>
              <a:rPr lang="en-US" altLang="zh-CN"/>
              <a:t>QFreqFormer</a:t>
            </a:r>
            <a:r>
              <a:rPr lang="zh-CN" altLang="en-US"/>
              <a:t>模型性能。需注意，</a:t>
            </a:r>
            <a:r>
              <a:rPr lang="en-US" altLang="zh-CN"/>
              <a:t>ETTh1</a:t>
            </a:r>
            <a:r>
              <a:rPr lang="zh-CN" altLang="en-US"/>
              <a:t>数据集相较于其他数据集规模较小，而</a:t>
            </a:r>
            <a:r>
              <a:rPr lang="en-US" altLang="zh-CN"/>
              <a:t>ETTm1</a:t>
            </a:r>
            <a:r>
              <a:rPr lang="zh-CN" altLang="en-US"/>
              <a:t>和</a:t>
            </a:r>
            <a:r>
              <a:rPr lang="en-US" altLang="zh-CN"/>
              <a:t>weather</a:t>
            </a:r>
            <a:r>
              <a:rPr lang="zh-CN" altLang="en-US"/>
              <a:t>数据集则属于中等规模；交通与电力数据集分别包含超过</a:t>
            </a:r>
            <a:r>
              <a:rPr lang="en-US" altLang="zh-CN"/>
              <a:t>800</a:t>
            </a:r>
            <a:r>
              <a:rPr lang="zh-CN" altLang="en-US"/>
              <a:t>个和</a:t>
            </a:r>
            <a:r>
              <a:rPr lang="en-US" altLang="zh-CN"/>
              <a:t>300</a:t>
            </a:r>
            <a:r>
              <a:rPr lang="zh-CN" altLang="en-US"/>
              <a:t>个变量，每个数据集均包含数万个时间点，属于大规模数据集。</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br>
              <a:rPr lang="zh-CN" altLang="en-US"/>
            </a:b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br>
              <a:rPr lang="zh-CN" altLang="en-US" dirty="0"/>
            </a:br>
            <a:r>
              <a:rPr lang="zh-CN" altLang="en-US" dirty="0"/>
              <a:t>首先，我们研究了一个模型，该模型具有</a:t>
            </a:r>
            <a:r>
              <a:rPr lang="en-US" altLang="zh-CN" dirty="0"/>
              <a:t>700</a:t>
            </a:r>
            <a:r>
              <a:rPr lang="zh-CN" altLang="en-US" dirty="0"/>
              <a:t>万个可训练参数，用于区分</a:t>
            </a:r>
            <a:r>
              <a:rPr lang="en-US" altLang="zh-CN" dirty="0"/>
              <a:t>100</a:t>
            </a:r>
            <a:r>
              <a:rPr lang="zh-CN" altLang="en-US" dirty="0"/>
              <a:t>个类别的图像。为了获得稀疏输出模型，我们在稀疏训练过程中记录了</a:t>
            </a:r>
            <a:r>
              <a:rPr lang="en-US" altLang="zh-CN" dirty="0"/>
              <a:t>Hessian</a:t>
            </a:r>
            <a:r>
              <a:rPr lang="zh-CN" altLang="en-US" dirty="0"/>
              <a:t>谱，这使我们能够跟踪与误差界相关量的演变，由式</a:t>
            </a:r>
            <a:r>
              <a:rPr lang="en-US" altLang="zh-CN" dirty="0"/>
              <a:t>(7)</a:t>
            </a:r>
            <a:r>
              <a:rPr lang="zh-CN" altLang="en-US" dirty="0"/>
              <a:t>给出。公式</a:t>
            </a:r>
            <a:r>
              <a:rPr lang="en-US" altLang="zh-CN" dirty="0"/>
              <a:t>8</a:t>
            </a:r>
            <a:r>
              <a:rPr lang="zh-CN" altLang="en-US" dirty="0"/>
              <a:t>通过丢弃小幅度的</a:t>
            </a:r>
            <a:r>
              <a:rPr lang="en-US" altLang="zh-CN" dirty="0"/>
              <a:t>Hessian</a:t>
            </a:r>
            <a:r>
              <a:rPr lang="zh-CN" altLang="en-US" dirty="0"/>
              <a:t>特征值（</a:t>
            </a:r>
            <a:r>
              <a:rPr lang="en-US" altLang="zh-CN" dirty="0"/>
              <a:t>-0.4—0.4</a:t>
            </a:r>
            <a:r>
              <a:rPr lang="zh-CN" altLang="en-US" dirty="0"/>
              <a:t>之间），因为它们接近</a:t>
            </a:r>
            <a:r>
              <a:rPr lang="en-US" altLang="zh-CN" dirty="0"/>
              <a:t>0</a:t>
            </a:r>
            <a:r>
              <a:rPr lang="zh-CN" altLang="en-US" dirty="0"/>
              <a:t>，防止</a:t>
            </a:r>
            <a:r>
              <a:rPr lang="en-US" altLang="zh-CN" dirty="0"/>
              <a:t>Hessian</a:t>
            </a:r>
            <a:r>
              <a:rPr lang="zh-CN" altLang="en-US" dirty="0"/>
              <a:t>谱出现奇异情况。</a:t>
            </a:r>
            <a:endParaRPr lang="en-US" altLang="zh-CN" dirty="0"/>
          </a:p>
          <a:p>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effectLst/>
                <a:latin typeface="-apple-system"/>
              </a:rPr>
              <a:t>图</a:t>
            </a:r>
            <a:r>
              <a:rPr lang="en-US" altLang="zh-CN" b="0" i="0" dirty="0">
                <a:effectLst/>
                <a:latin typeface="-apple-system"/>
              </a:rPr>
              <a:t>2(a)</a:t>
            </a:r>
            <a:r>
              <a:rPr lang="zh-CN" altLang="en-US" b="0" i="0" dirty="0">
                <a:effectLst/>
                <a:latin typeface="-apple-system"/>
              </a:rPr>
              <a:t>展示了</a:t>
            </a:r>
            <a:r>
              <a:rPr lang="en-US" altLang="zh-CN" b="0" i="0" dirty="0" err="1">
                <a:effectLst/>
                <a:latin typeface="-apple-system"/>
              </a:rPr>
              <a:t>ResNet</a:t>
            </a:r>
            <a:r>
              <a:rPr lang="zh-CN" altLang="en-US" b="0" i="0" dirty="0">
                <a:effectLst/>
                <a:latin typeface="-apple-system"/>
              </a:rPr>
              <a:t>模型在训练过程中的</a:t>
            </a:r>
            <a:r>
              <a:rPr lang="en-US" altLang="zh-CN" b="0" i="0" dirty="0">
                <a:effectLst/>
                <a:latin typeface="-apple-system"/>
              </a:rPr>
              <a:t>Hessian</a:t>
            </a:r>
            <a:r>
              <a:rPr lang="zh-CN" altLang="en-US" b="0" i="0" dirty="0">
                <a:effectLst/>
                <a:latin typeface="-apple-system"/>
              </a:rPr>
              <a:t>矩阵的特征值分布（即</a:t>
            </a:r>
            <a:r>
              <a:rPr lang="en-US" altLang="zh-CN" b="0" i="0" dirty="0">
                <a:effectLst/>
                <a:latin typeface="-apple-system"/>
              </a:rPr>
              <a:t>Hessian</a:t>
            </a:r>
            <a:r>
              <a:rPr lang="zh-CN" altLang="en-US" b="0" i="0" dirty="0">
                <a:effectLst/>
                <a:latin typeface="-apple-system"/>
              </a:rPr>
              <a:t>光谱）。</a:t>
            </a:r>
            <a:r>
              <a:rPr lang="en-US" altLang="zh-CN" b="0" i="0" dirty="0">
                <a:effectLst/>
                <a:latin typeface="-apple-system"/>
              </a:rPr>
              <a:t>Hessian</a:t>
            </a:r>
            <a:r>
              <a:rPr lang="zh-CN" altLang="en-US" b="0" i="0" dirty="0">
                <a:effectLst/>
                <a:latin typeface="-apple-system"/>
              </a:rPr>
              <a:t>矩阵的特征值反映了损失函数在权重空间的曲率信息。</a:t>
            </a:r>
            <a:r>
              <a:rPr lang="zh-CN" altLang="en-US" b="0" i="0" dirty="0">
                <a:effectLst/>
                <a:latin typeface="inherit"/>
              </a:rPr>
              <a:t>训练初期，</a:t>
            </a:r>
            <a:r>
              <a:rPr lang="en-US" altLang="zh-CN" b="0" i="0" dirty="0">
                <a:effectLst/>
                <a:latin typeface="inherit"/>
              </a:rPr>
              <a:t>Hessian</a:t>
            </a:r>
            <a:r>
              <a:rPr lang="zh-CN" altLang="en-US" b="0" i="0" dirty="0">
                <a:effectLst/>
                <a:latin typeface="inherit"/>
              </a:rPr>
              <a:t>矩阵的特征值分布显示出较多的正特征值（耗散模式），这表明系统具有耗散性，有利于量子算法的应用。</a:t>
            </a:r>
            <a:r>
              <a:rPr lang="zh-CN" altLang="en-US" b="0" i="0" dirty="0">
                <a:effectLst/>
                <a:latin typeface="-apple-system"/>
              </a:rPr>
              <a:t>耗散性确保了线性化误差可以被很好地控制。</a:t>
            </a:r>
            <a:endParaRPr lang="zh-CN" altLang="en-US" b="0" i="0" dirty="0">
              <a:effectLst/>
              <a:latin typeface="inherit"/>
            </a:endParaRPr>
          </a:p>
          <a:p>
            <a:endParaRPr lang="en-US" altLang="zh-CN" sz="1600" kern="1200" dirty="0">
              <a:solidFill>
                <a:schemeClr val="tx1"/>
              </a:solidFill>
              <a:effectLst/>
              <a:latin typeface="微软雅黑" panose="020B0503020204020204" charset="-122"/>
              <a:ea typeface="微软雅黑" panose="020B0503020204020204" charset="-122"/>
              <a:cs typeface="+mn-cs"/>
            </a:endParaRPr>
          </a:p>
          <a:p>
            <a:r>
              <a:rPr lang="zh-CN" altLang="en-US" b="0" i="0" dirty="0">
                <a:effectLst/>
                <a:latin typeface="-apple-system"/>
              </a:rPr>
              <a:t>图</a:t>
            </a:r>
            <a:r>
              <a:rPr lang="en-US" altLang="zh-CN" b="0" i="0" dirty="0">
                <a:effectLst/>
                <a:latin typeface="-apple-system"/>
              </a:rPr>
              <a:t>2(b)</a:t>
            </a:r>
            <a:r>
              <a:rPr lang="zh-CN" altLang="en-US" b="0" i="0" dirty="0">
                <a:effectLst/>
                <a:latin typeface="-apple-system"/>
              </a:rPr>
              <a:t>展示了训练过程中误差代理（</a:t>
            </a:r>
            <a:r>
              <a:rPr lang="en-US" altLang="zh-CN" b="0" i="0" dirty="0">
                <a:effectLst/>
                <a:latin typeface="-apple-system"/>
              </a:rPr>
              <a:t>error proxy</a:t>
            </a:r>
            <a:r>
              <a:rPr lang="zh-CN" altLang="en-US" b="0" i="0" dirty="0">
                <a:effectLst/>
                <a:latin typeface="-apple-system"/>
              </a:rPr>
              <a:t>）的变化情况。误差代理是基于</a:t>
            </a:r>
            <a:r>
              <a:rPr lang="en-US" altLang="zh-CN" b="0" i="0" dirty="0">
                <a:effectLst/>
                <a:latin typeface="-apple-system"/>
              </a:rPr>
              <a:t>Hessian</a:t>
            </a:r>
            <a:r>
              <a:rPr lang="zh-CN" altLang="en-US" b="0" i="0" dirty="0">
                <a:effectLst/>
                <a:latin typeface="-apple-system"/>
              </a:rPr>
              <a:t>矩阵的特征值计算的一个量，用于估计训练误差的</a:t>
            </a:r>
            <a:r>
              <a:rPr lang="zh-CN" altLang="en-US" b="0" i="0">
                <a:effectLst/>
                <a:latin typeface="-apple-system"/>
              </a:rPr>
              <a:t>增长。并发现量子算法有可能在学习初期实现量子加速（紫色区域）。</a:t>
            </a:r>
            <a:endParaRPr lang="en-US" altLang="zh-CN" sz="1600" b="0" i="0" kern="1200" dirty="0">
              <a:solidFill>
                <a:schemeClr val="tx1"/>
              </a:solidFill>
              <a:effectLst/>
              <a:latin typeface="微软雅黑" panose="020B0503020204020204" charset="-122"/>
              <a:ea typeface="微软雅黑" panose="020B0503020204020204" charset="-122"/>
              <a:cs typeface="+mn-cs"/>
            </a:endParaRPr>
          </a:p>
          <a:p>
            <a:endParaRPr lang="en-US" altLang="zh-CN" sz="1600" b="0" i="0" kern="1200" dirty="0">
              <a:solidFill>
                <a:schemeClr val="tx1"/>
              </a:solidFill>
              <a:effectLst/>
              <a:latin typeface="微软雅黑" panose="020B0503020204020204" charset="-122"/>
              <a:ea typeface="微软雅黑" panose="020B0503020204020204" charset="-122"/>
              <a:cs typeface="+mn-cs"/>
            </a:endParaRPr>
          </a:p>
          <a:p>
            <a:pPr algn="l" fontAlgn="base">
              <a:lnSpc>
                <a:spcPts val="1950"/>
              </a:lnSpc>
              <a:spcAft>
                <a:spcPts val="900"/>
              </a:spcAft>
              <a:buFont typeface="Arial" panose="020B0604020202020204" pitchFamily="34" charset="0"/>
              <a:buChar char="•"/>
            </a:pPr>
            <a:r>
              <a:rPr lang="zh-CN" altLang="en-US" b="0" i="0" dirty="0">
                <a:effectLst/>
                <a:latin typeface="-apple-system"/>
              </a:rPr>
              <a:t>图</a:t>
            </a:r>
            <a:r>
              <a:rPr lang="en-US" altLang="zh-CN" b="0" i="0" dirty="0">
                <a:effectLst/>
                <a:latin typeface="-apple-system"/>
              </a:rPr>
              <a:t>2(c)</a:t>
            </a:r>
            <a:r>
              <a:rPr lang="zh-CN" altLang="en-US" b="0" i="0" dirty="0">
                <a:effectLst/>
                <a:latin typeface="-apple-system"/>
              </a:rPr>
              <a:t>展示了训练过程中模型训练准确率的变化情况。</a:t>
            </a:r>
            <a:r>
              <a:rPr lang="zh-CN" altLang="en-US" b="0" i="0" dirty="0">
                <a:effectLst/>
                <a:latin typeface="inherit"/>
              </a:rPr>
              <a:t>训练初期，准确率逐渐提高，表明模型在学习并改进其预测能力。</a:t>
            </a:r>
            <a:r>
              <a:rPr lang="zh-CN" altLang="en-US" b="0" i="0" dirty="0">
                <a:effectLst/>
                <a:latin typeface="-apple-system"/>
              </a:rPr>
              <a:t>随着训练的进行，准确率在达到峰值后可能会有所下降，这与误差代理的指数增长相对应。</a:t>
            </a:r>
            <a:endParaRPr lang="zh-CN" altLang="en-US" b="0" i="0" dirty="0">
              <a:effectLst/>
              <a:latin typeface="inherit"/>
            </a:endParaRPr>
          </a:p>
          <a:p>
            <a:pPr>
              <a:buNone/>
            </a:pPr>
            <a:r>
              <a:rPr lang="zh-CN" altLang="en-US" b="0" i="0" dirty="0">
                <a:effectLst/>
                <a:latin typeface="-apple-system"/>
              </a:rPr>
              <a:t>图</a:t>
            </a:r>
            <a:r>
              <a:rPr lang="en-US" altLang="zh-CN" b="0" i="0" dirty="0">
                <a:effectLst/>
                <a:latin typeface="-apple-system"/>
              </a:rPr>
              <a:t>2</a:t>
            </a:r>
            <a:r>
              <a:rPr lang="zh-CN" altLang="en-US" b="0" i="0" dirty="0">
                <a:effectLst/>
                <a:latin typeface="-apple-system"/>
              </a:rPr>
              <a:t>表明在训练的早期阶段，模型具有较强的耗散性，此时误差代理较小且准确率在提高，是应用量子增强的最佳时机。这个阶段量子算法可以有效地处理训练问题。</a:t>
            </a:r>
            <a:br>
              <a:rPr lang="zh-CN" altLang="en-US"/>
            </a:br>
            <a:r>
              <a:rPr lang="zh-CN" altLang="en-US"/>
              <a:t>图</a:t>
            </a:r>
            <a:r>
              <a:rPr lang="en-US" altLang="zh-CN"/>
              <a:t>3</a:t>
            </a:r>
            <a:r>
              <a:rPr lang="zh-CN" altLang="en-US"/>
              <a:t>为对数曲线图，衡量了增长过程的指数变化规律。</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br>
              <a:rPr lang="zh-CN" altLang="en-US"/>
            </a:br>
            <a:r>
              <a:rPr lang="zh-CN" altLang="en-US"/>
              <a:t>仅使用传统傅里叶变换的模型性能显著逊于那些结合量子增强特征提取方法（仅 </a:t>
            </a:r>
            <a:r>
              <a:rPr lang="en-US" altLang="zh-CN"/>
              <a:t>QFT </a:t>
            </a:r>
            <a:r>
              <a:rPr lang="zh-CN" altLang="en-US"/>
              <a:t>、仅</a:t>
            </a:r>
            <a:r>
              <a:rPr lang="en-US" altLang="zh-CN"/>
              <a:t>Q-FR-Q</a:t>
            </a:r>
            <a:r>
              <a:rPr lang="zh-CN" altLang="en-US"/>
              <a:t>及仅</a:t>
            </a:r>
            <a:r>
              <a:rPr lang="en-US" altLang="zh-CN"/>
              <a:t>GAN</a:t>
            </a:r>
            <a:r>
              <a:rPr lang="zh-CN" altLang="en-US"/>
              <a:t>）的模型。具体而言，加入 </a:t>
            </a:r>
            <a:r>
              <a:rPr lang="en-US" altLang="zh-CN"/>
              <a:t>QFT </a:t>
            </a:r>
            <a:r>
              <a:rPr lang="zh-CN" altLang="en-US"/>
              <a:t>模块（仅 </a:t>
            </a:r>
            <a:r>
              <a:rPr lang="en-US" altLang="zh-CN"/>
              <a:t>QFT</a:t>
            </a:r>
            <a:r>
              <a:rPr lang="zh-CN" altLang="en-US"/>
              <a:t>）可显著提升 </a:t>
            </a:r>
            <a:r>
              <a:rPr lang="en-US" altLang="zh-CN"/>
              <a:t>MSE </a:t>
            </a:r>
            <a:r>
              <a:rPr lang="zh-CN" altLang="en-US"/>
              <a:t>和</a:t>
            </a:r>
            <a:r>
              <a:rPr lang="en-US" altLang="zh-CN"/>
              <a:t>MAE</a:t>
            </a:r>
            <a:r>
              <a:rPr lang="zh-CN" altLang="en-US"/>
              <a:t>指标，充分体现了量子傅里叶变换在提取频域特征方面的优势</a:t>
            </a:r>
            <a:r>
              <a:rPr lang="en-US" altLang="zh-CN"/>
              <a:t>——</a:t>
            </a:r>
            <a:r>
              <a:rPr lang="zh-CN" altLang="en-US"/>
              <a:t>尤其擅长捕捉时间序列数据中固有的多频率模式。 </a:t>
            </a:r>
            <a:r>
              <a:rPr lang="en-US" altLang="zh-CN"/>
              <a:t>QFT </a:t>
            </a:r>
            <a:r>
              <a:rPr lang="zh-CN" altLang="en-US"/>
              <a:t>与</a:t>
            </a:r>
            <a:r>
              <a:rPr lang="en-US" altLang="zh-CN"/>
              <a:t>Q-FR-Q</a:t>
            </a:r>
            <a:r>
              <a:rPr lang="zh-CN" altLang="en-US"/>
              <a:t>的组合方案表现优于单独使用 </a:t>
            </a:r>
            <a:r>
              <a:rPr lang="en-US" altLang="zh-CN"/>
              <a:t>QFT </a:t>
            </a:r>
            <a:r>
              <a:rPr lang="zh-CN" altLang="en-US"/>
              <a:t>的方法，尤其在交通流量和电力消耗等具有复杂频率特征的数据集中更为明显。通过高效分离高频与低频成分，显著提升了模型捕捉复杂时序模式的能力。</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a:t>我们采用两种广泛使用的统计方法：配对</a:t>
            </a:r>
            <a:r>
              <a:rPr lang="en-US" altLang="zh-CN"/>
              <a:t>t</a:t>
            </a:r>
            <a:r>
              <a:rPr lang="zh-CN" altLang="en-US"/>
              <a:t>检验和</a:t>
            </a:r>
            <a:r>
              <a:rPr lang="en-US" altLang="zh-CN"/>
              <a:t>Wilcoxon</a:t>
            </a:r>
            <a:r>
              <a:rPr lang="zh-CN" altLang="en-US"/>
              <a:t>符号秩检验，用于评估</a:t>
            </a:r>
            <a:r>
              <a:rPr lang="en-US" altLang="zh-CN"/>
              <a:t>QFreqFormer</a:t>
            </a:r>
            <a:r>
              <a:rPr lang="zh-CN" altLang="en-US"/>
              <a:t>模型与基线模型之间的性能差异是否具有统计学显著性。配对</a:t>
            </a:r>
            <a:r>
              <a:rPr lang="en-US" altLang="zh-CN"/>
              <a:t>t</a:t>
            </a:r>
            <a:r>
              <a:rPr lang="zh-CN" altLang="en-US"/>
              <a:t>检验适用于正态分布的配对差异；而</a:t>
            </a:r>
            <a:r>
              <a:rPr lang="en-US" altLang="zh-CN"/>
              <a:t>Wilcoxon</a:t>
            </a:r>
            <a:r>
              <a:rPr lang="zh-CN" altLang="en-US"/>
              <a:t>检验则在无法假设数据服从正态分布时作为稳健的非参数替代方法。我们针对每个模型使用不同的随机种子进行了</a:t>
            </a:r>
            <a:r>
              <a:rPr lang="en-US" altLang="zh-CN"/>
              <a:t>10</a:t>
            </a:r>
            <a:r>
              <a:rPr lang="zh-CN" altLang="en-US"/>
              <a:t>次独立训练，重点考察</a:t>
            </a:r>
            <a:r>
              <a:rPr lang="en-US" altLang="zh-CN"/>
              <a:t>336</a:t>
            </a:r>
            <a:r>
              <a:rPr lang="zh-CN" altLang="en-US"/>
              <a:t>步预测范围内的性能表现。将</a:t>
            </a:r>
            <a:r>
              <a:rPr lang="en-US" altLang="zh-CN"/>
              <a:t>QFreqFormer</a:t>
            </a:r>
            <a:r>
              <a:rPr lang="zh-CN" altLang="en-US"/>
              <a:t>的</a:t>
            </a:r>
            <a:r>
              <a:rPr lang="en-US" altLang="zh-CN"/>
              <a:t>MAE</a:t>
            </a:r>
            <a:r>
              <a:rPr lang="zh-CN" altLang="en-US"/>
              <a:t>和 </a:t>
            </a:r>
            <a:r>
              <a:rPr lang="en-US" altLang="zh-CN"/>
              <a:t>MSE </a:t>
            </a:r>
            <a:r>
              <a:rPr lang="zh-CN" altLang="en-US"/>
              <a:t>值与五种主流基线模型（</a:t>
            </a:r>
            <a:r>
              <a:rPr lang="en-US" altLang="zh-CN"/>
              <a:t>PatchTST</a:t>
            </a:r>
            <a:r>
              <a:rPr lang="zh-CN" altLang="en-US"/>
              <a:t>、</a:t>
            </a:r>
            <a:r>
              <a:rPr lang="en-US" altLang="zh-CN"/>
              <a:t>DLinear</a:t>
            </a:r>
            <a:r>
              <a:rPr lang="zh-CN" altLang="en-US"/>
              <a:t>、</a:t>
            </a:r>
            <a:r>
              <a:rPr lang="en-US" altLang="zh-CN"/>
              <a:t>Informer</a:t>
            </a:r>
            <a:r>
              <a:rPr lang="zh-CN" altLang="en-US"/>
              <a:t>、</a:t>
            </a:r>
            <a:r>
              <a:rPr lang="en-US" altLang="zh-CN"/>
              <a:t>FEDformer</a:t>
            </a:r>
            <a:r>
              <a:rPr lang="zh-CN" altLang="en-US"/>
              <a:t>及</a:t>
            </a:r>
            <a:r>
              <a:rPr lang="en-US" altLang="zh-CN"/>
              <a:t>Autoformer</a:t>
            </a:r>
            <a:r>
              <a:rPr lang="zh-CN" altLang="en-US"/>
              <a:t>）的结果进行对比，所得</a:t>
            </a:r>
            <a:r>
              <a:rPr lang="en-US" altLang="zh-CN"/>
              <a:t>p</a:t>
            </a:r>
            <a:r>
              <a:rPr lang="zh-CN" altLang="en-US"/>
              <a:t>值列于表</a:t>
            </a:r>
            <a:r>
              <a:rPr lang="en-US" altLang="zh-CN"/>
              <a:t>6</a:t>
            </a:r>
            <a:r>
              <a:rPr lang="zh-CN" altLang="en-US"/>
              <a:t>中。所有</a:t>
            </a:r>
            <a:r>
              <a:rPr lang="en-US" altLang="zh-CN"/>
              <a:t>p</a:t>
            </a:r>
            <a:r>
              <a:rPr lang="zh-CN" altLang="en-US"/>
              <a:t>值均低于常用的</a:t>
            </a:r>
            <a:r>
              <a:rPr lang="en-US" altLang="zh-CN"/>
              <a:t>0.05</a:t>
            </a:r>
            <a:r>
              <a:rPr lang="zh-CN" altLang="en-US"/>
              <a:t>阈值，表明</a:t>
            </a:r>
            <a:r>
              <a:rPr lang="en-US" altLang="zh-CN"/>
              <a:t>QFreqFormer</a:t>
            </a:r>
            <a:r>
              <a:rPr lang="zh-CN" altLang="en-US"/>
              <a:t>带来的性能提升具有统计学显著性，这证实了我们提出的量子增强架构在多次实验中均具备稳健性和有效性。</a:t>
            </a:r>
            <a:br>
              <a:rPr lang="zh-CN" altLang="en-US"/>
            </a:b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a:t>为评估</a:t>
            </a:r>
            <a:r>
              <a:rPr lang="en-US" altLang="zh-CN"/>
              <a:t>QFreqFormer</a:t>
            </a:r>
            <a:r>
              <a:rPr lang="zh-CN" altLang="en-US"/>
              <a:t>的实际部署可行性，我们对其计算效率和内存消耗进行了详细分析。本文在统一硬件配置下开展实验，采用单块 </a:t>
            </a:r>
            <a:r>
              <a:rPr lang="en-US" altLang="zh-CN"/>
              <a:t>NVIDIA RTX 3080Ti</a:t>
            </a:r>
            <a:r>
              <a:rPr lang="zh-CN" altLang="en-US"/>
              <a:t>（</a:t>
            </a:r>
            <a:r>
              <a:rPr lang="en-US" altLang="zh-CN"/>
              <a:t>12GB</a:t>
            </a:r>
            <a:r>
              <a:rPr lang="zh-CN" altLang="en-US"/>
              <a:t>显存）和</a:t>
            </a:r>
            <a:r>
              <a:rPr lang="en-US" altLang="zh-CN"/>
              <a:t>IntelCorei9-13900K</a:t>
            </a:r>
            <a:r>
              <a:rPr lang="zh-CN" altLang="en-US"/>
              <a:t>处理器，输入长度</a:t>
            </a:r>
            <a:r>
              <a:rPr lang="en-US" altLang="zh-CN"/>
              <a:t>H=336</a:t>
            </a:r>
            <a:r>
              <a:rPr lang="zh-CN" altLang="en-US"/>
              <a:t>、批量大小为</a:t>
            </a:r>
            <a:r>
              <a:rPr lang="en-US" altLang="zh-CN"/>
              <a:t>32</a:t>
            </a:r>
            <a:r>
              <a:rPr lang="zh-CN" altLang="en-US"/>
              <a:t>。报告了三项关键指标，并与五种代表性基线方法（</a:t>
            </a:r>
            <a:r>
              <a:rPr lang="en-US" altLang="zh-CN"/>
              <a:t>DLinear</a:t>
            </a:r>
            <a:r>
              <a:rPr lang="zh-CN" altLang="en-US"/>
              <a:t>、</a:t>
            </a:r>
            <a:r>
              <a:rPr lang="en-US" altLang="zh-CN"/>
              <a:t>PatchTST</a:t>
            </a:r>
            <a:r>
              <a:rPr lang="zh-CN" altLang="en-US"/>
              <a:t>、</a:t>
            </a:r>
            <a:r>
              <a:rPr lang="en-US" altLang="zh-CN"/>
              <a:t>Informer</a:t>
            </a:r>
            <a:r>
              <a:rPr lang="zh-CN" altLang="en-US"/>
              <a:t>、</a:t>
            </a:r>
            <a:r>
              <a:rPr lang="en-US" altLang="zh-CN"/>
              <a:t>FEDformer</a:t>
            </a:r>
            <a:r>
              <a:rPr lang="zh-CN" altLang="en-US"/>
              <a:t>及</a:t>
            </a:r>
            <a:r>
              <a:rPr lang="en-US" altLang="zh-CN"/>
              <a:t>Autoformer</a:t>
            </a:r>
            <a:r>
              <a:rPr lang="zh-CN" altLang="en-US"/>
              <a:t>）进行对比：每轮训练的平均耗时（秒）、每个样本的推理延迟（毫秒）以及</a:t>
            </a:r>
            <a:r>
              <a:rPr lang="en-US" altLang="zh-CN"/>
              <a:t>GPU</a:t>
            </a:r>
            <a:r>
              <a:rPr lang="zh-CN" altLang="en-US"/>
              <a:t>峰值内存占用量（</a:t>
            </a:r>
            <a:r>
              <a:rPr lang="en-US" altLang="zh-CN"/>
              <a:t>GB</a:t>
            </a:r>
            <a:r>
              <a:rPr lang="zh-CN" altLang="en-US"/>
              <a:t>）。</a:t>
            </a:r>
            <a:endParaRPr lang="en-US" altLang="zh-CN"/>
          </a:p>
          <a:p>
            <a:endParaRPr lang="en-US" altLang="zh-CN"/>
          </a:p>
          <a:p>
            <a:r>
              <a:rPr lang="zh-CN" altLang="en-US"/>
              <a:t>如表</a:t>
            </a:r>
            <a:r>
              <a:rPr lang="en-US" altLang="zh-CN"/>
              <a:t>7</a:t>
            </a:r>
            <a:r>
              <a:rPr lang="zh-CN" altLang="en-US"/>
              <a:t>所示，</a:t>
            </a:r>
            <a:r>
              <a:rPr lang="en-US" altLang="zh-CN"/>
              <a:t>QFreqFormer</a:t>
            </a:r>
            <a:r>
              <a:rPr lang="zh-CN" altLang="en-US"/>
              <a:t>模型的计算开销适中（</a:t>
            </a:r>
            <a:r>
              <a:rPr lang="en-US" altLang="zh-CN"/>
              <a:t>23.4</a:t>
            </a:r>
            <a:r>
              <a:rPr lang="zh-CN" altLang="en-US"/>
              <a:t>秒</a:t>
            </a:r>
            <a:r>
              <a:rPr lang="en-US" altLang="zh-CN"/>
              <a:t>/0.68</a:t>
            </a:r>
            <a:r>
              <a:rPr lang="zh-CN" altLang="en-US"/>
              <a:t>毫秒</a:t>
            </a:r>
            <a:r>
              <a:rPr lang="en-US" altLang="zh-CN"/>
              <a:t>/3.5GB</a:t>
            </a:r>
            <a:r>
              <a:rPr lang="zh-CN" altLang="en-US"/>
              <a:t>），虽略高于</a:t>
            </a:r>
            <a:r>
              <a:rPr lang="en-US" altLang="zh-CN"/>
              <a:t>DLinear</a:t>
            </a:r>
            <a:r>
              <a:rPr lang="zh-CN" altLang="en-US"/>
              <a:t>等轻量级模型，但相较于</a:t>
            </a:r>
            <a:r>
              <a:rPr lang="en-US" altLang="zh-CN"/>
              <a:t>Informer</a:t>
            </a:r>
            <a:r>
              <a:rPr lang="zh-CN" altLang="en-US"/>
              <a:t>、</a:t>
            </a:r>
            <a:r>
              <a:rPr lang="en-US" altLang="zh-CN"/>
              <a:t>FEDformer</a:t>
            </a:r>
            <a:r>
              <a:rPr lang="zh-CN" altLang="en-US"/>
              <a:t>和</a:t>
            </a:r>
            <a:r>
              <a:rPr lang="en-US" altLang="zh-CN"/>
              <a:t>Autoformer</a:t>
            </a:r>
            <a:r>
              <a:rPr lang="zh-CN" altLang="en-US"/>
              <a:t>等基于注意力机制的基线模型则显著更高效。这表明尽管</a:t>
            </a:r>
            <a:r>
              <a:rPr lang="en-US" altLang="zh-CN"/>
              <a:t>QFreqFormer</a:t>
            </a:r>
            <a:r>
              <a:rPr lang="zh-CN" altLang="en-US"/>
              <a:t>引入了额外的复杂性，其仍具备可计算处理能力。需要特别指出的是，这些效率指标应结合</a:t>
            </a:r>
            <a:r>
              <a:rPr lang="en-US" altLang="zh-CN"/>
              <a:t>QFreqFormer</a:t>
            </a:r>
            <a:r>
              <a:rPr lang="zh-CN" altLang="en-US"/>
              <a:t>始终优异的预测精度来解读。此外，该模型完全采用向量化</a:t>
            </a:r>
            <a:r>
              <a:rPr lang="en-US" altLang="zh-CN"/>
              <a:t>PyTorch</a:t>
            </a:r>
            <a:r>
              <a:rPr lang="zh-CN" altLang="en-US"/>
              <a:t>操作实现，支持高效的</a:t>
            </a:r>
            <a:r>
              <a:rPr lang="en-US" altLang="zh-CN"/>
              <a:t>GPU</a:t>
            </a:r>
            <a:r>
              <a:rPr lang="zh-CN" altLang="en-US"/>
              <a:t>加速并具备良好的扩展性。</a:t>
            </a:r>
            <a:br>
              <a:rPr lang="zh-CN" altLang="en-US"/>
            </a:b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sz="1600" kern="1200" dirty="0">
                <a:solidFill>
                  <a:schemeClr val="tx1"/>
                </a:solidFill>
                <a:effectLst/>
                <a:latin typeface="微软雅黑" panose="020B0503020204020204" charset="-122"/>
                <a:ea typeface="微软雅黑" panose="020B0503020204020204" charset="-122"/>
                <a:cs typeface="+mn-cs"/>
              </a:rPr>
              <a:t>本研究提出了一种用于多元时间序列分析的量子增强型预测框架，该框架融合了量子傅里叶变换（</a:t>
            </a:r>
            <a:r>
              <a:rPr lang="en-US" altLang="zh-CN" sz="1600" kern="1200" dirty="0">
                <a:solidFill>
                  <a:schemeClr val="tx1"/>
                </a:solidFill>
                <a:effectLst/>
                <a:latin typeface="微软雅黑" panose="020B0503020204020204" charset="-122"/>
                <a:ea typeface="微软雅黑" panose="020B0503020204020204" charset="-122"/>
                <a:cs typeface="+mn-cs"/>
              </a:rPr>
              <a:t>QFT</a:t>
            </a:r>
            <a:r>
              <a:rPr lang="zh-CN" altLang="en-US" sz="1600" kern="1200" dirty="0">
                <a:solidFill>
                  <a:schemeClr val="tx1"/>
                </a:solidFill>
                <a:effectLst/>
                <a:latin typeface="微软雅黑" panose="020B0503020204020204" charset="-122"/>
                <a:ea typeface="微软雅黑" panose="020B0503020204020204" charset="-122"/>
                <a:cs typeface="+mn-cs"/>
              </a:rPr>
              <a:t>）、量子频率分解</a:t>
            </a:r>
            <a:r>
              <a:rPr lang="en-US" altLang="zh-CN" sz="1600" kern="1200" dirty="0">
                <a:solidFill>
                  <a:schemeClr val="tx1"/>
                </a:solidFill>
                <a:effectLst/>
                <a:latin typeface="微软雅黑" panose="020B0503020204020204" charset="-122"/>
                <a:ea typeface="微软雅黑" panose="020B0503020204020204" charset="-122"/>
                <a:cs typeface="+mn-cs"/>
              </a:rPr>
              <a:t>-</a:t>
            </a:r>
            <a:r>
              <a:rPr lang="zh-CN" altLang="en-US" sz="1600" kern="1200" dirty="0">
                <a:solidFill>
                  <a:schemeClr val="tx1"/>
                </a:solidFill>
                <a:effectLst/>
                <a:latin typeface="微软雅黑" panose="020B0503020204020204" charset="-122"/>
                <a:ea typeface="微软雅黑" panose="020B0503020204020204" charset="-122"/>
                <a:cs typeface="+mn-cs"/>
              </a:rPr>
              <a:t>重构</a:t>
            </a:r>
            <a:r>
              <a:rPr lang="en-US" altLang="zh-CN" sz="1600" kern="1200" dirty="0">
                <a:solidFill>
                  <a:schemeClr val="tx1"/>
                </a:solidFill>
                <a:effectLst/>
                <a:latin typeface="微软雅黑" panose="020B0503020204020204" charset="-122"/>
                <a:ea typeface="微软雅黑" panose="020B0503020204020204" charset="-122"/>
                <a:cs typeface="+mn-cs"/>
              </a:rPr>
              <a:t>-</a:t>
            </a:r>
            <a:r>
              <a:rPr lang="zh-CN" altLang="en-US" sz="1600" kern="1200" dirty="0">
                <a:solidFill>
                  <a:schemeClr val="tx1"/>
                </a:solidFill>
                <a:effectLst/>
                <a:latin typeface="微软雅黑" panose="020B0503020204020204" charset="-122"/>
                <a:ea typeface="微软雅黑" panose="020B0503020204020204" charset="-122"/>
                <a:cs typeface="+mn-cs"/>
              </a:rPr>
              <a:t>再分解（</a:t>
            </a:r>
            <a:r>
              <a:rPr lang="en-US" altLang="zh-CN" sz="1600" kern="1200" dirty="0">
                <a:solidFill>
                  <a:schemeClr val="tx1"/>
                </a:solidFill>
                <a:effectLst/>
                <a:latin typeface="微软雅黑" panose="020B0503020204020204" charset="-122"/>
                <a:ea typeface="微软雅黑" panose="020B0503020204020204" charset="-122"/>
                <a:cs typeface="+mn-cs"/>
              </a:rPr>
              <a:t>Q-FR-Q</a:t>
            </a:r>
            <a:r>
              <a:rPr lang="zh-CN" altLang="en-US" sz="1600" kern="1200" dirty="0">
                <a:solidFill>
                  <a:schemeClr val="tx1"/>
                </a:solidFill>
                <a:effectLst/>
                <a:latin typeface="微软雅黑" panose="020B0503020204020204" charset="-122"/>
                <a:ea typeface="微软雅黑" panose="020B0503020204020204" charset="-122"/>
                <a:cs typeface="+mn-cs"/>
              </a:rPr>
              <a:t>）机制以及双层图注意力网络（</a:t>
            </a:r>
            <a:r>
              <a:rPr lang="en-US" altLang="zh-CN" sz="1600" kern="1200" dirty="0">
                <a:solidFill>
                  <a:schemeClr val="tx1"/>
                </a:solidFill>
                <a:effectLst/>
                <a:latin typeface="微软雅黑" panose="020B0503020204020204" charset="-122"/>
                <a:ea typeface="微软雅黑" panose="020B0503020204020204" charset="-122"/>
                <a:cs typeface="+mn-cs"/>
              </a:rPr>
              <a:t>DL-GAN</a:t>
            </a:r>
            <a:r>
              <a:rPr lang="zh-CN" altLang="en-US" sz="1600" kern="1200" dirty="0">
                <a:solidFill>
                  <a:schemeClr val="tx1"/>
                </a:solidFill>
                <a:effectLst/>
                <a:latin typeface="微软雅黑" panose="020B0503020204020204" charset="-122"/>
                <a:ea typeface="微软雅黑" panose="020B0503020204020204" charset="-122"/>
                <a:cs typeface="+mn-cs"/>
              </a:rPr>
              <a:t>）。通过引入频域变换和基于图的关系建模方法，该框架构建了能够同时捕捉全局周期性模式与局部时序依赖性的结构化处理流程。在多个基准数据集上进行的定量评估表明，在标准化条件下，该框架相较于代表性基线模型均能显著提升预测精度。</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主要分为以下四个部分</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首先是问题描述</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本文首先证明了量子计算机在一定规模下的计算效率，之后说明了容错量子计算在随机梯度下降领域应用的可行性。在实践中，我们对从 </a:t>
            </a:r>
            <a:r>
              <a:rPr lang="en-US" altLang="zh-CN" sz="1600" kern="1200" dirty="0">
                <a:solidFill>
                  <a:schemeClr val="tx1"/>
                </a:solidFill>
                <a:effectLst/>
                <a:latin typeface="微软雅黑" panose="020B0503020204020204" charset="-122"/>
                <a:ea typeface="微软雅黑" panose="020B0503020204020204" charset="-122"/>
                <a:cs typeface="+mn-cs"/>
              </a:rPr>
              <a:t>700 </a:t>
            </a:r>
            <a:r>
              <a:rPr lang="zh-CN" altLang="en-US" sz="1600" kern="1200" dirty="0">
                <a:solidFill>
                  <a:schemeClr val="tx1"/>
                </a:solidFill>
                <a:effectLst/>
                <a:latin typeface="微软雅黑" panose="020B0503020204020204" charset="-122"/>
                <a:ea typeface="微软雅黑" panose="020B0503020204020204" charset="-122"/>
                <a:cs typeface="+mn-cs"/>
              </a:rPr>
              <a:t>万到 </a:t>
            </a:r>
            <a:r>
              <a:rPr lang="en-US" altLang="zh-CN" sz="1600" kern="1200" dirty="0">
                <a:solidFill>
                  <a:schemeClr val="tx1"/>
                </a:solidFill>
                <a:effectLst/>
                <a:latin typeface="微软雅黑" panose="020B0503020204020204" charset="-122"/>
                <a:ea typeface="微软雅黑" panose="020B0503020204020204" charset="-122"/>
                <a:cs typeface="+mn-cs"/>
              </a:rPr>
              <a:t>1.03 </a:t>
            </a:r>
            <a:r>
              <a:rPr lang="zh-CN" altLang="en-US" sz="1600" kern="1200" dirty="0">
                <a:solidFill>
                  <a:schemeClr val="tx1"/>
                </a:solidFill>
                <a:effectLst/>
                <a:latin typeface="微软雅黑" panose="020B0503020204020204" charset="-122"/>
                <a:ea typeface="微软雅黑" panose="020B0503020204020204" charset="-122"/>
                <a:cs typeface="+mn-cs"/>
              </a:rPr>
              <a:t>亿个参数的大型机器学习模型实例进行了基准测试。</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本文利用量子</a:t>
            </a:r>
            <a:r>
              <a:rPr lang="en-US" altLang="zh-CN" sz="1600" kern="1200" dirty="0" err="1">
                <a:solidFill>
                  <a:schemeClr val="tx1"/>
                </a:solidFill>
                <a:effectLst/>
                <a:latin typeface="微软雅黑" panose="020B0503020204020204" charset="-122"/>
                <a:ea typeface="微软雅黑" panose="020B0503020204020204" charset="-122"/>
                <a:cs typeface="+mn-cs"/>
              </a:rPr>
              <a:t>Carleman</a:t>
            </a:r>
            <a:r>
              <a:rPr lang="zh-CN" altLang="en-US" sz="1600" kern="1200" dirty="0">
                <a:solidFill>
                  <a:schemeClr val="tx1"/>
                </a:solidFill>
                <a:effectLst/>
                <a:latin typeface="微软雅黑" panose="020B0503020204020204" charset="-122"/>
                <a:ea typeface="微软雅黑" panose="020B0503020204020204" charset="-122"/>
                <a:cs typeface="+mn-cs"/>
              </a:rPr>
              <a:t>线性化将非线性梯度下降过程线性化，转换为无限维的线性方程组，然后通过截断来适应数字量子系统的求解。之后利用变体的</a:t>
            </a:r>
            <a:r>
              <a:rPr lang="en-US" altLang="zh-CN" sz="1600" kern="1200" dirty="0">
                <a:solidFill>
                  <a:schemeClr val="tx1"/>
                </a:solidFill>
                <a:effectLst/>
                <a:latin typeface="微软雅黑" panose="020B0503020204020204" charset="-122"/>
                <a:ea typeface="微软雅黑" panose="020B0503020204020204" charset="-122"/>
                <a:cs typeface="+mn-cs"/>
              </a:rPr>
              <a:t>HHL</a:t>
            </a:r>
            <a:r>
              <a:rPr lang="zh-CN" altLang="en-US" sz="1600" kern="1200" dirty="0">
                <a:solidFill>
                  <a:schemeClr val="tx1"/>
                </a:solidFill>
                <a:effectLst/>
                <a:latin typeface="微软雅黑" panose="020B0503020204020204" charset="-122"/>
                <a:ea typeface="微软雅黑" panose="020B0503020204020204" charset="-122"/>
                <a:cs typeface="+mn-cs"/>
              </a:rPr>
              <a:t>算法解决线性化后的矩阵求逆问题，从而在量子计算机上实现梯度下降 </a:t>
            </a:r>
            <a:r>
              <a:rPr lang="en-US" altLang="zh-CN" sz="1600" kern="1200" dirty="0">
                <a:solidFill>
                  <a:schemeClr val="tx1"/>
                </a:solidFill>
                <a:effectLst/>
                <a:latin typeface="微软雅黑" panose="020B0503020204020204" charset="-122"/>
                <a:ea typeface="微软雅黑" panose="020B0503020204020204" charset="-122"/>
                <a:cs typeface="+mn-cs"/>
              </a:rPr>
              <a:t>dynamics </a:t>
            </a:r>
            <a:r>
              <a:rPr lang="zh-CN" altLang="en-US" sz="1600" kern="1200" dirty="0">
                <a:solidFill>
                  <a:schemeClr val="tx1"/>
                </a:solidFill>
                <a:effectLst/>
                <a:latin typeface="微软雅黑" panose="020B0503020204020204" charset="-122"/>
                <a:ea typeface="微软雅黑" panose="020B0503020204020204" charset="-122"/>
                <a:cs typeface="+mn-cs"/>
              </a:rPr>
              <a:t>的求解。</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研究现状</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b="0" i="0" dirty="0">
                <a:effectLst/>
                <a:latin typeface="-apple-system"/>
              </a:rPr>
              <a:t>量子算法的运行时间与 </a:t>
            </a:r>
            <a:r>
              <a:rPr lang="en-US" altLang="zh-CN" b="0" i="1" dirty="0">
                <a:effectLst/>
                <a:latin typeface="KaTeX_Math"/>
              </a:rPr>
              <a:t>T</a:t>
            </a:r>
            <a:r>
              <a:rPr lang="zh-CN" altLang="en-US" b="0" i="0" dirty="0">
                <a:effectLst/>
                <a:latin typeface="-apple-system"/>
              </a:rPr>
              <a:t> 成线性关系，与 </a:t>
            </a:r>
            <a:r>
              <a:rPr lang="en-US" altLang="zh-CN" b="0" i="1" dirty="0">
                <a:effectLst/>
                <a:latin typeface="KaTeX_Math"/>
              </a:rPr>
              <a:t>n</a:t>
            </a:r>
            <a:r>
              <a:rPr lang="zh-CN" altLang="en-US" b="0" i="0" dirty="0">
                <a:effectLst/>
                <a:latin typeface="-apple-system"/>
              </a:rPr>
              <a:t> 的对数多项式关系。通过展示算法在时间复杂度上的优势，可以证明该算法在处理大规模机器学习模型时的潜在效率</a:t>
            </a:r>
            <a:r>
              <a:rPr lang="en-US" altLang="zh-CN" b="0" i="0" dirty="0">
                <a:effectLst/>
                <a:latin typeface="-apple-system"/>
              </a:rPr>
              <a:t>.</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66</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effectLst/>
                <a:latin typeface="-apple-system"/>
              </a:rPr>
              <a:t>与定理</a:t>
            </a:r>
            <a:r>
              <a:rPr lang="en-US" altLang="zh-CN" b="0" i="0" dirty="0">
                <a:effectLst/>
                <a:latin typeface="-apple-system"/>
              </a:rPr>
              <a:t>1</a:t>
            </a:r>
            <a:r>
              <a:rPr lang="zh-CN" altLang="en-US" b="0" i="0" dirty="0">
                <a:effectLst/>
                <a:latin typeface="-apple-system"/>
              </a:rPr>
              <a:t>的意义：量子算法可以高效地解决大规模机器学习模型中的（随机）梯度下降问题。线性化方法是实现这一环节的关键技术手段。</a:t>
            </a:r>
            <a:endParaRPr lang="en-US" altLang="zh-CN" b="0" i="0"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b="0" i="0"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effectLst/>
                <a:latin typeface="inherit"/>
              </a:rPr>
              <a:t>假设始终假设可以获取梯度下降方程的显式形式，以便构建卡勒曼线性化。</a:t>
            </a:r>
            <a:endParaRPr lang="en-US" altLang="zh-CN" b="0" i="0" dirty="0">
              <a:effectLst/>
              <a:latin typeface="inherit"/>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effectLst/>
                <a:latin typeface="inherit"/>
              </a:rPr>
              <a:t>通过量子</a:t>
            </a:r>
            <a:r>
              <a:rPr lang="en-US" altLang="zh-CN" b="0" i="0" dirty="0" err="1">
                <a:effectLst/>
                <a:latin typeface="inherit"/>
              </a:rPr>
              <a:t>Carleman</a:t>
            </a:r>
            <a:r>
              <a:rPr lang="zh-CN" altLang="en-US" b="0" i="0" dirty="0">
                <a:effectLst/>
                <a:latin typeface="inherit"/>
              </a:rPr>
              <a:t>线性化，</a:t>
            </a:r>
            <a:r>
              <a:rPr lang="zh-CN" altLang="en-US" b="0" i="0" dirty="0">
                <a:effectLst/>
                <a:latin typeface="-apple-system"/>
              </a:rPr>
              <a:t>这种方法通过引入高阶张量积来线性化非线性动态。因此</a:t>
            </a:r>
            <a:r>
              <a:rPr lang="zh-CN" altLang="en-US" b="0" i="0" dirty="0">
                <a:effectLst/>
                <a:latin typeface="inherit"/>
              </a:rPr>
              <a:t>非线性递归关系被转换为一个无限维的线性方程组。为了在数字量子系统上求解这个无限维的线性方程组，需要进行截断。对于稀疏且耗散的系统，截断误差可以被很好地控制。最终，这个线性方程组可以表示为一个矩阵求逆问题，从而可以使用</a:t>
            </a:r>
            <a:r>
              <a:rPr lang="en-US" altLang="zh-CN" b="0" i="0" dirty="0">
                <a:effectLst/>
                <a:latin typeface="inherit"/>
              </a:rPr>
              <a:t>HHL</a:t>
            </a:r>
            <a:r>
              <a:rPr lang="zh-CN" altLang="en-US" b="0" i="0" dirty="0">
                <a:effectLst/>
                <a:latin typeface="inherit"/>
              </a:rPr>
              <a:t>算法在量子计算机上求解。</a:t>
            </a: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67</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68</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br>
              <a:rPr lang="zh-CN" altLang="en-US" dirty="0"/>
            </a:br>
            <a:r>
              <a:rPr lang="zh-CN" altLang="en-US" dirty="0"/>
              <a:t>首先，我们研究了一个模型，该模型具有</a:t>
            </a:r>
            <a:r>
              <a:rPr lang="en-US" altLang="zh-CN" dirty="0"/>
              <a:t>700</a:t>
            </a:r>
            <a:r>
              <a:rPr lang="zh-CN" altLang="en-US" dirty="0"/>
              <a:t>万个可训练参数，用于区分</a:t>
            </a:r>
            <a:r>
              <a:rPr lang="en-US" altLang="zh-CN" dirty="0"/>
              <a:t>100</a:t>
            </a:r>
            <a:r>
              <a:rPr lang="zh-CN" altLang="en-US" dirty="0"/>
              <a:t>个类别的图像。为了获得稀疏输出模型，我们在稀疏训练过程中记录了</a:t>
            </a:r>
            <a:r>
              <a:rPr lang="en-US" altLang="zh-CN" dirty="0"/>
              <a:t>Hessian</a:t>
            </a:r>
            <a:r>
              <a:rPr lang="zh-CN" altLang="en-US" dirty="0"/>
              <a:t>谱，这使我们能够跟踪与误差界相关量的演变，由式</a:t>
            </a:r>
            <a:r>
              <a:rPr lang="en-US" altLang="zh-CN" dirty="0"/>
              <a:t>(7)</a:t>
            </a:r>
            <a:r>
              <a:rPr lang="zh-CN" altLang="en-US" dirty="0"/>
              <a:t>给出。公式</a:t>
            </a:r>
            <a:r>
              <a:rPr lang="en-US" altLang="zh-CN" dirty="0"/>
              <a:t>8</a:t>
            </a:r>
            <a:r>
              <a:rPr lang="zh-CN" altLang="en-US" dirty="0"/>
              <a:t>通过丢弃小幅度的</a:t>
            </a:r>
            <a:r>
              <a:rPr lang="en-US" altLang="zh-CN" dirty="0"/>
              <a:t>Hessian</a:t>
            </a:r>
            <a:r>
              <a:rPr lang="zh-CN" altLang="en-US" dirty="0"/>
              <a:t>特征值（</a:t>
            </a:r>
            <a:r>
              <a:rPr lang="en-US" altLang="zh-CN" dirty="0"/>
              <a:t>-0.4—0.4</a:t>
            </a:r>
            <a:r>
              <a:rPr lang="zh-CN" altLang="en-US" dirty="0"/>
              <a:t>之间），因为它们接近</a:t>
            </a:r>
            <a:r>
              <a:rPr lang="en-US" altLang="zh-CN" dirty="0"/>
              <a:t>0</a:t>
            </a:r>
            <a:r>
              <a:rPr lang="zh-CN" altLang="en-US" dirty="0"/>
              <a:t>，防止</a:t>
            </a:r>
            <a:r>
              <a:rPr lang="en-US" altLang="zh-CN" dirty="0"/>
              <a:t>Hessian</a:t>
            </a:r>
            <a:r>
              <a:rPr lang="zh-CN" altLang="en-US" dirty="0"/>
              <a:t>谱出现奇异情况。</a:t>
            </a:r>
            <a:endParaRPr lang="en-US" altLang="zh-CN" dirty="0"/>
          </a:p>
          <a:p>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effectLst/>
                <a:latin typeface="-apple-system"/>
              </a:rPr>
              <a:t>图</a:t>
            </a:r>
            <a:r>
              <a:rPr lang="en-US" altLang="zh-CN" b="0" i="0" dirty="0">
                <a:effectLst/>
                <a:latin typeface="-apple-system"/>
              </a:rPr>
              <a:t>2(a)</a:t>
            </a:r>
            <a:r>
              <a:rPr lang="zh-CN" altLang="en-US" b="0" i="0" dirty="0">
                <a:effectLst/>
                <a:latin typeface="-apple-system"/>
              </a:rPr>
              <a:t>展示了</a:t>
            </a:r>
            <a:r>
              <a:rPr lang="en-US" altLang="zh-CN" b="0" i="0" dirty="0" err="1">
                <a:effectLst/>
                <a:latin typeface="-apple-system"/>
              </a:rPr>
              <a:t>ResNet</a:t>
            </a:r>
            <a:r>
              <a:rPr lang="zh-CN" altLang="en-US" b="0" i="0" dirty="0">
                <a:effectLst/>
                <a:latin typeface="-apple-system"/>
              </a:rPr>
              <a:t>模型在训练过程中的</a:t>
            </a:r>
            <a:r>
              <a:rPr lang="en-US" altLang="zh-CN" b="0" i="0" dirty="0">
                <a:effectLst/>
                <a:latin typeface="-apple-system"/>
              </a:rPr>
              <a:t>Hessian</a:t>
            </a:r>
            <a:r>
              <a:rPr lang="zh-CN" altLang="en-US" b="0" i="0" dirty="0">
                <a:effectLst/>
                <a:latin typeface="-apple-system"/>
              </a:rPr>
              <a:t>矩阵的特征值分布（即</a:t>
            </a:r>
            <a:r>
              <a:rPr lang="en-US" altLang="zh-CN" b="0" i="0" dirty="0">
                <a:effectLst/>
                <a:latin typeface="-apple-system"/>
              </a:rPr>
              <a:t>Hessian</a:t>
            </a:r>
            <a:r>
              <a:rPr lang="zh-CN" altLang="en-US" b="0" i="0" dirty="0">
                <a:effectLst/>
                <a:latin typeface="-apple-system"/>
              </a:rPr>
              <a:t>光谱）。</a:t>
            </a:r>
            <a:r>
              <a:rPr lang="en-US" altLang="zh-CN" b="0" i="0" dirty="0">
                <a:effectLst/>
                <a:latin typeface="-apple-system"/>
              </a:rPr>
              <a:t>Hessian</a:t>
            </a:r>
            <a:r>
              <a:rPr lang="zh-CN" altLang="en-US" b="0" i="0" dirty="0">
                <a:effectLst/>
                <a:latin typeface="-apple-system"/>
              </a:rPr>
              <a:t>矩阵的特征值反映了损失函数在权重空间的曲率信息。</a:t>
            </a:r>
            <a:r>
              <a:rPr lang="zh-CN" altLang="en-US" b="0" i="0" dirty="0">
                <a:effectLst/>
                <a:latin typeface="inherit"/>
              </a:rPr>
              <a:t>训练初期，</a:t>
            </a:r>
            <a:r>
              <a:rPr lang="en-US" altLang="zh-CN" b="0" i="0" dirty="0">
                <a:effectLst/>
                <a:latin typeface="inherit"/>
              </a:rPr>
              <a:t>Hessian</a:t>
            </a:r>
            <a:r>
              <a:rPr lang="zh-CN" altLang="en-US" b="0" i="0" dirty="0">
                <a:effectLst/>
                <a:latin typeface="inherit"/>
              </a:rPr>
              <a:t>矩阵的特征值分布显示出较多的正特征值（耗散模式），这表明系统具有耗散性，有利于量子算法的应用。</a:t>
            </a:r>
            <a:r>
              <a:rPr lang="zh-CN" altLang="en-US" b="0" i="0" dirty="0">
                <a:effectLst/>
                <a:latin typeface="-apple-system"/>
              </a:rPr>
              <a:t>耗散性确保了线性化误差可以被很好地控制。</a:t>
            </a:r>
            <a:endParaRPr lang="zh-CN" altLang="en-US" b="0" i="0" dirty="0">
              <a:effectLst/>
              <a:latin typeface="inherit"/>
            </a:endParaRPr>
          </a:p>
          <a:p>
            <a:endParaRPr lang="en-US" altLang="zh-CN" sz="1600" kern="1200" dirty="0">
              <a:solidFill>
                <a:schemeClr val="tx1"/>
              </a:solidFill>
              <a:effectLst/>
              <a:latin typeface="微软雅黑" panose="020B0503020204020204" charset="-122"/>
              <a:ea typeface="微软雅黑" panose="020B0503020204020204" charset="-122"/>
              <a:cs typeface="+mn-cs"/>
            </a:endParaRPr>
          </a:p>
          <a:p>
            <a:r>
              <a:rPr lang="zh-CN" altLang="en-US" b="0" i="0" dirty="0">
                <a:effectLst/>
                <a:latin typeface="-apple-system"/>
              </a:rPr>
              <a:t>图</a:t>
            </a:r>
            <a:r>
              <a:rPr lang="en-US" altLang="zh-CN" b="0" i="0" dirty="0">
                <a:effectLst/>
                <a:latin typeface="-apple-system"/>
              </a:rPr>
              <a:t>2(b)</a:t>
            </a:r>
            <a:r>
              <a:rPr lang="zh-CN" altLang="en-US" b="0" i="0" dirty="0">
                <a:effectLst/>
                <a:latin typeface="-apple-system"/>
              </a:rPr>
              <a:t>展示了训练过程中误差代理（</a:t>
            </a:r>
            <a:r>
              <a:rPr lang="en-US" altLang="zh-CN" b="0" i="0" dirty="0">
                <a:effectLst/>
                <a:latin typeface="-apple-system"/>
              </a:rPr>
              <a:t>error proxy</a:t>
            </a:r>
            <a:r>
              <a:rPr lang="zh-CN" altLang="en-US" b="0" i="0" dirty="0">
                <a:effectLst/>
                <a:latin typeface="-apple-system"/>
              </a:rPr>
              <a:t>）的变化情况。误差代理是基于</a:t>
            </a:r>
            <a:r>
              <a:rPr lang="en-US" altLang="zh-CN" b="0" i="0" dirty="0">
                <a:effectLst/>
                <a:latin typeface="-apple-system"/>
              </a:rPr>
              <a:t>Hessian</a:t>
            </a:r>
            <a:r>
              <a:rPr lang="zh-CN" altLang="en-US" b="0" i="0" dirty="0">
                <a:effectLst/>
                <a:latin typeface="-apple-system"/>
              </a:rPr>
              <a:t>矩阵的特征值计算的一个量，用于估计训练误差的</a:t>
            </a:r>
            <a:r>
              <a:rPr lang="zh-CN" altLang="en-US" b="0" i="0">
                <a:effectLst/>
                <a:latin typeface="-apple-system"/>
              </a:rPr>
              <a:t>增长。并发现量子算法有可能在学习初期实现量子加速（紫色区域）。</a:t>
            </a:r>
            <a:endParaRPr lang="en-US" altLang="zh-CN" sz="1600" b="0" i="0" kern="1200" dirty="0">
              <a:solidFill>
                <a:schemeClr val="tx1"/>
              </a:solidFill>
              <a:effectLst/>
              <a:latin typeface="微软雅黑" panose="020B0503020204020204" charset="-122"/>
              <a:ea typeface="微软雅黑" panose="020B0503020204020204" charset="-122"/>
              <a:cs typeface="+mn-cs"/>
            </a:endParaRPr>
          </a:p>
          <a:p>
            <a:endParaRPr lang="en-US" altLang="zh-CN" sz="1600" b="0" i="0" kern="1200" dirty="0">
              <a:solidFill>
                <a:schemeClr val="tx1"/>
              </a:solidFill>
              <a:effectLst/>
              <a:latin typeface="微软雅黑" panose="020B0503020204020204" charset="-122"/>
              <a:ea typeface="微软雅黑" panose="020B0503020204020204" charset="-122"/>
              <a:cs typeface="+mn-cs"/>
            </a:endParaRPr>
          </a:p>
          <a:p>
            <a:pPr algn="l" fontAlgn="base">
              <a:lnSpc>
                <a:spcPts val="1950"/>
              </a:lnSpc>
              <a:spcAft>
                <a:spcPts val="900"/>
              </a:spcAft>
              <a:buFont typeface="Arial" panose="020B0604020202020204" pitchFamily="34" charset="0"/>
              <a:buChar char="•"/>
            </a:pPr>
            <a:r>
              <a:rPr lang="zh-CN" altLang="en-US" b="0" i="0" dirty="0">
                <a:effectLst/>
                <a:latin typeface="-apple-system"/>
              </a:rPr>
              <a:t>图</a:t>
            </a:r>
            <a:r>
              <a:rPr lang="en-US" altLang="zh-CN" b="0" i="0" dirty="0">
                <a:effectLst/>
                <a:latin typeface="-apple-system"/>
              </a:rPr>
              <a:t>2(c)</a:t>
            </a:r>
            <a:r>
              <a:rPr lang="zh-CN" altLang="en-US" b="0" i="0" dirty="0">
                <a:effectLst/>
                <a:latin typeface="-apple-system"/>
              </a:rPr>
              <a:t>展示了训练过程中模型训练准确率的变化情况。</a:t>
            </a:r>
            <a:r>
              <a:rPr lang="zh-CN" altLang="en-US" b="0" i="0" dirty="0">
                <a:effectLst/>
                <a:latin typeface="inherit"/>
              </a:rPr>
              <a:t>训练初期，准确率逐渐提高，表明模型在学习并改进其预测能力。</a:t>
            </a:r>
            <a:r>
              <a:rPr lang="zh-CN" altLang="en-US" b="0" i="0" dirty="0">
                <a:effectLst/>
                <a:latin typeface="-apple-system"/>
              </a:rPr>
              <a:t>随着训练的进行，准确率在达到峰值后可能会有所下降，这与误差代理的指数增长相对应。</a:t>
            </a:r>
            <a:endParaRPr lang="zh-CN" altLang="en-US" b="0" i="0" dirty="0">
              <a:effectLst/>
              <a:latin typeface="inherit"/>
            </a:endParaRPr>
          </a:p>
          <a:p>
            <a:pPr>
              <a:buNone/>
            </a:pPr>
            <a:r>
              <a:rPr lang="zh-CN" altLang="en-US" b="0" i="0" dirty="0">
                <a:effectLst/>
                <a:latin typeface="-apple-system"/>
              </a:rPr>
              <a:t>图</a:t>
            </a:r>
            <a:r>
              <a:rPr lang="en-US" altLang="zh-CN" b="0" i="0" dirty="0">
                <a:effectLst/>
                <a:latin typeface="-apple-system"/>
              </a:rPr>
              <a:t>2</a:t>
            </a:r>
            <a:r>
              <a:rPr lang="zh-CN" altLang="en-US" b="0" i="0" dirty="0">
                <a:effectLst/>
                <a:latin typeface="-apple-system"/>
              </a:rPr>
              <a:t>表明在训练的早期阶段，模型具有较强的耗散性，此时误差代理较小且准确率在提高，是应用量子增强的最佳时机。这个阶段量子算法可以有效地处理训练问题。</a:t>
            </a:r>
            <a:br>
              <a:rPr lang="zh-CN" altLang="en-US"/>
            </a:br>
            <a:r>
              <a:rPr lang="zh-CN" altLang="en-US"/>
              <a:t>图</a:t>
            </a:r>
            <a:r>
              <a:rPr lang="en-US" altLang="zh-CN"/>
              <a:t>3</a:t>
            </a:r>
            <a:r>
              <a:rPr lang="zh-CN" altLang="en-US"/>
              <a:t>为对数曲线图，衡量了增长过程的指数变化规律。</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69</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70</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5AA33-6FC1-ED98-A461-A3D93AB8AF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6643366-AE3B-66DE-8733-78A9CC9CCDA7}"/>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5A5FAB01-82D6-F98F-89D2-E902017DB77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a:extLst>
              <a:ext uri="{FF2B5EF4-FFF2-40B4-BE49-F238E27FC236}">
                <a16:creationId xmlns:a16="http://schemas.microsoft.com/office/drawing/2014/main" id="{2F8A60CD-6EC9-4951-981F-DD2FF470A1B5}"/>
              </a:ext>
            </a:extLst>
          </p:cNvPr>
          <p:cNvSpPr>
            <a:spLocks noGrp="1"/>
          </p:cNvSpPr>
          <p:nvPr>
            <p:ph type="sldNum" sz="quarter" idx="10"/>
          </p:nvPr>
        </p:nvSpPr>
        <p:spPr/>
        <p:txBody>
          <a:bodyPr/>
          <a:lstStyle/>
          <a:p>
            <a:fld id="{677A2CBA-E486-4DC8-8696-C7854B0A28FD}" type="slidenum">
              <a:rPr lang="zh-CN" altLang="en-US" smtClean="0"/>
              <a:t>71</a:t>
            </a:fld>
            <a:endParaRPr lang="zh-CN" altLang="en-US"/>
          </a:p>
        </p:txBody>
      </p:sp>
    </p:spTree>
    <p:extLst>
      <p:ext uri="{BB962C8B-B14F-4D97-AF65-F5344CB8AC3E}">
        <p14:creationId xmlns:p14="http://schemas.microsoft.com/office/powerpoint/2010/main" val="42422193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82E20-D78F-873E-49F4-0A22DA8A50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A87AE4-B6A2-8AF6-9895-1A03DF2D24DB}"/>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4B58A45B-BB93-65E1-53EE-A1FAF518D2B9}"/>
              </a:ext>
            </a:extLst>
          </p:cNvPr>
          <p:cNvSpPr>
            <a:spLocks noGrp="1"/>
          </p:cNvSpPr>
          <p:nvPr>
            <p:ph type="body" idx="1"/>
          </p:nvPr>
        </p:nvSpPr>
        <p:spPr/>
        <p:txBody>
          <a:bodyPr/>
          <a:lstStyle/>
          <a:p>
            <a:r>
              <a:rPr lang="zh-CN" altLang="en-US" dirty="0"/>
              <a:t>主要分为以下四个部分</a:t>
            </a:r>
          </a:p>
        </p:txBody>
      </p:sp>
      <p:sp>
        <p:nvSpPr>
          <p:cNvPr id="4" name="灯片编号占位符 3">
            <a:extLst>
              <a:ext uri="{FF2B5EF4-FFF2-40B4-BE49-F238E27FC236}">
                <a16:creationId xmlns:a16="http://schemas.microsoft.com/office/drawing/2014/main" id="{045AA1E1-6FE5-92C0-D4DF-E0442BB3BE92}"/>
              </a:ext>
            </a:extLst>
          </p:cNvPr>
          <p:cNvSpPr>
            <a:spLocks noGrp="1"/>
          </p:cNvSpPr>
          <p:nvPr>
            <p:ph type="sldNum" sz="quarter" idx="10"/>
          </p:nvPr>
        </p:nvSpPr>
        <p:spPr/>
        <p:txBody>
          <a:bodyPr/>
          <a:lstStyle/>
          <a:p>
            <a:fld id="{677A2CBA-E486-4DC8-8696-C7854B0A28FD}" type="slidenum">
              <a:rPr lang="zh-CN" altLang="en-US" smtClean="0"/>
              <a:t>72</a:t>
            </a:fld>
            <a:endParaRPr lang="zh-CN" altLang="en-US"/>
          </a:p>
        </p:txBody>
      </p:sp>
    </p:spTree>
    <p:extLst>
      <p:ext uri="{BB962C8B-B14F-4D97-AF65-F5344CB8AC3E}">
        <p14:creationId xmlns:p14="http://schemas.microsoft.com/office/powerpoint/2010/main" val="371072186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184EA-77C0-CA1E-63DB-32FF234FDB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6A61EF-5EB4-9808-6A63-6B7E87A9AA66}"/>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6745AC6D-908D-A041-27F2-ABB2551B33F2}"/>
              </a:ext>
            </a:extLst>
          </p:cNvPr>
          <p:cNvSpPr>
            <a:spLocks noGrp="1"/>
          </p:cNvSpPr>
          <p:nvPr>
            <p:ph type="body" idx="1"/>
          </p:nvPr>
        </p:nvSpPr>
        <p:spPr/>
        <p:txBody>
          <a:bodyPr/>
          <a:lstStyle/>
          <a:p>
            <a:r>
              <a:rPr lang="zh-CN" altLang="en-US" dirty="0"/>
              <a:t>首先是问题描述</a:t>
            </a:r>
          </a:p>
        </p:txBody>
      </p:sp>
      <p:sp>
        <p:nvSpPr>
          <p:cNvPr id="4" name="灯片编号占位符 3">
            <a:extLst>
              <a:ext uri="{FF2B5EF4-FFF2-40B4-BE49-F238E27FC236}">
                <a16:creationId xmlns:a16="http://schemas.microsoft.com/office/drawing/2014/main" id="{72D7918D-F1A2-64C6-3CF9-BFAC3A175B02}"/>
              </a:ext>
            </a:extLst>
          </p:cNvPr>
          <p:cNvSpPr>
            <a:spLocks noGrp="1"/>
          </p:cNvSpPr>
          <p:nvPr>
            <p:ph type="sldNum" sz="quarter" idx="10"/>
          </p:nvPr>
        </p:nvSpPr>
        <p:spPr/>
        <p:txBody>
          <a:bodyPr/>
          <a:lstStyle/>
          <a:p>
            <a:fld id="{677A2CBA-E486-4DC8-8696-C7854B0A28FD}" type="slidenum">
              <a:rPr lang="zh-CN" altLang="en-US" smtClean="0"/>
              <a:t>73</a:t>
            </a:fld>
            <a:endParaRPr lang="zh-CN" altLang="en-US"/>
          </a:p>
        </p:txBody>
      </p:sp>
    </p:spTree>
    <p:extLst>
      <p:ext uri="{BB962C8B-B14F-4D97-AF65-F5344CB8AC3E}">
        <p14:creationId xmlns:p14="http://schemas.microsoft.com/office/powerpoint/2010/main" val="349163509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AD9B4-C925-47D5-FB54-6896874B17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95DC34C-08D6-66E5-8BC6-95598B0B0340}"/>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E65A3CC9-6793-B2CF-BB13-50C204EC5A2C}"/>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a:solidFill>
                  <a:schemeClr val="tx1"/>
                </a:solidFill>
                <a:effectLst/>
                <a:latin typeface="微软雅黑" panose="020B0503020204020204" charset="-122"/>
                <a:ea typeface="微软雅黑" panose="020B0503020204020204" charset="-122"/>
                <a:cs typeface="+mn-cs"/>
              </a:rPr>
              <a:t>在本工作中，我们证明了变分量子机器学习（</a:t>
            </a:r>
            <a:r>
              <a:rPr lang="en-US" altLang="zh-CN" sz="1600" kern="1200">
                <a:solidFill>
                  <a:schemeClr val="tx1"/>
                </a:solidFill>
                <a:effectLst/>
                <a:latin typeface="微软雅黑" panose="020B0503020204020204" charset="-122"/>
                <a:ea typeface="微软雅黑" panose="020B0503020204020204" charset="-122"/>
                <a:cs typeface="+mn-cs"/>
              </a:rPr>
              <a:t>QML</a:t>
            </a:r>
            <a:r>
              <a:rPr lang="zh-CN" altLang="en-US" sz="1600" kern="1200">
                <a:solidFill>
                  <a:schemeClr val="tx1"/>
                </a:solidFill>
                <a:effectLst/>
                <a:latin typeface="微软雅黑" panose="020B0503020204020204" charset="-122"/>
                <a:ea typeface="微软雅黑" panose="020B0503020204020204" charset="-122"/>
                <a:cs typeface="+mn-cs"/>
              </a:rPr>
              <a:t>）泛化误差的极高泛化理论界限泛化误差大致受</a:t>
            </a:r>
            <a:r>
              <a:rPr lang="en-US" altLang="zh-CN" sz="1600" kern="1200">
                <a:solidFill>
                  <a:schemeClr val="tx1"/>
                </a:solidFill>
                <a:effectLst/>
                <a:latin typeface="微软雅黑" panose="020B0503020204020204" charset="-122"/>
                <a:ea typeface="微软雅黑" panose="020B0503020204020204" charset="-122"/>
                <a:cs typeface="+mn-cs"/>
              </a:rPr>
              <a:t>T/N</a:t>
            </a:r>
            <a:r>
              <a:rPr lang="zh-CN" altLang="en-US" sz="1600" kern="1200">
                <a:solidFill>
                  <a:schemeClr val="tx1"/>
                </a:solidFill>
                <a:effectLst/>
                <a:latin typeface="微软雅黑" panose="020B0503020204020204" charset="-122"/>
                <a:ea typeface="微软雅黑" panose="020B0503020204020204" charset="-122"/>
                <a:cs typeface="+mn-cs"/>
              </a:rPr>
              <a:t>的上限约束。在证明过程中，我们首先为变分量子机器学习（</a:t>
            </a:r>
            <a:r>
              <a:rPr lang="en-US" altLang="zh-CN" sz="1600" kern="1200">
                <a:solidFill>
                  <a:schemeClr val="tx1"/>
                </a:solidFill>
                <a:effectLst/>
                <a:latin typeface="微软雅黑" panose="020B0503020204020204" charset="-122"/>
                <a:ea typeface="微软雅黑" panose="020B0503020204020204" charset="-122"/>
                <a:cs typeface="+mn-cs"/>
              </a:rPr>
              <a:t>QML</a:t>
            </a:r>
            <a:r>
              <a:rPr lang="zh-CN" altLang="en-US" sz="1600" kern="1200">
                <a:solidFill>
                  <a:schemeClr val="tx1"/>
                </a:solidFill>
                <a:effectLst/>
                <a:latin typeface="微软雅黑" panose="020B0503020204020204" charset="-122"/>
                <a:ea typeface="微软雅黑" panose="020B0503020204020204" charset="-122"/>
                <a:cs typeface="+mn-cs"/>
              </a:rPr>
              <a:t>）模型可实现的量子操作类建立覆盖数界。随后利用随机过程的链接技术，从这些界推导出泛化误差界。研究结果的一个关键推论是：当</a:t>
            </a:r>
            <a:r>
              <a:rPr lang="en-US" altLang="zh-CN" sz="1600" kern="1200">
                <a:solidFill>
                  <a:schemeClr val="tx1"/>
                </a:solidFill>
                <a:effectLst/>
                <a:latin typeface="微软雅黑" panose="020B0503020204020204" charset="-122"/>
                <a:ea typeface="微软雅黑" panose="020B0503020204020204" charset="-122"/>
                <a:cs typeface="+mn-cs"/>
              </a:rPr>
              <a:t>T</a:t>
            </a:r>
            <a:r>
              <a:rPr lang="zh-CN" altLang="en-US" sz="1600" kern="1200">
                <a:solidFill>
                  <a:schemeClr val="tx1"/>
                </a:solidFill>
                <a:effectLst/>
                <a:latin typeface="微软雅黑" panose="020B0503020204020204" charset="-122"/>
                <a:ea typeface="微软雅黑" panose="020B0503020204020204" charset="-122"/>
                <a:cs typeface="+mn-cs"/>
              </a:rPr>
              <a:t>属于多项式复杂度</a:t>
            </a:r>
            <a:r>
              <a:rPr lang="en-US" altLang="zh-CN" sz="1600" kern="1200">
                <a:solidFill>
                  <a:schemeClr val="tx1"/>
                </a:solidFill>
                <a:effectLst/>
                <a:latin typeface="微软雅黑" panose="020B0503020204020204" charset="-122"/>
                <a:ea typeface="微软雅黑" panose="020B0503020204020204" charset="-122"/>
                <a:cs typeface="+mn-cs"/>
              </a:rPr>
              <a:t>O(poly n)</a:t>
            </a:r>
            <a:r>
              <a:rPr lang="zh-CN" altLang="en-US" sz="1600" kern="1200">
                <a:solidFill>
                  <a:schemeClr val="tx1"/>
                </a:solidFill>
                <a:effectLst/>
                <a:latin typeface="微软雅黑" panose="020B0503020204020204" charset="-122"/>
                <a:ea typeface="微软雅黑" panose="020B0503020204020204" charset="-122"/>
                <a:cs typeface="+mn-cs"/>
              </a:rPr>
              <a:t>时，即存在高效可实现的</a:t>
            </a:r>
            <a:r>
              <a:rPr lang="en-US" altLang="zh-CN" sz="1600" kern="1200">
                <a:solidFill>
                  <a:schemeClr val="tx1"/>
                </a:solidFill>
                <a:effectLst/>
                <a:latin typeface="微软雅黑" panose="020B0503020204020204" charset="-122"/>
                <a:ea typeface="微软雅黑" panose="020B0503020204020204" charset="-122"/>
                <a:cs typeface="+mn-cs"/>
              </a:rPr>
              <a:t>QML</a:t>
            </a:r>
            <a:r>
              <a:rPr lang="zh-CN" altLang="en-US" sz="1600" kern="1200">
                <a:solidFill>
                  <a:schemeClr val="tx1"/>
                </a:solidFill>
                <a:effectLst/>
                <a:latin typeface="微软雅黑" panose="020B0503020204020204" charset="-122"/>
                <a:ea typeface="微软雅黑" panose="020B0503020204020204" charset="-122"/>
                <a:cs typeface="+mn-cs"/>
              </a:rPr>
              <a:t>模型，仅需</a:t>
            </a:r>
            <a:r>
              <a:rPr lang="en-US" altLang="zh-CN" sz="1600" kern="1200">
                <a:solidFill>
                  <a:schemeClr val="tx1"/>
                </a:solidFill>
                <a:effectLst/>
                <a:latin typeface="微软雅黑" panose="020B0503020204020204" charset="-122"/>
                <a:ea typeface="微软雅黑" panose="020B0503020204020204" charset="-122"/>
                <a:cs typeface="+mn-cs"/>
              </a:rPr>
              <a:t>O(poly n)</a:t>
            </a:r>
            <a:r>
              <a:rPr lang="zh-CN" altLang="en-US" sz="1600" kern="1200">
                <a:solidFill>
                  <a:schemeClr val="tx1"/>
                </a:solidFill>
                <a:effectLst/>
                <a:latin typeface="微软雅黑" panose="020B0503020204020204" charset="-122"/>
                <a:ea typeface="微软雅黑" panose="020B0503020204020204" charset="-122"/>
                <a:cs typeface="+mn-cs"/>
              </a:rPr>
              <a:t>数量级的训练数据</a:t>
            </a:r>
            <a:r>
              <a:rPr lang="en-US" altLang="zh-CN" sz="1600" kern="1200">
                <a:solidFill>
                  <a:schemeClr val="tx1"/>
                </a:solidFill>
                <a:effectLst/>
                <a:latin typeface="微软雅黑" panose="020B0503020204020204" charset="-122"/>
                <a:ea typeface="微软雅黑" panose="020B0503020204020204" charset="-122"/>
                <a:cs typeface="+mn-cs"/>
              </a:rPr>
              <a:t>N</a:t>
            </a:r>
            <a:r>
              <a:rPr lang="zh-CN" altLang="en-US" sz="1600" kern="1200">
                <a:solidFill>
                  <a:schemeClr val="tx1"/>
                </a:solidFill>
                <a:effectLst/>
                <a:latin typeface="微软雅黑" panose="020B0503020204020204" charset="-122"/>
                <a:ea typeface="微软雅黑" panose="020B0503020204020204" charset="-122"/>
                <a:cs typeface="+mn-cs"/>
              </a:rPr>
              <a:t>即可获得良好泛化性能。这一推论本身将提升采用训练数据的变分量子算法（如量子自编码器、量子生成对抗网络、变分量子纠错、变分量子编译及变分动力学模拟）的效率保证。 </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74979896-0481-A5BC-38AA-DF2959F68C66}"/>
              </a:ext>
            </a:extLst>
          </p:cNvPr>
          <p:cNvSpPr>
            <a:spLocks noGrp="1"/>
          </p:cNvSpPr>
          <p:nvPr>
            <p:ph type="sldNum" sz="quarter" idx="10"/>
          </p:nvPr>
        </p:nvSpPr>
        <p:spPr/>
        <p:txBody>
          <a:bodyPr/>
          <a:lstStyle/>
          <a:p>
            <a:fld id="{677A2CBA-E486-4DC8-8696-C7854B0A28FD}" type="slidenum">
              <a:rPr lang="zh-CN" altLang="en-US" smtClean="0"/>
              <a:t>74</a:t>
            </a:fld>
            <a:endParaRPr lang="zh-CN" altLang="en-US"/>
          </a:p>
        </p:txBody>
      </p:sp>
    </p:spTree>
    <p:extLst>
      <p:ext uri="{BB962C8B-B14F-4D97-AF65-F5344CB8AC3E}">
        <p14:creationId xmlns:p14="http://schemas.microsoft.com/office/powerpoint/2010/main" val="180085048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3FF97-8256-484B-9C6A-ED9E5D42E4B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2A525A-4661-CEAF-A1CC-FBE87755613C}"/>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50A23F14-2CB7-344B-B316-42A04B16E413}"/>
              </a:ext>
            </a:extLst>
          </p:cNvPr>
          <p:cNvSpPr>
            <a:spLocks noGrp="1"/>
          </p:cNvSpPr>
          <p:nvPr>
            <p:ph type="body" idx="1"/>
          </p:nvPr>
        </p:nvSpPr>
        <p:spPr/>
        <p:txBody>
          <a:bodyPr/>
          <a:lstStyle/>
          <a:p>
            <a:r>
              <a:rPr lang="zh-CN" altLang="en-US" dirty="0"/>
              <a:t>研究现状</a:t>
            </a:r>
          </a:p>
        </p:txBody>
      </p:sp>
      <p:sp>
        <p:nvSpPr>
          <p:cNvPr id="4" name="灯片编号占位符 3">
            <a:extLst>
              <a:ext uri="{FF2B5EF4-FFF2-40B4-BE49-F238E27FC236}">
                <a16:creationId xmlns:a16="http://schemas.microsoft.com/office/drawing/2014/main" id="{5A88BB92-BFF4-F404-8875-D573A2BE80A9}"/>
              </a:ext>
            </a:extLst>
          </p:cNvPr>
          <p:cNvSpPr>
            <a:spLocks noGrp="1"/>
          </p:cNvSpPr>
          <p:nvPr>
            <p:ph type="sldNum" sz="quarter" idx="10"/>
          </p:nvPr>
        </p:nvSpPr>
        <p:spPr/>
        <p:txBody>
          <a:bodyPr/>
          <a:lstStyle/>
          <a:p>
            <a:fld id="{677A2CBA-E486-4DC8-8696-C7854B0A28FD}" type="slidenum">
              <a:rPr lang="zh-CN" altLang="en-US" smtClean="0"/>
              <a:t>75</a:t>
            </a:fld>
            <a:endParaRPr lang="zh-CN" altLang="en-US"/>
          </a:p>
        </p:txBody>
      </p:sp>
    </p:spTree>
    <p:extLst>
      <p:ext uri="{BB962C8B-B14F-4D97-AF65-F5344CB8AC3E}">
        <p14:creationId xmlns:p14="http://schemas.microsoft.com/office/powerpoint/2010/main" val="191257415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2B3D3-5057-1745-1040-951E76C691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F75CD5-CFC2-F287-7779-E4C86389A4A9}"/>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6EBF218D-131E-4434-A35B-049FE9F038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C0C34A9D-F89F-9826-C961-EFDDCD7444A8}"/>
              </a:ext>
            </a:extLst>
          </p:cNvPr>
          <p:cNvSpPr>
            <a:spLocks noGrp="1"/>
          </p:cNvSpPr>
          <p:nvPr>
            <p:ph type="sldNum" sz="quarter" idx="10"/>
          </p:nvPr>
        </p:nvSpPr>
        <p:spPr/>
        <p:txBody>
          <a:bodyPr/>
          <a:lstStyle/>
          <a:p>
            <a:fld id="{677A2CBA-E486-4DC8-8696-C7854B0A28FD}" type="slidenum">
              <a:rPr lang="zh-CN" altLang="en-US" smtClean="0"/>
              <a:t>76</a:t>
            </a:fld>
            <a:endParaRPr lang="zh-CN" altLang="en-US"/>
          </a:p>
        </p:txBody>
      </p:sp>
    </p:spTree>
    <p:extLst>
      <p:ext uri="{BB962C8B-B14F-4D97-AF65-F5344CB8AC3E}">
        <p14:creationId xmlns:p14="http://schemas.microsoft.com/office/powerpoint/2010/main" val="142171533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8FD73-6D08-13C6-47F4-9E18C6F851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43ADC3-304C-BFDB-BA71-1549DF0A849F}"/>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A7F7DBFF-4221-69DB-7D89-537496F9B68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03066FC0-6DBA-8F11-09A0-ED8637D52E46}"/>
              </a:ext>
            </a:extLst>
          </p:cNvPr>
          <p:cNvSpPr>
            <a:spLocks noGrp="1"/>
          </p:cNvSpPr>
          <p:nvPr>
            <p:ph type="sldNum" sz="quarter" idx="10"/>
          </p:nvPr>
        </p:nvSpPr>
        <p:spPr/>
        <p:txBody>
          <a:bodyPr/>
          <a:lstStyle/>
          <a:p>
            <a:fld id="{677A2CBA-E486-4DC8-8696-C7854B0A28FD}" type="slidenum">
              <a:rPr lang="zh-CN" altLang="en-US" smtClean="0"/>
              <a:t>77</a:t>
            </a:fld>
            <a:endParaRPr lang="zh-CN" altLang="en-US"/>
          </a:p>
        </p:txBody>
      </p:sp>
    </p:spTree>
    <p:extLst>
      <p:ext uri="{BB962C8B-B14F-4D97-AF65-F5344CB8AC3E}">
        <p14:creationId xmlns:p14="http://schemas.microsoft.com/office/powerpoint/2010/main" val="107121169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08C70-E706-B358-569E-85B9FE921F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76F93C-1ECD-6100-19BA-72155B0907D3}"/>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991696C3-AF0A-35FA-ABA5-73442C755B9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09178646-D028-8B91-3475-7BA76783A986}"/>
              </a:ext>
            </a:extLst>
          </p:cNvPr>
          <p:cNvSpPr>
            <a:spLocks noGrp="1"/>
          </p:cNvSpPr>
          <p:nvPr>
            <p:ph type="sldNum" sz="quarter" idx="10"/>
          </p:nvPr>
        </p:nvSpPr>
        <p:spPr/>
        <p:txBody>
          <a:bodyPr/>
          <a:lstStyle/>
          <a:p>
            <a:fld id="{677A2CBA-E486-4DC8-8696-C7854B0A28FD}" type="slidenum">
              <a:rPr lang="zh-CN" altLang="en-US" smtClean="0"/>
              <a:t>78</a:t>
            </a:fld>
            <a:endParaRPr lang="zh-CN" altLang="en-US"/>
          </a:p>
        </p:txBody>
      </p:sp>
    </p:spTree>
    <p:extLst>
      <p:ext uri="{BB962C8B-B14F-4D97-AF65-F5344CB8AC3E}">
        <p14:creationId xmlns:p14="http://schemas.microsoft.com/office/powerpoint/2010/main" val="36196045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30FD4-F8FD-EC92-D3AD-7CB4D549059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88965A-D6CE-50E8-8509-E03591E9082C}"/>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5161EB86-82E1-75C9-2B60-A7A1454B96C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58647B7E-34A8-B3B5-2780-2CC54DAD8227}"/>
              </a:ext>
            </a:extLst>
          </p:cNvPr>
          <p:cNvSpPr>
            <a:spLocks noGrp="1"/>
          </p:cNvSpPr>
          <p:nvPr>
            <p:ph type="sldNum" sz="quarter" idx="10"/>
          </p:nvPr>
        </p:nvSpPr>
        <p:spPr/>
        <p:txBody>
          <a:bodyPr/>
          <a:lstStyle/>
          <a:p>
            <a:fld id="{677A2CBA-E486-4DC8-8696-C7854B0A28FD}" type="slidenum">
              <a:rPr lang="zh-CN" altLang="en-US" smtClean="0"/>
              <a:t>79</a:t>
            </a:fld>
            <a:endParaRPr lang="zh-CN" altLang="en-US"/>
          </a:p>
        </p:txBody>
      </p:sp>
    </p:spTree>
    <p:extLst>
      <p:ext uri="{BB962C8B-B14F-4D97-AF65-F5344CB8AC3E}">
        <p14:creationId xmlns:p14="http://schemas.microsoft.com/office/powerpoint/2010/main" val="426537599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CA8F3-3B93-1B8C-54DC-B6CC240AFE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236760-565F-9112-F1CE-EDB5C50A50D3}"/>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3BDBC21C-0208-600A-7AA2-528A3C2554E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F93F0EEE-2516-E249-0BCD-2239EAB13221}"/>
              </a:ext>
            </a:extLst>
          </p:cNvPr>
          <p:cNvSpPr>
            <a:spLocks noGrp="1"/>
          </p:cNvSpPr>
          <p:nvPr>
            <p:ph type="sldNum" sz="quarter" idx="10"/>
          </p:nvPr>
        </p:nvSpPr>
        <p:spPr/>
        <p:txBody>
          <a:bodyPr/>
          <a:lstStyle/>
          <a:p>
            <a:fld id="{677A2CBA-E486-4DC8-8696-C7854B0A28FD}" type="slidenum">
              <a:rPr lang="zh-CN" altLang="en-US" smtClean="0"/>
              <a:t>80</a:t>
            </a:fld>
            <a:endParaRPr lang="zh-CN" altLang="en-US"/>
          </a:p>
        </p:txBody>
      </p:sp>
    </p:spTree>
    <p:extLst>
      <p:ext uri="{BB962C8B-B14F-4D97-AF65-F5344CB8AC3E}">
        <p14:creationId xmlns:p14="http://schemas.microsoft.com/office/powerpoint/2010/main" val="293629313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8A8FD-11B8-22C0-C334-3EBD804FF8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10C31C-E53D-FC5E-0B6C-57C8BE4E1855}"/>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645C24E8-25EA-3E7F-B7BC-C3CD4BA1B28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1F2DD4B-692D-3582-876D-FA5159B09683}"/>
              </a:ext>
            </a:extLst>
          </p:cNvPr>
          <p:cNvSpPr>
            <a:spLocks noGrp="1"/>
          </p:cNvSpPr>
          <p:nvPr>
            <p:ph type="sldNum" sz="quarter" idx="10"/>
          </p:nvPr>
        </p:nvSpPr>
        <p:spPr/>
        <p:txBody>
          <a:bodyPr/>
          <a:lstStyle/>
          <a:p>
            <a:fld id="{677A2CBA-E486-4DC8-8696-C7854B0A28FD}" type="slidenum">
              <a:rPr lang="zh-CN" altLang="en-US" smtClean="0"/>
              <a:t>81</a:t>
            </a:fld>
            <a:endParaRPr lang="zh-CN" altLang="en-US"/>
          </a:p>
        </p:txBody>
      </p:sp>
    </p:spTree>
    <p:extLst>
      <p:ext uri="{BB962C8B-B14F-4D97-AF65-F5344CB8AC3E}">
        <p14:creationId xmlns:p14="http://schemas.microsoft.com/office/powerpoint/2010/main" val="265039664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8087F-996B-6321-6644-DE123DE889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73EAF3-782F-2C4D-95F9-97A4AE26DE29}"/>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0D4E0B16-44CF-FF3B-C540-4186957666C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C77941CF-AF72-475E-62B2-D00FF048DB14}"/>
              </a:ext>
            </a:extLst>
          </p:cNvPr>
          <p:cNvSpPr>
            <a:spLocks noGrp="1"/>
          </p:cNvSpPr>
          <p:nvPr>
            <p:ph type="sldNum" sz="quarter" idx="10"/>
          </p:nvPr>
        </p:nvSpPr>
        <p:spPr/>
        <p:txBody>
          <a:bodyPr/>
          <a:lstStyle/>
          <a:p>
            <a:fld id="{677A2CBA-E486-4DC8-8696-C7854B0A28FD}" type="slidenum">
              <a:rPr lang="zh-CN" altLang="en-US" smtClean="0"/>
              <a:t>82</a:t>
            </a:fld>
            <a:endParaRPr lang="zh-CN" altLang="en-US"/>
          </a:p>
        </p:txBody>
      </p:sp>
    </p:spTree>
    <p:extLst>
      <p:ext uri="{BB962C8B-B14F-4D97-AF65-F5344CB8AC3E}">
        <p14:creationId xmlns:p14="http://schemas.microsoft.com/office/powerpoint/2010/main" val="57637569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EDF69-9A5E-BCF6-84C4-BD563A531C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3ECF59-081A-406D-C4E9-69B88D24B273}"/>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829202F6-6CE5-76DC-B8D5-628563A43F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94541B12-C1AF-6E25-CBE2-1393B46797B0}"/>
              </a:ext>
            </a:extLst>
          </p:cNvPr>
          <p:cNvSpPr>
            <a:spLocks noGrp="1"/>
          </p:cNvSpPr>
          <p:nvPr>
            <p:ph type="sldNum" sz="quarter" idx="10"/>
          </p:nvPr>
        </p:nvSpPr>
        <p:spPr/>
        <p:txBody>
          <a:bodyPr/>
          <a:lstStyle/>
          <a:p>
            <a:fld id="{677A2CBA-E486-4DC8-8696-C7854B0A28FD}" type="slidenum">
              <a:rPr lang="zh-CN" altLang="en-US" smtClean="0"/>
              <a:t>83</a:t>
            </a:fld>
            <a:endParaRPr lang="zh-CN" altLang="en-US"/>
          </a:p>
        </p:txBody>
      </p:sp>
    </p:spTree>
    <p:extLst>
      <p:ext uri="{BB962C8B-B14F-4D97-AF65-F5344CB8AC3E}">
        <p14:creationId xmlns:p14="http://schemas.microsoft.com/office/powerpoint/2010/main" val="269645853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4D3BB-5A31-3E4A-7413-C8E95F8857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FAB705-5916-F5AA-60F6-028468ECBC2C}"/>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F8867A99-830C-62CA-5183-D1BAE9E7C4D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F19F656A-4365-A7F9-1DF7-E6710B8CC91D}"/>
              </a:ext>
            </a:extLst>
          </p:cNvPr>
          <p:cNvSpPr>
            <a:spLocks noGrp="1"/>
          </p:cNvSpPr>
          <p:nvPr>
            <p:ph type="sldNum" sz="quarter" idx="10"/>
          </p:nvPr>
        </p:nvSpPr>
        <p:spPr/>
        <p:txBody>
          <a:bodyPr/>
          <a:lstStyle/>
          <a:p>
            <a:fld id="{677A2CBA-E486-4DC8-8696-C7854B0A28FD}" type="slidenum">
              <a:rPr lang="zh-CN" altLang="en-US" smtClean="0"/>
              <a:t>84</a:t>
            </a:fld>
            <a:endParaRPr lang="zh-CN" altLang="en-US"/>
          </a:p>
        </p:txBody>
      </p:sp>
    </p:spTree>
    <p:extLst>
      <p:ext uri="{BB962C8B-B14F-4D97-AF65-F5344CB8AC3E}">
        <p14:creationId xmlns:p14="http://schemas.microsoft.com/office/powerpoint/2010/main" val="283431885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sz="1600" kern="1200">
                <a:solidFill>
                  <a:schemeClr val="tx1"/>
                </a:solidFill>
                <a:effectLst/>
                <a:latin typeface="微软雅黑" panose="020B0503020204020204" charset="-122"/>
                <a:ea typeface="微软雅黑" panose="020B0503020204020204" charset="-122"/>
                <a:cs typeface="+mn-cs"/>
              </a:rPr>
              <a:t>本文介绍了一种新型量子算法，旨在提高大规模机器学习模型的效率。首先证明量子计算有可能为梯度下降算法提供高效的解决方案。这是通过利用量子卡勒曼线性化将非线性梯度下降过程转换为线性系统来实现的，然后可以使用量子线性系统求解器（如 </a:t>
            </a:r>
            <a:r>
              <a:rPr lang="en-US" altLang="zh-CN" sz="1600" kern="1200">
                <a:solidFill>
                  <a:schemeClr val="tx1"/>
                </a:solidFill>
                <a:effectLst/>
                <a:latin typeface="微软雅黑" panose="020B0503020204020204" charset="-122"/>
                <a:ea typeface="微软雅黑" panose="020B0503020204020204" charset="-122"/>
                <a:cs typeface="+mn-cs"/>
              </a:rPr>
              <a:t>HHL </a:t>
            </a:r>
            <a:r>
              <a:rPr lang="zh-CN" altLang="en-US" sz="1600" kern="1200">
                <a:solidFill>
                  <a:schemeClr val="tx1"/>
                </a:solidFill>
                <a:effectLst/>
                <a:latin typeface="微软雅黑" panose="020B0503020204020204" charset="-122"/>
                <a:ea typeface="微软雅黑" panose="020B0503020204020204" charset="-122"/>
                <a:cs typeface="+mn-cs"/>
              </a:rPr>
              <a:t>算法）来求解。</a:t>
            </a:r>
            <a:endParaRPr lang="en-US" altLang="zh-CN" sz="1600" kern="1200">
              <a:solidFill>
                <a:schemeClr val="tx1"/>
              </a:solidFill>
              <a:effectLst/>
              <a:latin typeface="微软雅黑" panose="020B0503020204020204" charset="-122"/>
              <a:ea typeface="微软雅黑" panose="020B0503020204020204" charset="-122"/>
              <a:cs typeface="+mn-cs"/>
            </a:endParaRPr>
          </a:p>
          <a:p>
            <a:pPr algn="just"/>
            <a:endParaRPr lang="en-US" altLang="zh-CN" sz="1600" kern="1200">
              <a:solidFill>
                <a:schemeClr val="tx1"/>
              </a:solidFill>
              <a:effectLst/>
              <a:latin typeface="微软雅黑" panose="020B0503020204020204" charset="-122"/>
              <a:ea typeface="微软雅黑" panose="020B0503020204020204" charset="-122"/>
              <a:cs typeface="+mn-cs"/>
            </a:endParaRPr>
          </a:p>
          <a:p>
            <a:pPr algn="just"/>
            <a:r>
              <a:rPr lang="zh-CN" altLang="en-US" sz="1600" kern="1200">
                <a:solidFill>
                  <a:schemeClr val="tx1"/>
                </a:solidFill>
                <a:effectLst/>
                <a:latin typeface="微软雅黑" panose="020B0503020204020204" charset="-122"/>
                <a:ea typeface="微软雅黑" panose="020B0503020204020204" charset="-122"/>
                <a:cs typeface="+mn-cs"/>
              </a:rPr>
              <a:t>未来研究包括在梯度下降轨迹中开发替代的时间依赖，识别更好的耗散形式标准，并试图对截断</a:t>
            </a:r>
            <a:r>
              <a:rPr lang="en-US" altLang="zh-CN" sz="1600" kern="1200">
                <a:solidFill>
                  <a:schemeClr val="tx1"/>
                </a:solidFill>
                <a:effectLst/>
                <a:latin typeface="微软雅黑" panose="020B0503020204020204" charset="-122"/>
                <a:ea typeface="微软雅黑" panose="020B0503020204020204" charset="-122"/>
                <a:cs typeface="+mn-cs"/>
              </a:rPr>
              <a:t>HHL</a:t>
            </a:r>
            <a:r>
              <a:rPr lang="zh-CN" altLang="en-US" sz="1600" kern="1200">
                <a:solidFill>
                  <a:schemeClr val="tx1"/>
                </a:solidFill>
                <a:effectLst/>
                <a:latin typeface="微软雅黑" panose="020B0503020204020204" charset="-122"/>
                <a:ea typeface="微软雅黑" panose="020B0503020204020204" charset="-122"/>
                <a:cs typeface="+mn-cs"/>
              </a:rPr>
              <a:t>算法的理论改进，以及识别超越耗散概念的可能量子加速机制。</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85</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sz="1600" kern="1200">
                <a:solidFill>
                  <a:schemeClr val="tx1"/>
                </a:solidFill>
                <a:effectLst/>
                <a:latin typeface="微软雅黑" panose="020B0503020204020204" charset="-122"/>
                <a:ea typeface="微软雅黑" panose="020B0503020204020204" charset="-122"/>
                <a:cs typeface="+mn-cs"/>
              </a:rPr>
              <a:t>未来的研究将引入量子谱编码方法，利用其增强时序表示的能力，用于自适应状态估计中的不确定性量化；同时，将把量子神经网络（</a:t>
            </a:r>
            <a:r>
              <a:rPr lang="en-US" altLang="zh-CN" sz="1600" kern="1200">
                <a:solidFill>
                  <a:schemeClr val="tx1"/>
                </a:solidFill>
                <a:effectLst/>
                <a:latin typeface="微软雅黑" panose="020B0503020204020204" charset="-122"/>
                <a:ea typeface="微软雅黑" panose="020B0503020204020204" charset="-122"/>
                <a:cs typeface="+mn-cs"/>
              </a:rPr>
              <a:t>QNNs</a:t>
            </a:r>
            <a:r>
              <a:rPr lang="zh-CN" altLang="en-US" sz="1600" kern="1200">
                <a:solidFill>
                  <a:schemeClr val="tx1"/>
                </a:solidFill>
                <a:effectLst/>
                <a:latin typeface="微软雅黑" panose="020B0503020204020204" charset="-122"/>
                <a:ea typeface="微软雅黑" panose="020B0503020204020204" charset="-122"/>
                <a:cs typeface="+mn-cs"/>
              </a:rPr>
              <a:t>）作为优化模块与卡尔曼滤波器相结合，以提高状态估计的精度。</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86</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87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5" name="Footer Placeholder 4"/>
          <p:cNvSpPr>
            <a:spLocks noGrp="1"/>
          </p:cNvSpPr>
          <p:nvPr>
            <p:ph type="ftr" sz="quarter" idx="11"/>
          </p:nvPr>
        </p:nvSpPr>
        <p:spPr/>
        <p:txBody>
          <a:bodyPr/>
          <a:lstStyle/>
          <a:p>
            <a:endParaRPr lang="zh-HK" altLang="en-US"/>
          </a:p>
        </p:txBody>
      </p:sp>
      <p:grpSp>
        <p:nvGrpSpPr>
          <p:cNvPr id="7" name="组合 6"/>
          <p:cNvGrpSpPr/>
          <p:nvPr userDrawn="1"/>
        </p:nvGrpSpPr>
        <p:grpSpPr>
          <a:xfrm>
            <a:off x="-1" y="6548011"/>
            <a:ext cx="12192001" cy="309989"/>
            <a:chOff x="0" y="6564501"/>
            <a:chExt cx="9144000" cy="292903"/>
          </a:xfrm>
        </p:grpSpPr>
        <p:sp>
          <p:nvSpPr>
            <p:cNvPr id="8" name="矩形 7"/>
            <p:cNvSpPr/>
            <p:nvPr/>
          </p:nvSpPr>
          <p:spPr>
            <a:xfrm>
              <a:off x="8854294" y="6564501"/>
              <a:ext cx="289706" cy="288000"/>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 name="灯片编号占位符 5"/>
          <p:cNvSpPr txBox="1"/>
          <p:nvPr userDrawn="1"/>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a:t>
            </a:fld>
            <a:endParaRPr lang="zh-HK" altLang="en-US" sz="1600" dirty="0">
              <a:solidFill>
                <a:schemeClr val="bg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Footer Placeholder 4"/>
          <p:cNvSpPr>
            <a:spLocks noGrp="1"/>
          </p:cNvSpPr>
          <p:nvPr>
            <p:ph type="ftr" sz="quarter" idx="11"/>
          </p:nvPr>
        </p:nvSpPr>
        <p:spPr/>
        <p:txBody>
          <a:bodyPr/>
          <a:lstStyle/>
          <a:p>
            <a:endParaRPr lang="zh-HK" altLang="en-US" dirty="0"/>
          </a:p>
        </p:txBody>
      </p:sp>
      <p:pic>
        <p:nvPicPr>
          <p:cNvPr id="7" name="图片 6"/>
          <p:cNvPicPr>
            <a:picLocks noChangeAspect="1"/>
          </p:cNvPicPr>
          <p:nvPr userDrawn="1"/>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3FA986A-FE73-4398-9AE5-9B401A3A8672}" type="datetime1">
              <a:rPr lang="zh-HK" altLang="en-US" smtClean="0"/>
              <a:t>4/10/2026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02CEBE9A-D6CF-409F-8B35-536E38E32E00}" type="datetime1">
              <a:rPr lang="zh-HK" altLang="en-US" smtClean="0"/>
              <a:t>4/10/2026</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860B113-B6BB-456A-948C-909854A2CE25}" type="datetime1">
              <a:rPr lang="zh-HK" altLang="en-US" smtClean="0"/>
              <a:t>4/10/2026</a:t>
            </a:fld>
            <a:endParaRPr lang="zh-HK" altLang="en-US"/>
          </a:p>
        </p:txBody>
      </p:sp>
      <p:sp>
        <p:nvSpPr>
          <p:cNvPr id="8" name="Footer Placeholder 7"/>
          <p:cNvSpPr>
            <a:spLocks noGrp="1"/>
          </p:cNvSpPr>
          <p:nvPr>
            <p:ph type="ftr" sz="quarter" idx="11"/>
          </p:nvPr>
        </p:nvSpPr>
        <p:spPr/>
        <p:txBody>
          <a:bodyPr/>
          <a:lstStyle/>
          <a:p>
            <a:endParaRPr lang="zh-HK" alt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AAF73846-97E0-4FFF-B076-3986A5617372}" type="datetime1">
              <a:rPr lang="zh-HK" altLang="en-US" smtClean="0"/>
              <a:t>4/10/2026</a:t>
            </a:fld>
            <a:endParaRPr lang="zh-HK" altLang="en-US"/>
          </a:p>
        </p:txBody>
      </p:sp>
      <p:sp>
        <p:nvSpPr>
          <p:cNvPr id="4" name="Footer Placeholder 3"/>
          <p:cNvSpPr>
            <a:spLocks noGrp="1"/>
          </p:cNvSpPr>
          <p:nvPr>
            <p:ph type="ftr" sz="quarter" idx="11"/>
          </p:nvPr>
        </p:nvSpPr>
        <p:spPr/>
        <p:txBody>
          <a:bodyPr/>
          <a:lstStyle/>
          <a:p>
            <a:endParaRPr lang="zh-HK" alt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883798C-AF67-42D6-828B-2970DD555736}" type="datetime1">
              <a:rPr lang="zh-HK" altLang="en-US" smtClean="0"/>
              <a:t>4/10/2026</a:t>
            </a:fld>
            <a:endParaRPr lang="zh-HK" altLang="en-US"/>
          </a:p>
        </p:txBody>
      </p:sp>
      <p:sp>
        <p:nvSpPr>
          <p:cNvPr id="3" name="Footer Placeholder 2"/>
          <p:cNvSpPr>
            <a:spLocks noGrp="1"/>
          </p:cNvSpPr>
          <p:nvPr>
            <p:ph type="ftr" sz="quarter" idx="11"/>
          </p:nvPr>
        </p:nvSpPr>
        <p:spPr/>
        <p:txBody>
          <a:bodyPr/>
          <a:lstStyle/>
          <a:p>
            <a:endParaRPr lang="zh-HK" alt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721BB204-8DBB-4C44-9B30-9DD9D703E0DA}" type="datetime1">
              <a:rPr lang="zh-HK" altLang="en-US" smtClean="0"/>
              <a:t>4/10/2026</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0DC8259E-C15E-44C8-BC29-FA4578202D53}" type="datetime1">
              <a:rPr lang="zh-HK" altLang="en-US" smtClean="0"/>
              <a:t>4/10/2026</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29C0749D-2F59-4EC7-BBFF-A9307FBB7504}" type="datetime1">
              <a:rPr lang="zh-HK" altLang="en-US" smtClean="0"/>
              <a:t>4/10/2026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ED9A26AC-1923-4427-B4CD-19CD4F07AC4B}" type="datetime1">
              <a:rPr lang="zh-HK" altLang="en-US" smtClean="0"/>
              <a:t>4/10/2026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60539F5-6FE0-462E-8801-6C439ED55DD0}" type="datetime1">
              <a:rPr lang="zh-HK" altLang="en-US" smtClean="0">
                <a:solidFill>
                  <a:prstClr val="black">
                    <a:tint val="75000"/>
                  </a:prstClr>
                </a:solidFill>
              </a:rPr>
              <a:t>4/10/2026</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C47E231-8E48-434B-9644-8EFCA1F3D642}" type="datetime1">
              <a:rPr lang="zh-HK" altLang="en-US" smtClean="0">
                <a:solidFill>
                  <a:prstClr val="black">
                    <a:tint val="75000"/>
                  </a:prstClr>
                </a:solidFill>
              </a:rPr>
              <a:t>4/10/2026</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FC38EA1-C396-483E-8A5E-9E425BDFD51A}" type="datetime1">
              <a:rPr lang="zh-HK" altLang="en-US" smtClean="0">
                <a:solidFill>
                  <a:prstClr val="black">
                    <a:tint val="75000"/>
                  </a:prstClr>
                </a:solidFill>
              </a:rPr>
              <a:t>4/10/2026</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800D9915-9474-4789-A728-2794EAF01914}" type="datetime1">
              <a:rPr lang="zh-HK" altLang="en-US" smtClean="0">
                <a:solidFill>
                  <a:prstClr val="black">
                    <a:tint val="75000"/>
                  </a:prstClr>
                </a:solidFill>
              </a:rPr>
              <a:t>4/10/2026</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73671A44-F950-4B7A-AC4F-B97F35CA1D88}" type="datetime1">
              <a:rPr lang="zh-HK" altLang="en-US" smtClean="0">
                <a:solidFill>
                  <a:prstClr val="black">
                    <a:tint val="75000"/>
                  </a:prstClr>
                </a:solidFill>
              </a:rPr>
              <a:t>4/10/2026</a:t>
            </a:fld>
            <a:endParaRPr lang="zh-HK"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HK"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9F8A491-66AD-4349-90C4-46A92855ED2C}" type="datetime1">
              <a:rPr lang="zh-HK" altLang="en-US" smtClean="0">
                <a:solidFill>
                  <a:prstClr val="black">
                    <a:tint val="75000"/>
                  </a:prstClr>
                </a:solidFill>
              </a:rPr>
              <a:t>4/10/2026</a:t>
            </a:fld>
            <a:endParaRPr lang="zh-HK"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HK"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201FAA-338E-485B-B115-2C62AD2A5A1C}" type="datetime1">
              <a:rPr lang="zh-HK" altLang="en-US" smtClean="0">
                <a:solidFill>
                  <a:prstClr val="black">
                    <a:tint val="75000"/>
                  </a:prstClr>
                </a:solidFill>
              </a:rPr>
              <a:t>4/10/2026</a:t>
            </a:fld>
            <a:endParaRPr lang="zh-HK"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HK" altLang="en-US">
              <a:solidFill>
                <a:prstClr val="black">
                  <a:tint val="75000"/>
                </a:prstClr>
              </a:solidFill>
            </a:endParaRPr>
          </a:p>
        </p:txBody>
      </p:sp>
      <p:sp>
        <p:nvSpPr>
          <p:cNvPr id="4" name="Slide Number Placeholder 3"/>
          <p:cNvSpPr>
            <a:spLocks noGrp="1"/>
          </p:cNvSpPr>
          <p:nvPr>
            <p:ph type="sldNum" sz="quarter" idx="12"/>
          </p:nvPr>
        </p:nvSpPr>
        <p:spPr>
          <a:xfrm>
            <a:off x="11784000" y="6478905"/>
            <a:ext cx="408000" cy="365125"/>
          </a:xfrm>
        </p:spPr>
        <p:txBody>
          <a:bodyPr/>
          <a:lstStyle>
            <a:lvl1pPr>
              <a:defRPr>
                <a:solidFill>
                  <a:schemeClr val="bg1"/>
                </a:solidFill>
                <a:latin typeface="Times New Roman" panose="02020603050405020304" pitchFamily="18" charset="0"/>
                <a:cs typeface="Times New Roman" panose="02020603050405020304" pitchFamily="18" charset="0"/>
              </a:defRPr>
            </a:lvl1pPr>
          </a:lstStyle>
          <a:p>
            <a:fld id="{8592E714-8771-4256-B120-A1444CD7D5F3}" type="slidenum">
              <a:rPr lang="zh-HK" altLang="en-US" smtClean="0"/>
              <a:t>‹#›</a:t>
            </a:fld>
            <a:endParaRPr lang="zh-HK"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A5B1DE-47B3-429F-89C9-1DFC8A28EB62}" type="datetime1">
              <a:rPr lang="zh-HK" altLang="en-US" smtClean="0">
                <a:solidFill>
                  <a:prstClr val="black">
                    <a:tint val="75000"/>
                  </a:prstClr>
                </a:solidFill>
              </a:rPr>
              <a:t>4/10/2026</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FC4DCC9-7DC2-4FFC-8CFA-8A291754AFD9}" type="datetime1">
              <a:rPr lang="zh-HK" altLang="en-US" smtClean="0">
                <a:solidFill>
                  <a:prstClr val="black">
                    <a:tint val="75000"/>
                  </a:prstClr>
                </a:solidFill>
              </a:rPr>
              <a:t>4/10/2026</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C26E2CC-B67F-44F4-8E63-3D2110F32D98}" type="datetime1">
              <a:rPr lang="zh-HK" altLang="en-US" smtClean="0">
                <a:solidFill>
                  <a:prstClr val="black">
                    <a:tint val="75000"/>
                  </a:prstClr>
                </a:solidFill>
              </a:rPr>
              <a:t>4/10/2026</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7FBA692-3A9E-4ECC-B70F-39A38E6FDC85}" type="datetime1">
              <a:rPr lang="zh-HK" altLang="en-US" smtClean="0">
                <a:solidFill>
                  <a:prstClr val="black">
                    <a:tint val="75000"/>
                  </a:prstClr>
                </a:solidFill>
              </a:rPr>
              <a:t>4/10/2026</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p>
        </p:txBody>
      </p:sp>
      <p:grpSp>
        <p:nvGrpSpPr>
          <p:cNvPr id="13" name="组合 12"/>
          <p:cNvGrpSpPr/>
          <p:nvPr userDrawn="1"/>
        </p:nvGrpSpPr>
        <p:grpSpPr>
          <a:xfrm>
            <a:off x="-1" y="6548011"/>
            <a:ext cx="12192001" cy="309989"/>
            <a:chOff x="0" y="6564501"/>
            <a:chExt cx="9144000" cy="292903"/>
          </a:xfrm>
        </p:grpSpPr>
        <p:sp>
          <p:nvSpPr>
            <p:cNvPr id="14" name="矩形 13"/>
            <p:cNvSpPr/>
            <p:nvPr/>
          </p:nvSpPr>
          <p:spPr>
            <a:xfrm>
              <a:off x="8854294" y="6564501"/>
              <a:ext cx="289706" cy="288000"/>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5" name="矩形 1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6" name="灯片编号占位符 5"/>
          <p:cNvSpPr txBox="1"/>
          <p:nvPr userDrawn="1"/>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a:t>
            </a:fld>
            <a:endParaRPr lang="zh-HK" altLang="en-US" sz="16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40BDA6-FB1E-4C60-AF08-640F56201863}" type="datetime1">
              <a:rPr lang="zh-HK" altLang="en-US" smtClean="0">
                <a:solidFill>
                  <a:prstClr val="black">
                    <a:tint val="75000"/>
                  </a:prstClr>
                </a:solidFill>
              </a:rPr>
              <a:t>4/10/2026</a:t>
            </a:fld>
            <a:endParaRPr lang="zh-HK" alt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solidFill>
                <a:prstClr val="black">
                  <a:tint val="75000"/>
                </a:prstClr>
              </a:solidFill>
            </a:endParaRPr>
          </a:p>
        </p:txBody>
      </p:sp>
      <p:sp>
        <p:nvSpPr>
          <p:cNvPr id="6" name="Slide Number Placeholder 5"/>
          <p:cNvSpPr>
            <a:spLocks noGrp="1"/>
          </p:cNvSpPr>
          <p:nvPr>
            <p:ph type="sldNum" sz="quarter" idx="4"/>
          </p:nvPr>
        </p:nvSpPr>
        <p:spPr>
          <a:xfrm>
            <a:off x="11712000" y="6421664"/>
            <a:ext cx="367200" cy="365125"/>
          </a:xfrm>
          <a:prstGeom prst="rect">
            <a:avLst/>
          </a:prstGeom>
        </p:spPr>
        <p:txBody>
          <a:bodyPr vert="horz" lIns="91440" tIns="45720" rIns="91440" bIns="45720" rtlCol="0" anchor="ctr"/>
          <a:lstStyle>
            <a:lvl1pPr algn="r">
              <a:defRPr sz="1200">
                <a:solidFill>
                  <a:schemeClr val="bg1"/>
                </a:solidFill>
              </a:defRPr>
            </a:lvl1pPr>
          </a:lstStyle>
          <a:p>
            <a:fld id="{8592E714-8771-4256-B120-A1444CD7D5F3}" type="slidenum">
              <a:rPr lang="zh-HK" altLang="en-US" smtClean="0"/>
              <a:t>‹#›</a:t>
            </a:fld>
            <a:endParaRPr lang="zh-HK"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 Id="rId5" Type="http://schemas.microsoft.com/office/2007/relationships/hdphoto" Target="../media/hdphoto1.wdp"/><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tags" Target="../tags/tag16.xml"/><Relationship Id="rId18" Type="http://schemas.openxmlformats.org/officeDocument/2006/relationships/tags" Target="../tags/tag21.xml"/><Relationship Id="rId26" Type="http://schemas.openxmlformats.org/officeDocument/2006/relationships/tags" Target="../tags/tag29.xml"/><Relationship Id="rId3" Type="http://schemas.openxmlformats.org/officeDocument/2006/relationships/tags" Target="../tags/tag6.xml"/><Relationship Id="rId21" Type="http://schemas.openxmlformats.org/officeDocument/2006/relationships/tags" Target="../tags/tag24.xml"/><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tags" Target="../tags/tag20.xml"/><Relationship Id="rId25" Type="http://schemas.openxmlformats.org/officeDocument/2006/relationships/tags" Target="../tags/tag28.xml"/><Relationship Id="rId2" Type="http://schemas.openxmlformats.org/officeDocument/2006/relationships/tags" Target="../tags/tag5.xml"/><Relationship Id="rId16" Type="http://schemas.openxmlformats.org/officeDocument/2006/relationships/tags" Target="../tags/tag19.xml"/><Relationship Id="rId20" Type="http://schemas.openxmlformats.org/officeDocument/2006/relationships/tags" Target="../tags/tag23.xml"/><Relationship Id="rId29" Type="http://schemas.openxmlformats.org/officeDocument/2006/relationships/slideLayout" Target="../slideLayouts/slideLayout18.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24" Type="http://schemas.openxmlformats.org/officeDocument/2006/relationships/tags" Target="../tags/tag27.xml"/><Relationship Id="rId32" Type="http://schemas.microsoft.com/office/2007/relationships/hdphoto" Target="../media/hdphoto1.wdp"/><Relationship Id="rId5" Type="http://schemas.openxmlformats.org/officeDocument/2006/relationships/tags" Target="../tags/tag8.xml"/><Relationship Id="rId15" Type="http://schemas.openxmlformats.org/officeDocument/2006/relationships/tags" Target="../tags/tag18.xml"/><Relationship Id="rId23" Type="http://schemas.openxmlformats.org/officeDocument/2006/relationships/tags" Target="../tags/tag26.xml"/><Relationship Id="rId28" Type="http://schemas.openxmlformats.org/officeDocument/2006/relationships/tags" Target="../tags/tag31.xml"/><Relationship Id="rId10" Type="http://schemas.openxmlformats.org/officeDocument/2006/relationships/tags" Target="../tags/tag13.xml"/><Relationship Id="rId19" Type="http://schemas.openxmlformats.org/officeDocument/2006/relationships/tags" Target="../tags/tag22.xml"/><Relationship Id="rId31" Type="http://schemas.openxmlformats.org/officeDocument/2006/relationships/image" Target="../media/image1.png"/><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 Id="rId22" Type="http://schemas.openxmlformats.org/officeDocument/2006/relationships/tags" Target="../tags/tag25.xml"/><Relationship Id="rId27" Type="http://schemas.openxmlformats.org/officeDocument/2006/relationships/tags" Target="../tags/tag30.xml"/><Relationship Id="rId3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tags" Target="../tags/tag44.xml"/><Relationship Id="rId18" Type="http://schemas.openxmlformats.org/officeDocument/2006/relationships/tags" Target="../tags/tag49.xml"/><Relationship Id="rId26" Type="http://schemas.openxmlformats.org/officeDocument/2006/relationships/tags" Target="../tags/tag57.xml"/><Relationship Id="rId3" Type="http://schemas.openxmlformats.org/officeDocument/2006/relationships/tags" Target="../tags/tag34.xml"/><Relationship Id="rId21" Type="http://schemas.openxmlformats.org/officeDocument/2006/relationships/tags" Target="../tags/tag52.xml"/><Relationship Id="rId7" Type="http://schemas.openxmlformats.org/officeDocument/2006/relationships/tags" Target="../tags/tag38.xml"/><Relationship Id="rId12" Type="http://schemas.openxmlformats.org/officeDocument/2006/relationships/tags" Target="../tags/tag43.xml"/><Relationship Id="rId17" Type="http://schemas.openxmlformats.org/officeDocument/2006/relationships/tags" Target="../tags/tag48.xml"/><Relationship Id="rId25" Type="http://schemas.openxmlformats.org/officeDocument/2006/relationships/tags" Target="../tags/tag56.xml"/><Relationship Id="rId2" Type="http://schemas.openxmlformats.org/officeDocument/2006/relationships/tags" Target="../tags/tag33.xml"/><Relationship Id="rId16" Type="http://schemas.openxmlformats.org/officeDocument/2006/relationships/tags" Target="../tags/tag47.xml"/><Relationship Id="rId20" Type="http://schemas.openxmlformats.org/officeDocument/2006/relationships/tags" Target="../tags/tag51.xml"/><Relationship Id="rId29" Type="http://schemas.openxmlformats.org/officeDocument/2006/relationships/slideLayout" Target="../slideLayouts/slideLayout18.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tags" Target="../tags/tag42.xml"/><Relationship Id="rId24" Type="http://schemas.openxmlformats.org/officeDocument/2006/relationships/tags" Target="../tags/tag55.xml"/><Relationship Id="rId32" Type="http://schemas.microsoft.com/office/2007/relationships/hdphoto" Target="../media/hdphoto1.wdp"/><Relationship Id="rId5" Type="http://schemas.openxmlformats.org/officeDocument/2006/relationships/tags" Target="../tags/tag36.xml"/><Relationship Id="rId15" Type="http://schemas.openxmlformats.org/officeDocument/2006/relationships/tags" Target="../tags/tag46.xml"/><Relationship Id="rId23" Type="http://schemas.openxmlformats.org/officeDocument/2006/relationships/tags" Target="../tags/tag54.xml"/><Relationship Id="rId28" Type="http://schemas.openxmlformats.org/officeDocument/2006/relationships/tags" Target="../tags/tag59.xml"/><Relationship Id="rId10" Type="http://schemas.openxmlformats.org/officeDocument/2006/relationships/tags" Target="../tags/tag41.xml"/><Relationship Id="rId19" Type="http://schemas.openxmlformats.org/officeDocument/2006/relationships/tags" Target="../tags/tag50.xml"/><Relationship Id="rId31" Type="http://schemas.openxmlformats.org/officeDocument/2006/relationships/image" Target="../media/image1.png"/><Relationship Id="rId4" Type="http://schemas.openxmlformats.org/officeDocument/2006/relationships/tags" Target="../tags/tag35.xml"/><Relationship Id="rId9" Type="http://schemas.openxmlformats.org/officeDocument/2006/relationships/tags" Target="../tags/tag40.xml"/><Relationship Id="rId14" Type="http://schemas.openxmlformats.org/officeDocument/2006/relationships/tags" Target="../tags/tag45.xml"/><Relationship Id="rId22" Type="http://schemas.openxmlformats.org/officeDocument/2006/relationships/tags" Target="../tags/tag53.xml"/><Relationship Id="rId27" Type="http://schemas.openxmlformats.org/officeDocument/2006/relationships/tags" Target="../tags/tag58.xml"/><Relationship Id="rId3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8" Type="http://schemas.openxmlformats.org/officeDocument/2006/relationships/tags" Target="../tags/tag67.xml"/><Relationship Id="rId13" Type="http://schemas.openxmlformats.org/officeDocument/2006/relationships/tags" Target="../tags/tag72.xml"/><Relationship Id="rId18" Type="http://schemas.openxmlformats.org/officeDocument/2006/relationships/tags" Target="../tags/tag77.xml"/><Relationship Id="rId26" Type="http://schemas.openxmlformats.org/officeDocument/2006/relationships/tags" Target="../tags/tag85.xml"/><Relationship Id="rId3" Type="http://schemas.openxmlformats.org/officeDocument/2006/relationships/tags" Target="../tags/tag62.xml"/><Relationship Id="rId21" Type="http://schemas.openxmlformats.org/officeDocument/2006/relationships/tags" Target="../tags/tag80.xml"/><Relationship Id="rId7" Type="http://schemas.openxmlformats.org/officeDocument/2006/relationships/tags" Target="../tags/tag66.xml"/><Relationship Id="rId12" Type="http://schemas.openxmlformats.org/officeDocument/2006/relationships/tags" Target="../tags/tag71.xml"/><Relationship Id="rId17" Type="http://schemas.openxmlformats.org/officeDocument/2006/relationships/tags" Target="../tags/tag76.xml"/><Relationship Id="rId25" Type="http://schemas.openxmlformats.org/officeDocument/2006/relationships/tags" Target="../tags/tag84.xml"/><Relationship Id="rId2" Type="http://schemas.openxmlformats.org/officeDocument/2006/relationships/tags" Target="../tags/tag61.xml"/><Relationship Id="rId16" Type="http://schemas.openxmlformats.org/officeDocument/2006/relationships/tags" Target="../tags/tag75.xml"/><Relationship Id="rId20" Type="http://schemas.openxmlformats.org/officeDocument/2006/relationships/tags" Target="../tags/tag79.xml"/><Relationship Id="rId29" Type="http://schemas.openxmlformats.org/officeDocument/2006/relationships/slideLayout" Target="../slideLayouts/slideLayout18.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tags" Target="../tags/tag70.xml"/><Relationship Id="rId24" Type="http://schemas.openxmlformats.org/officeDocument/2006/relationships/tags" Target="../tags/tag83.xml"/><Relationship Id="rId32" Type="http://schemas.microsoft.com/office/2007/relationships/hdphoto" Target="../media/hdphoto1.wdp"/><Relationship Id="rId5" Type="http://schemas.openxmlformats.org/officeDocument/2006/relationships/tags" Target="../tags/tag64.xml"/><Relationship Id="rId15" Type="http://schemas.openxmlformats.org/officeDocument/2006/relationships/tags" Target="../tags/tag74.xml"/><Relationship Id="rId23" Type="http://schemas.openxmlformats.org/officeDocument/2006/relationships/tags" Target="../tags/tag82.xml"/><Relationship Id="rId28" Type="http://schemas.openxmlformats.org/officeDocument/2006/relationships/tags" Target="../tags/tag87.xml"/><Relationship Id="rId10" Type="http://schemas.openxmlformats.org/officeDocument/2006/relationships/tags" Target="../tags/tag69.xml"/><Relationship Id="rId19" Type="http://schemas.openxmlformats.org/officeDocument/2006/relationships/tags" Target="../tags/tag78.xml"/><Relationship Id="rId31" Type="http://schemas.openxmlformats.org/officeDocument/2006/relationships/image" Target="../media/image1.png"/><Relationship Id="rId4" Type="http://schemas.openxmlformats.org/officeDocument/2006/relationships/tags" Target="../tags/tag63.xml"/><Relationship Id="rId9" Type="http://schemas.openxmlformats.org/officeDocument/2006/relationships/tags" Target="../tags/tag68.xml"/><Relationship Id="rId14" Type="http://schemas.openxmlformats.org/officeDocument/2006/relationships/tags" Target="../tags/tag73.xml"/><Relationship Id="rId22" Type="http://schemas.openxmlformats.org/officeDocument/2006/relationships/tags" Target="../tags/tag81.xml"/><Relationship Id="rId27" Type="http://schemas.openxmlformats.org/officeDocument/2006/relationships/tags" Target="../tags/tag86.xml"/><Relationship Id="rId3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8.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8.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14.png"/><Relationship Id="rId7" Type="http://schemas.openxmlformats.org/officeDocument/2006/relationships/customXml" Target="../ink/ink2.xml"/><Relationship Id="rId12" Type="http://schemas.openxmlformats.org/officeDocument/2006/relationships/image" Target="../media/image95.png"/><Relationship Id="rId2" Type="http://schemas.openxmlformats.org/officeDocument/2006/relationships/notesSlide" Target="../notesSlides/notesSlide15.xml"/><Relationship Id="rId1" Type="http://schemas.openxmlformats.org/officeDocument/2006/relationships/slideLayout" Target="../slideLayouts/slideLayout18.xml"/><Relationship Id="rId6" Type="http://schemas.openxmlformats.org/officeDocument/2006/relationships/image" Target="../media/image93.png"/><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92.png"/><Relationship Id="rId4" Type="http://schemas.openxmlformats.org/officeDocument/2006/relationships/image" Target="../media/image15.png"/><Relationship Id="rId9" Type="http://schemas.openxmlformats.org/officeDocument/2006/relationships/customXml" Target="../ink/ink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tags" Target="../tags/tag100.xml"/><Relationship Id="rId18" Type="http://schemas.openxmlformats.org/officeDocument/2006/relationships/tags" Target="../tags/tag105.xml"/><Relationship Id="rId26" Type="http://schemas.openxmlformats.org/officeDocument/2006/relationships/tags" Target="../tags/tag113.xml"/><Relationship Id="rId3" Type="http://schemas.openxmlformats.org/officeDocument/2006/relationships/tags" Target="../tags/tag90.xml"/><Relationship Id="rId21" Type="http://schemas.openxmlformats.org/officeDocument/2006/relationships/tags" Target="../tags/tag108.xml"/><Relationship Id="rId7" Type="http://schemas.openxmlformats.org/officeDocument/2006/relationships/tags" Target="../tags/tag94.xml"/><Relationship Id="rId12" Type="http://schemas.openxmlformats.org/officeDocument/2006/relationships/tags" Target="../tags/tag99.xml"/><Relationship Id="rId17" Type="http://schemas.openxmlformats.org/officeDocument/2006/relationships/tags" Target="../tags/tag104.xml"/><Relationship Id="rId25" Type="http://schemas.openxmlformats.org/officeDocument/2006/relationships/tags" Target="../tags/tag112.xml"/><Relationship Id="rId2" Type="http://schemas.openxmlformats.org/officeDocument/2006/relationships/tags" Target="../tags/tag89.xml"/><Relationship Id="rId16" Type="http://schemas.openxmlformats.org/officeDocument/2006/relationships/tags" Target="../tags/tag103.xml"/><Relationship Id="rId20" Type="http://schemas.openxmlformats.org/officeDocument/2006/relationships/tags" Target="../tags/tag107.xml"/><Relationship Id="rId29" Type="http://schemas.openxmlformats.org/officeDocument/2006/relationships/slideLayout" Target="../slideLayouts/slideLayout18.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tags" Target="../tags/tag98.xml"/><Relationship Id="rId24" Type="http://schemas.openxmlformats.org/officeDocument/2006/relationships/tags" Target="../tags/tag111.xml"/><Relationship Id="rId32" Type="http://schemas.microsoft.com/office/2007/relationships/hdphoto" Target="../media/hdphoto1.wdp"/><Relationship Id="rId5" Type="http://schemas.openxmlformats.org/officeDocument/2006/relationships/tags" Target="../tags/tag92.xml"/><Relationship Id="rId15" Type="http://schemas.openxmlformats.org/officeDocument/2006/relationships/tags" Target="../tags/tag102.xml"/><Relationship Id="rId23" Type="http://schemas.openxmlformats.org/officeDocument/2006/relationships/tags" Target="../tags/tag110.xml"/><Relationship Id="rId28" Type="http://schemas.openxmlformats.org/officeDocument/2006/relationships/tags" Target="../tags/tag115.xml"/><Relationship Id="rId10" Type="http://schemas.openxmlformats.org/officeDocument/2006/relationships/tags" Target="../tags/tag97.xml"/><Relationship Id="rId19" Type="http://schemas.openxmlformats.org/officeDocument/2006/relationships/tags" Target="../tags/tag106.xml"/><Relationship Id="rId31" Type="http://schemas.openxmlformats.org/officeDocument/2006/relationships/image" Target="../media/image1.png"/><Relationship Id="rId4" Type="http://schemas.openxmlformats.org/officeDocument/2006/relationships/tags" Target="../tags/tag91.xml"/><Relationship Id="rId9" Type="http://schemas.openxmlformats.org/officeDocument/2006/relationships/tags" Target="../tags/tag96.xml"/><Relationship Id="rId14" Type="http://schemas.openxmlformats.org/officeDocument/2006/relationships/tags" Target="../tags/tag101.xml"/><Relationship Id="rId22" Type="http://schemas.openxmlformats.org/officeDocument/2006/relationships/tags" Target="../tags/tag109.xml"/><Relationship Id="rId27" Type="http://schemas.openxmlformats.org/officeDocument/2006/relationships/tags" Target="../tags/tag114.xml"/><Relationship Id="rId3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9.png"/><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22.png"/><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8" Type="http://schemas.openxmlformats.org/officeDocument/2006/relationships/tags" Target="../tags/tag127.xml"/><Relationship Id="rId13" Type="http://schemas.openxmlformats.org/officeDocument/2006/relationships/tags" Target="../tags/tag132.xml"/><Relationship Id="rId18" Type="http://schemas.openxmlformats.org/officeDocument/2006/relationships/tags" Target="../tags/tag137.xml"/><Relationship Id="rId26" Type="http://schemas.openxmlformats.org/officeDocument/2006/relationships/tags" Target="../tags/tag145.xml"/><Relationship Id="rId3" Type="http://schemas.openxmlformats.org/officeDocument/2006/relationships/tags" Target="../tags/tag122.xml"/><Relationship Id="rId21" Type="http://schemas.openxmlformats.org/officeDocument/2006/relationships/tags" Target="../tags/tag140.xml"/><Relationship Id="rId7" Type="http://schemas.openxmlformats.org/officeDocument/2006/relationships/tags" Target="../tags/tag126.xml"/><Relationship Id="rId12" Type="http://schemas.openxmlformats.org/officeDocument/2006/relationships/tags" Target="../tags/tag131.xml"/><Relationship Id="rId17" Type="http://schemas.openxmlformats.org/officeDocument/2006/relationships/tags" Target="../tags/tag136.xml"/><Relationship Id="rId25" Type="http://schemas.openxmlformats.org/officeDocument/2006/relationships/tags" Target="../tags/tag144.xml"/><Relationship Id="rId2" Type="http://schemas.openxmlformats.org/officeDocument/2006/relationships/tags" Target="../tags/tag121.xml"/><Relationship Id="rId16" Type="http://schemas.openxmlformats.org/officeDocument/2006/relationships/tags" Target="../tags/tag135.xml"/><Relationship Id="rId20" Type="http://schemas.openxmlformats.org/officeDocument/2006/relationships/tags" Target="../tags/tag139.xml"/><Relationship Id="rId29" Type="http://schemas.openxmlformats.org/officeDocument/2006/relationships/slideLayout" Target="../slideLayouts/slideLayout18.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tags" Target="../tags/tag130.xml"/><Relationship Id="rId24" Type="http://schemas.openxmlformats.org/officeDocument/2006/relationships/tags" Target="../tags/tag143.xml"/><Relationship Id="rId32" Type="http://schemas.microsoft.com/office/2007/relationships/hdphoto" Target="../media/hdphoto1.wdp"/><Relationship Id="rId5" Type="http://schemas.openxmlformats.org/officeDocument/2006/relationships/tags" Target="../tags/tag124.xml"/><Relationship Id="rId15" Type="http://schemas.openxmlformats.org/officeDocument/2006/relationships/tags" Target="../tags/tag134.xml"/><Relationship Id="rId23" Type="http://schemas.openxmlformats.org/officeDocument/2006/relationships/tags" Target="../tags/tag142.xml"/><Relationship Id="rId28" Type="http://schemas.openxmlformats.org/officeDocument/2006/relationships/tags" Target="../tags/tag147.xml"/><Relationship Id="rId10" Type="http://schemas.openxmlformats.org/officeDocument/2006/relationships/tags" Target="../tags/tag129.xml"/><Relationship Id="rId19" Type="http://schemas.openxmlformats.org/officeDocument/2006/relationships/tags" Target="../tags/tag138.xml"/><Relationship Id="rId31" Type="http://schemas.openxmlformats.org/officeDocument/2006/relationships/image" Target="../media/image1.png"/><Relationship Id="rId4" Type="http://schemas.openxmlformats.org/officeDocument/2006/relationships/tags" Target="../tags/tag123.xml"/><Relationship Id="rId9" Type="http://schemas.openxmlformats.org/officeDocument/2006/relationships/tags" Target="../tags/tag128.xml"/><Relationship Id="rId14" Type="http://schemas.openxmlformats.org/officeDocument/2006/relationships/tags" Target="../tags/tag133.xml"/><Relationship Id="rId22" Type="http://schemas.openxmlformats.org/officeDocument/2006/relationships/tags" Target="../tags/tag141.xml"/><Relationship Id="rId27" Type="http://schemas.openxmlformats.org/officeDocument/2006/relationships/tags" Target="../tags/tag146.xml"/><Relationship Id="rId3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hyperlink" Target="https://openreview.net/profile?id=~Xiu-Shen_Wei1" TargetMode="External"/><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8" Type="http://schemas.openxmlformats.org/officeDocument/2006/relationships/tags" Target="../tags/tag155.xml"/><Relationship Id="rId13" Type="http://schemas.openxmlformats.org/officeDocument/2006/relationships/tags" Target="../tags/tag160.xml"/><Relationship Id="rId18" Type="http://schemas.openxmlformats.org/officeDocument/2006/relationships/tags" Target="../tags/tag165.xml"/><Relationship Id="rId26" Type="http://schemas.openxmlformats.org/officeDocument/2006/relationships/tags" Target="../tags/tag173.xml"/><Relationship Id="rId3" Type="http://schemas.openxmlformats.org/officeDocument/2006/relationships/tags" Target="../tags/tag150.xml"/><Relationship Id="rId21" Type="http://schemas.openxmlformats.org/officeDocument/2006/relationships/tags" Target="../tags/tag168.xml"/><Relationship Id="rId7" Type="http://schemas.openxmlformats.org/officeDocument/2006/relationships/tags" Target="../tags/tag154.xml"/><Relationship Id="rId12" Type="http://schemas.openxmlformats.org/officeDocument/2006/relationships/tags" Target="../tags/tag159.xml"/><Relationship Id="rId17" Type="http://schemas.openxmlformats.org/officeDocument/2006/relationships/tags" Target="../tags/tag164.xml"/><Relationship Id="rId25" Type="http://schemas.openxmlformats.org/officeDocument/2006/relationships/tags" Target="../tags/tag172.xml"/><Relationship Id="rId2" Type="http://schemas.openxmlformats.org/officeDocument/2006/relationships/tags" Target="../tags/tag149.xml"/><Relationship Id="rId16" Type="http://schemas.openxmlformats.org/officeDocument/2006/relationships/tags" Target="../tags/tag163.xml"/><Relationship Id="rId20" Type="http://schemas.openxmlformats.org/officeDocument/2006/relationships/tags" Target="../tags/tag167.xml"/><Relationship Id="rId29" Type="http://schemas.openxmlformats.org/officeDocument/2006/relationships/slideLayout" Target="../slideLayouts/slideLayout18.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tags" Target="../tags/tag158.xml"/><Relationship Id="rId24" Type="http://schemas.openxmlformats.org/officeDocument/2006/relationships/tags" Target="../tags/tag171.xml"/><Relationship Id="rId32" Type="http://schemas.microsoft.com/office/2007/relationships/hdphoto" Target="../media/hdphoto1.wdp"/><Relationship Id="rId5" Type="http://schemas.openxmlformats.org/officeDocument/2006/relationships/tags" Target="../tags/tag152.xml"/><Relationship Id="rId15" Type="http://schemas.openxmlformats.org/officeDocument/2006/relationships/tags" Target="../tags/tag162.xml"/><Relationship Id="rId23" Type="http://schemas.openxmlformats.org/officeDocument/2006/relationships/tags" Target="../tags/tag170.xml"/><Relationship Id="rId28" Type="http://schemas.openxmlformats.org/officeDocument/2006/relationships/tags" Target="../tags/tag175.xml"/><Relationship Id="rId10" Type="http://schemas.openxmlformats.org/officeDocument/2006/relationships/tags" Target="../tags/tag157.xml"/><Relationship Id="rId19" Type="http://schemas.openxmlformats.org/officeDocument/2006/relationships/tags" Target="../tags/tag166.xml"/><Relationship Id="rId31"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tags" Target="../tags/tag156.xml"/><Relationship Id="rId14" Type="http://schemas.openxmlformats.org/officeDocument/2006/relationships/tags" Target="../tags/tag161.xml"/><Relationship Id="rId22" Type="http://schemas.openxmlformats.org/officeDocument/2006/relationships/tags" Target="../tags/tag169.xml"/><Relationship Id="rId27" Type="http://schemas.openxmlformats.org/officeDocument/2006/relationships/tags" Target="../tags/tag174.xml"/><Relationship Id="rId3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8" Type="http://schemas.openxmlformats.org/officeDocument/2006/relationships/tags" Target="../tags/tag183.xml"/><Relationship Id="rId13" Type="http://schemas.openxmlformats.org/officeDocument/2006/relationships/tags" Target="../tags/tag188.xml"/><Relationship Id="rId18" Type="http://schemas.openxmlformats.org/officeDocument/2006/relationships/tags" Target="../tags/tag193.xml"/><Relationship Id="rId26" Type="http://schemas.openxmlformats.org/officeDocument/2006/relationships/tags" Target="../tags/tag201.xml"/><Relationship Id="rId3" Type="http://schemas.openxmlformats.org/officeDocument/2006/relationships/tags" Target="../tags/tag178.xml"/><Relationship Id="rId21" Type="http://schemas.openxmlformats.org/officeDocument/2006/relationships/tags" Target="../tags/tag196.xml"/><Relationship Id="rId7" Type="http://schemas.openxmlformats.org/officeDocument/2006/relationships/tags" Target="../tags/tag182.xml"/><Relationship Id="rId12" Type="http://schemas.openxmlformats.org/officeDocument/2006/relationships/tags" Target="../tags/tag187.xml"/><Relationship Id="rId17" Type="http://schemas.openxmlformats.org/officeDocument/2006/relationships/tags" Target="../tags/tag192.xml"/><Relationship Id="rId25" Type="http://schemas.openxmlformats.org/officeDocument/2006/relationships/tags" Target="../tags/tag200.xml"/><Relationship Id="rId2" Type="http://schemas.openxmlformats.org/officeDocument/2006/relationships/tags" Target="../tags/tag177.xml"/><Relationship Id="rId16" Type="http://schemas.openxmlformats.org/officeDocument/2006/relationships/tags" Target="../tags/tag191.xml"/><Relationship Id="rId20" Type="http://schemas.openxmlformats.org/officeDocument/2006/relationships/tags" Target="../tags/tag195.xml"/><Relationship Id="rId29" Type="http://schemas.openxmlformats.org/officeDocument/2006/relationships/slideLayout" Target="../slideLayouts/slideLayout18.xml"/><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tags" Target="../tags/tag186.xml"/><Relationship Id="rId24" Type="http://schemas.openxmlformats.org/officeDocument/2006/relationships/tags" Target="../tags/tag199.xml"/><Relationship Id="rId32" Type="http://schemas.microsoft.com/office/2007/relationships/hdphoto" Target="../media/hdphoto1.wdp"/><Relationship Id="rId5" Type="http://schemas.openxmlformats.org/officeDocument/2006/relationships/tags" Target="../tags/tag180.xml"/><Relationship Id="rId15" Type="http://schemas.openxmlformats.org/officeDocument/2006/relationships/tags" Target="../tags/tag190.xml"/><Relationship Id="rId23" Type="http://schemas.openxmlformats.org/officeDocument/2006/relationships/tags" Target="../tags/tag198.xml"/><Relationship Id="rId28" Type="http://schemas.openxmlformats.org/officeDocument/2006/relationships/tags" Target="../tags/tag203.xml"/><Relationship Id="rId10" Type="http://schemas.openxmlformats.org/officeDocument/2006/relationships/tags" Target="../tags/tag185.xml"/><Relationship Id="rId19" Type="http://schemas.openxmlformats.org/officeDocument/2006/relationships/tags" Target="../tags/tag194.xml"/><Relationship Id="rId31" Type="http://schemas.openxmlformats.org/officeDocument/2006/relationships/image" Target="../media/image1.png"/><Relationship Id="rId4" Type="http://schemas.openxmlformats.org/officeDocument/2006/relationships/tags" Target="../tags/tag179.xml"/><Relationship Id="rId9" Type="http://schemas.openxmlformats.org/officeDocument/2006/relationships/tags" Target="../tags/tag184.xml"/><Relationship Id="rId14" Type="http://schemas.openxmlformats.org/officeDocument/2006/relationships/tags" Target="../tags/tag189.xml"/><Relationship Id="rId22" Type="http://schemas.openxmlformats.org/officeDocument/2006/relationships/tags" Target="../tags/tag197.xml"/><Relationship Id="rId27" Type="http://schemas.openxmlformats.org/officeDocument/2006/relationships/tags" Target="../tags/tag202.xml"/><Relationship Id="rId3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8" Type="http://schemas.openxmlformats.org/officeDocument/2006/relationships/tags" Target="../tags/tag211.xml"/><Relationship Id="rId13" Type="http://schemas.openxmlformats.org/officeDocument/2006/relationships/tags" Target="../tags/tag216.xml"/><Relationship Id="rId18" Type="http://schemas.openxmlformats.org/officeDocument/2006/relationships/tags" Target="../tags/tag221.xml"/><Relationship Id="rId26" Type="http://schemas.openxmlformats.org/officeDocument/2006/relationships/tags" Target="../tags/tag229.xml"/><Relationship Id="rId3" Type="http://schemas.openxmlformats.org/officeDocument/2006/relationships/tags" Target="../tags/tag206.xml"/><Relationship Id="rId21" Type="http://schemas.openxmlformats.org/officeDocument/2006/relationships/tags" Target="../tags/tag224.xml"/><Relationship Id="rId7" Type="http://schemas.openxmlformats.org/officeDocument/2006/relationships/tags" Target="../tags/tag210.xml"/><Relationship Id="rId12" Type="http://schemas.openxmlformats.org/officeDocument/2006/relationships/tags" Target="../tags/tag215.xml"/><Relationship Id="rId17" Type="http://schemas.openxmlformats.org/officeDocument/2006/relationships/tags" Target="../tags/tag220.xml"/><Relationship Id="rId25" Type="http://schemas.openxmlformats.org/officeDocument/2006/relationships/tags" Target="../tags/tag228.xml"/><Relationship Id="rId2" Type="http://schemas.openxmlformats.org/officeDocument/2006/relationships/tags" Target="../tags/tag205.xml"/><Relationship Id="rId16" Type="http://schemas.openxmlformats.org/officeDocument/2006/relationships/tags" Target="../tags/tag219.xml"/><Relationship Id="rId20" Type="http://schemas.openxmlformats.org/officeDocument/2006/relationships/tags" Target="../tags/tag223.xml"/><Relationship Id="rId29" Type="http://schemas.openxmlformats.org/officeDocument/2006/relationships/slideLayout" Target="../slideLayouts/slideLayout18.xml"/><Relationship Id="rId1" Type="http://schemas.openxmlformats.org/officeDocument/2006/relationships/tags" Target="../tags/tag204.xml"/><Relationship Id="rId6" Type="http://schemas.openxmlformats.org/officeDocument/2006/relationships/tags" Target="../tags/tag209.xml"/><Relationship Id="rId11" Type="http://schemas.openxmlformats.org/officeDocument/2006/relationships/tags" Target="../tags/tag214.xml"/><Relationship Id="rId24" Type="http://schemas.openxmlformats.org/officeDocument/2006/relationships/tags" Target="../tags/tag227.xml"/><Relationship Id="rId32" Type="http://schemas.microsoft.com/office/2007/relationships/hdphoto" Target="../media/hdphoto1.wdp"/><Relationship Id="rId5" Type="http://schemas.openxmlformats.org/officeDocument/2006/relationships/tags" Target="../tags/tag208.xml"/><Relationship Id="rId15" Type="http://schemas.openxmlformats.org/officeDocument/2006/relationships/tags" Target="../tags/tag218.xml"/><Relationship Id="rId23" Type="http://schemas.openxmlformats.org/officeDocument/2006/relationships/tags" Target="../tags/tag226.xml"/><Relationship Id="rId28" Type="http://schemas.openxmlformats.org/officeDocument/2006/relationships/tags" Target="../tags/tag231.xml"/><Relationship Id="rId10" Type="http://schemas.openxmlformats.org/officeDocument/2006/relationships/tags" Target="../tags/tag213.xml"/><Relationship Id="rId19" Type="http://schemas.openxmlformats.org/officeDocument/2006/relationships/tags" Target="../tags/tag222.xml"/><Relationship Id="rId31" Type="http://schemas.openxmlformats.org/officeDocument/2006/relationships/image" Target="../media/image1.png"/><Relationship Id="rId4" Type="http://schemas.openxmlformats.org/officeDocument/2006/relationships/tags" Target="../tags/tag207.xml"/><Relationship Id="rId9" Type="http://schemas.openxmlformats.org/officeDocument/2006/relationships/tags" Target="../tags/tag212.xml"/><Relationship Id="rId14" Type="http://schemas.openxmlformats.org/officeDocument/2006/relationships/tags" Target="../tags/tag217.xml"/><Relationship Id="rId22" Type="http://schemas.openxmlformats.org/officeDocument/2006/relationships/tags" Target="../tags/tag225.xml"/><Relationship Id="rId27" Type="http://schemas.openxmlformats.org/officeDocument/2006/relationships/tags" Target="../tags/tag230.xml"/><Relationship Id="rId3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8.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8.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18.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18.xml"/><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8" Type="http://schemas.openxmlformats.org/officeDocument/2006/relationships/tags" Target="../tags/tag239.xml"/><Relationship Id="rId13" Type="http://schemas.openxmlformats.org/officeDocument/2006/relationships/tags" Target="../tags/tag244.xml"/><Relationship Id="rId18" Type="http://schemas.openxmlformats.org/officeDocument/2006/relationships/tags" Target="../tags/tag249.xml"/><Relationship Id="rId26" Type="http://schemas.openxmlformats.org/officeDocument/2006/relationships/tags" Target="../tags/tag257.xml"/><Relationship Id="rId3" Type="http://schemas.openxmlformats.org/officeDocument/2006/relationships/tags" Target="../tags/tag234.xml"/><Relationship Id="rId21" Type="http://schemas.openxmlformats.org/officeDocument/2006/relationships/tags" Target="../tags/tag252.xml"/><Relationship Id="rId7" Type="http://schemas.openxmlformats.org/officeDocument/2006/relationships/tags" Target="../tags/tag238.xml"/><Relationship Id="rId12" Type="http://schemas.openxmlformats.org/officeDocument/2006/relationships/tags" Target="../tags/tag243.xml"/><Relationship Id="rId17" Type="http://schemas.openxmlformats.org/officeDocument/2006/relationships/tags" Target="../tags/tag248.xml"/><Relationship Id="rId25" Type="http://schemas.openxmlformats.org/officeDocument/2006/relationships/tags" Target="../tags/tag256.xml"/><Relationship Id="rId2" Type="http://schemas.openxmlformats.org/officeDocument/2006/relationships/tags" Target="../tags/tag233.xml"/><Relationship Id="rId16" Type="http://schemas.openxmlformats.org/officeDocument/2006/relationships/tags" Target="../tags/tag247.xml"/><Relationship Id="rId20" Type="http://schemas.openxmlformats.org/officeDocument/2006/relationships/tags" Target="../tags/tag251.xml"/><Relationship Id="rId29" Type="http://schemas.openxmlformats.org/officeDocument/2006/relationships/slideLayout" Target="../slideLayouts/slideLayout18.xml"/><Relationship Id="rId1" Type="http://schemas.openxmlformats.org/officeDocument/2006/relationships/tags" Target="../tags/tag232.xml"/><Relationship Id="rId6" Type="http://schemas.openxmlformats.org/officeDocument/2006/relationships/tags" Target="../tags/tag237.xml"/><Relationship Id="rId11" Type="http://schemas.openxmlformats.org/officeDocument/2006/relationships/tags" Target="../tags/tag242.xml"/><Relationship Id="rId24" Type="http://schemas.openxmlformats.org/officeDocument/2006/relationships/tags" Target="../tags/tag255.xml"/><Relationship Id="rId32" Type="http://schemas.microsoft.com/office/2007/relationships/hdphoto" Target="../media/hdphoto1.wdp"/><Relationship Id="rId5" Type="http://schemas.openxmlformats.org/officeDocument/2006/relationships/tags" Target="../tags/tag236.xml"/><Relationship Id="rId15" Type="http://schemas.openxmlformats.org/officeDocument/2006/relationships/tags" Target="../tags/tag246.xml"/><Relationship Id="rId23" Type="http://schemas.openxmlformats.org/officeDocument/2006/relationships/tags" Target="../tags/tag254.xml"/><Relationship Id="rId28" Type="http://schemas.openxmlformats.org/officeDocument/2006/relationships/tags" Target="../tags/tag259.xml"/><Relationship Id="rId10" Type="http://schemas.openxmlformats.org/officeDocument/2006/relationships/tags" Target="../tags/tag241.xml"/><Relationship Id="rId19" Type="http://schemas.openxmlformats.org/officeDocument/2006/relationships/tags" Target="../tags/tag250.xml"/><Relationship Id="rId31" Type="http://schemas.openxmlformats.org/officeDocument/2006/relationships/image" Target="../media/image1.png"/><Relationship Id="rId4" Type="http://schemas.openxmlformats.org/officeDocument/2006/relationships/tags" Target="../tags/tag235.xml"/><Relationship Id="rId9" Type="http://schemas.openxmlformats.org/officeDocument/2006/relationships/tags" Target="../tags/tag240.xml"/><Relationship Id="rId14" Type="http://schemas.openxmlformats.org/officeDocument/2006/relationships/tags" Target="../tags/tag245.xml"/><Relationship Id="rId22" Type="http://schemas.openxmlformats.org/officeDocument/2006/relationships/tags" Target="../tags/tag253.xml"/><Relationship Id="rId27" Type="http://schemas.openxmlformats.org/officeDocument/2006/relationships/tags" Target="../tags/tag258.xml"/><Relationship Id="rId3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61.xml"/><Relationship Id="rId1" Type="http://schemas.openxmlformats.org/officeDocument/2006/relationships/tags" Target="../tags/tag260.xml"/><Relationship Id="rId5" Type="http://schemas.openxmlformats.org/officeDocument/2006/relationships/image" Target="../media/image34.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63.xml"/><Relationship Id="rId1" Type="http://schemas.openxmlformats.org/officeDocument/2006/relationships/tags" Target="../tags/tag26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8" Type="http://schemas.openxmlformats.org/officeDocument/2006/relationships/tags" Target="../tags/tag271.xml"/><Relationship Id="rId13" Type="http://schemas.openxmlformats.org/officeDocument/2006/relationships/tags" Target="../tags/tag276.xml"/><Relationship Id="rId18" Type="http://schemas.openxmlformats.org/officeDocument/2006/relationships/tags" Target="../tags/tag281.xml"/><Relationship Id="rId26" Type="http://schemas.openxmlformats.org/officeDocument/2006/relationships/tags" Target="../tags/tag289.xml"/><Relationship Id="rId3" Type="http://schemas.openxmlformats.org/officeDocument/2006/relationships/tags" Target="../tags/tag266.xml"/><Relationship Id="rId21" Type="http://schemas.openxmlformats.org/officeDocument/2006/relationships/tags" Target="../tags/tag284.xml"/><Relationship Id="rId7" Type="http://schemas.openxmlformats.org/officeDocument/2006/relationships/tags" Target="../tags/tag270.xml"/><Relationship Id="rId12" Type="http://schemas.openxmlformats.org/officeDocument/2006/relationships/tags" Target="../tags/tag275.xml"/><Relationship Id="rId17" Type="http://schemas.openxmlformats.org/officeDocument/2006/relationships/tags" Target="../tags/tag280.xml"/><Relationship Id="rId25" Type="http://schemas.openxmlformats.org/officeDocument/2006/relationships/tags" Target="../tags/tag288.xml"/><Relationship Id="rId2" Type="http://schemas.openxmlformats.org/officeDocument/2006/relationships/tags" Target="../tags/tag265.xml"/><Relationship Id="rId16" Type="http://schemas.openxmlformats.org/officeDocument/2006/relationships/tags" Target="../tags/tag279.xml"/><Relationship Id="rId20" Type="http://schemas.openxmlformats.org/officeDocument/2006/relationships/tags" Target="../tags/tag283.xml"/><Relationship Id="rId29" Type="http://schemas.openxmlformats.org/officeDocument/2006/relationships/slideLayout" Target="../slideLayouts/slideLayout18.xml"/><Relationship Id="rId1" Type="http://schemas.openxmlformats.org/officeDocument/2006/relationships/tags" Target="../tags/tag264.xml"/><Relationship Id="rId6" Type="http://schemas.openxmlformats.org/officeDocument/2006/relationships/tags" Target="../tags/tag269.xml"/><Relationship Id="rId11" Type="http://schemas.openxmlformats.org/officeDocument/2006/relationships/tags" Target="../tags/tag274.xml"/><Relationship Id="rId24" Type="http://schemas.openxmlformats.org/officeDocument/2006/relationships/tags" Target="../tags/tag287.xml"/><Relationship Id="rId32" Type="http://schemas.microsoft.com/office/2007/relationships/hdphoto" Target="../media/hdphoto1.wdp"/><Relationship Id="rId5" Type="http://schemas.openxmlformats.org/officeDocument/2006/relationships/tags" Target="../tags/tag268.xml"/><Relationship Id="rId15" Type="http://schemas.openxmlformats.org/officeDocument/2006/relationships/tags" Target="../tags/tag278.xml"/><Relationship Id="rId23" Type="http://schemas.openxmlformats.org/officeDocument/2006/relationships/tags" Target="../tags/tag286.xml"/><Relationship Id="rId28" Type="http://schemas.openxmlformats.org/officeDocument/2006/relationships/tags" Target="../tags/tag291.xml"/><Relationship Id="rId10" Type="http://schemas.openxmlformats.org/officeDocument/2006/relationships/tags" Target="../tags/tag273.xml"/><Relationship Id="rId19" Type="http://schemas.openxmlformats.org/officeDocument/2006/relationships/tags" Target="../tags/tag282.xml"/><Relationship Id="rId31" Type="http://schemas.openxmlformats.org/officeDocument/2006/relationships/image" Target="../media/image1.png"/><Relationship Id="rId4" Type="http://schemas.openxmlformats.org/officeDocument/2006/relationships/tags" Target="../tags/tag267.xml"/><Relationship Id="rId9" Type="http://schemas.openxmlformats.org/officeDocument/2006/relationships/tags" Target="../tags/tag272.xml"/><Relationship Id="rId14" Type="http://schemas.openxmlformats.org/officeDocument/2006/relationships/tags" Target="../tags/tag277.xml"/><Relationship Id="rId22" Type="http://schemas.openxmlformats.org/officeDocument/2006/relationships/tags" Target="../tags/tag285.xml"/><Relationship Id="rId27" Type="http://schemas.openxmlformats.org/officeDocument/2006/relationships/tags" Target="../tags/tag290.xml"/><Relationship Id="rId3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8" Type="http://schemas.openxmlformats.org/officeDocument/2006/relationships/tags" Target="../tags/tag299.xml"/><Relationship Id="rId13" Type="http://schemas.openxmlformats.org/officeDocument/2006/relationships/tags" Target="../tags/tag304.xml"/><Relationship Id="rId18" Type="http://schemas.openxmlformats.org/officeDocument/2006/relationships/tags" Target="../tags/tag309.xml"/><Relationship Id="rId26" Type="http://schemas.openxmlformats.org/officeDocument/2006/relationships/tags" Target="../tags/tag317.xml"/><Relationship Id="rId3" Type="http://schemas.openxmlformats.org/officeDocument/2006/relationships/tags" Target="../tags/tag294.xml"/><Relationship Id="rId21" Type="http://schemas.openxmlformats.org/officeDocument/2006/relationships/tags" Target="../tags/tag312.xml"/><Relationship Id="rId7" Type="http://schemas.openxmlformats.org/officeDocument/2006/relationships/tags" Target="../tags/tag298.xml"/><Relationship Id="rId12" Type="http://schemas.openxmlformats.org/officeDocument/2006/relationships/tags" Target="../tags/tag303.xml"/><Relationship Id="rId17" Type="http://schemas.openxmlformats.org/officeDocument/2006/relationships/tags" Target="../tags/tag308.xml"/><Relationship Id="rId25" Type="http://schemas.openxmlformats.org/officeDocument/2006/relationships/tags" Target="../tags/tag316.xml"/><Relationship Id="rId2" Type="http://schemas.openxmlformats.org/officeDocument/2006/relationships/tags" Target="../tags/tag293.xml"/><Relationship Id="rId16" Type="http://schemas.openxmlformats.org/officeDocument/2006/relationships/tags" Target="../tags/tag307.xml"/><Relationship Id="rId20" Type="http://schemas.openxmlformats.org/officeDocument/2006/relationships/tags" Target="../tags/tag311.xml"/><Relationship Id="rId29" Type="http://schemas.openxmlformats.org/officeDocument/2006/relationships/slideLayout" Target="../slideLayouts/slideLayout18.xml"/><Relationship Id="rId1" Type="http://schemas.openxmlformats.org/officeDocument/2006/relationships/tags" Target="../tags/tag292.xml"/><Relationship Id="rId6" Type="http://schemas.openxmlformats.org/officeDocument/2006/relationships/tags" Target="../tags/tag297.xml"/><Relationship Id="rId11" Type="http://schemas.openxmlformats.org/officeDocument/2006/relationships/tags" Target="../tags/tag302.xml"/><Relationship Id="rId24" Type="http://schemas.openxmlformats.org/officeDocument/2006/relationships/tags" Target="../tags/tag315.xml"/><Relationship Id="rId32" Type="http://schemas.microsoft.com/office/2007/relationships/hdphoto" Target="../media/hdphoto1.wdp"/><Relationship Id="rId5" Type="http://schemas.openxmlformats.org/officeDocument/2006/relationships/tags" Target="../tags/tag296.xml"/><Relationship Id="rId15" Type="http://schemas.openxmlformats.org/officeDocument/2006/relationships/tags" Target="../tags/tag306.xml"/><Relationship Id="rId23" Type="http://schemas.openxmlformats.org/officeDocument/2006/relationships/tags" Target="../tags/tag314.xml"/><Relationship Id="rId28" Type="http://schemas.openxmlformats.org/officeDocument/2006/relationships/tags" Target="../tags/tag319.xml"/><Relationship Id="rId10" Type="http://schemas.openxmlformats.org/officeDocument/2006/relationships/tags" Target="../tags/tag301.xml"/><Relationship Id="rId19" Type="http://schemas.openxmlformats.org/officeDocument/2006/relationships/tags" Target="../tags/tag310.xml"/><Relationship Id="rId31" Type="http://schemas.openxmlformats.org/officeDocument/2006/relationships/image" Target="../media/image1.png"/><Relationship Id="rId4" Type="http://schemas.openxmlformats.org/officeDocument/2006/relationships/tags" Target="../tags/tag295.xml"/><Relationship Id="rId9" Type="http://schemas.openxmlformats.org/officeDocument/2006/relationships/tags" Target="../tags/tag300.xml"/><Relationship Id="rId14" Type="http://schemas.openxmlformats.org/officeDocument/2006/relationships/tags" Target="../tags/tag305.xml"/><Relationship Id="rId22" Type="http://schemas.openxmlformats.org/officeDocument/2006/relationships/tags" Target="../tags/tag313.xml"/><Relationship Id="rId27" Type="http://schemas.openxmlformats.org/officeDocument/2006/relationships/tags" Target="../tags/tag318.xml"/><Relationship Id="rId30"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8" Type="http://schemas.openxmlformats.org/officeDocument/2006/relationships/tags" Target="../tags/tag327.xml"/><Relationship Id="rId13" Type="http://schemas.openxmlformats.org/officeDocument/2006/relationships/tags" Target="../tags/tag332.xml"/><Relationship Id="rId18" Type="http://schemas.openxmlformats.org/officeDocument/2006/relationships/tags" Target="../tags/tag337.xml"/><Relationship Id="rId26" Type="http://schemas.openxmlformats.org/officeDocument/2006/relationships/tags" Target="../tags/tag345.xml"/><Relationship Id="rId3" Type="http://schemas.openxmlformats.org/officeDocument/2006/relationships/tags" Target="../tags/tag322.xml"/><Relationship Id="rId21" Type="http://schemas.openxmlformats.org/officeDocument/2006/relationships/tags" Target="../tags/tag340.xml"/><Relationship Id="rId7" Type="http://schemas.openxmlformats.org/officeDocument/2006/relationships/tags" Target="../tags/tag326.xml"/><Relationship Id="rId12" Type="http://schemas.openxmlformats.org/officeDocument/2006/relationships/tags" Target="../tags/tag331.xml"/><Relationship Id="rId17" Type="http://schemas.openxmlformats.org/officeDocument/2006/relationships/tags" Target="../tags/tag336.xml"/><Relationship Id="rId25" Type="http://schemas.openxmlformats.org/officeDocument/2006/relationships/tags" Target="../tags/tag344.xml"/><Relationship Id="rId2" Type="http://schemas.openxmlformats.org/officeDocument/2006/relationships/tags" Target="../tags/tag321.xml"/><Relationship Id="rId16" Type="http://schemas.openxmlformats.org/officeDocument/2006/relationships/tags" Target="../tags/tag335.xml"/><Relationship Id="rId20" Type="http://schemas.openxmlformats.org/officeDocument/2006/relationships/tags" Target="../tags/tag339.xml"/><Relationship Id="rId29" Type="http://schemas.openxmlformats.org/officeDocument/2006/relationships/slideLayout" Target="../slideLayouts/slideLayout18.xml"/><Relationship Id="rId1" Type="http://schemas.openxmlformats.org/officeDocument/2006/relationships/tags" Target="../tags/tag320.xml"/><Relationship Id="rId6" Type="http://schemas.openxmlformats.org/officeDocument/2006/relationships/tags" Target="../tags/tag325.xml"/><Relationship Id="rId11" Type="http://schemas.openxmlformats.org/officeDocument/2006/relationships/tags" Target="../tags/tag330.xml"/><Relationship Id="rId24" Type="http://schemas.openxmlformats.org/officeDocument/2006/relationships/tags" Target="../tags/tag343.xml"/><Relationship Id="rId32" Type="http://schemas.microsoft.com/office/2007/relationships/hdphoto" Target="../media/hdphoto1.wdp"/><Relationship Id="rId5" Type="http://schemas.openxmlformats.org/officeDocument/2006/relationships/tags" Target="../tags/tag324.xml"/><Relationship Id="rId15" Type="http://schemas.openxmlformats.org/officeDocument/2006/relationships/tags" Target="../tags/tag334.xml"/><Relationship Id="rId23" Type="http://schemas.openxmlformats.org/officeDocument/2006/relationships/tags" Target="../tags/tag342.xml"/><Relationship Id="rId28" Type="http://schemas.openxmlformats.org/officeDocument/2006/relationships/tags" Target="../tags/tag347.xml"/><Relationship Id="rId10" Type="http://schemas.openxmlformats.org/officeDocument/2006/relationships/tags" Target="../tags/tag329.xml"/><Relationship Id="rId19" Type="http://schemas.openxmlformats.org/officeDocument/2006/relationships/tags" Target="../tags/tag338.xml"/><Relationship Id="rId31" Type="http://schemas.openxmlformats.org/officeDocument/2006/relationships/image" Target="../media/image1.png"/><Relationship Id="rId4" Type="http://schemas.openxmlformats.org/officeDocument/2006/relationships/tags" Target="../tags/tag323.xml"/><Relationship Id="rId9" Type="http://schemas.openxmlformats.org/officeDocument/2006/relationships/tags" Target="../tags/tag328.xml"/><Relationship Id="rId14" Type="http://schemas.openxmlformats.org/officeDocument/2006/relationships/tags" Target="../tags/tag333.xml"/><Relationship Id="rId22" Type="http://schemas.openxmlformats.org/officeDocument/2006/relationships/tags" Target="../tags/tag341.xml"/><Relationship Id="rId27" Type="http://schemas.openxmlformats.org/officeDocument/2006/relationships/tags" Target="../tags/tag346.xml"/><Relationship Id="rId30"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8" Type="http://schemas.openxmlformats.org/officeDocument/2006/relationships/tags" Target="../tags/tag355.xml"/><Relationship Id="rId13" Type="http://schemas.openxmlformats.org/officeDocument/2006/relationships/tags" Target="../tags/tag360.xml"/><Relationship Id="rId18" Type="http://schemas.openxmlformats.org/officeDocument/2006/relationships/tags" Target="../tags/tag365.xml"/><Relationship Id="rId26" Type="http://schemas.openxmlformats.org/officeDocument/2006/relationships/tags" Target="../tags/tag373.xml"/><Relationship Id="rId3" Type="http://schemas.openxmlformats.org/officeDocument/2006/relationships/tags" Target="../tags/tag350.xml"/><Relationship Id="rId21" Type="http://schemas.openxmlformats.org/officeDocument/2006/relationships/tags" Target="../tags/tag368.xml"/><Relationship Id="rId7" Type="http://schemas.openxmlformats.org/officeDocument/2006/relationships/tags" Target="../tags/tag354.xml"/><Relationship Id="rId12" Type="http://schemas.openxmlformats.org/officeDocument/2006/relationships/tags" Target="../tags/tag359.xml"/><Relationship Id="rId17" Type="http://schemas.openxmlformats.org/officeDocument/2006/relationships/tags" Target="../tags/tag364.xml"/><Relationship Id="rId25" Type="http://schemas.openxmlformats.org/officeDocument/2006/relationships/tags" Target="../tags/tag372.xml"/><Relationship Id="rId2" Type="http://schemas.openxmlformats.org/officeDocument/2006/relationships/tags" Target="../tags/tag349.xml"/><Relationship Id="rId16" Type="http://schemas.openxmlformats.org/officeDocument/2006/relationships/tags" Target="../tags/tag363.xml"/><Relationship Id="rId20" Type="http://schemas.openxmlformats.org/officeDocument/2006/relationships/tags" Target="../tags/tag367.xml"/><Relationship Id="rId29" Type="http://schemas.openxmlformats.org/officeDocument/2006/relationships/slideLayout" Target="../slideLayouts/slideLayout18.xml"/><Relationship Id="rId1" Type="http://schemas.openxmlformats.org/officeDocument/2006/relationships/tags" Target="../tags/tag348.xml"/><Relationship Id="rId6" Type="http://schemas.openxmlformats.org/officeDocument/2006/relationships/tags" Target="../tags/tag353.xml"/><Relationship Id="rId11" Type="http://schemas.openxmlformats.org/officeDocument/2006/relationships/tags" Target="../tags/tag358.xml"/><Relationship Id="rId24" Type="http://schemas.openxmlformats.org/officeDocument/2006/relationships/tags" Target="../tags/tag371.xml"/><Relationship Id="rId32" Type="http://schemas.microsoft.com/office/2007/relationships/hdphoto" Target="../media/hdphoto1.wdp"/><Relationship Id="rId5" Type="http://schemas.openxmlformats.org/officeDocument/2006/relationships/tags" Target="../tags/tag352.xml"/><Relationship Id="rId15" Type="http://schemas.openxmlformats.org/officeDocument/2006/relationships/tags" Target="../tags/tag362.xml"/><Relationship Id="rId23" Type="http://schemas.openxmlformats.org/officeDocument/2006/relationships/tags" Target="../tags/tag370.xml"/><Relationship Id="rId28" Type="http://schemas.openxmlformats.org/officeDocument/2006/relationships/tags" Target="../tags/tag375.xml"/><Relationship Id="rId10" Type="http://schemas.openxmlformats.org/officeDocument/2006/relationships/tags" Target="../tags/tag357.xml"/><Relationship Id="rId19" Type="http://schemas.openxmlformats.org/officeDocument/2006/relationships/tags" Target="../tags/tag366.xml"/><Relationship Id="rId31" Type="http://schemas.openxmlformats.org/officeDocument/2006/relationships/image" Target="../media/image1.png"/><Relationship Id="rId4" Type="http://schemas.openxmlformats.org/officeDocument/2006/relationships/tags" Target="../tags/tag351.xml"/><Relationship Id="rId9" Type="http://schemas.openxmlformats.org/officeDocument/2006/relationships/tags" Target="../tags/tag356.xml"/><Relationship Id="rId14" Type="http://schemas.openxmlformats.org/officeDocument/2006/relationships/tags" Target="../tags/tag361.xml"/><Relationship Id="rId22" Type="http://schemas.openxmlformats.org/officeDocument/2006/relationships/tags" Target="../tags/tag369.xml"/><Relationship Id="rId27" Type="http://schemas.openxmlformats.org/officeDocument/2006/relationships/tags" Target="../tags/tag374.xml"/><Relationship Id="rId30"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7.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8.xml"/><Relationship Id="rId1" Type="http://schemas.openxmlformats.org/officeDocument/2006/relationships/slideLayout" Target="../slideLayouts/slideLayout18.xml"/><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9.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1.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8" Type="http://schemas.openxmlformats.org/officeDocument/2006/relationships/tags" Target="../tags/tag383.xml"/><Relationship Id="rId13" Type="http://schemas.openxmlformats.org/officeDocument/2006/relationships/tags" Target="../tags/tag388.xml"/><Relationship Id="rId18" Type="http://schemas.openxmlformats.org/officeDocument/2006/relationships/tags" Target="../tags/tag393.xml"/><Relationship Id="rId26" Type="http://schemas.openxmlformats.org/officeDocument/2006/relationships/tags" Target="../tags/tag401.xml"/><Relationship Id="rId3" Type="http://schemas.openxmlformats.org/officeDocument/2006/relationships/tags" Target="../tags/tag378.xml"/><Relationship Id="rId21" Type="http://schemas.openxmlformats.org/officeDocument/2006/relationships/tags" Target="../tags/tag396.xml"/><Relationship Id="rId7" Type="http://schemas.openxmlformats.org/officeDocument/2006/relationships/tags" Target="../tags/tag382.xml"/><Relationship Id="rId12" Type="http://schemas.openxmlformats.org/officeDocument/2006/relationships/tags" Target="../tags/tag387.xml"/><Relationship Id="rId17" Type="http://schemas.openxmlformats.org/officeDocument/2006/relationships/tags" Target="../tags/tag392.xml"/><Relationship Id="rId25" Type="http://schemas.openxmlformats.org/officeDocument/2006/relationships/tags" Target="../tags/tag400.xml"/><Relationship Id="rId2" Type="http://schemas.openxmlformats.org/officeDocument/2006/relationships/tags" Target="../tags/tag377.xml"/><Relationship Id="rId16" Type="http://schemas.openxmlformats.org/officeDocument/2006/relationships/tags" Target="../tags/tag391.xml"/><Relationship Id="rId20" Type="http://schemas.openxmlformats.org/officeDocument/2006/relationships/tags" Target="../tags/tag395.xml"/><Relationship Id="rId29" Type="http://schemas.openxmlformats.org/officeDocument/2006/relationships/slideLayout" Target="../slideLayouts/slideLayout18.xml"/><Relationship Id="rId1" Type="http://schemas.openxmlformats.org/officeDocument/2006/relationships/tags" Target="../tags/tag376.xml"/><Relationship Id="rId6" Type="http://schemas.openxmlformats.org/officeDocument/2006/relationships/tags" Target="../tags/tag381.xml"/><Relationship Id="rId11" Type="http://schemas.openxmlformats.org/officeDocument/2006/relationships/tags" Target="../tags/tag386.xml"/><Relationship Id="rId24" Type="http://schemas.openxmlformats.org/officeDocument/2006/relationships/tags" Target="../tags/tag399.xml"/><Relationship Id="rId32" Type="http://schemas.microsoft.com/office/2007/relationships/hdphoto" Target="../media/hdphoto1.wdp"/><Relationship Id="rId5" Type="http://schemas.openxmlformats.org/officeDocument/2006/relationships/tags" Target="../tags/tag380.xml"/><Relationship Id="rId15" Type="http://schemas.openxmlformats.org/officeDocument/2006/relationships/tags" Target="../tags/tag390.xml"/><Relationship Id="rId23" Type="http://schemas.openxmlformats.org/officeDocument/2006/relationships/tags" Target="../tags/tag398.xml"/><Relationship Id="rId28" Type="http://schemas.openxmlformats.org/officeDocument/2006/relationships/tags" Target="../tags/tag403.xml"/><Relationship Id="rId10" Type="http://schemas.openxmlformats.org/officeDocument/2006/relationships/tags" Target="../tags/tag385.xml"/><Relationship Id="rId19" Type="http://schemas.openxmlformats.org/officeDocument/2006/relationships/tags" Target="../tags/tag394.xml"/><Relationship Id="rId31" Type="http://schemas.openxmlformats.org/officeDocument/2006/relationships/image" Target="../media/image1.png"/><Relationship Id="rId4" Type="http://schemas.openxmlformats.org/officeDocument/2006/relationships/tags" Target="../tags/tag379.xml"/><Relationship Id="rId9" Type="http://schemas.openxmlformats.org/officeDocument/2006/relationships/tags" Target="../tags/tag384.xml"/><Relationship Id="rId14" Type="http://schemas.openxmlformats.org/officeDocument/2006/relationships/tags" Target="../tags/tag389.xml"/><Relationship Id="rId22" Type="http://schemas.openxmlformats.org/officeDocument/2006/relationships/tags" Target="../tags/tag397.xml"/><Relationship Id="rId27" Type="http://schemas.openxmlformats.org/officeDocument/2006/relationships/tags" Target="../tags/tag402.xml"/><Relationship Id="rId30"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3.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4.xml"/><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5.xml"/><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6.xml"/><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50.png"/><Relationship Id="rId7" Type="http://schemas.openxmlformats.org/officeDocument/2006/relationships/customXml" Target="../ink/ink6.xml"/><Relationship Id="rId2" Type="http://schemas.openxmlformats.org/officeDocument/2006/relationships/notesSlide" Target="../notesSlides/notesSlide57.xml"/><Relationship Id="rId1" Type="http://schemas.openxmlformats.org/officeDocument/2006/relationships/slideLayout" Target="../slideLayouts/slideLayout18.xml"/><Relationship Id="rId6" Type="http://schemas.openxmlformats.org/officeDocument/2006/relationships/image" Target="../media/image103.png"/><Relationship Id="rId5" Type="http://schemas.openxmlformats.org/officeDocument/2006/relationships/customXml" Target="../ink/ink5.xml"/><Relationship Id="rId4" Type="http://schemas.openxmlformats.org/officeDocument/2006/relationships/image" Target="../media/image51.png"/></Relationships>
</file>

<file path=ppt/slides/_rels/slide5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8.xml"/><Relationship Id="rId1" Type="http://schemas.openxmlformats.org/officeDocument/2006/relationships/slideLayout" Target="../slideLayouts/slideLayout18.xml"/><Relationship Id="rId4" Type="http://schemas.openxmlformats.org/officeDocument/2006/relationships/image" Target="../media/image53.png"/></Relationships>
</file>

<file path=ppt/slides/_rels/slide59.xml.rels><?xml version="1.0" encoding="UTF-8" standalone="yes"?>
<Relationships xmlns="http://schemas.openxmlformats.org/package/2006/relationships"><Relationship Id="rId8" Type="http://schemas.openxmlformats.org/officeDocument/2006/relationships/tags" Target="../tags/tag411.xml"/><Relationship Id="rId13" Type="http://schemas.openxmlformats.org/officeDocument/2006/relationships/tags" Target="../tags/tag416.xml"/><Relationship Id="rId18" Type="http://schemas.openxmlformats.org/officeDocument/2006/relationships/tags" Target="../tags/tag421.xml"/><Relationship Id="rId26" Type="http://schemas.openxmlformats.org/officeDocument/2006/relationships/tags" Target="../tags/tag429.xml"/><Relationship Id="rId3" Type="http://schemas.openxmlformats.org/officeDocument/2006/relationships/tags" Target="../tags/tag406.xml"/><Relationship Id="rId21" Type="http://schemas.openxmlformats.org/officeDocument/2006/relationships/tags" Target="../tags/tag424.xml"/><Relationship Id="rId7" Type="http://schemas.openxmlformats.org/officeDocument/2006/relationships/tags" Target="../tags/tag410.xml"/><Relationship Id="rId12" Type="http://schemas.openxmlformats.org/officeDocument/2006/relationships/tags" Target="../tags/tag415.xml"/><Relationship Id="rId17" Type="http://schemas.openxmlformats.org/officeDocument/2006/relationships/tags" Target="../tags/tag420.xml"/><Relationship Id="rId25" Type="http://schemas.openxmlformats.org/officeDocument/2006/relationships/tags" Target="../tags/tag428.xml"/><Relationship Id="rId2" Type="http://schemas.openxmlformats.org/officeDocument/2006/relationships/tags" Target="../tags/tag405.xml"/><Relationship Id="rId16" Type="http://schemas.openxmlformats.org/officeDocument/2006/relationships/tags" Target="../tags/tag419.xml"/><Relationship Id="rId20" Type="http://schemas.openxmlformats.org/officeDocument/2006/relationships/tags" Target="../tags/tag423.xml"/><Relationship Id="rId29" Type="http://schemas.openxmlformats.org/officeDocument/2006/relationships/slideLayout" Target="../slideLayouts/slideLayout18.xml"/><Relationship Id="rId1" Type="http://schemas.openxmlformats.org/officeDocument/2006/relationships/tags" Target="../tags/tag404.xml"/><Relationship Id="rId6" Type="http://schemas.openxmlformats.org/officeDocument/2006/relationships/tags" Target="../tags/tag409.xml"/><Relationship Id="rId11" Type="http://schemas.openxmlformats.org/officeDocument/2006/relationships/tags" Target="../tags/tag414.xml"/><Relationship Id="rId24" Type="http://schemas.openxmlformats.org/officeDocument/2006/relationships/tags" Target="../tags/tag427.xml"/><Relationship Id="rId32" Type="http://schemas.microsoft.com/office/2007/relationships/hdphoto" Target="../media/hdphoto1.wdp"/><Relationship Id="rId5" Type="http://schemas.openxmlformats.org/officeDocument/2006/relationships/tags" Target="../tags/tag408.xml"/><Relationship Id="rId15" Type="http://schemas.openxmlformats.org/officeDocument/2006/relationships/tags" Target="../tags/tag418.xml"/><Relationship Id="rId23" Type="http://schemas.openxmlformats.org/officeDocument/2006/relationships/tags" Target="../tags/tag426.xml"/><Relationship Id="rId28" Type="http://schemas.openxmlformats.org/officeDocument/2006/relationships/tags" Target="../tags/tag431.xml"/><Relationship Id="rId10" Type="http://schemas.openxmlformats.org/officeDocument/2006/relationships/tags" Target="../tags/tag413.xml"/><Relationship Id="rId19" Type="http://schemas.openxmlformats.org/officeDocument/2006/relationships/tags" Target="../tags/tag422.xml"/><Relationship Id="rId31" Type="http://schemas.openxmlformats.org/officeDocument/2006/relationships/image" Target="../media/image1.png"/><Relationship Id="rId4" Type="http://schemas.openxmlformats.org/officeDocument/2006/relationships/tags" Target="../tags/tag407.xml"/><Relationship Id="rId9" Type="http://schemas.openxmlformats.org/officeDocument/2006/relationships/tags" Target="../tags/tag412.xml"/><Relationship Id="rId14" Type="http://schemas.openxmlformats.org/officeDocument/2006/relationships/tags" Target="../tags/tag417.xml"/><Relationship Id="rId22" Type="http://schemas.openxmlformats.org/officeDocument/2006/relationships/tags" Target="../tags/tag425.xml"/><Relationship Id="rId27" Type="http://schemas.openxmlformats.org/officeDocument/2006/relationships/tags" Target="../tags/tag430.xml"/><Relationship Id="rId30"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13.xml"/><Relationship Id="rId4" Type="http://schemas.microsoft.com/office/2007/relationships/hdphoto" Target="../media/hdphoto1.wdp"/></Relationships>
</file>

<file path=ppt/slides/_rels/slide62.xml.rels><?xml version="1.0" encoding="UTF-8" standalone="yes"?>
<Relationships xmlns="http://schemas.openxmlformats.org/package/2006/relationships"><Relationship Id="rId8" Type="http://schemas.openxmlformats.org/officeDocument/2006/relationships/tags" Target="../tags/tag439.xml"/><Relationship Id="rId13" Type="http://schemas.openxmlformats.org/officeDocument/2006/relationships/tags" Target="../tags/tag444.xml"/><Relationship Id="rId18" Type="http://schemas.openxmlformats.org/officeDocument/2006/relationships/tags" Target="../tags/tag449.xml"/><Relationship Id="rId26" Type="http://schemas.openxmlformats.org/officeDocument/2006/relationships/tags" Target="../tags/tag457.xml"/><Relationship Id="rId3" Type="http://schemas.openxmlformats.org/officeDocument/2006/relationships/tags" Target="../tags/tag434.xml"/><Relationship Id="rId21" Type="http://schemas.openxmlformats.org/officeDocument/2006/relationships/tags" Target="../tags/tag452.xml"/><Relationship Id="rId7" Type="http://schemas.openxmlformats.org/officeDocument/2006/relationships/tags" Target="../tags/tag438.xml"/><Relationship Id="rId12" Type="http://schemas.openxmlformats.org/officeDocument/2006/relationships/tags" Target="../tags/tag443.xml"/><Relationship Id="rId17" Type="http://schemas.openxmlformats.org/officeDocument/2006/relationships/tags" Target="../tags/tag448.xml"/><Relationship Id="rId25" Type="http://schemas.openxmlformats.org/officeDocument/2006/relationships/tags" Target="../tags/tag456.xml"/><Relationship Id="rId2" Type="http://schemas.openxmlformats.org/officeDocument/2006/relationships/tags" Target="../tags/tag433.xml"/><Relationship Id="rId16" Type="http://schemas.openxmlformats.org/officeDocument/2006/relationships/tags" Target="../tags/tag447.xml"/><Relationship Id="rId20" Type="http://schemas.openxmlformats.org/officeDocument/2006/relationships/tags" Target="../tags/tag451.xml"/><Relationship Id="rId29" Type="http://schemas.openxmlformats.org/officeDocument/2006/relationships/slideLayout" Target="../slideLayouts/slideLayout18.xml"/><Relationship Id="rId1" Type="http://schemas.openxmlformats.org/officeDocument/2006/relationships/tags" Target="../tags/tag432.xml"/><Relationship Id="rId6" Type="http://schemas.openxmlformats.org/officeDocument/2006/relationships/tags" Target="../tags/tag437.xml"/><Relationship Id="rId11" Type="http://schemas.openxmlformats.org/officeDocument/2006/relationships/tags" Target="../tags/tag442.xml"/><Relationship Id="rId24" Type="http://schemas.openxmlformats.org/officeDocument/2006/relationships/tags" Target="../tags/tag455.xml"/><Relationship Id="rId32" Type="http://schemas.microsoft.com/office/2007/relationships/hdphoto" Target="../media/hdphoto1.wdp"/><Relationship Id="rId5" Type="http://schemas.openxmlformats.org/officeDocument/2006/relationships/tags" Target="../tags/tag436.xml"/><Relationship Id="rId15" Type="http://schemas.openxmlformats.org/officeDocument/2006/relationships/tags" Target="../tags/tag446.xml"/><Relationship Id="rId23" Type="http://schemas.openxmlformats.org/officeDocument/2006/relationships/tags" Target="../tags/tag454.xml"/><Relationship Id="rId28" Type="http://schemas.openxmlformats.org/officeDocument/2006/relationships/tags" Target="../tags/tag459.xml"/><Relationship Id="rId10" Type="http://schemas.openxmlformats.org/officeDocument/2006/relationships/tags" Target="../tags/tag441.xml"/><Relationship Id="rId19" Type="http://schemas.openxmlformats.org/officeDocument/2006/relationships/tags" Target="../tags/tag450.xml"/><Relationship Id="rId31" Type="http://schemas.openxmlformats.org/officeDocument/2006/relationships/image" Target="../media/image1.png"/><Relationship Id="rId4" Type="http://schemas.openxmlformats.org/officeDocument/2006/relationships/tags" Target="../tags/tag435.xml"/><Relationship Id="rId9" Type="http://schemas.openxmlformats.org/officeDocument/2006/relationships/tags" Target="../tags/tag440.xml"/><Relationship Id="rId14" Type="http://schemas.openxmlformats.org/officeDocument/2006/relationships/tags" Target="../tags/tag445.xml"/><Relationship Id="rId22" Type="http://schemas.openxmlformats.org/officeDocument/2006/relationships/tags" Target="../tags/tag453.xml"/><Relationship Id="rId27" Type="http://schemas.openxmlformats.org/officeDocument/2006/relationships/tags" Target="../tags/tag458.xml"/><Relationship Id="rId30"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8" Type="http://schemas.openxmlformats.org/officeDocument/2006/relationships/tags" Target="../tags/tag467.xml"/><Relationship Id="rId13" Type="http://schemas.openxmlformats.org/officeDocument/2006/relationships/tags" Target="../tags/tag472.xml"/><Relationship Id="rId18" Type="http://schemas.openxmlformats.org/officeDocument/2006/relationships/tags" Target="../tags/tag477.xml"/><Relationship Id="rId26" Type="http://schemas.openxmlformats.org/officeDocument/2006/relationships/tags" Target="../tags/tag485.xml"/><Relationship Id="rId3" Type="http://schemas.openxmlformats.org/officeDocument/2006/relationships/tags" Target="../tags/tag462.xml"/><Relationship Id="rId21" Type="http://schemas.openxmlformats.org/officeDocument/2006/relationships/tags" Target="../tags/tag480.xml"/><Relationship Id="rId7" Type="http://schemas.openxmlformats.org/officeDocument/2006/relationships/tags" Target="../tags/tag466.xml"/><Relationship Id="rId12" Type="http://schemas.openxmlformats.org/officeDocument/2006/relationships/tags" Target="../tags/tag471.xml"/><Relationship Id="rId17" Type="http://schemas.openxmlformats.org/officeDocument/2006/relationships/tags" Target="../tags/tag476.xml"/><Relationship Id="rId25" Type="http://schemas.openxmlformats.org/officeDocument/2006/relationships/tags" Target="../tags/tag484.xml"/><Relationship Id="rId2" Type="http://schemas.openxmlformats.org/officeDocument/2006/relationships/tags" Target="../tags/tag461.xml"/><Relationship Id="rId16" Type="http://schemas.openxmlformats.org/officeDocument/2006/relationships/tags" Target="../tags/tag475.xml"/><Relationship Id="rId20" Type="http://schemas.openxmlformats.org/officeDocument/2006/relationships/tags" Target="../tags/tag479.xml"/><Relationship Id="rId29" Type="http://schemas.openxmlformats.org/officeDocument/2006/relationships/slideLayout" Target="../slideLayouts/slideLayout18.xml"/><Relationship Id="rId1" Type="http://schemas.openxmlformats.org/officeDocument/2006/relationships/tags" Target="../tags/tag460.xml"/><Relationship Id="rId6" Type="http://schemas.openxmlformats.org/officeDocument/2006/relationships/tags" Target="../tags/tag465.xml"/><Relationship Id="rId11" Type="http://schemas.openxmlformats.org/officeDocument/2006/relationships/tags" Target="../tags/tag470.xml"/><Relationship Id="rId24" Type="http://schemas.openxmlformats.org/officeDocument/2006/relationships/tags" Target="../tags/tag483.xml"/><Relationship Id="rId32" Type="http://schemas.microsoft.com/office/2007/relationships/hdphoto" Target="../media/hdphoto1.wdp"/><Relationship Id="rId5" Type="http://schemas.openxmlformats.org/officeDocument/2006/relationships/tags" Target="../tags/tag464.xml"/><Relationship Id="rId15" Type="http://schemas.openxmlformats.org/officeDocument/2006/relationships/tags" Target="../tags/tag474.xml"/><Relationship Id="rId23" Type="http://schemas.openxmlformats.org/officeDocument/2006/relationships/tags" Target="../tags/tag482.xml"/><Relationship Id="rId28" Type="http://schemas.openxmlformats.org/officeDocument/2006/relationships/tags" Target="../tags/tag487.xml"/><Relationship Id="rId10" Type="http://schemas.openxmlformats.org/officeDocument/2006/relationships/tags" Target="../tags/tag469.xml"/><Relationship Id="rId19" Type="http://schemas.openxmlformats.org/officeDocument/2006/relationships/tags" Target="../tags/tag478.xml"/><Relationship Id="rId31" Type="http://schemas.openxmlformats.org/officeDocument/2006/relationships/image" Target="../media/image1.png"/><Relationship Id="rId4" Type="http://schemas.openxmlformats.org/officeDocument/2006/relationships/tags" Target="../tags/tag463.xml"/><Relationship Id="rId9" Type="http://schemas.openxmlformats.org/officeDocument/2006/relationships/tags" Target="../tags/tag468.xml"/><Relationship Id="rId14" Type="http://schemas.openxmlformats.org/officeDocument/2006/relationships/tags" Target="../tags/tag473.xml"/><Relationship Id="rId22" Type="http://schemas.openxmlformats.org/officeDocument/2006/relationships/tags" Target="../tags/tag481.xml"/><Relationship Id="rId27" Type="http://schemas.openxmlformats.org/officeDocument/2006/relationships/tags" Target="../tags/tag486.xml"/><Relationship Id="rId30"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8" Type="http://schemas.openxmlformats.org/officeDocument/2006/relationships/tags" Target="../tags/tag495.xml"/><Relationship Id="rId13" Type="http://schemas.openxmlformats.org/officeDocument/2006/relationships/tags" Target="../tags/tag500.xml"/><Relationship Id="rId18" Type="http://schemas.openxmlformats.org/officeDocument/2006/relationships/tags" Target="../tags/tag505.xml"/><Relationship Id="rId26" Type="http://schemas.openxmlformats.org/officeDocument/2006/relationships/tags" Target="../tags/tag513.xml"/><Relationship Id="rId3" Type="http://schemas.openxmlformats.org/officeDocument/2006/relationships/tags" Target="../tags/tag490.xml"/><Relationship Id="rId21" Type="http://schemas.openxmlformats.org/officeDocument/2006/relationships/tags" Target="../tags/tag508.xml"/><Relationship Id="rId7" Type="http://schemas.openxmlformats.org/officeDocument/2006/relationships/tags" Target="../tags/tag494.xml"/><Relationship Id="rId12" Type="http://schemas.openxmlformats.org/officeDocument/2006/relationships/tags" Target="../tags/tag499.xml"/><Relationship Id="rId17" Type="http://schemas.openxmlformats.org/officeDocument/2006/relationships/tags" Target="../tags/tag504.xml"/><Relationship Id="rId25" Type="http://schemas.openxmlformats.org/officeDocument/2006/relationships/tags" Target="../tags/tag512.xml"/><Relationship Id="rId2" Type="http://schemas.openxmlformats.org/officeDocument/2006/relationships/tags" Target="../tags/tag489.xml"/><Relationship Id="rId16" Type="http://schemas.openxmlformats.org/officeDocument/2006/relationships/tags" Target="../tags/tag503.xml"/><Relationship Id="rId20" Type="http://schemas.openxmlformats.org/officeDocument/2006/relationships/tags" Target="../tags/tag507.xml"/><Relationship Id="rId29" Type="http://schemas.openxmlformats.org/officeDocument/2006/relationships/slideLayout" Target="../slideLayouts/slideLayout18.xml"/><Relationship Id="rId1" Type="http://schemas.openxmlformats.org/officeDocument/2006/relationships/tags" Target="../tags/tag488.xml"/><Relationship Id="rId6" Type="http://schemas.openxmlformats.org/officeDocument/2006/relationships/tags" Target="../tags/tag493.xml"/><Relationship Id="rId11" Type="http://schemas.openxmlformats.org/officeDocument/2006/relationships/tags" Target="../tags/tag498.xml"/><Relationship Id="rId24" Type="http://schemas.openxmlformats.org/officeDocument/2006/relationships/tags" Target="../tags/tag511.xml"/><Relationship Id="rId32" Type="http://schemas.microsoft.com/office/2007/relationships/hdphoto" Target="../media/hdphoto1.wdp"/><Relationship Id="rId5" Type="http://schemas.openxmlformats.org/officeDocument/2006/relationships/tags" Target="../tags/tag492.xml"/><Relationship Id="rId15" Type="http://schemas.openxmlformats.org/officeDocument/2006/relationships/tags" Target="../tags/tag502.xml"/><Relationship Id="rId23" Type="http://schemas.openxmlformats.org/officeDocument/2006/relationships/tags" Target="../tags/tag510.xml"/><Relationship Id="rId28" Type="http://schemas.openxmlformats.org/officeDocument/2006/relationships/tags" Target="../tags/tag515.xml"/><Relationship Id="rId10" Type="http://schemas.openxmlformats.org/officeDocument/2006/relationships/tags" Target="../tags/tag497.xml"/><Relationship Id="rId19" Type="http://schemas.openxmlformats.org/officeDocument/2006/relationships/tags" Target="../tags/tag506.xml"/><Relationship Id="rId31" Type="http://schemas.openxmlformats.org/officeDocument/2006/relationships/image" Target="../media/image1.png"/><Relationship Id="rId4" Type="http://schemas.openxmlformats.org/officeDocument/2006/relationships/tags" Target="../tags/tag491.xml"/><Relationship Id="rId9" Type="http://schemas.openxmlformats.org/officeDocument/2006/relationships/tags" Target="../tags/tag496.xml"/><Relationship Id="rId14" Type="http://schemas.openxmlformats.org/officeDocument/2006/relationships/tags" Target="../tags/tag501.xml"/><Relationship Id="rId22" Type="http://schemas.openxmlformats.org/officeDocument/2006/relationships/tags" Target="../tags/tag509.xml"/><Relationship Id="rId27" Type="http://schemas.openxmlformats.org/officeDocument/2006/relationships/tags" Target="../tags/tag514.xml"/><Relationship Id="rId30"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6.xml"/><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67.xml"/><Relationship Id="rId1" Type="http://schemas.openxmlformats.org/officeDocument/2006/relationships/slideLayout" Target="../slideLayouts/slideLayout18.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68.xml.rels><?xml version="1.0" encoding="UTF-8" standalone="yes"?>
<Relationships xmlns="http://schemas.openxmlformats.org/package/2006/relationships"><Relationship Id="rId8" Type="http://schemas.openxmlformats.org/officeDocument/2006/relationships/tags" Target="../tags/tag523.xml"/><Relationship Id="rId13" Type="http://schemas.openxmlformats.org/officeDocument/2006/relationships/tags" Target="../tags/tag528.xml"/><Relationship Id="rId18" Type="http://schemas.openxmlformats.org/officeDocument/2006/relationships/tags" Target="../tags/tag533.xml"/><Relationship Id="rId26" Type="http://schemas.openxmlformats.org/officeDocument/2006/relationships/tags" Target="../tags/tag541.xml"/><Relationship Id="rId3" Type="http://schemas.openxmlformats.org/officeDocument/2006/relationships/tags" Target="../tags/tag518.xml"/><Relationship Id="rId21" Type="http://schemas.openxmlformats.org/officeDocument/2006/relationships/tags" Target="../tags/tag536.xml"/><Relationship Id="rId7" Type="http://schemas.openxmlformats.org/officeDocument/2006/relationships/tags" Target="../tags/tag522.xml"/><Relationship Id="rId12" Type="http://schemas.openxmlformats.org/officeDocument/2006/relationships/tags" Target="../tags/tag527.xml"/><Relationship Id="rId17" Type="http://schemas.openxmlformats.org/officeDocument/2006/relationships/tags" Target="../tags/tag532.xml"/><Relationship Id="rId25" Type="http://schemas.openxmlformats.org/officeDocument/2006/relationships/tags" Target="../tags/tag540.xml"/><Relationship Id="rId2" Type="http://schemas.openxmlformats.org/officeDocument/2006/relationships/tags" Target="../tags/tag517.xml"/><Relationship Id="rId16" Type="http://schemas.openxmlformats.org/officeDocument/2006/relationships/tags" Target="../tags/tag531.xml"/><Relationship Id="rId20" Type="http://schemas.openxmlformats.org/officeDocument/2006/relationships/tags" Target="../tags/tag535.xml"/><Relationship Id="rId29" Type="http://schemas.openxmlformats.org/officeDocument/2006/relationships/slideLayout" Target="../slideLayouts/slideLayout18.xml"/><Relationship Id="rId1" Type="http://schemas.openxmlformats.org/officeDocument/2006/relationships/tags" Target="../tags/tag516.xml"/><Relationship Id="rId6" Type="http://schemas.openxmlformats.org/officeDocument/2006/relationships/tags" Target="../tags/tag521.xml"/><Relationship Id="rId11" Type="http://schemas.openxmlformats.org/officeDocument/2006/relationships/tags" Target="../tags/tag526.xml"/><Relationship Id="rId24" Type="http://schemas.openxmlformats.org/officeDocument/2006/relationships/tags" Target="../tags/tag539.xml"/><Relationship Id="rId32" Type="http://schemas.microsoft.com/office/2007/relationships/hdphoto" Target="../media/hdphoto1.wdp"/><Relationship Id="rId5" Type="http://schemas.openxmlformats.org/officeDocument/2006/relationships/tags" Target="../tags/tag520.xml"/><Relationship Id="rId15" Type="http://schemas.openxmlformats.org/officeDocument/2006/relationships/tags" Target="../tags/tag530.xml"/><Relationship Id="rId23" Type="http://schemas.openxmlformats.org/officeDocument/2006/relationships/tags" Target="../tags/tag538.xml"/><Relationship Id="rId28" Type="http://schemas.openxmlformats.org/officeDocument/2006/relationships/tags" Target="../tags/tag543.xml"/><Relationship Id="rId10" Type="http://schemas.openxmlformats.org/officeDocument/2006/relationships/tags" Target="../tags/tag525.xml"/><Relationship Id="rId19" Type="http://schemas.openxmlformats.org/officeDocument/2006/relationships/tags" Target="../tags/tag534.xml"/><Relationship Id="rId31" Type="http://schemas.openxmlformats.org/officeDocument/2006/relationships/image" Target="../media/image1.png"/><Relationship Id="rId4" Type="http://schemas.openxmlformats.org/officeDocument/2006/relationships/tags" Target="../tags/tag519.xml"/><Relationship Id="rId9" Type="http://schemas.openxmlformats.org/officeDocument/2006/relationships/tags" Target="../tags/tag524.xml"/><Relationship Id="rId14" Type="http://schemas.openxmlformats.org/officeDocument/2006/relationships/tags" Target="../tags/tag529.xml"/><Relationship Id="rId22" Type="http://schemas.openxmlformats.org/officeDocument/2006/relationships/tags" Target="../tags/tag537.xml"/><Relationship Id="rId27" Type="http://schemas.openxmlformats.org/officeDocument/2006/relationships/tags" Target="../tags/tag542.xml"/><Relationship Id="rId30"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9.xml"/><Relationship Id="rId1" Type="http://schemas.openxmlformats.org/officeDocument/2006/relationships/slideLayout" Target="../slideLayouts/slideLayout18.xml"/><Relationship Id="rId4" Type="http://schemas.openxmlformats.org/officeDocument/2006/relationships/image" Target="../media/image61.png"/></Relationships>
</file>

<file path=ppt/slides/_rels/slide70.xml.rels><?xml version="1.0" encoding="UTF-8" standalone="yes"?>
<Relationships xmlns="http://schemas.openxmlformats.org/package/2006/relationships"><Relationship Id="rId8" Type="http://schemas.openxmlformats.org/officeDocument/2006/relationships/tags" Target="../tags/tag551.xml"/><Relationship Id="rId13" Type="http://schemas.openxmlformats.org/officeDocument/2006/relationships/tags" Target="../tags/tag556.xml"/><Relationship Id="rId18" Type="http://schemas.openxmlformats.org/officeDocument/2006/relationships/tags" Target="../tags/tag561.xml"/><Relationship Id="rId26" Type="http://schemas.openxmlformats.org/officeDocument/2006/relationships/tags" Target="../tags/tag569.xml"/><Relationship Id="rId3" Type="http://schemas.openxmlformats.org/officeDocument/2006/relationships/tags" Target="../tags/tag546.xml"/><Relationship Id="rId21" Type="http://schemas.openxmlformats.org/officeDocument/2006/relationships/tags" Target="../tags/tag564.xml"/><Relationship Id="rId7" Type="http://schemas.openxmlformats.org/officeDocument/2006/relationships/tags" Target="../tags/tag550.xml"/><Relationship Id="rId12" Type="http://schemas.openxmlformats.org/officeDocument/2006/relationships/tags" Target="../tags/tag555.xml"/><Relationship Id="rId17" Type="http://schemas.openxmlformats.org/officeDocument/2006/relationships/tags" Target="../tags/tag560.xml"/><Relationship Id="rId25" Type="http://schemas.openxmlformats.org/officeDocument/2006/relationships/tags" Target="../tags/tag568.xml"/><Relationship Id="rId2" Type="http://schemas.openxmlformats.org/officeDocument/2006/relationships/tags" Target="../tags/tag545.xml"/><Relationship Id="rId16" Type="http://schemas.openxmlformats.org/officeDocument/2006/relationships/tags" Target="../tags/tag559.xml"/><Relationship Id="rId20" Type="http://schemas.openxmlformats.org/officeDocument/2006/relationships/tags" Target="../tags/tag563.xml"/><Relationship Id="rId29" Type="http://schemas.openxmlformats.org/officeDocument/2006/relationships/slideLayout" Target="../slideLayouts/slideLayout18.xml"/><Relationship Id="rId1" Type="http://schemas.openxmlformats.org/officeDocument/2006/relationships/tags" Target="../tags/tag544.xml"/><Relationship Id="rId6" Type="http://schemas.openxmlformats.org/officeDocument/2006/relationships/tags" Target="../tags/tag549.xml"/><Relationship Id="rId11" Type="http://schemas.openxmlformats.org/officeDocument/2006/relationships/tags" Target="../tags/tag554.xml"/><Relationship Id="rId24" Type="http://schemas.openxmlformats.org/officeDocument/2006/relationships/tags" Target="../tags/tag567.xml"/><Relationship Id="rId32" Type="http://schemas.microsoft.com/office/2007/relationships/hdphoto" Target="../media/hdphoto1.wdp"/><Relationship Id="rId5" Type="http://schemas.openxmlformats.org/officeDocument/2006/relationships/tags" Target="../tags/tag548.xml"/><Relationship Id="rId15" Type="http://schemas.openxmlformats.org/officeDocument/2006/relationships/tags" Target="../tags/tag558.xml"/><Relationship Id="rId23" Type="http://schemas.openxmlformats.org/officeDocument/2006/relationships/tags" Target="../tags/tag566.xml"/><Relationship Id="rId28" Type="http://schemas.openxmlformats.org/officeDocument/2006/relationships/tags" Target="../tags/tag571.xml"/><Relationship Id="rId10" Type="http://schemas.openxmlformats.org/officeDocument/2006/relationships/tags" Target="../tags/tag553.xml"/><Relationship Id="rId19" Type="http://schemas.openxmlformats.org/officeDocument/2006/relationships/tags" Target="../tags/tag562.xml"/><Relationship Id="rId31" Type="http://schemas.openxmlformats.org/officeDocument/2006/relationships/image" Target="../media/image1.png"/><Relationship Id="rId4" Type="http://schemas.openxmlformats.org/officeDocument/2006/relationships/tags" Target="../tags/tag547.xml"/><Relationship Id="rId9" Type="http://schemas.openxmlformats.org/officeDocument/2006/relationships/tags" Target="../tags/tag552.xml"/><Relationship Id="rId14" Type="http://schemas.openxmlformats.org/officeDocument/2006/relationships/tags" Target="../tags/tag557.xml"/><Relationship Id="rId22" Type="http://schemas.openxmlformats.org/officeDocument/2006/relationships/tags" Target="../tags/tag565.xml"/><Relationship Id="rId27" Type="http://schemas.openxmlformats.org/officeDocument/2006/relationships/tags" Target="../tags/tag570.xml"/><Relationship Id="rId30"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13.xml"/><Relationship Id="rId4" Type="http://schemas.microsoft.com/office/2007/relationships/hdphoto" Target="../media/hdphoto1.wdp"/></Relationships>
</file>

<file path=ppt/slides/_rels/slide72.xml.rels><?xml version="1.0" encoding="UTF-8" standalone="yes"?>
<Relationships xmlns="http://schemas.openxmlformats.org/package/2006/relationships"><Relationship Id="rId8" Type="http://schemas.openxmlformats.org/officeDocument/2006/relationships/tags" Target="../tags/tag579.xml"/><Relationship Id="rId13" Type="http://schemas.openxmlformats.org/officeDocument/2006/relationships/tags" Target="../tags/tag584.xml"/><Relationship Id="rId18" Type="http://schemas.openxmlformats.org/officeDocument/2006/relationships/tags" Target="../tags/tag589.xml"/><Relationship Id="rId26" Type="http://schemas.openxmlformats.org/officeDocument/2006/relationships/tags" Target="../tags/tag597.xml"/><Relationship Id="rId3" Type="http://schemas.openxmlformats.org/officeDocument/2006/relationships/tags" Target="../tags/tag574.xml"/><Relationship Id="rId21" Type="http://schemas.openxmlformats.org/officeDocument/2006/relationships/tags" Target="../tags/tag592.xml"/><Relationship Id="rId7" Type="http://schemas.openxmlformats.org/officeDocument/2006/relationships/tags" Target="../tags/tag578.xml"/><Relationship Id="rId12" Type="http://schemas.openxmlformats.org/officeDocument/2006/relationships/tags" Target="../tags/tag583.xml"/><Relationship Id="rId17" Type="http://schemas.openxmlformats.org/officeDocument/2006/relationships/tags" Target="../tags/tag588.xml"/><Relationship Id="rId25" Type="http://schemas.openxmlformats.org/officeDocument/2006/relationships/tags" Target="../tags/tag596.xml"/><Relationship Id="rId2" Type="http://schemas.openxmlformats.org/officeDocument/2006/relationships/tags" Target="../tags/tag573.xml"/><Relationship Id="rId16" Type="http://schemas.openxmlformats.org/officeDocument/2006/relationships/tags" Target="../tags/tag587.xml"/><Relationship Id="rId20" Type="http://schemas.openxmlformats.org/officeDocument/2006/relationships/tags" Target="../tags/tag591.xml"/><Relationship Id="rId29" Type="http://schemas.openxmlformats.org/officeDocument/2006/relationships/slideLayout" Target="../slideLayouts/slideLayout18.xml"/><Relationship Id="rId1" Type="http://schemas.openxmlformats.org/officeDocument/2006/relationships/tags" Target="../tags/tag572.xml"/><Relationship Id="rId6" Type="http://schemas.openxmlformats.org/officeDocument/2006/relationships/tags" Target="../tags/tag577.xml"/><Relationship Id="rId11" Type="http://schemas.openxmlformats.org/officeDocument/2006/relationships/tags" Target="../tags/tag582.xml"/><Relationship Id="rId24" Type="http://schemas.openxmlformats.org/officeDocument/2006/relationships/tags" Target="../tags/tag595.xml"/><Relationship Id="rId32" Type="http://schemas.microsoft.com/office/2007/relationships/hdphoto" Target="../media/hdphoto1.wdp"/><Relationship Id="rId5" Type="http://schemas.openxmlformats.org/officeDocument/2006/relationships/tags" Target="../tags/tag576.xml"/><Relationship Id="rId15" Type="http://schemas.openxmlformats.org/officeDocument/2006/relationships/tags" Target="../tags/tag586.xml"/><Relationship Id="rId23" Type="http://schemas.openxmlformats.org/officeDocument/2006/relationships/tags" Target="../tags/tag594.xml"/><Relationship Id="rId28" Type="http://schemas.openxmlformats.org/officeDocument/2006/relationships/tags" Target="../tags/tag599.xml"/><Relationship Id="rId10" Type="http://schemas.openxmlformats.org/officeDocument/2006/relationships/tags" Target="../tags/tag581.xml"/><Relationship Id="rId19" Type="http://schemas.openxmlformats.org/officeDocument/2006/relationships/tags" Target="../tags/tag590.xml"/><Relationship Id="rId31" Type="http://schemas.openxmlformats.org/officeDocument/2006/relationships/image" Target="../media/image1.png"/><Relationship Id="rId4" Type="http://schemas.openxmlformats.org/officeDocument/2006/relationships/tags" Target="../tags/tag575.xml"/><Relationship Id="rId9" Type="http://schemas.openxmlformats.org/officeDocument/2006/relationships/tags" Target="../tags/tag580.xml"/><Relationship Id="rId14" Type="http://schemas.openxmlformats.org/officeDocument/2006/relationships/tags" Target="../tags/tag585.xml"/><Relationship Id="rId22" Type="http://schemas.openxmlformats.org/officeDocument/2006/relationships/tags" Target="../tags/tag593.xml"/><Relationship Id="rId27" Type="http://schemas.openxmlformats.org/officeDocument/2006/relationships/tags" Target="../tags/tag598.xml"/><Relationship Id="rId30"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8" Type="http://schemas.openxmlformats.org/officeDocument/2006/relationships/tags" Target="../tags/tag607.xml"/><Relationship Id="rId13" Type="http://schemas.openxmlformats.org/officeDocument/2006/relationships/tags" Target="../tags/tag612.xml"/><Relationship Id="rId18" Type="http://schemas.openxmlformats.org/officeDocument/2006/relationships/tags" Target="../tags/tag617.xml"/><Relationship Id="rId26" Type="http://schemas.openxmlformats.org/officeDocument/2006/relationships/tags" Target="../tags/tag625.xml"/><Relationship Id="rId3" Type="http://schemas.openxmlformats.org/officeDocument/2006/relationships/tags" Target="../tags/tag602.xml"/><Relationship Id="rId21" Type="http://schemas.openxmlformats.org/officeDocument/2006/relationships/tags" Target="../tags/tag620.xml"/><Relationship Id="rId7" Type="http://schemas.openxmlformats.org/officeDocument/2006/relationships/tags" Target="../tags/tag606.xml"/><Relationship Id="rId12" Type="http://schemas.openxmlformats.org/officeDocument/2006/relationships/tags" Target="../tags/tag611.xml"/><Relationship Id="rId17" Type="http://schemas.openxmlformats.org/officeDocument/2006/relationships/tags" Target="../tags/tag616.xml"/><Relationship Id="rId25" Type="http://schemas.openxmlformats.org/officeDocument/2006/relationships/tags" Target="../tags/tag624.xml"/><Relationship Id="rId2" Type="http://schemas.openxmlformats.org/officeDocument/2006/relationships/tags" Target="../tags/tag601.xml"/><Relationship Id="rId16" Type="http://schemas.openxmlformats.org/officeDocument/2006/relationships/tags" Target="../tags/tag615.xml"/><Relationship Id="rId20" Type="http://schemas.openxmlformats.org/officeDocument/2006/relationships/tags" Target="../tags/tag619.xml"/><Relationship Id="rId29" Type="http://schemas.openxmlformats.org/officeDocument/2006/relationships/slideLayout" Target="../slideLayouts/slideLayout18.xml"/><Relationship Id="rId1" Type="http://schemas.openxmlformats.org/officeDocument/2006/relationships/tags" Target="../tags/tag600.xml"/><Relationship Id="rId6" Type="http://schemas.openxmlformats.org/officeDocument/2006/relationships/tags" Target="../tags/tag605.xml"/><Relationship Id="rId11" Type="http://schemas.openxmlformats.org/officeDocument/2006/relationships/tags" Target="../tags/tag610.xml"/><Relationship Id="rId24" Type="http://schemas.openxmlformats.org/officeDocument/2006/relationships/tags" Target="../tags/tag623.xml"/><Relationship Id="rId32" Type="http://schemas.microsoft.com/office/2007/relationships/hdphoto" Target="../media/hdphoto1.wdp"/><Relationship Id="rId5" Type="http://schemas.openxmlformats.org/officeDocument/2006/relationships/tags" Target="../tags/tag604.xml"/><Relationship Id="rId15" Type="http://schemas.openxmlformats.org/officeDocument/2006/relationships/tags" Target="../tags/tag614.xml"/><Relationship Id="rId23" Type="http://schemas.openxmlformats.org/officeDocument/2006/relationships/tags" Target="../tags/tag622.xml"/><Relationship Id="rId28" Type="http://schemas.openxmlformats.org/officeDocument/2006/relationships/tags" Target="../tags/tag627.xml"/><Relationship Id="rId10" Type="http://schemas.openxmlformats.org/officeDocument/2006/relationships/tags" Target="../tags/tag609.xml"/><Relationship Id="rId19" Type="http://schemas.openxmlformats.org/officeDocument/2006/relationships/tags" Target="../tags/tag618.xml"/><Relationship Id="rId31" Type="http://schemas.openxmlformats.org/officeDocument/2006/relationships/image" Target="../media/image1.png"/><Relationship Id="rId4" Type="http://schemas.openxmlformats.org/officeDocument/2006/relationships/tags" Target="../tags/tag603.xml"/><Relationship Id="rId9" Type="http://schemas.openxmlformats.org/officeDocument/2006/relationships/tags" Target="../tags/tag608.xml"/><Relationship Id="rId14" Type="http://schemas.openxmlformats.org/officeDocument/2006/relationships/tags" Target="../tags/tag613.xml"/><Relationship Id="rId22" Type="http://schemas.openxmlformats.org/officeDocument/2006/relationships/tags" Target="../tags/tag621.xml"/><Relationship Id="rId27" Type="http://schemas.openxmlformats.org/officeDocument/2006/relationships/tags" Target="../tags/tag626.xml"/><Relationship Id="rId30"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8" Type="http://schemas.openxmlformats.org/officeDocument/2006/relationships/tags" Target="../tags/tag635.xml"/><Relationship Id="rId13" Type="http://schemas.openxmlformats.org/officeDocument/2006/relationships/tags" Target="../tags/tag640.xml"/><Relationship Id="rId18" Type="http://schemas.openxmlformats.org/officeDocument/2006/relationships/tags" Target="../tags/tag645.xml"/><Relationship Id="rId26" Type="http://schemas.openxmlformats.org/officeDocument/2006/relationships/tags" Target="../tags/tag653.xml"/><Relationship Id="rId3" Type="http://schemas.openxmlformats.org/officeDocument/2006/relationships/tags" Target="../tags/tag630.xml"/><Relationship Id="rId21" Type="http://schemas.openxmlformats.org/officeDocument/2006/relationships/tags" Target="../tags/tag648.xml"/><Relationship Id="rId7" Type="http://schemas.openxmlformats.org/officeDocument/2006/relationships/tags" Target="../tags/tag634.xml"/><Relationship Id="rId12" Type="http://schemas.openxmlformats.org/officeDocument/2006/relationships/tags" Target="../tags/tag639.xml"/><Relationship Id="rId17" Type="http://schemas.openxmlformats.org/officeDocument/2006/relationships/tags" Target="../tags/tag644.xml"/><Relationship Id="rId25" Type="http://schemas.openxmlformats.org/officeDocument/2006/relationships/tags" Target="../tags/tag652.xml"/><Relationship Id="rId2" Type="http://schemas.openxmlformats.org/officeDocument/2006/relationships/tags" Target="../tags/tag629.xml"/><Relationship Id="rId16" Type="http://schemas.openxmlformats.org/officeDocument/2006/relationships/tags" Target="../tags/tag643.xml"/><Relationship Id="rId20" Type="http://schemas.openxmlformats.org/officeDocument/2006/relationships/tags" Target="../tags/tag647.xml"/><Relationship Id="rId29" Type="http://schemas.openxmlformats.org/officeDocument/2006/relationships/slideLayout" Target="../slideLayouts/slideLayout18.xml"/><Relationship Id="rId1" Type="http://schemas.openxmlformats.org/officeDocument/2006/relationships/tags" Target="../tags/tag628.xml"/><Relationship Id="rId6" Type="http://schemas.openxmlformats.org/officeDocument/2006/relationships/tags" Target="../tags/tag633.xml"/><Relationship Id="rId11" Type="http://schemas.openxmlformats.org/officeDocument/2006/relationships/tags" Target="../tags/tag638.xml"/><Relationship Id="rId24" Type="http://schemas.openxmlformats.org/officeDocument/2006/relationships/tags" Target="../tags/tag651.xml"/><Relationship Id="rId32" Type="http://schemas.microsoft.com/office/2007/relationships/hdphoto" Target="../media/hdphoto1.wdp"/><Relationship Id="rId5" Type="http://schemas.openxmlformats.org/officeDocument/2006/relationships/tags" Target="../tags/tag632.xml"/><Relationship Id="rId15" Type="http://schemas.openxmlformats.org/officeDocument/2006/relationships/tags" Target="../tags/tag642.xml"/><Relationship Id="rId23" Type="http://schemas.openxmlformats.org/officeDocument/2006/relationships/tags" Target="../tags/tag650.xml"/><Relationship Id="rId28" Type="http://schemas.openxmlformats.org/officeDocument/2006/relationships/tags" Target="../tags/tag655.xml"/><Relationship Id="rId10" Type="http://schemas.openxmlformats.org/officeDocument/2006/relationships/tags" Target="../tags/tag637.xml"/><Relationship Id="rId19" Type="http://schemas.openxmlformats.org/officeDocument/2006/relationships/tags" Target="../tags/tag646.xml"/><Relationship Id="rId31" Type="http://schemas.openxmlformats.org/officeDocument/2006/relationships/image" Target="../media/image1.png"/><Relationship Id="rId4" Type="http://schemas.openxmlformats.org/officeDocument/2006/relationships/tags" Target="../tags/tag631.xml"/><Relationship Id="rId9" Type="http://schemas.openxmlformats.org/officeDocument/2006/relationships/tags" Target="../tags/tag636.xml"/><Relationship Id="rId14" Type="http://schemas.openxmlformats.org/officeDocument/2006/relationships/tags" Target="../tags/tag641.xml"/><Relationship Id="rId22" Type="http://schemas.openxmlformats.org/officeDocument/2006/relationships/tags" Target="../tags/tag649.xml"/><Relationship Id="rId27" Type="http://schemas.openxmlformats.org/officeDocument/2006/relationships/tags" Target="../tags/tag654.xml"/><Relationship Id="rId30"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6.xml"/><Relationship Id="rId1" Type="http://schemas.openxmlformats.org/officeDocument/2006/relationships/slideLayout" Target="../slideLayouts/slideLayout18.xml"/></Relationships>
</file>

<file path=ppt/slides/_rels/slide7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7.xml"/><Relationship Id="rId1" Type="http://schemas.openxmlformats.org/officeDocument/2006/relationships/slideLayout" Target="../slideLayouts/slideLayout18.xml"/><Relationship Id="rId4" Type="http://schemas.openxmlformats.org/officeDocument/2006/relationships/image" Target="../media/image64.png"/></Relationships>
</file>

<file path=ppt/slides/_rels/slide7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8.xml"/><Relationship Id="rId1" Type="http://schemas.openxmlformats.org/officeDocument/2006/relationships/slideLayout" Target="../slideLayouts/slideLayout18.xml"/><Relationship Id="rId5" Type="http://schemas.openxmlformats.org/officeDocument/2006/relationships/image" Target="../media/image67.png"/><Relationship Id="rId4" Type="http://schemas.openxmlformats.org/officeDocument/2006/relationships/image" Target="../media/image66.png"/></Relationships>
</file>

<file path=ppt/slides/_rels/slide7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9.xml"/><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0.xml"/><Relationship Id="rId1" Type="http://schemas.openxmlformats.org/officeDocument/2006/relationships/slideLayout" Target="../slideLayouts/slideLayout18.xml"/><Relationship Id="rId4" Type="http://schemas.openxmlformats.org/officeDocument/2006/relationships/image" Target="../media/image70.png"/></Relationships>
</file>

<file path=ppt/slides/_rels/slide81.xml.rels><?xml version="1.0" encoding="UTF-8" standalone="yes"?>
<Relationships xmlns="http://schemas.openxmlformats.org/package/2006/relationships"><Relationship Id="rId8" Type="http://schemas.openxmlformats.org/officeDocument/2006/relationships/tags" Target="../tags/tag663.xml"/><Relationship Id="rId13" Type="http://schemas.openxmlformats.org/officeDocument/2006/relationships/tags" Target="../tags/tag668.xml"/><Relationship Id="rId18" Type="http://schemas.openxmlformats.org/officeDocument/2006/relationships/tags" Target="../tags/tag673.xml"/><Relationship Id="rId26" Type="http://schemas.openxmlformats.org/officeDocument/2006/relationships/tags" Target="../tags/tag681.xml"/><Relationship Id="rId3" Type="http://schemas.openxmlformats.org/officeDocument/2006/relationships/tags" Target="../tags/tag658.xml"/><Relationship Id="rId21" Type="http://schemas.openxmlformats.org/officeDocument/2006/relationships/tags" Target="../tags/tag676.xml"/><Relationship Id="rId7" Type="http://schemas.openxmlformats.org/officeDocument/2006/relationships/tags" Target="../tags/tag662.xml"/><Relationship Id="rId12" Type="http://schemas.openxmlformats.org/officeDocument/2006/relationships/tags" Target="../tags/tag667.xml"/><Relationship Id="rId17" Type="http://schemas.openxmlformats.org/officeDocument/2006/relationships/tags" Target="../tags/tag672.xml"/><Relationship Id="rId25" Type="http://schemas.openxmlformats.org/officeDocument/2006/relationships/tags" Target="../tags/tag680.xml"/><Relationship Id="rId2" Type="http://schemas.openxmlformats.org/officeDocument/2006/relationships/tags" Target="../tags/tag657.xml"/><Relationship Id="rId16" Type="http://schemas.openxmlformats.org/officeDocument/2006/relationships/tags" Target="../tags/tag671.xml"/><Relationship Id="rId20" Type="http://schemas.openxmlformats.org/officeDocument/2006/relationships/tags" Target="../tags/tag675.xml"/><Relationship Id="rId29" Type="http://schemas.openxmlformats.org/officeDocument/2006/relationships/slideLayout" Target="../slideLayouts/slideLayout18.xml"/><Relationship Id="rId1" Type="http://schemas.openxmlformats.org/officeDocument/2006/relationships/tags" Target="../tags/tag656.xml"/><Relationship Id="rId6" Type="http://schemas.openxmlformats.org/officeDocument/2006/relationships/tags" Target="../tags/tag661.xml"/><Relationship Id="rId11" Type="http://schemas.openxmlformats.org/officeDocument/2006/relationships/tags" Target="../tags/tag666.xml"/><Relationship Id="rId24" Type="http://schemas.openxmlformats.org/officeDocument/2006/relationships/tags" Target="../tags/tag679.xml"/><Relationship Id="rId32" Type="http://schemas.microsoft.com/office/2007/relationships/hdphoto" Target="../media/hdphoto1.wdp"/><Relationship Id="rId5" Type="http://schemas.openxmlformats.org/officeDocument/2006/relationships/tags" Target="../tags/tag660.xml"/><Relationship Id="rId15" Type="http://schemas.openxmlformats.org/officeDocument/2006/relationships/tags" Target="../tags/tag670.xml"/><Relationship Id="rId23" Type="http://schemas.openxmlformats.org/officeDocument/2006/relationships/tags" Target="../tags/tag678.xml"/><Relationship Id="rId28" Type="http://schemas.openxmlformats.org/officeDocument/2006/relationships/tags" Target="../tags/tag683.xml"/><Relationship Id="rId10" Type="http://schemas.openxmlformats.org/officeDocument/2006/relationships/tags" Target="../tags/tag665.xml"/><Relationship Id="rId19" Type="http://schemas.openxmlformats.org/officeDocument/2006/relationships/tags" Target="../tags/tag674.xml"/><Relationship Id="rId31" Type="http://schemas.openxmlformats.org/officeDocument/2006/relationships/image" Target="../media/image1.png"/><Relationship Id="rId4" Type="http://schemas.openxmlformats.org/officeDocument/2006/relationships/tags" Target="../tags/tag659.xml"/><Relationship Id="rId9" Type="http://schemas.openxmlformats.org/officeDocument/2006/relationships/tags" Target="../tags/tag664.xml"/><Relationship Id="rId14" Type="http://schemas.openxmlformats.org/officeDocument/2006/relationships/tags" Target="../tags/tag669.xml"/><Relationship Id="rId22" Type="http://schemas.openxmlformats.org/officeDocument/2006/relationships/tags" Target="../tags/tag677.xml"/><Relationship Id="rId27" Type="http://schemas.openxmlformats.org/officeDocument/2006/relationships/tags" Target="../tags/tag682.xml"/><Relationship Id="rId30"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2.xml"/><Relationship Id="rId1" Type="http://schemas.openxmlformats.org/officeDocument/2006/relationships/slideLayout" Target="../slideLayouts/slideLayout18.xml"/></Relationships>
</file>

<file path=ppt/slides/_rels/slide8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3.xml"/><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4.xml"/><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8.xml"/></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18.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577"/>
            <a:ext cx="12239891"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4" name="圆角矩形 3"/>
          <p:cNvSpPr/>
          <p:nvPr/>
        </p:nvSpPr>
        <p:spPr>
          <a:xfrm>
            <a:off x="64336" y="2915945"/>
            <a:ext cx="4087664"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Learning to Learn Variational Quantum Algorithm</a:t>
            </a:r>
            <a:endParaRPr lang="en-US" altLang="zh-CN" sz="14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5" name="圆角矩形 4"/>
          <p:cNvSpPr/>
          <p:nvPr/>
        </p:nvSpPr>
        <p:spPr>
          <a:xfrm>
            <a:off x="4368000" y="2915753"/>
            <a:ext cx="3456000"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latin typeface="Arial" panose="020B0604020202020204" pitchFamily="34" charset="0"/>
                <a:cs typeface="Arial" panose="020B0604020202020204" pitchFamily="34" charset="0"/>
                <a:sym typeface="+mn-ea"/>
              </a:rPr>
              <a:t>PQ-Net Periodic Quantum Networks for Multivariate Time Series Forecasting</a:t>
            </a:r>
          </a:p>
        </p:txBody>
      </p:sp>
      <p:sp>
        <p:nvSpPr>
          <p:cNvPr id="6" name="圆角矩形 5"/>
          <p:cNvSpPr/>
          <p:nvPr/>
        </p:nvSpPr>
        <p:spPr>
          <a:xfrm>
            <a:off x="8246328" y="2910286"/>
            <a:ext cx="3916315"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Quantum-enhanced dual-layer  graph attention network for time series forecasting</a:t>
            </a:r>
            <a:endParaRPr lang="en-US" altLang="zh-CN" sz="14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7" name="圆角矩形 6"/>
          <p:cNvSpPr/>
          <p:nvPr/>
        </p:nvSpPr>
        <p:spPr>
          <a:xfrm>
            <a:off x="1983501" y="4789523"/>
            <a:ext cx="3981910"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Towards provably efficient quantum algorithms for large-scale machine learning models</a:t>
            </a:r>
            <a:endParaRPr lang="zh-CN" altLang="en-US" sz="1400" b="1" dirty="0">
              <a:latin typeface="Arial" panose="020B0604020202020204" pitchFamily="34" charset="0"/>
              <a:cs typeface="Arial" panose="020B0604020202020204" pitchFamily="34" charset="0"/>
              <a:sym typeface="+mn-ea"/>
            </a:endParaRPr>
          </a:p>
        </p:txBody>
      </p:sp>
      <p:sp>
        <p:nvSpPr>
          <p:cNvPr id="8" name="圆角矩形 7"/>
          <p:cNvSpPr/>
          <p:nvPr/>
        </p:nvSpPr>
        <p:spPr>
          <a:xfrm>
            <a:off x="6888000" y="4770816"/>
            <a:ext cx="3981911"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latin typeface="Arial" panose="020B0604020202020204" pitchFamily="34" charset="0"/>
                <a:cs typeface="Arial" panose="020B0604020202020204" pitchFamily="34" charset="0"/>
                <a:sym typeface="+mn-ea"/>
              </a:rPr>
              <a:t>Generalization in quantum machine learning from few training data</a:t>
            </a:r>
            <a:endParaRPr lang="zh-CN" altLang="en-US" sz="1400" b="1" dirty="0">
              <a:latin typeface="Arial" panose="020B0604020202020204" pitchFamily="34" charset="0"/>
              <a:cs typeface="Arial" panose="020B0604020202020204" pitchFamily="34" charset="0"/>
              <a:sym typeface="+mn-ea"/>
            </a:endParaRPr>
          </a:p>
        </p:txBody>
      </p:sp>
      <p:sp>
        <p:nvSpPr>
          <p:cNvPr id="17" name="文本框 16"/>
          <p:cNvSpPr txBox="1"/>
          <p:nvPr/>
        </p:nvSpPr>
        <p:spPr>
          <a:xfrm>
            <a:off x="526807" y="293199"/>
            <a:ext cx="11186276" cy="1478418"/>
          </a:xfrm>
          <a:prstGeom prst="rect">
            <a:avLst/>
          </a:prstGeom>
          <a:noFill/>
        </p:spPr>
        <p:txBody>
          <a:bodyPr wrap="square" rtlCol="0" anchor="t">
            <a:spAutoFit/>
          </a:bodyPr>
          <a:lstStyle/>
          <a:p>
            <a:pPr algn="ctr">
              <a:lnSpc>
                <a:spcPct val="150000"/>
              </a:lnSpc>
            </a:pPr>
            <a:r>
              <a:rPr lang="en-US" altLang="zh-CN" sz="3200" b="1">
                <a:solidFill>
                  <a:schemeClr val="bg1"/>
                </a:solidFill>
                <a:latin typeface="Arial" panose="020B0604020202020204" pitchFamily="34" charset="0"/>
                <a:cs typeface="Arial" panose="020B0604020202020204" pitchFamily="34" charset="0"/>
              </a:rPr>
              <a:t>Quantum Spectrum Coding methods for  </a:t>
            </a:r>
          </a:p>
          <a:p>
            <a:pPr algn="ctr">
              <a:lnSpc>
                <a:spcPct val="150000"/>
              </a:lnSpc>
            </a:pPr>
            <a:r>
              <a:rPr lang="en-US" altLang="zh-CN" sz="3200" b="1">
                <a:solidFill>
                  <a:schemeClr val="bg1"/>
                </a:solidFill>
                <a:latin typeface="Arial" panose="020B0604020202020204" pitchFamily="34" charset="0"/>
                <a:cs typeface="Arial" panose="020B0604020202020204" pitchFamily="34" charset="0"/>
              </a:rPr>
              <a:t>Time-Series Data Representation</a:t>
            </a:r>
            <a:endParaRPr lang="en-US" altLang="zh-CN" sz="3200" b="1" dirty="0">
              <a:solidFill>
                <a:schemeClr val="bg1"/>
              </a:solidFill>
              <a:latin typeface="Arial" panose="020B0604020202020204" pitchFamily="34" charset="0"/>
              <a:cs typeface="Arial" panose="020B0604020202020204" pitchFamily="34" charset="0"/>
            </a:endParaRPr>
          </a:p>
        </p:txBody>
      </p:sp>
      <p:sp>
        <p:nvSpPr>
          <p:cNvPr id="2" name="文本框 1"/>
          <p:cNvSpPr txBox="1"/>
          <p:nvPr/>
        </p:nvSpPr>
        <p:spPr>
          <a:xfrm>
            <a:off x="1789189" y="2535693"/>
            <a:ext cx="421958" cy="330518"/>
          </a:xfrm>
          <a:prstGeom prst="rect">
            <a:avLst/>
          </a:prstGeom>
          <a:noFill/>
        </p:spPr>
        <p:txBody>
          <a:bodyPr wrap="none" rtlCol="0" anchor="t">
            <a:noAutofit/>
          </a:bodyPr>
          <a:lstStyle/>
          <a:p>
            <a:r>
              <a:rPr lang="zh-CN" altLang="en-US" b="1" dirty="0">
                <a:latin typeface="Calibri" panose="020F0502020204030204" charset="0"/>
              </a:rPr>
              <a:t>①</a:t>
            </a:r>
          </a:p>
        </p:txBody>
      </p:sp>
      <p:sp>
        <p:nvSpPr>
          <p:cNvPr id="3" name="文本框 2"/>
          <p:cNvSpPr txBox="1"/>
          <p:nvPr/>
        </p:nvSpPr>
        <p:spPr>
          <a:xfrm>
            <a:off x="5886441" y="2516286"/>
            <a:ext cx="415498" cy="369332"/>
          </a:xfrm>
          <a:prstGeom prst="rect">
            <a:avLst/>
          </a:prstGeom>
          <a:noFill/>
        </p:spPr>
        <p:txBody>
          <a:bodyPr wrap="none" rtlCol="0" anchor="t">
            <a:spAutoFit/>
          </a:bodyPr>
          <a:lstStyle/>
          <a:p>
            <a:r>
              <a:rPr lang="zh-CN" altLang="en-US" b="1" dirty="0">
                <a:latin typeface="Calibri" panose="020F0502020204030204" charset="0"/>
              </a:rPr>
              <a:t>②</a:t>
            </a:r>
          </a:p>
        </p:txBody>
      </p:sp>
      <p:sp>
        <p:nvSpPr>
          <p:cNvPr id="18" name="文本框 17"/>
          <p:cNvSpPr txBox="1"/>
          <p:nvPr/>
        </p:nvSpPr>
        <p:spPr>
          <a:xfrm>
            <a:off x="9996736" y="2516286"/>
            <a:ext cx="415498" cy="369332"/>
          </a:xfrm>
          <a:prstGeom prst="rect">
            <a:avLst/>
          </a:prstGeom>
          <a:noFill/>
        </p:spPr>
        <p:txBody>
          <a:bodyPr wrap="none" rtlCol="0" anchor="t">
            <a:spAutoFit/>
          </a:bodyPr>
          <a:lstStyle/>
          <a:p>
            <a:r>
              <a:rPr lang="zh-CN" altLang="en-US" b="1" dirty="0">
                <a:latin typeface="Calibri" panose="020F0502020204030204" charset="0"/>
              </a:rPr>
              <a:t>③</a:t>
            </a:r>
          </a:p>
        </p:txBody>
      </p:sp>
      <p:sp>
        <p:nvSpPr>
          <p:cNvPr id="19" name="文本框 18"/>
          <p:cNvSpPr txBox="1"/>
          <p:nvPr/>
        </p:nvSpPr>
        <p:spPr>
          <a:xfrm>
            <a:off x="3720000" y="4390029"/>
            <a:ext cx="415498" cy="369332"/>
          </a:xfrm>
          <a:prstGeom prst="rect">
            <a:avLst/>
          </a:prstGeom>
          <a:noFill/>
        </p:spPr>
        <p:txBody>
          <a:bodyPr wrap="none" rtlCol="0" anchor="t">
            <a:spAutoFit/>
          </a:bodyPr>
          <a:lstStyle/>
          <a:p>
            <a:r>
              <a:rPr lang="zh-CN" altLang="en-US" b="1" dirty="0">
                <a:latin typeface="Calibri" panose="020F0502020204030204" charset="0"/>
              </a:rPr>
              <a:t>④</a:t>
            </a:r>
          </a:p>
        </p:txBody>
      </p:sp>
      <p:sp>
        <p:nvSpPr>
          <p:cNvPr id="20" name="文本框 19"/>
          <p:cNvSpPr txBox="1"/>
          <p:nvPr/>
        </p:nvSpPr>
        <p:spPr>
          <a:xfrm>
            <a:off x="8671206" y="4366552"/>
            <a:ext cx="415498" cy="369332"/>
          </a:xfrm>
          <a:prstGeom prst="rect">
            <a:avLst/>
          </a:prstGeom>
          <a:noFill/>
        </p:spPr>
        <p:txBody>
          <a:bodyPr wrap="none" rtlCol="0" anchor="t">
            <a:spAutoFit/>
          </a:bodyPr>
          <a:lstStyle/>
          <a:p>
            <a:r>
              <a:rPr lang="zh-CN" altLang="en-US" b="1" dirty="0">
                <a:latin typeface="Calibri" panose="020F0502020204030204" charset="0"/>
              </a:rPr>
              <a:t>⑤</a:t>
            </a:r>
          </a:p>
        </p:txBody>
      </p:sp>
      <p:grpSp>
        <p:nvGrpSpPr>
          <p:cNvPr id="22" name="组合 21"/>
          <p:cNvGrpSpPr/>
          <p:nvPr/>
        </p:nvGrpSpPr>
        <p:grpSpPr>
          <a:xfrm>
            <a:off x="-1" y="6553200"/>
            <a:ext cx="12192001" cy="304800"/>
            <a:chOff x="0" y="6569404"/>
            <a:chExt cx="9144000" cy="288000"/>
          </a:xfrm>
        </p:grpSpPr>
        <p:sp>
          <p:nvSpPr>
            <p:cNvPr id="23" name="矩形 2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4" name="矩形 2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a:t>
            </a:fld>
            <a:endParaRPr lang="zh-HK" altLang="en-US" sz="1600" dirty="0">
              <a:solidFill>
                <a:schemeClr val="bg1"/>
              </a:solidFill>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1" y="6553200"/>
            <a:ext cx="12192001" cy="304800"/>
            <a:chOff x="0" y="6569404"/>
            <a:chExt cx="9144000" cy="288000"/>
          </a:xfrm>
        </p:grpSpPr>
        <p:sp>
          <p:nvSpPr>
            <p:cNvPr id="23" name="矩形 2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4" name="矩形 2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a:t>
            </a:fld>
            <a:endParaRPr lang="zh-HK" altLang="en-US" sz="1600" dirty="0">
              <a:solidFill>
                <a:schemeClr val="bg1"/>
              </a:solidFill>
            </a:endParaRPr>
          </a:p>
        </p:txBody>
      </p:sp>
      <p:pic>
        <p:nvPicPr>
          <p:cNvPr id="28" name="图片 27"/>
          <p:cNvPicPr>
            <a:picLocks noChangeAspect="1"/>
          </p:cNvPicPr>
          <p:nvPr/>
        </p:nvPicPr>
        <p:blipFill>
          <a:blip r:embed="rId4" cstate="print">
            <a:clrChange>
              <a:clrFrom>
                <a:srgbClr val="FFFFFF"/>
              </a:clrFrom>
              <a:clrTo>
                <a:srgbClr val="FFFFFF">
                  <a:alpha val="0"/>
                </a:srgbClr>
              </a:clrTo>
            </a:clrChang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
        <p:nvSpPr>
          <p:cNvPr id="2" name="圆角矩形 3"/>
          <p:cNvSpPr/>
          <p:nvPr/>
        </p:nvSpPr>
        <p:spPr>
          <a:xfrm>
            <a:off x="48000" y="2709192"/>
            <a:ext cx="3871664"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Learning to Learn Variational Quantum Algorithm</a:t>
            </a:r>
            <a:endParaRPr lang="en-US" altLang="zh-CN" sz="14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9" name="圆角矩形 4"/>
          <p:cNvSpPr/>
          <p:nvPr/>
        </p:nvSpPr>
        <p:spPr>
          <a:xfrm>
            <a:off x="4351664" y="945000"/>
            <a:ext cx="3456000"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endParaRPr lang="en-US" altLang="zh-CN" sz="1400" b="1">
              <a:latin typeface="Arial" panose="020B0604020202020204" pitchFamily="34" charset="0"/>
              <a:cs typeface="Arial" panose="020B0604020202020204" pitchFamily="34" charset="0"/>
            </a:endParaRPr>
          </a:p>
          <a:p>
            <a:pPr algn="ctr">
              <a:lnSpc>
                <a:spcPct val="150000"/>
              </a:lnSpc>
            </a:pPr>
            <a:r>
              <a:rPr lang="en-US" altLang="zh-CN" sz="1400" b="1">
                <a:latin typeface="Arial" panose="020B0604020202020204" pitchFamily="34" charset="0"/>
                <a:cs typeface="Arial" panose="020B0604020202020204" pitchFamily="34" charset="0"/>
                <a:sym typeface="+mn-ea"/>
              </a:rPr>
              <a:t>PQ-Net Periodic Quantum Networks for Multivariate Time Series Forecasting</a:t>
            </a:r>
          </a:p>
          <a:p>
            <a:pPr algn="ctr">
              <a:lnSpc>
                <a:spcPct val="150000"/>
              </a:lnSpc>
            </a:pPr>
            <a:endParaRPr lang="en-US" altLang="zh-CN" sz="14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 name="圆角矩形 5"/>
          <p:cNvSpPr/>
          <p:nvPr/>
        </p:nvSpPr>
        <p:spPr>
          <a:xfrm>
            <a:off x="8229992" y="2703533"/>
            <a:ext cx="3916315"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Quantum-enhanced dual-layer  graph attention network for time series forecasting</a:t>
            </a:r>
            <a:endParaRPr lang="en-US" altLang="zh-CN" sz="14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1" name="圆角矩形 6"/>
          <p:cNvSpPr/>
          <p:nvPr/>
        </p:nvSpPr>
        <p:spPr>
          <a:xfrm>
            <a:off x="1967165" y="4582770"/>
            <a:ext cx="3320500"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Towards provably efficient quantum algorithms for large-scale machine learning models</a:t>
            </a:r>
            <a:endParaRPr lang="zh-CN" altLang="en-US" sz="1400" b="1" dirty="0">
              <a:latin typeface="Arial" panose="020B0604020202020204" pitchFamily="34" charset="0"/>
              <a:cs typeface="Arial" panose="020B0604020202020204" pitchFamily="34" charset="0"/>
              <a:sym typeface="+mn-ea"/>
            </a:endParaRPr>
          </a:p>
        </p:txBody>
      </p:sp>
      <p:sp>
        <p:nvSpPr>
          <p:cNvPr id="12" name="圆角矩形 7"/>
          <p:cNvSpPr/>
          <p:nvPr/>
        </p:nvSpPr>
        <p:spPr>
          <a:xfrm>
            <a:off x="8018089" y="4589291"/>
            <a:ext cx="3981911"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endParaRPr lang="en-US" altLang="zh-CN" sz="1400" b="1">
              <a:latin typeface="Arial" panose="020B0604020202020204" pitchFamily="34" charset="0"/>
              <a:cs typeface="Arial" panose="020B0604020202020204" pitchFamily="34" charset="0"/>
            </a:endParaRPr>
          </a:p>
          <a:p>
            <a:pPr algn="ctr">
              <a:lnSpc>
                <a:spcPct val="150000"/>
              </a:lnSpc>
            </a:pPr>
            <a:r>
              <a:rPr lang="en-US" altLang="zh-CN" sz="1400" b="1">
                <a:latin typeface="Arial" panose="020B0604020202020204" pitchFamily="34" charset="0"/>
                <a:cs typeface="Arial" panose="020B0604020202020204" pitchFamily="34" charset="0"/>
                <a:sym typeface="+mn-ea"/>
              </a:rPr>
              <a:t>Generalization in quantum machine learning from few training data</a:t>
            </a:r>
            <a:endParaRPr lang="zh-CN" altLang="en-US" sz="1400" b="1">
              <a:latin typeface="Arial" panose="020B0604020202020204" pitchFamily="34" charset="0"/>
              <a:cs typeface="Arial" panose="020B0604020202020204" pitchFamily="34" charset="0"/>
              <a:sym typeface="+mn-ea"/>
            </a:endParaRPr>
          </a:p>
          <a:p>
            <a:pPr algn="ctr">
              <a:lnSpc>
                <a:spcPct val="150000"/>
              </a:lnSpc>
            </a:pPr>
            <a:endParaRPr lang="zh-CN" altLang="en-US" sz="1400" b="1" dirty="0">
              <a:latin typeface="Arial" panose="020B0604020202020204" pitchFamily="34" charset="0"/>
              <a:cs typeface="Arial" panose="020B0604020202020204" pitchFamily="34" charset="0"/>
              <a:sym typeface="+mn-ea"/>
            </a:endParaRPr>
          </a:p>
        </p:txBody>
      </p:sp>
      <p:sp>
        <p:nvSpPr>
          <p:cNvPr id="13" name="文本框 12"/>
          <p:cNvSpPr txBox="1"/>
          <p:nvPr/>
        </p:nvSpPr>
        <p:spPr>
          <a:xfrm>
            <a:off x="1772853" y="2328940"/>
            <a:ext cx="421958" cy="330518"/>
          </a:xfrm>
          <a:prstGeom prst="rect">
            <a:avLst/>
          </a:prstGeom>
          <a:noFill/>
        </p:spPr>
        <p:txBody>
          <a:bodyPr wrap="none" rtlCol="0" anchor="t">
            <a:noAutofit/>
          </a:bodyPr>
          <a:lstStyle/>
          <a:p>
            <a:r>
              <a:rPr lang="zh-CN" altLang="en-US" b="1" dirty="0">
                <a:latin typeface="Calibri" panose="020F0502020204030204" charset="0"/>
              </a:rPr>
              <a:t>①</a:t>
            </a:r>
          </a:p>
        </p:txBody>
      </p:sp>
      <p:sp>
        <p:nvSpPr>
          <p:cNvPr id="14" name="文本框 13"/>
          <p:cNvSpPr txBox="1"/>
          <p:nvPr/>
        </p:nvSpPr>
        <p:spPr>
          <a:xfrm>
            <a:off x="5870105" y="545533"/>
            <a:ext cx="415498" cy="369332"/>
          </a:xfrm>
          <a:prstGeom prst="rect">
            <a:avLst/>
          </a:prstGeom>
          <a:noFill/>
        </p:spPr>
        <p:txBody>
          <a:bodyPr wrap="none" rtlCol="0" anchor="t">
            <a:spAutoFit/>
          </a:bodyPr>
          <a:lstStyle/>
          <a:p>
            <a:r>
              <a:rPr lang="zh-CN" altLang="en-US" b="1" dirty="0">
                <a:latin typeface="Calibri" panose="020F0502020204030204" charset="0"/>
              </a:rPr>
              <a:t>②</a:t>
            </a:r>
          </a:p>
        </p:txBody>
      </p:sp>
      <p:sp>
        <p:nvSpPr>
          <p:cNvPr id="15" name="文本框 14"/>
          <p:cNvSpPr txBox="1"/>
          <p:nvPr/>
        </p:nvSpPr>
        <p:spPr>
          <a:xfrm>
            <a:off x="9980400" y="2309533"/>
            <a:ext cx="415498" cy="369332"/>
          </a:xfrm>
          <a:prstGeom prst="rect">
            <a:avLst/>
          </a:prstGeom>
          <a:noFill/>
        </p:spPr>
        <p:txBody>
          <a:bodyPr wrap="none" rtlCol="0" anchor="t">
            <a:spAutoFit/>
          </a:bodyPr>
          <a:lstStyle/>
          <a:p>
            <a:r>
              <a:rPr lang="zh-CN" altLang="en-US" b="1" dirty="0">
                <a:latin typeface="Calibri" panose="020F0502020204030204" charset="0"/>
              </a:rPr>
              <a:t>③</a:t>
            </a:r>
          </a:p>
        </p:txBody>
      </p:sp>
      <p:sp>
        <p:nvSpPr>
          <p:cNvPr id="16" name="文本框 15"/>
          <p:cNvSpPr txBox="1"/>
          <p:nvPr/>
        </p:nvSpPr>
        <p:spPr>
          <a:xfrm>
            <a:off x="3419666" y="4183276"/>
            <a:ext cx="415498" cy="369332"/>
          </a:xfrm>
          <a:prstGeom prst="rect">
            <a:avLst/>
          </a:prstGeom>
          <a:noFill/>
        </p:spPr>
        <p:txBody>
          <a:bodyPr wrap="none" rtlCol="0" anchor="t">
            <a:spAutoFit/>
          </a:bodyPr>
          <a:lstStyle/>
          <a:p>
            <a:r>
              <a:rPr lang="zh-CN" altLang="en-US" b="1" dirty="0">
                <a:latin typeface="Calibri" panose="020F0502020204030204" charset="0"/>
              </a:rPr>
              <a:t>④</a:t>
            </a:r>
          </a:p>
        </p:txBody>
      </p:sp>
      <p:sp>
        <p:nvSpPr>
          <p:cNvPr id="17" name="文本框 16"/>
          <p:cNvSpPr txBox="1"/>
          <p:nvPr/>
        </p:nvSpPr>
        <p:spPr>
          <a:xfrm>
            <a:off x="10000419" y="4254634"/>
            <a:ext cx="415498" cy="369332"/>
          </a:xfrm>
          <a:prstGeom prst="rect">
            <a:avLst/>
          </a:prstGeom>
          <a:noFill/>
        </p:spPr>
        <p:txBody>
          <a:bodyPr wrap="none" rtlCol="0" anchor="t">
            <a:spAutoFit/>
          </a:bodyPr>
          <a:lstStyle/>
          <a:p>
            <a:r>
              <a:rPr lang="zh-CN" altLang="en-US" b="1" dirty="0">
                <a:latin typeface="Calibri" panose="020F0502020204030204" charset="0"/>
              </a:rPr>
              <a:t>⑤</a:t>
            </a:r>
          </a:p>
        </p:txBody>
      </p:sp>
      <p:cxnSp>
        <p:nvCxnSpPr>
          <p:cNvPr id="3" name="直接连接符 2"/>
          <p:cNvCxnSpPr>
            <a:stCxn id="9" idx="3"/>
            <a:endCxn id="10" idx="0"/>
          </p:cNvCxnSpPr>
          <p:nvPr/>
        </p:nvCxnSpPr>
        <p:spPr>
          <a:xfrm>
            <a:off x="7807664" y="1575000"/>
            <a:ext cx="2380486" cy="1128533"/>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11" idx="3"/>
            <a:endCxn id="12" idx="1"/>
          </p:cNvCxnSpPr>
          <p:nvPr/>
        </p:nvCxnSpPr>
        <p:spPr>
          <a:xfrm>
            <a:off x="5287665" y="5212770"/>
            <a:ext cx="2730424" cy="6521"/>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9" idx="1"/>
            <a:endCxn id="2" idx="0"/>
          </p:cNvCxnSpPr>
          <p:nvPr/>
        </p:nvCxnSpPr>
        <p:spPr>
          <a:xfrm flipH="1">
            <a:off x="1983832" y="1575000"/>
            <a:ext cx="2367832" cy="1134192"/>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2" idx="2"/>
            <a:endCxn id="11" idx="0"/>
          </p:cNvCxnSpPr>
          <p:nvPr/>
        </p:nvCxnSpPr>
        <p:spPr>
          <a:xfrm>
            <a:off x="1983832" y="3969192"/>
            <a:ext cx="1643583" cy="613578"/>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5265754" y="5373000"/>
            <a:ext cx="2752335" cy="0"/>
          </a:xfrm>
          <a:prstGeom prst="line">
            <a:avLst/>
          </a:prstGeom>
          <a:ln w="762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flipV="1">
            <a:off x="1691583" y="3969192"/>
            <a:ext cx="1448256" cy="583416"/>
          </a:xfrm>
          <a:prstGeom prst="line">
            <a:avLst/>
          </a:prstGeom>
          <a:ln w="762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11" idx="0"/>
            <a:endCxn id="10" idx="1"/>
          </p:cNvCxnSpPr>
          <p:nvPr/>
        </p:nvCxnSpPr>
        <p:spPr>
          <a:xfrm flipV="1">
            <a:off x="3627415" y="3333533"/>
            <a:ext cx="4602577" cy="1249237"/>
          </a:xfrm>
          <a:prstGeom prst="line">
            <a:avLst/>
          </a:prstGeom>
          <a:ln w="76200">
            <a:solidFill>
              <a:srgbClr val="0174AB"/>
            </a:solidFill>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1224835" y="1484321"/>
            <a:ext cx="2919081" cy="523220"/>
          </a:xfrm>
          <a:prstGeom prst="rect">
            <a:avLst/>
          </a:prstGeom>
          <a:noFill/>
        </p:spPr>
        <p:txBody>
          <a:bodyPr wrap="square">
            <a:spAutoFit/>
          </a:bodyPr>
          <a:lstStyle/>
          <a:p>
            <a:r>
              <a:rPr lang="en-US" altLang="zh-CN" sz="1400" b="1">
                <a:latin typeface="Arial" panose="020B0604020202020204" pitchFamily="34" charset="0"/>
                <a:cs typeface="Arial" panose="020B0604020202020204" pitchFamily="34" charset="0"/>
              </a:rPr>
              <a:t>Distributed Quantum Coding Consistency</a:t>
            </a:r>
            <a:endParaRPr lang="zh-CN" altLang="en-US" sz="1400" b="1" dirty="0">
              <a:latin typeface="Arial" panose="020B0604020202020204" pitchFamily="34" charset="0"/>
              <a:cs typeface="Arial" panose="020B0604020202020204" pitchFamily="34" charset="0"/>
            </a:endParaRPr>
          </a:p>
        </p:txBody>
      </p:sp>
      <p:sp>
        <p:nvSpPr>
          <p:cNvPr id="63" name="文本框 62"/>
          <p:cNvSpPr txBox="1"/>
          <p:nvPr/>
        </p:nvSpPr>
        <p:spPr>
          <a:xfrm>
            <a:off x="4459830" y="3617348"/>
            <a:ext cx="2354801" cy="307777"/>
          </a:xfrm>
          <a:prstGeom prst="rect">
            <a:avLst/>
          </a:prstGeom>
          <a:noFill/>
        </p:spPr>
        <p:txBody>
          <a:bodyPr wrap="square">
            <a:spAutoFit/>
          </a:bodyPr>
          <a:lstStyle/>
          <a:p>
            <a:r>
              <a:rPr lang="en-US" altLang="zh-CN" sz="1400" b="1">
                <a:latin typeface="微软雅黑" panose="020B0503020204020204" charset="-122"/>
                <a:ea typeface="微软雅黑" panose="020B0503020204020204" charset="-122"/>
                <a:cs typeface="Arial" panose="020B0604020202020204" pitchFamily="34" charset="0"/>
              </a:rPr>
              <a:t>QSGD algorithm</a:t>
            </a:r>
            <a:endParaRPr lang="zh-CN" altLang="en-US" sz="1400" b="1" dirty="0">
              <a:latin typeface="微软雅黑" panose="020B0503020204020204" charset="-122"/>
              <a:ea typeface="微软雅黑" panose="020B0503020204020204" charset="-122"/>
              <a:cs typeface="Arial" panose="020B0604020202020204" pitchFamily="34" charset="0"/>
            </a:endParaRPr>
          </a:p>
        </p:txBody>
      </p:sp>
      <p:sp>
        <p:nvSpPr>
          <p:cNvPr id="5" name="文本框 4"/>
          <p:cNvSpPr txBox="1"/>
          <p:nvPr/>
        </p:nvSpPr>
        <p:spPr>
          <a:xfrm>
            <a:off x="5487200" y="4623966"/>
            <a:ext cx="2354801" cy="523220"/>
          </a:xfrm>
          <a:prstGeom prst="rect">
            <a:avLst/>
          </a:prstGeom>
          <a:noFill/>
        </p:spPr>
        <p:txBody>
          <a:bodyPr wrap="square">
            <a:spAutoFit/>
          </a:bodyPr>
          <a:lstStyle/>
          <a:p>
            <a:r>
              <a:rPr lang="zh-CN" altLang="en-US" sz="1400" b="1">
                <a:latin typeface="微软雅黑" panose="020B0503020204020204" charset="-122"/>
                <a:ea typeface="微软雅黑" panose="020B0503020204020204" charset="-122"/>
              </a:rPr>
              <a:t>Scaling to Distributed </a:t>
            </a:r>
            <a:endParaRPr lang="en-US" altLang="zh-CN" sz="1400" b="1">
              <a:latin typeface="微软雅黑" panose="020B0503020204020204" charset="-122"/>
              <a:ea typeface="微软雅黑" panose="020B0503020204020204" charset="-122"/>
            </a:endParaRPr>
          </a:p>
          <a:p>
            <a:r>
              <a:rPr lang="zh-CN" altLang="en-US" sz="1400" b="1">
                <a:latin typeface="微软雅黑" panose="020B0503020204020204" charset="-122"/>
                <a:ea typeface="微软雅黑" panose="020B0503020204020204" charset="-122"/>
              </a:rPr>
              <a:t>Systems</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5419" y="1943451"/>
            <a:ext cx="12239891" cy="2045019"/>
            <a:chOff x="1522095" y="1960245"/>
            <a:chExt cx="9147810" cy="2045019"/>
          </a:xfrm>
        </p:grpSpPr>
        <p:sp>
          <p:nvSpPr>
            <p:cNvPr id="8"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9" name="文本框 8"/>
            <p:cNvSpPr txBox="1"/>
            <p:nvPr/>
          </p:nvSpPr>
          <p:spPr>
            <a:xfrm>
              <a:off x="1746588" y="2425981"/>
              <a:ext cx="8771214" cy="658835"/>
            </a:xfrm>
            <a:prstGeom prst="rect">
              <a:avLst/>
            </a:prstGeom>
            <a:noFill/>
          </p:spPr>
          <p:txBody>
            <a:bodyPr wrap="square" rtlCol="0" anchor="ctr">
              <a:spAutoFit/>
            </a:bodyPr>
            <a:lstStyle/>
            <a:p>
              <a:pPr algn="ctr">
                <a:lnSpc>
                  <a:spcPct val="150000"/>
                </a:lnSpc>
              </a:pPr>
              <a:r>
                <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rPr>
                <a:t>Learning to Learn Variational Quantum Algorithm</a:t>
              </a:r>
            </a:p>
          </p:txBody>
        </p:sp>
      </p:grpSp>
      <p:sp>
        <p:nvSpPr>
          <p:cNvPr id="2"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1</a:t>
            </a:r>
            <a:endParaRPr lang="zh-HK" altLang="en-US"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6" name="组合 15"/>
          <p:cNvGrpSpPr/>
          <p:nvPr/>
        </p:nvGrpSpPr>
        <p:grpSpPr>
          <a:xfrm>
            <a:off x="-1" y="6553200"/>
            <a:ext cx="12192001" cy="304800"/>
            <a:chOff x="0" y="6569404"/>
            <a:chExt cx="9144000" cy="288000"/>
          </a:xfrm>
        </p:grpSpPr>
        <p:sp>
          <p:nvSpPr>
            <p:cNvPr id="17"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a:t>
            </a:fld>
            <a:endParaRPr lang="zh-HK" altLang="en-US" sz="1600" dirty="0">
              <a:solidFill>
                <a:schemeClr val="bg1"/>
              </a:solidFill>
            </a:endParaRPr>
          </a:p>
        </p:txBody>
      </p:sp>
      <p:pic>
        <p:nvPicPr>
          <p:cNvPr id="15" name="图片 14"/>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
        <p:nvSpPr>
          <p:cNvPr id="11" name="文本框 10"/>
          <p:cNvSpPr txBox="1"/>
          <p:nvPr/>
        </p:nvSpPr>
        <p:spPr>
          <a:xfrm>
            <a:off x="351876" y="3586763"/>
            <a:ext cx="6121400" cy="369332"/>
          </a:xfrm>
          <a:prstGeom prst="rect">
            <a:avLst/>
          </a:prstGeom>
          <a:noFill/>
        </p:spPr>
        <p:txBody>
          <a:bodyPr wrap="square">
            <a:spAutoFit/>
          </a:bodyPr>
          <a:lstStyle/>
          <a:p>
            <a:r>
              <a:rPr lang="en-US" altLang="zh-CN">
                <a:solidFill>
                  <a:schemeClr val="bg1"/>
                </a:solidFill>
                <a:latin typeface="Arial" panose="020B0604020202020204" pitchFamily="34" charset="0"/>
                <a:cs typeface="Arial" panose="020B0604020202020204" pitchFamily="34" charset="0"/>
              </a:rPr>
              <a:t>Rui Huang , Xiaoqing Tan , and Qingshan Xu</a:t>
            </a:r>
            <a:endParaRPr lang="zh-CN" altLang="en-US">
              <a:solidFill>
                <a:schemeClr val="bg1"/>
              </a:solidFill>
              <a:latin typeface="Arial" panose="020B0604020202020204" pitchFamily="34" charset="0"/>
              <a:cs typeface="Arial" panose="020B0604020202020204" pitchFamily="34" charset="0"/>
            </a:endParaRPr>
          </a:p>
        </p:txBody>
      </p:sp>
      <p:sp>
        <p:nvSpPr>
          <p:cNvPr id="13" name="文本框 12"/>
          <p:cNvSpPr txBox="1"/>
          <p:nvPr/>
        </p:nvSpPr>
        <p:spPr>
          <a:xfrm>
            <a:off x="351876" y="4596014"/>
            <a:ext cx="8747760"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 </a:t>
            </a:r>
            <a:r>
              <a:rPr lang="en-US" altLang="zh-CN" b="1">
                <a:latin typeface="Arial" panose="020B0604020202020204" pitchFamily="34" charset="0"/>
                <a:cs typeface="Arial" panose="020B0604020202020204" pitchFamily="34" charset="0"/>
              </a:rPr>
              <a:t>Journal: </a:t>
            </a:r>
            <a:r>
              <a:rPr lang="zh-CN" altLang="zh-CN" sz="1800" b="0" i="0">
                <a:solidFill>
                  <a:srgbClr val="333333"/>
                </a:solidFill>
                <a:effectLst/>
                <a:latin typeface="Helvetica Neue"/>
              </a:rPr>
              <a:t>IEEE Transactions on Neural Networks and Learning Systems</a:t>
            </a:r>
            <a:endParaRPr lang="en-US" altLang="zh-CN" dirty="0">
              <a:latin typeface="Arial" panose="020B0604020202020204" pitchFamily="34" charset="0"/>
              <a:cs typeface="Arial" panose="020B0604020202020204" pitchFamily="34" charset="0"/>
            </a:endParaRPr>
          </a:p>
        </p:txBody>
      </p:sp>
      <p:sp>
        <p:nvSpPr>
          <p:cNvPr id="20" name="文本框 19"/>
          <p:cNvSpPr txBox="1"/>
          <p:nvPr/>
        </p:nvSpPr>
        <p:spPr>
          <a:xfrm>
            <a:off x="351876" y="5100204"/>
            <a:ext cx="5831840" cy="36830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Published Time</a:t>
            </a:r>
            <a:r>
              <a:rPr lang="en-US" altLang="zh-CN" b="1">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 2023</a:t>
            </a:r>
            <a:endParaRPr lang="en-US" altLang="zh-CN"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18"/>
          <p:cNvGrpSpPr/>
          <p:nvPr/>
        </p:nvGrpSpPr>
        <p:grpSpPr bwMode="auto">
          <a:xfrm>
            <a:off x="2409457" y="2650330"/>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9" name="组合 18"/>
          <p:cNvGrpSpPr/>
          <p:nvPr>
            <p:custDataLst>
              <p:tags r:id="rId1"/>
            </p:custDataLst>
          </p:nvPr>
        </p:nvGrpSpPr>
        <p:grpSpPr>
          <a:xfrm>
            <a:off x="4523741" y="2047924"/>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2" name="组合 21"/>
          <p:cNvGrpSpPr/>
          <p:nvPr>
            <p:custDataLst>
              <p:tags r:id="rId2"/>
            </p:custDataLst>
          </p:nvPr>
        </p:nvGrpSpPr>
        <p:grpSpPr>
          <a:xfrm>
            <a:off x="4503593" y="3688642"/>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3" name="组合 22"/>
          <p:cNvGrpSpPr/>
          <p:nvPr>
            <p:custDataLst>
              <p:tags r:id="rId3"/>
            </p:custDataLst>
          </p:nvPr>
        </p:nvGrpSpPr>
        <p:grpSpPr>
          <a:xfrm>
            <a:off x="4503593" y="4509001"/>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0" name="组合 19"/>
          <p:cNvGrpSpPr/>
          <p:nvPr>
            <p:custDataLst>
              <p:tags r:id="rId4"/>
            </p:custDataLst>
          </p:nvPr>
        </p:nvGrpSpPr>
        <p:grpSpPr>
          <a:xfrm>
            <a:off x="4517645" y="2868283"/>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7" name="组合 6"/>
          <p:cNvGrpSpPr/>
          <p:nvPr/>
        </p:nvGrpSpPr>
        <p:grpSpPr>
          <a:xfrm>
            <a:off x="-1" y="6553200"/>
            <a:ext cx="12192001" cy="304800"/>
            <a:chOff x="0" y="6569404"/>
            <a:chExt cx="9144000" cy="288000"/>
          </a:xfrm>
        </p:grpSpPr>
        <p:sp>
          <p:nvSpPr>
            <p:cNvPr id="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a:t>
            </a:fld>
            <a:endParaRPr lang="zh-HK" altLang="en-US" sz="1600" dirty="0">
              <a:solidFill>
                <a:schemeClr val="bg1"/>
              </a:solidFill>
            </a:endParaRPr>
          </a:p>
        </p:txBody>
      </p:sp>
      <p:pic>
        <p:nvPicPr>
          <p:cNvPr id="25" name="图片 24"/>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 y="6553200"/>
            <a:ext cx="12192001" cy="304800"/>
            <a:chOff x="0" y="6569404"/>
            <a:chExt cx="9144000" cy="288000"/>
          </a:xfrm>
        </p:grpSpPr>
        <p:sp>
          <p:nvSpPr>
            <p:cNvPr id="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a:t>
            </a:fld>
            <a:endParaRPr lang="zh-HK" altLang="en-US" sz="1600" dirty="0">
              <a:solidFill>
                <a:schemeClr val="bg1"/>
              </a:solidFill>
            </a:endParaRPr>
          </a:p>
        </p:txBody>
      </p:sp>
      <p:pic>
        <p:nvPicPr>
          <p:cNvPr id="25" name="图片 24"/>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96" name="组合 18"/>
          <p:cNvGrpSpPr/>
          <p:nvPr/>
        </p:nvGrpSpPr>
        <p:grpSpPr bwMode="auto">
          <a:xfrm>
            <a:off x="2409457" y="2650330"/>
            <a:ext cx="1505450" cy="1479472"/>
            <a:chOff x="1709739" y="2636838"/>
            <a:chExt cx="1590160" cy="1584325"/>
          </a:xfrm>
          <a:solidFill>
            <a:srgbClr val="044875"/>
          </a:solidFill>
        </p:grpSpPr>
        <p:sp>
          <p:nvSpPr>
            <p:cNvPr id="497"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8"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9"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0"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1"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2"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3"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4"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5"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506" name="文本框 505"/>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07" name="组合 506"/>
          <p:cNvGrpSpPr/>
          <p:nvPr>
            <p:custDataLst>
              <p:tags r:id="rId1"/>
            </p:custDataLst>
          </p:nvPr>
        </p:nvGrpSpPr>
        <p:grpSpPr>
          <a:xfrm>
            <a:off x="4523741" y="2047924"/>
            <a:ext cx="5370513" cy="534987"/>
            <a:chOff x="3281952" y="1484784"/>
            <a:chExt cx="5370513" cy="534987"/>
          </a:xfrm>
        </p:grpSpPr>
        <p:grpSp>
          <p:nvGrpSpPr>
            <p:cNvPr id="508" name="组合 507"/>
            <p:cNvGrpSpPr/>
            <p:nvPr/>
          </p:nvGrpSpPr>
          <p:grpSpPr>
            <a:xfrm>
              <a:off x="3943940" y="1484784"/>
              <a:ext cx="4708525" cy="534987"/>
              <a:chOff x="3943940" y="1626760"/>
              <a:chExt cx="4708525" cy="534987"/>
            </a:xfrm>
          </p:grpSpPr>
          <p:sp>
            <p:nvSpPr>
              <p:cNvPr id="512"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13"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514" name="矩形 513"/>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15" name="直接连接符 514"/>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09" name="组合 508"/>
            <p:cNvGrpSpPr/>
            <p:nvPr/>
          </p:nvGrpSpPr>
          <p:grpSpPr>
            <a:xfrm>
              <a:off x="3281952" y="1484784"/>
              <a:ext cx="689642" cy="534987"/>
              <a:chOff x="3281952" y="1626760"/>
              <a:chExt cx="689642" cy="534987"/>
            </a:xfrm>
          </p:grpSpPr>
          <p:sp>
            <p:nvSpPr>
              <p:cNvPr id="510" name="矩形 509"/>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11"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516" name="组合 515"/>
          <p:cNvGrpSpPr/>
          <p:nvPr>
            <p:custDataLst>
              <p:tags r:id="rId2"/>
            </p:custDataLst>
          </p:nvPr>
        </p:nvGrpSpPr>
        <p:grpSpPr>
          <a:xfrm>
            <a:off x="4503593" y="3688642"/>
            <a:ext cx="5372100" cy="534987"/>
            <a:chOff x="3261805" y="3188752"/>
            <a:chExt cx="5372100" cy="534987"/>
          </a:xfrm>
        </p:grpSpPr>
        <p:grpSp>
          <p:nvGrpSpPr>
            <p:cNvPr id="517" name="组合 516"/>
            <p:cNvGrpSpPr/>
            <p:nvPr/>
          </p:nvGrpSpPr>
          <p:grpSpPr>
            <a:xfrm>
              <a:off x="3261805" y="3188752"/>
              <a:ext cx="689593" cy="534987"/>
              <a:chOff x="3261805" y="3188752"/>
              <a:chExt cx="689593" cy="534987"/>
            </a:xfrm>
          </p:grpSpPr>
          <p:sp>
            <p:nvSpPr>
              <p:cNvPr id="523" name="矩形 52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24"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518" name="组合 517"/>
            <p:cNvGrpSpPr/>
            <p:nvPr/>
          </p:nvGrpSpPr>
          <p:grpSpPr>
            <a:xfrm>
              <a:off x="3923792" y="3188752"/>
              <a:ext cx="4710113" cy="534987"/>
              <a:chOff x="3923792" y="3188752"/>
              <a:chExt cx="4710113" cy="534987"/>
            </a:xfrm>
          </p:grpSpPr>
          <p:sp>
            <p:nvSpPr>
              <p:cNvPr id="519"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20" name="矩形 51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1" name="直接连接符 52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2"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25" name="组合 524"/>
          <p:cNvGrpSpPr/>
          <p:nvPr>
            <p:custDataLst>
              <p:tags r:id="rId3"/>
            </p:custDataLst>
          </p:nvPr>
        </p:nvGrpSpPr>
        <p:grpSpPr>
          <a:xfrm>
            <a:off x="4503593" y="4509001"/>
            <a:ext cx="5372100" cy="534987"/>
            <a:chOff x="3261805" y="4046141"/>
            <a:chExt cx="5372100" cy="534987"/>
          </a:xfrm>
        </p:grpSpPr>
        <p:grpSp>
          <p:nvGrpSpPr>
            <p:cNvPr id="526" name="组合 525"/>
            <p:cNvGrpSpPr/>
            <p:nvPr/>
          </p:nvGrpSpPr>
          <p:grpSpPr>
            <a:xfrm>
              <a:off x="3261805" y="4046141"/>
              <a:ext cx="689447" cy="534987"/>
              <a:chOff x="3261805" y="3969748"/>
              <a:chExt cx="689447" cy="534987"/>
            </a:xfrm>
          </p:grpSpPr>
          <p:sp>
            <p:nvSpPr>
              <p:cNvPr id="532" name="矩形 531"/>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33"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527" name="组合 526"/>
            <p:cNvGrpSpPr/>
            <p:nvPr/>
          </p:nvGrpSpPr>
          <p:grpSpPr>
            <a:xfrm>
              <a:off x="3923792" y="4046141"/>
              <a:ext cx="4710113" cy="534987"/>
              <a:chOff x="3923792" y="3969748"/>
              <a:chExt cx="4710113" cy="534987"/>
            </a:xfrm>
          </p:grpSpPr>
          <p:sp>
            <p:nvSpPr>
              <p:cNvPr id="528"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529" name="矩形 528"/>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0" name="直接连接符 529"/>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1"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34" name="组合 533"/>
          <p:cNvGrpSpPr/>
          <p:nvPr>
            <p:custDataLst>
              <p:tags r:id="rId4"/>
            </p:custDataLst>
          </p:nvPr>
        </p:nvGrpSpPr>
        <p:grpSpPr>
          <a:xfrm>
            <a:off x="4517645" y="2868283"/>
            <a:ext cx="5370513" cy="534987"/>
            <a:chOff x="3275856" y="2348880"/>
            <a:chExt cx="5370513" cy="534987"/>
          </a:xfrm>
        </p:grpSpPr>
        <p:grpSp>
          <p:nvGrpSpPr>
            <p:cNvPr id="535" name="组合 534"/>
            <p:cNvGrpSpPr/>
            <p:nvPr/>
          </p:nvGrpSpPr>
          <p:grpSpPr>
            <a:xfrm>
              <a:off x="3275856" y="2348880"/>
              <a:ext cx="689474" cy="534987"/>
              <a:chOff x="3275856" y="2407756"/>
              <a:chExt cx="689474" cy="534987"/>
            </a:xfrm>
          </p:grpSpPr>
          <p:sp>
            <p:nvSpPr>
              <p:cNvPr id="541" name="矩形 540"/>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2"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536" name="组合 535"/>
            <p:cNvGrpSpPr/>
            <p:nvPr/>
          </p:nvGrpSpPr>
          <p:grpSpPr>
            <a:xfrm>
              <a:off x="3937844" y="2348880"/>
              <a:ext cx="4708525" cy="534987"/>
              <a:chOff x="3937844" y="2407756"/>
              <a:chExt cx="4708525" cy="534987"/>
            </a:xfrm>
          </p:grpSpPr>
          <p:sp>
            <p:nvSpPr>
              <p:cNvPr id="537"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38" name="矩形 537"/>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9" name="直接连接符 538"/>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40"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8" name="文本框 7"/>
          <p:cNvSpPr txBox="1"/>
          <p:nvPr/>
        </p:nvSpPr>
        <p:spPr>
          <a:xfrm>
            <a:off x="206506" y="756617"/>
            <a:ext cx="11661725" cy="5027017"/>
          </a:xfrm>
          <a:prstGeom prst="rect">
            <a:avLst/>
          </a:prstGeom>
          <a:noFill/>
          <a:ln>
            <a:solidFill>
              <a:srgbClr val="0174AB"/>
            </a:solidFill>
          </a:ln>
        </p:spPr>
        <p:txBody>
          <a:bodyPr wrap="square" rtlCol="0">
            <a:spAutoFit/>
          </a:bodyPr>
          <a:lstStyle/>
          <a:p>
            <a:pPr marL="285750" indent="-285750">
              <a:lnSpc>
                <a:spcPct val="150000"/>
              </a:lnSpc>
              <a:buFont typeface="Arial" panose="020B0604020202020204" pitchFamily="34" charset="0"/>
              <a:buChar char="•"/>
            </a:pPr>
            <a:r>
              <a:rPr lang="en-US" altLang="zh-CN" b="1" dirty="0">
                <a:latin typeface="Arial" panose="020B0604020202020204" pitchFamily="34" charset="0"/>
                <a:ea typeface="微软雅黑" panose="020B0503020204020204" charset="-122"/>
                <a:cs typeface="Arial" panose="020B0604020202020204" pitchFamily="34" charset="0"/>
                <a:sym typeface="+mn-ea"/>
              </a:rPr>
              <a:t>Collaborative multi-view IB for flexible unsupervised representation learning</a:t>
            </a:r>
            <a:endParaRPr lang="en-US" altLang="zh-CN" b="1" dirty="0">
              <a:latin typeface="Arial" panose="020B0604020202020204" pitchFamily="34" charset="0"/>
              <a:ea typeface="微软雅黑" panose="020B0503020204020204" charset="-122"/>
              <a:cs typeface="Arial" panose="020B0604020202020204" pitchFamily="34" charset="0"/>
            </a:endParaRPr>
          </a:p>
          <a:p>
            <a:pPr indent="457200">
              <a:lnSpc>
                <a:spcPct val="150000"/>
              </a:lnSpc>
            </a:pPr>
            <a:r>
              <a:rPr lang="en-US" altLang="zh-CN" dirty="0">
                <a:latin typeface="Arial" panose="020B0604020202020204" pitchFamily="34" charset="0"/>
                <a:cs typeface="Arial" panose="020B0604020202020204" pitchFamily="34" charset="0"/>
              </a:rPr>
              <a:t>In this paper, we propose a </a:t>
            </a:r>
            <a:r>
              <a:rPr lang="en-US" altLang="zh-CN" b="1" dirty="0">
                <a:solidFill>
                  <a:srgbClr val="FF0000"/>
                </a:solidFill>
                <a:latin typeface="Arial" panose="020B0604020202020204" pitchFamily="34" charset="0"/>
                <a:cs typeface="Arial" panose="020B0604020202020204" pitchFamily="34" charset="0"/>
              </a:rPr>
              <a:t>meta-learning variational quantum algorithm </a:t>
            </a:r>
            <a:r>
              <a:rPr lang="en-US" altLang="zh-CN"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metaVQA</a:t>
            </a:r>
            <a:r>
              <a:rPr lang="en-US" altLang="zh-CN" dirty="0">
                <a:latin typeface="Arial" panose="020B0604020202020204" pitchFamily="34" charset="0"/>
                <a:cs typeface="Arial" panose="020B0604020202020204" pitchFamily="34" charset="0"/>
              </a:rPr>
              <a:t>), aiming to extend to </a:t>
            </a:r>
            <a:r>
              <a:rPr lang="en-US" altLang="zh-CN" b="1" dirty="0">
                <a:solidFill>
                  <a:srgbClr val="FF0000"/>
                </a:solidFill>
                <a:latin typeface="Arial" panose="020B0604020202020204" pitchFamily="34" charset="0"/>
                <a:cs typeface="Arial" panose="020B0604020202020204" pitchFamily="34" charset="0"/>
              </a:rPr>
              <a:t>larger system sizes</a:t>
            </a:r>
            <a:r>
              <a:rPr lang="en-US" altLang="zh-CN" dirty="0">
                <a:latin typeface="Arial" panose="020B0604020202020204" pitchFamily="34" charset="0"/>
                <a:cs typeface="Arial" panose="020B0604020202020204" pitchFamily="34" charset="0"/>
              </a:rPr>
              <a:t> and problem instances by optimizing small-scale quantum algorithms.</a:t>
            </a:r>
          </a:p>
          <a:p>
            <a:pPr indent="457200">
              <a:lnSpc>
                <a:spcPct val="150000"/>
              </a:lnSpc>
            </a:pPr>
            <a:endParaRPr lang="en-US" altLang="zh-CN"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altLang="zh-CN" b="1" dirty="0">
                <a:latin typeface="Arial" panose="020B0604020202020204" pitchFamily="34" charset="0"/>
                <a:ea typeface="微软雅黑" panose="020B0503020204020204" charset="-122"/>
                <a:cs typeface="Arial" panose="020B0604020202020204" pitchFamily="34" charset="0"/>
              </a:rPr>
              <a:t>Challenge</a:t>
            </a:r>
          </a:p>
          <a:p>
            <a:pPr indent="457200">
              <a:lnSpc>
                <a:spcPct val="150000"/>
              </a:lnSpc>
            </a:pPr>
            <a:r>
              <a:rPr lang="en-US" altLang="zh-CN" dirty="0">
                <a:latin typeface="Arial" panose="020B0604020202020204" pitchFamily="34" charset="0"/>
                <a:cs typeface="Arial" panose="020B0604020202020204" pitchFamily="34" charset="0"/>
              </a:rPr>
              <a:t>Traditional VQA requires a </a:t>
            </a:r>
            <a:r>
              <a:rPr lang="en-US" altLang="zh-CN" b="1" dirty="0">
                <a:solidFill>
                  <a:srgbClr val="FF0000"/>
                </a:solidFill>
                <a:latin typeface="Arial" panose="020B0604020202020204" pitchFamily="34" charset="0"/>
                <a:cs typeface="Arial" panose="020B0604020202020204" pitchFamily="34" charset="0"/>
              </a:rPr>
              <a:t>large number of iterations and samples </a:t>
            </a:r>
            <a:r>
              <a:rPr lang="en-US" altLang="zh-CN" dirty="0">
                <a:latin typeface="Arial" panose="020B0604020202020204" pitchFamily="34" charset="0"/>
                <a:cs typeface="Arial" panose="020B0604020202020204" pitchFamily="34" charset="0"/>
              </a:rPr>
              <a:t>during the training process, which limits its application to large-scale quantum systems.</a:t>
            </a:r>
          </a:p>
          <a:p>
            <a:pPr indent="457200">
              <a:lnSpc>
                <a:spcPct val="150000"/>
              </a:lnSpc>
            </a:pPr>
            <a:endParaRPr lang="en-US" altLang="zh-CN"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altLang="zh-CN" b="1" dirty="0">
                <a:latin typeface="Arial" panose="020B0604020202020204" pitchFamily="34" charset="0"/>
                <a:ea typeface="微软雅黑" panose="020B0503020204020204" charset="-122"/>
                <a:cs typeface="Arial" panose="020B0604020202020204" pitchFamily="34" charset="0"/>
              </a:rPr>
              <a:t>Method</a:t>
            </a:r>
          </a:p>
          <a:p>
            <a:pPr>
              <a:lnSpc>
                <a:spcPct val="150000"/>
              </a:lnSpc>
            </a:pPr>
            <a:r>
              <a:rPr lang="en-US" altLang="zh-CN" dirty="0">
                <a:latin typeface="Arial" panose="020B0604020202020204" pitchFamily="34" charset="0"/>
                <a:cs typeface="Arial" panose="020B0604020202020204" pitchFamily="34" charset="0"/>
              </a:rPr>
              <a:t>       The article proposes a meta-learning variational quantum algorithm (meta-VQA) that aids quantum computation by training classical recurrent units. The core idea of this approach is for the model to learn how to optimize the algorithmic parameters so that it can quickly adapt and find near-optimal solutions in new tasks.</a:t>
            </a:r>
          </a:p>
        </p:txBody>
      </p:sp>
      <p:grpSp>
        <p:nvGrpSpPr>
          <p:cNvPr id="12" name="组合 11"/>
          <p:cNvGrpSpPr/>
          <p:nvPr/>
        </p:nvGrpSpPr>
        <p:grpSpPr>
          <a:xfrm>
            <a:off x="-1" y="6553200"/>
            <a:ext cx="12192001" cy="304800"/>
            <a:chOff x="0" y="6569404"/>
            <a:chExt cx="9144000" cy="288000"/>
          </a:xfrm>
        </p:grpSpPr>
        <p:sp>
          <p:nvSpPr>
            <p:cNvPr id="13" name="矩形 1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a:t>
            </a:fld>
            <a:endParaRPr lang="zh-HK" altLang="en-US" sz="1600" dirty="0">
              <a:solidFill>
                <a:schemeClr val="bg1"/>
              </a:solidFill>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 y="6553200"/>
            <a:ext cx="12192001" cy="304800"/>
            <a:chOff x="0" y="6569404"/>
            <a:chExt cx="9144000" cy="288000"/>
          </a:xfrm>
        </p:grpSpPr>
        <p:sp>
          <p:nvSpPr>
            <p:cNvPr id="4"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a:t>
            </a:fld>
            <a:endParaRPr lang="zh-HK" altLang="en-US" sz="1600" dirty="0">
              <a:solidFill>
                <a:schemeClr val="bg1"/>
              </a:solidFill>
            </a:endParaRPr>
          </a:p>
        </p:txBody>
      </p:sp>
      <p:pic>
        <p:nvPicPr>
          <p:cNvPr id="7" name="图片 6"/>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p:cNvGrpSpPr/>
          <p:nvPr/>
        </p:nvGrpSpPr>
        <p:grpSpPr bwMode="auto">
          <a:xfrm>
            <a:off x="2409457" y="2650330"/>
            <a:ext cx="1505450" cy="1479472"/>
            <a:chOff x="1709739" y="2636838"/>
            <a:chExt cx="1590160" cy="1584325"/>
          </a:xfrm>
          <a:solidFill>
            <a:srgbClr val="044875"/>
          </a:solidFill>
        </p:grpSpPr>
        <p:sp>
          <p:nvSpPr>
            <p:cNvPr id="59"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3" name="文本框 72"/>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4" name="组合 73"/>
          <p:cNvGrpSpPr/>
          <p:nvPr>
            <p:custDataLst>
              <p:tags r:id="rId1"/>
            </p:custDataLst>
          </p:nvPr>
        </p:nvGrpSpPr>
        <p:grpSpPr>
          <a:xfrm>
            <a:off x="4523741" y="2047924"/>
            <a:ext cx="5370513" cy="534987"/>
            <a:chOff x="3281952" y="1484784"/>
            <a:chExt cx="5370513" cy="534987"/>
          </a:xfrm>
        </p:grpSpPr>
        <p:grpSp>
          <p:nvGrpSpPr>
            <p:cNvPr id="75" name="组合 74"/>
            <p:cNvGrpSpPr/>
            <p:nvPr/>
          </p:nvGrpSpPr>
          <p:grpSpPr>
            <a:xfrm>
              <a:off x="3943940" y="1484784"/>
              <a:ext cx="4708525" cy="534987"/>
              <a:chOff x="3943940" y="1626760"/>
              <a:chExt cx="4708525" cy="534987"/>
            </a:xfrm>
          </p:grpSpPr>
          <p:sp>
            <p:nvSpPr>
              <p:cNvPr id="7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1" name="矩形 8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2" name="直接连接符 8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6" name="组合 75"/>
            <p:cNvGrpSpPr/>
            <p:nvPr/>
          </p:nvGrpSpPr>
          <p:grpSpPr>
            <a:xfrm>
              <a:off x="3281952" y="1484784"/>
              <a:ext cx="689642" cy="534987"/>
              <a:chOff x="3281952" y="1626760"/>
              <a:chExt cx="689642" cy="534987"/>
            </a:xfrm>
          </p:grpSpPr>
          <p:sp>
            <p:nvSpPr>
              <p:cNvPr id="77" name="矩形 76"/>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8"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3" name="组合 82"/>
          <p:cNvGrpSpPr/>
          <p:nvPr>
            <p:custDataLst>
              <p:tags r:id="rId2"/>
            </p:custDataLst>
          </p:nvPr>
        </p:nvGrpSpPr>
        <p:grpSpPr>
          <a:xfrm>
            <a:off x="4503593" y="3688642"/>
            <a:ext cx="5372100" cy="534987"/>
            <a:chOff x="3261805" y="3188752"/>
            <a:chExt cx="5372100" cy="534987"/>
          </a:xfrm>
        </p:grpSpPr>
        <p:grpSp>
          <p:nvGrpSpPr>
            <p:cNvPr id="84" name="组合 83"/>
            <p:cNvGrpSpPr/>
            <p:nvPr/>
          </p:nvGrpSpPr>
          <p:grpSpPr>
            <a:xfrm>
              <a:off x="3261805" y="3188752"/>
              <a:ext cx="689593" cy="534987"/>
              <a:chOff x="3261805" y="3188752"/>
              <a:chExt cx="689593" cy="534987"/>
            </a:xfrm>
          </p:grpSpPr>
          <p:sp>
            <p:nvSpPr>
              <p:cNvPr id="100" name="矩形 99"/>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1"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85" name="组合 84"/>
            <p:cNvGrpSpPr/>
            <p:nvPr/>
          </p:nvGrpSpPr>
          <p:grpSpPr>
            <a:xfrm>
              <a:off x="3923792" y="3188752"/>
              <a:ext cx="4710113" cy="534987"/>
              <a:chOff x="3923792" y="3188752"/>
              <a:chExt cx="4710113" cy="534987"/>
            </a:xfrm>
          </p:grpSpPr>
          <p:sp>
            <p:nvSpPr>
              <p:cNvPr id="87"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91" name="矩形 90"/>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5" name="直接连接符 94"/>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9"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2" name="组合 101"/>
          <p:cNvGrpSpPr/>
          <p:nvPr>
            <p:custDataLst>
              <p:tags r:id="rId3"/>
            </p:custDataLst>
          </p:nvPr>
        </p:nvGrpSpPr>
        <p:grpSpPr>
          <a:xfrm>
            <a:off x="4503593" y="4509001"/>
            <a:ext cx="5372100" cy="534987"/>
            <a:chOff x="3261805" y="4046141"/>
            <a:chExt cx="5372100" cy="534987"/>
          </a:xfrm>
        </p:grpSpPr>
        <p:grpSp>
          <p:nvGrpSpPr>
            <p:cNvPr id="103" name="组合 102"/>
            <p:cNvGrpSpPr/>
            <p:nvPr/>
          </p:nvGrpSpPr>
          <p:grpSpPr>
            <a:xfrm>
              <a:off x="3261805" y="4046141"/>
              <a:ext cx="689447" cy="534987"/>
              <a:chOff x="3261805" y="3969748"/>
              <a:chExt cx="689447" cy="534987"/>
            </a:xfrm>
          </p:grpSpPr>
          <p:sp>
            <p:nvSpPr>
              <p:cNvPr id="109" name="矩形 10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4" name="组合 103"/>
            <p:cNvGrpSpPr/>
            <p:nvPr/>
          </p:nvGrpSpPr>
          <p:grpSpPr>
            <a:xfrm>
              <a:off x="3923792" y="4046141"/>
              <a:ext cx="4710113" cy="534987"/>
              <a:chOff x="3923792" y="3969748"/>
              <a:chExt cx="4710113" cy="534987"/>
            </a:xfrm>
          </p:grpSpPr>
          <p:sp>
            <p:nvSpPr>
              <p:cNvPr id="105"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6" name="矩形 105"/>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7" name="直接连接符 106"/>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11" name="组合 110"/>
          <p:cNvGrpSpPr/>
          <p:nvPr>
            <p:custDataLst>
              <p:tags r:id="rId4"/>
            </p:custDataLst>
          </p:nvPr>
        </p:nvGrpSpPr>
        <p:grpSpPr>
          <a:xfrm>
            <a:off x="4517645" y="2868283"/>
            <a:ext cx="5370513" cy="534987"/>
            <a:chOff x="3275856" y="2348880"/>
            <a:chExt cx="5370513" cy="534987"/>
          </a:xfrm>
        </p:grpSpPr>
        <p:grpSp>
          <p:nvGrpSpPr>
            <p:cNvPr id="112" name="组合 111"/>
            <p:cNvGrpSpPr/>
            <p:nvPr/>
          </p:nvGrpSpPr>
          <p:grpSpPr>
            <a:xfrm>
              <a:off x="3275856" y="2348880"/>
              <a:ext cx="689474" cy="534987"/>
              <a:chOff x="3275856" y="2407756"/>
              <a:chExt cx="689474" cy="534987"/>
            </a:xfrm>
          </p:grpSpPr>
          <p:sp>
            <p:nvSpPr>
              <p:cNvPr id="118" name="矩形 117"/>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9"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13" name="组合 112"/>
            <p:cNvGrpSpPr/>
            <p:nvPr/>
          </p:nvGrpSpPr>
          <p:grpSpPr>
            <a:xfrm>
              <a:off x="3937844" y="2348880"/>
              <a:ext cx="4708525" cy="534987"/>
              <a:chOff x="3937844" y="2407756"/>
              <a:chExt cx="4708525" cy="534987"/>
            </a:xfrm>
          </p:grpSpPr>
          <p:sp>
            <p:nvSpPr>
              <p:cNvPr id="114"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15" name="矩形 114"/>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6" name="直接连接符 115"/>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7"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8</a:t>
            </a:fld>
            <a:endParaRPr lang="zh-HK" altLang="en-US">
              <a:solidFill>
                <a:prstClr val="black">
                  <a:tint val="75000"/>
                </a:prstClr>
              </a:solidFill>
            </a:endParaRP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a:t>
            </a:fld>
            <a:endParaRPr lang="zh-HK" altLang="en-US" sz="1600" dirty="0">
              <a:solidFill>
                <a:schemeClr val="bg1"/>
              </a:solidFill>
            </a:endParaRPr>
          </a:p>
        </p:txBody>
      </p:sp>
      <p:sp>
        <p:nvSpPr>
          <p:cNvPr id="10" name="文本框 9"/>
          <p:cNvSpPr txBox="1"/>
          <p:nvPr/>
        </p:nvSpPr>
        <p:spPr>
          <a:xfrm>
            <a:off x="840000" y="1413000"/>
            <a:ext cx="5763244" cy="400110"/>
          </a:xfrm>
          <a:prstGeom prst="rect">
            <a:avLst/>
          </a:prstGeom>
          <a:noFill/>
        </p:spPr>
        <p:txBody>
          <a:bodyPr wrap="none" rtlCol="0">
            <a:spAutoFit/>
          </a:bodyPr>
          <a:lstStyle/>
          <a:p>
            <a:r>
              <a:rPr lang="zh-CN" altLang="en-US" sz="2000" b="1" dirty="0">
                <a:latin typeface="微软雅黑" panose="020B0503020204020204" charset="-122"/>
                <a:ea typeface="微软雅黑" panose="020B0503020204020204" charset="-122"/>
              </a:rPr>
              <a:t>（</a:t>
            </a:r>
            <a:r>
              <a:rPr lang="en-US" altLang="zh-CN" sz="2000" b="1" dirty="0">
                <a:latin typeface="微软雅黑" panose="020B0503020204020204" charset="-122"/>
                <a:ea typeface="微软雅黑" panose="020B0503020204020204" charset="-122"/>
              </a:rPr>
              <a:t>1</a:t>
            </a:r>
            <a:r>
              <a:rPr lang="zh-CN" altLang="en-US" sz="2000" b="1" dirty="0">
                <a:latin typeface="微软雅黑" panose="020B0503020204020204" charset="-122"/>
                <a:ea typeface="微软雅黑" panose="020B0503020204020204" charset="-122"/>
              </a:rPr>
              <a:t>）</a:t>
            </a:r>
            <a:r>
              <a:rPr lang="en-US" altLang="zh-CN" sz="2000" b="1" dirty="0">
                <a:latin typeface="微软雅黑" panose="020B0503020204020204" charset="-122"/>
                <a:ea typeface="微软雅黑" panose="020B0503020204020204" charset="-122"/>
              </a:rPr>
              <a:t>Variational </a:t>
            </a:r>
            <a:r>
              <a:rPr lang="en-US" altLang="zh-CN" sz="2000" b="1">
                <a:latin typeface="微软雅黑" panose="020B0503020204020204" charset="-122"/>
                <a:ea typeface="微软雅黑" panose="020B0503020204020204" charset="-122"/>
              </a:rPr>
              <a:t>quantum algorithm (VQA):</a:t>
            </a:r>
            <a:endParaRPr lang="zh-CN" altLang="en-US" sz="2000" b="1" dirty="0">
              <a:latin typeface="微软雅黑" panose="020B0503020204020204" charset="-122"/>
              <a:ea typeface="微软雅黑" panose="020B0503020204020204" charset="-122"/>
            </a:endParaRPr>
          </a:p>
        </p:txBody>
      </p:sp>
      <p:sp>
        <p:nvSpPr>
          <p:cNvPr id="5" name="文本框 4"/>
          <p:cNvSpPr txBox="1"/>
          <p:nvPr/>
        </p:nvSpPr>
        <p:spPr>
          <a:xfrm>
            <a:off x="790862" y="1813110"/>
            <a:ext cx="10224000" cy="1420325"/>
          </a:xfrm>
          <a:prstGeom prst="rect">
            <a:avLst/>
          </a:prstGeom>
          <a:noFill/>
        </p:spPr>
        <p:txBody>
          <a:bodyPr wrap="square">
            <a:spAutoFit/>
          </a:bodyPr>
          <a:lstStyle/>
          <a:p>
            <a:pPr>
              <a:lnSpc>
                <a:spcPct val="150000"/>
              </a:lnSpc>
              <a:buNone/>
            </a:pPr>
            <a:r>
              <a:rPr lang="en-US" altLang="zh-CN" sz="2000" dirty="0">
                <a:solidFill>
                  <a:srgbClr val="231F20"/>
                </a:solidFill>
                <a:effectLst/>
                <a:latin typeface="Arial" panose="020B0604020202020204" pitchFamily="34" charset="0"/>
                <a:cs typeface="Arial" panose="020B0604020202020204" pitchFamily="34" charset="0"/>
              </a:rPr>
              <a:t>        Variational quantum algorithms (VQAs) use </a:t>
            </a:r>
            <a:r>
              <a:rPr lang="en-US" altLang="zh-CN" sz="2000" b="1" dirty="0">
                <a:solidFill>
                  <a:srgbClr val="FF0000"/>
                </a:solidFill>
                <a:effectLst/>
                <a:latin typeface="Arial" panose="020B0604020202020204" pitchFamily="34" charset="0"/>
                <a:cs typeface="Arial" panose="020B0604020202020204" pitchFamily="34" charset="0"/>
              </a:rPr>
              <a:t>classical computers </a:t>
            </a:r>
            <a:r>
              <a:rPr lang="en-US" altLang="zh-CN" sz="2000" dirty="0">
                <a:solidFill>
                  <a:srgbClr val="231F20"/>
                </a:solidFill>
                <a:effectLst/>
                <a:latin typeface="Arial" panose="020B0604020202020204" pitchFamily="34" charset="0"/>
                <a:cs typeface="Arial" panose="020B0604020202020204" pitchFamily="34" charset="0"/>
              </a:rPr>
              <a:t>as the </a:t>
            </a:r>
            <a:r>
              <a:rPr lang="en-US" altLang="zh-CN" sz="2000" b="1" dirty="0">
                <a:solidFill>
                  <a:srgbClr val="FF0000"/>
                </a:solidFill>
                <a:effectLst/>
                <a:latin typeface="Arial" panose="020B0604020202020204" pitchFamily="34" charset="0"/>
                <a:cs typeface="Arial" panose="020B0604020202020204" pitchFamily="34" charset="0"/>
              </a:rPr>
              <a:t>quantum outer loop optimizer</a:t>
            </a:r>
            <a:r>
              <a:rPr lang="en-US" altLang="zh-CN" sz="2000" b="1" dirty="0">
                <a:solidFill>
                  <a:srgbClr val="231F20"/>
                </a:solidFill>
                <a:effectLst/>
                <a:latin typeface="Arial" panose="020B0604020202020204" pitchFamily="34" charset="0"/>
                <a:cs typeface="Arial" panose="020B0604020202020204" pitchFamily="34" charset="0"/>
              </a:rPr>
              <a:t> </a:t>
            </a:r>
            <a:r>
              <a:rPr lang="en-US" altLang="zh-CN" sz="2000" dirty="0">
                <a:solidFill>
                  <a:srgbClr val="231F20"/>
                </a:solidFill>
                <a:effectLst/>
                <a:latin typeface="Arial" panose="020B0604020202020204" pitchFamily="34" charset="0"/>
                <a:cs typeface="Arial" panose="020B0604020202020204" pitchFamily="34" charset="0"/>
              </a:rPr>
              <a:t>and update the </a:t>
            </a:r>
            <a:r>
              <a:rPr lang="en-US" altLang="zh-CN" sz="2000" b="1" dirty="0">
                <a:solidFill>
                  <a:srgbClr val="FF0000"/>
                </a:solidFill>
                <a:effectLst/>
                <a:latin typeface="Arial" panose="020B0604020202020204" pitchFamily="34" charset="0"/>
                <a:cs typeface="Arial" panose="020B0604020202020204" pitchFamily="34" charset="0"/>
              </a:rPr>
              <a:t>circuit parameters </a:t>
            </a:r>
            <a:r>
              <a:rPr lang="en-US" altLang="zh-CN" sz="2000" dirty="0">
                <a:solidFill>
                  <a:srgbClr val="231F20"/>
                </a:solidFill>
                <a:effectLst/>
                <a:latin typeface="Arial" panose="020B0604020202020204" pitchFamily="34" charset="0"/>
                <a:cs typeface="Arial" panose="020B0604020202020204" pitchFamily="34" charset="0"/>
              </a:rPr>
              <a:t>to obtain an approximate ground state.</a:t>
            </a:r>
            <a:endParaRPr lang="zh-CN" altLang="en-US" sz="2000" dirty="0">
              <a:latin typeface="Arial" panose="020B0604020202020204" pitchFamily="34" charset="0"/>
              <a:cs typeface="Arial" panose="020B0604020202020204" pitchFamily="34" charset="0"/>
            </a:endParaRPr>
          </a:p>
        </p:txBody>
      </p:sp>
      <p:sp>
        <p:nvSpPr>
          <p:cNvPr id="6" name="文本框 5"/>
          <p:cNvSpPr txBox="1"/>
          <p:nvPr/>
        </p:nvSpPr>
        <p:spPr>
          <a:xfrm>
            <a:off x="790862" y="3761638"/>
            <a:ext cx="2769348" cy="400110"/>
          </a:xfrm>
          <a:prstGeom prst="rect">
            <a:avLst/>
          </a:prstGeom>
          <a:noFill/>
        </p:spPr>
        <p:txBody>
          <a:bodyPr wrap="none" rtlCol="0">
            <a:spAutoFit/>
          </a:bodyPr>
          <a:lstStyle/>
          <a:p>
            <a:r>
              <a:rPr lang="zh-CN" altLang="en-US" sz="2000" b="1" dirty="0">
                <a:latin typeface="微软雅黑" panose="020B0503020204020204" charset="-122"/>
                <a:ea typeface="微软雅黑" panose="020B0503020204020204" charset="-122"/>
              </a:rPr>
              <a:t>（</a:t>
            </a:r>
            <a:r>
              <a:rPr lang="en-US" altLang="zh-CN" sz="2000" b="1" dirty="0">
                <a:latin typeface="微软雅黑" panose="020B0503020204020204" charset="-122"/>
                <a:ea typeface="微软雅黑" panose="020B0503020204020204" charset="-122"/>
              </a:rPr>
              <a:t>2</a:t>
            </a:r>
            <a:r>
              <a:rPr lang="zh-CN" altLang="en-US" sz="2000" b="1" dirty="0">
                <a:latin typeface="微软雅黑" panose="020B0503020204020204" charset="-122"/>
                <a:ea typeface="微软雅黑" panose="020B0503020204020204" charset="-122"/>
              </a:rPr>
              <a:t>）</a:t>
            </a:r>
            <a:r>
              <a:rPr lang="en-US" altLang="zh-CN" sz="2000" b="1" dirty="0">
                <a:latin typeface="微软雅黑" panose="020B0503020204020204" charset="-122"/>
                <a:ea typeface="微软雅黑" panose="020B0503020204020204" charset="-122"/>
              </a:rPr>
              <a:t>Meta-learning:</a:t>
            </a:r>
            <a:endParaRPr lang="zh-CN" altLang="en-US" sz="2000" b="1" dirty="0">
              <a:latin typeface="微软雅黑" panose="020B0503020204020204" charset="-122"/>
              <a:ea typeface="微软雅黑" panose="020B0503020204020204" charset="-122"/>
            </a:endParaRPr>
          </a:p>
        </p:txBody>
      </p:sp>
      <p:sp>
        <p:nvSpPr>
          <p:cNvPr id="7" name="文本框 6"/>
          <p:cNvSpPr txBox="1"/>
          <p:nvPr/>
        </p:nvSpPr>
        <p:spPr>
          <a:xfrm>
            <a:off x="790862" y="4249613"/>
            <a:ext cx="10224000" cy="958660"/>
          </a:xfrm>
          <a:prstGeom prst="rect">
            <a:avLst/>
          </a:prstGeom>
          <a:noFill/>
        </p:spPr>
        <p:txBody>
          <a:bodyPr wrap="square">
            <a:spAutoFit/>
          </a:bodyPr>
          <a:lstStyle/>
          <a:p>
            <a:pPr>
              <a:lnSpc>
                <a:spcPct val="150000"/>
              </a:lnSpc>
              <a:buNone/>
            </a:pPr>
            <a:r>
              <a:rPr lang="en-US" altLang="zh-CN" sz="2000" dirty="0">
                <a:solidFill>
                  <a:srgbClr val="231F20"/>
                </a:solidFill>
                <a:effectLst/>
                <a:latin typeface="Arial" panose="020B0604020202020204" pitchFamily="34" charset="0"/>
                <a:cs typeface="Arial" panose="020B0604020202020204" pitchFamily="34" charset="0"/>
              </a:rPr>
              <a:t>      Meta-learning is called learning to learn, which aims to learn how to </a:t>
            </a:r>
            <a:r>
              <a:rPr lang="en-US" altLang="zh-CN" sz="2000" b="1" dirty="0">
                <a:solidFill>
                  <a:srgbClr val="FF0000"/>
                </a:solidFill>
                <a:effectLst/>
                <a:latin typeface="Arial" panose="020B0604020202020204" pitchFamily="34" charset="0"/>
                <a:cs typeface="Arial" panose="020B0604020202020204" pitchFamily="34" charset="0"/>
              </a:rPr>
              <a:t>optimize the parameters</a:t>
            </a:r>
            <a:r>
              <a:rPr lang="en-US" altLang="zh-CN" sz="2000" dirty="0">
                <a:solidFill>
                  <a:srgbClr val="231F20"/>
                </a:solidFill>
                <a:effectLst/>
                <a:latin typeface="Arial" panose="020B0604020202020204" pitchFamily="34" charset="0"/>
                <a:cs typeface="Arial" panose="020B0604020202020204" pitchFamily="34" charset="0"/>
              </a:rPr>
              <a:t> of an algorithm and further formulate it for specific problems.</a:t>
            </a:r>
            <a:endParaRPr lang="zh-CN" altLang="en-US" sz="2000" dirty="0">
              <a:latin typeface="Arial" panose="020B0604020202020204" pitchFamily="34" charset="0"/>
              <a:cs typeface="Arial" panose="020B0604020202020204" pitchFamily="34"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629747"/>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35775"/>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9</a:t>
            </a:fld>
            <a:endParaRPr lang="zh-HK" altLang="en-US">
              <a:solidFill>
                <a:prstClr val="black">
                  <a:tint val="75000"/>
                </a:prstClr>
              </a:solidFill>
            </a:endParaRP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9</a:t>
            </a:fld>
            <a:endParaRPr lang="zh-HK" altLang="en-US" sz="1600" dirty="0">
              <a:solidFill>
                <a:schemeClr val="bg1"/>
              </a:solidFill>
            </a:endParaRPr>
          </a:p>
        </p:txBody>
      </p:sp>
      <p:pic>
        <p:nvPicPr>
          <p:cNvPr id="4" name="图片 3"/>
          <p:cNvPicPr>
            <a:picLocks noChangeAspect="1"/>
          </p:cNvPicPr>
          <p:nvPr/>
        </p:nvPicPr>
        <p:blipFill>
          <a:blip r:embed="rId3"/>
          <a:stretch>
            <a:fillRect/>
          </a:stretch>
        </p:blipFill>
        <p:spPr>
          <a:xfrm>
            <a:off x="840000" y="979760"/>
            <a:ext cx="4770118" cy="5543277"/>
          </a:xfrm>
          <a:prstGeom prst="rect">
            <a:avLst/>
          </a:prstGeom>
        </p:spPr>
      </p:pic>
      <p:pic>
        <p:nvPicPr>
          <p:cNvPr id="8" name="图片 7"/>
          <p:cNvPicPr>
            <a:picLocks noChangeAspect="1"/>
          </p:cNvPicPr>
          <p:nvPr/>
        </p:nvPicPr>
        <p:blipFill>
          <a:blip r:embed="rId4"/>
          <a:srcRect t="319"/>
          <a:stretch>
            <a:fillRect/>
          </a:stretch>
        </p:blipFill>
        <p:spPr>
          <a:xfrm>
            <a:off x="5630805" y="1168885"/>
            <a:ext cx="5865195" cy="4994382"/>
          </a:xfrm>
          <a:prstGeom prst="rect">
            <a:avLst/>
          </a:prstGeom>
        </p:spPr>
      </p:pic>
      <p:sp>
        <p:nvSpPr>
          <p:cNvPr id="10" name="文本框 9"/>
          <p:cNvSpPr txBox="1"/>
          <p:nvPr/>
        </p:nvSpPr>
        <p:spPr>
          <a:xfrm>
            <a:off x="126280" y="660076"/>
            <a:ext cx="2138727" cy="400110"/>
          </a:xfrm>
          <a:prstGeom prst="rect">
            <a:avLst/>
          </a:prstGeom>
          <a:noFill/>
        </p:spPr>
        <p:txBody>
          <a:bodyPr wrap="none" rtlCol="0">
            <a:spAutoFit/>
          </a:bodyPr>
          <a:lstStyle/>
          <a:p>
            <a:r>
              <a:rPr lang="zh-CN" altLang="en-US" sz="2000" b="1" dirty="0">
                <a:latin typeface="微软雅黑" panose="020B0503020204020204" charset="-122"/>
                <a:ea typeface="微软雅黑" panose="020B0503020204020204" charset="-122"/>
              </a:rPr>
              <a:t>（</a:t>
            </a:r>
            <a:r>
              <a:rPr lang="en-US" altLang="zh-CN" sz="2000" b="1" dirty="0">
                <a:latin typeface="微软雅黑" panose="020B0503020204020204" charset="-122"/>
                <a:ea typeface="微软雅黑" panose="020B0503020204020204" charset="-122"/>
              </a:rPr>
              <a:t>1</a:t>
            </a:r>
            <a:r>
              <a:rPr lang="zh-CN" altLang="en-US" sz="2000" b="1" dirty="0">
                <a:latin typeface="微软雅黑" panose="020B0503020204020204" charset="-122"/>
                <a:ea typeface="微软雅黑" panose="020B0503020204020204" charset="-122"/>
              </a:rPr>
              <a:t>）量子门编码</a:t>
            </a:r>
          </a:p>
        </p:txBody>
      </p:sp>
      <p:sp>
        <p:nvSpPr>
          <p:cNvPr id="12" name="文本框 11"/>
          <p:cNvSpPr txBox="1"/>
          <p:nvPr/>
        </p:nvSpPr>
        <p:spPr>
          <a:xfrm>
            <a:off x="5663346" y="801578"/>
            <a:ext cx="3677610" cy="400110"/>
          </a:xfrm>
          <a:prstGeom prst="rect">
            <a:avLst/>
          </a:prstGeom>
          <a:noFill/>
        </p:spPr>
        <p:txBody>
          <a:bodyPr wrap="none" rtlCol="0">
            <a:spAutoFit/>
          </a:bodyPr>
          <a:lstStyle/>
          <a:p>
            <a:r>
              <a:rPr lang="zh-CN" altLang="en-US" sz="2000" b="1">
                <a:latin typeface="微软雅黑" panose="020B0503020204020204" charset="-122"/>
                <a:ea typeface="微软雅黑" panose="020B0503020204020204" charset="-122"/>
              </a:rPr>
              <a:t>（</a:t>
            </a:r>
            <a:r>
              <a:rPr lang="en-US" altLang="zh-CN" sz="2000" b="1">
                <a:latin typeface="微软雅黑" panose="020B0503020204020204" charset="-122"/>
                <a:ea typeface="微软雅黑" panose="020B0503020204020204" charset="-122"/>
              </a:rPr>
              <a:t>2</a:t>
            </a:r>
            <a:r>
              <a:rPr lang="zh-CN" altLang="en-US" sz="2000" b="1">
                <a:latin typeface="微软雅黑" panose="020B0503020204020204" charset="-122"/>
                <a:ea typeface="微软雅黑" panose="020B0503020204020204" charset="-122"/>
              </a:rPr>
              <a:t>）量子电路实现量子态转换</a:t>
            </a:r>
          </a:p>
        </p:txBody>
      </p:sp>
      <p:sp>
        <p:nvSpPr>
          <p:cNvPr id="2" name="文本框 1"/>
          <p:cNvSpPr txBox="1"/>
          <p:nvPr/>
        </p:nvSpPr>
        <p:spPr>
          <a:xfrm>
            <a:off x="7502151" y="1545302"/>
            <a:ext cx="4759820" cy="369332"/>
          </a:xfrm>
          <a:prstGeom prst="rect">
            <a:avLst/>
          </a:prstGeom>
          <a:noFill/>
        </p:spPr>
        <p:txBody>
          <a:bodyPr wrap="square" rtlCol="0">
            <a:spAutoFit/>
          </a:bodyPr>
          <a:lstStyle/>
          <a:p>
            <a:r>
              <a:rPr lang="zh-CN" altLang="en-US" b="1" dirty="0">
                <a:latin typeface="微软雅黑" panose="020B0503020204020204" charset="-122"/>
                <a:ea typeface="微软雅黑" panose="020B0503020204020204" charset="-122"/>
              </a:rPr>
              <a:t>注：通过</a:t>
            </a:r>
            <a:r>
              <a:rPr lang="en-US" altLang="zh-CN" b="1" dirty="0">
                <a:solidFill>
                  <a:srgbClr val="FF0000"/>
                </a:solidFill>
                <a:latin typeface="微软雅黑" panose="020B0503020204020204" charset="-122"/>
                <a:ea typeface="微软雅黑" panose="020B0503020204020204" charset="-122"/>
              </a:rPr>
              <a:t>Z</a:t>
            </a:r>
            <a:r>
              <a:rPr lang="zh-CN" altLang="en-US" b="1" dirty="0">
                <a:solidFill>
                  <a:srgbClr val="FF0000"/>
                </a:solidFill>
                <a:latin typeface="微软雅黑" panose="020B0503020204020204" charset="-122"/>
                <a:ea typeface="微软雅黑" panose="020B0503020204020204" charset="-122"/>
              </a:rPr>
              <a:t>旋转门</a:t>
            </a:r>
            <a:r>
              <a:rPr lang="zh-CN" altLang="en-US" b="1" dirty="0">
                <a:latin typeface="微软雅黑" panose="020B0503020204020204" charset="-122"/>
                <a:ea typeface="微软雅黑" panose="020B0503020204020204" charset="-122"/>
              </a:rPr>
              <a:t>和</a:t>
            </a:r>
            <a:r>
              <a:rPr lang="en-US" altLang="zh-CN" b="1" dirty="0">
                <a:solidFill>
                  <a:srgbClr val="FF0000"/>
                </a:solidFill>
                <a:latin typeface="微软雅黑" panose="020B0503020204020204" charset="-122"/>
                <a:ea typeface="微软雅黑" panose="020B0503020204020204" charset="-122"/>
              </a:rPr>
              <a:t>CNOT</a:t>
            </a:r>
            <a:r>
              <a:rPr lang="zh-CN" altLang="en-US" b="1" dirty="0">
                <a:solidFill>
                  <a:srgbClr val="FF0000"/>
                </a:solidFill>
                <a:latin typeface="微软雅黑" panose="020B0503020204020204" charset="-122"/>
                <a:ea typeface="微软雅黑" panose="020B0503020204020204" charset="-122"/>
              </a:rPr>
              <a:t>门</a:t>
            </a:r>
            <a:r>
              <a:rPr lang="zh-CN" altLang="en-US" b="1" dirty="0">
                <a:latin typeface="微软雅黑" panose="020B0503020204020204" charset="-122"/>
                <a:ea typeface="微软雅黑" panose="020B0503020204020204" charset="-122"/>
              </a:rPr>
              <a:t>实现量子态转换</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10</a:t>
            </a:fld>
            <a:endParaRPr lang="zh-HK" altLang="en-US">
              <a:solidFill>
                <a:prstClr val="black">
                  <a:tint val="75000"/>
                </a:prstClr>
              </a:solidFill>
            </a:endParaRP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10</a:t>
            </a:fld>
            <a:endParaRPr lang="zh-HK" altLang="en-US" sz="1600" dirty="0">
              <a:solidFill>
                <a:schemeClr val="bg1"/>
              </a:solidFill>
            </a:endParaRPr>
          </a:p>
        </p:txBody>
      </p:sp>
      <p:sp>
        <p:nvSpPr>
          <p:cNvPr id="5" name="文本框 4"/>
          <p:cNvSpPr txBox="1"/>
          <p:nvPr/>
        </p:nvSpPr>
        <p:spPr>
          <a:xfrm>
            <a:off x="408000" y="751059"/>
            <a:ext cx="6179908" cy="400110"/>
          </a:xfrm>
          <a:prstGeom prst="rect">
            <a:avLst/>
          </a:prstGeom>
          <a:noFill/>
        </p:spPr>
        <p:txBody>
          <a:bodyPr wrap="square" rtlCol="0" anchor="t">
            <a:spAutoFit/>
          </a:bodyPr>
          <a:lstStyle/>
          <a:p>
            <a:r>
              <a:rPr lang="zh-CN" altLang="en-US" sz="2000" b="1">
                <a:solidFill>
                  <a:srgbClr val="0174AB"/>
                </a:solidFill>
                <a:latin typeface="Arial" panose="020B0604020202020204" pitchFamily="34" charset="0"/>
                <a:cs typeface="Arial" panose="020B0604020202020204" pitchFamily="34" charset="0"/>
              </a:rPr>
              <a:t>（</a:t>
            </a:r>
            <a:r>
              <a:rPr lang="en-US" altLang="zh-CN" sz="2000" b="1">
                <a:solidFill>
                  <a:srgbClr val="0174AB"/>
                </a:solidFill>
                <a:latin typeface="Arial" panose="020B0604020202020204" pitchFamily="34" charset="0"/>
                <a:cs typeface="Arial" panose="020B0604020202020204" pitchFamily="34" charset="0"/>
              </a:rPr>
              <a:t>3</a:t>
            </a:r>
            <a:r>
              <a:rPr lang="zh-CN" altLang="en-US" sz="2000" b="1">
                <a:solidFill>
                  <a:srgbClr val="0174AB"/>
                </a:solidFill>
                <a:latin typeface="Arial" panose="020B0604020202020204" pitchFamily="34" charset="0"/>
                <a:cs typeface="Arial" panose="020B0604020202020204" pitchFamily="34" charset="0"/>
              </a:rPr>
              <a:t>）</a:t>
            </a:r>
            <a:r>
              <a:rPr lang="en-US" altLang="zh-CN" sz="2000" b="1">
                <a:solidFill>
                  <a:srgbClr val="0174AB"/>
                </a:solidFill>
                <a:latin typeface="Arial" panose="020B0604020202020204" pitchFamily="34" charset="0"/>
                <a:cs typeface="Arial" panose="020B0604020202020204" pitchFamily="34" charset="0"/>
              </a:rPr>
              <a:t>Variational quantum algorithms (VQA):</a:t>
            </a:r>
            <a:endParaRPr lang="zh-CN" altLang="en-US" sz="2000" b="1" dirty="0">
              <a:solidFill>
                <a:srgbClr val="0174AB"/>
              </a:solidFill>
              <a:latin typeface="Arial" panose="020B0604020202020204" pitchFamily="34" charset="0"/>
              <a:cs typeface="Arial" panose="020B0604020202020204" pitchFamily="34" charset="0"/>
            </a:endParaRPr>
          </a:p>
        </p:txBody>
      </p:sp>
      <p:sp>
        <p:nvSpPr>
          <p:cNvPr id="6" name="文本框 5"/>
          <p:cNvSpPr txBox="1"/>
          <p:nvPr/>
        </p:nvSpPr>
        <p:spPr>
          <a:xfrm>
            <a:off x="860047" y="1146368"/>
            <a:ext cx="9792000" cy="646331"/>
          </a:xfrm>
          <a:prstGeom prst="rect">
            <a:avLst/>
          </a:prstGeom>
          <a:noFill/>
        </p:spPr>
        <p:txBody>
          <a:bodyPr wrap="square">
            <a:spAutoFit/>
          </a:bodyPr>
          <a:lstStyle/>
          <a:p>
            <a:r>
              <a:rPr lang="en-US" altLang="zh-CN" b="1" dirty="0">
                <a:latin typeface="Arial" panose="020B0604020202020204" pitchFamily="34" charset="0"/>
                <a:cs typeface="Arial" panose="020B0604020202020204" pitchFamily="34" charset="0"/>
              </a:rPr>
              <a:t>VQA uses </a:t>
            </a:r>
            <a:r>
              <a:rPr lang="en-US" altLang="zh-CN" b="1" dirty="0">
                <a:solidFill>
                  <a:srgbClr val="FF0000"/>
                </a:solidFill>
                <a:latin typeface="Arial" panose="020B0604020202020204" pitchFamily="34" charset="0"/>
                <a:cs typeface="Arial" panose="020B0604020202020204" pitchFamily="34" charset="0"/>
              </a:rPr>
              <a:t>classical computers </a:t>
            </a:r>
            <a:r>
              <a:rPr lang="en-US" altLang="zh-CN" b="1" dirty="0">
                <a:latin typeface="Arial" panose="020B0604020202020204" pitchFamily="34" charset="0"/>
                <a:cs typeface="Arial" panose="020B0604020202020204" pitchFamily="34" charset="0"/>
              </a:rPr>
              <a:t>as the quantum outer loop optimizer and updates the circuit parameters to approximate the ground state.</a:t>
            </a:r>
            <a:endParaRPr lang="zh-CN" altLang="en-US" b="1" dirty="0">
              <a:latin typeface="Arial" panose="020B0604020202020204" pitchFamily="34" charset="0"/>
              <a:cs typeface="Arial" panose="020B0604020202020204" pitchFamily="34" charset="0"/>
            </a:endParaRPr>
          </a:p>
        </p:txBody>
      </p:sp>
      <p:pic>
        <p:nvPicPr>
          <p:cNvPr id="10" name="图片 9"/>
          <p:cNvPicPr>
            <a:picLocks noChangeAspect="1"/>
          </p:cNvPicPr>
          <p:nvPr/>
        </p:nvPicPr>
        <p:blipFill>
          <a:blip r:embed="rId3"/>
          <a:srcRect t="34715"/>
          <a:stretch>
            <a:fillRect/>
          </a:stretch>
        </p:blipFill>
        <p:spPr>
          <a:xfrm>
            <a:off x="-14543" y="1956722"/>
            <a:ext cx="6243053" cy="3835713"/>
          </a:xfrm>
          <a:prstGeom prst="rect">
            <a:avLst/>
          </a:prstGeom>
        </p:spPr>
      </p:pic>
      <p:pic>
        <p:nvPicPr>
          <p:cNvPr id="3" name="图片 2"/>
          <p:cNvPicPr>
            <a:picLocks noChangeAspect="1"/>
          </p:cNvPicPr>
          <p:nvPr/>
        </p:nvPicPr>
        <p:blipFill>
          <a:blip r:embed="rId4"/>
          <a:srcRect l="3159" t="16013"/>
          <a:stretch>
            <a:fillRect/>
          </a:stretch>
        </p:blipFill>
        <p:spPr>
          <a:xfrm>
            <a:off x="6451110" y="1985575"/>
            <a:ext cx="5740890" cy="2076278"/>
          </a:xfrm>
          <a:prstGeom prst="rect">
            <a:avLst/>
          </a:prstGeom>
        </p:spPr>
      </p:pic>
      <p:sp>
        <p:nvSpPr>
          <p:cNvPr id="4" name="矩形 3"/>
          <p:cNvSpPr/>
          <p:nvPr/>
        </p:nvSpPr>
        <p:spPr>
          <a:xfrm>
            <a:off x="222240" y="1886628"/>
            <a:ext cx="6006270" cy="4012389"/>
          </a:xfrm>
          <a:prstGeom prst="rect">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896000" y="4119228"/>
            <a:ext cx="3358612" cy="369332"/>
          </a:xfrm>
          <a:prstGeom prst="rect">
            <a:avLst/>
          </a:prstGeom>
          <a:noFill/>
        </p:spPr>
        <p:txBody>
          <a:bodyPr wrap="none" rtlCol="0">
            <a:spAutoFit/>
          </a:bodyPr>
          <a:lstStyle/>
          <a:p>
            <a:r>
              <a:rPr lang="zh-CN" altLang="en-US" b="1" dirty="0">
                <a:latin typeface="微软雅黑" panose="020B0503020204020204" charset="-122"/>
                <a:ea typeface="微软雅黑" panose="020B0503020204020204" charset="-122"/>
              </a:rPr>
              <a:t>注</a:t>
            </a:r>
            <a:r>
              <a:rPr lang="en-US" altLang="zh-CN" b="1" dirty="0">
                <a:latin typeface="微软雅黑" panose="020B0503020204020204" charset="-122"/>
                <a:ea typeface="微软雅黑" panose="020B0503020204020204" charset="-122"/>
              </a:rPr>
              <a:t>: </a:t>
            </a:r>
            <a:r>
              <a:rPr lang="zh-CN" altLang="en-US" b="1" dirty="0">
                <a:latin typeface="微软雅黑" panose="020B0503020204020204" charset="-122"/>
                <a:ea typeface="微软雅黑" panose="020B0503020204020204" charset="-122"/>
              </a:rPr>
              <a:t>通过</a:t>
            </a:r>
            <a:r>
              <a:rPr lang="en-US" altLang="zh-CN" b="1" dirty="0">
                <a:latin typeface="微软雅黑" panose="020B0503020204020204" charset="-122"/>
                <a:ea typeface="微软雅黑" panose="020B0503020204020204" charset="-122"/>
              </a:rPr>
              <a:t>f(Z)</a:t>
            </a:r>
            <a:r>
              <a:rPr lang="zh-CN" altLang="en-US" b="1" dirty="0">
                <a:latin typeface="微软雅黑" panose="020B0503020204020204" charset="-122"/>
                <a:ea typeface="微软雅黑" panose="020B0503020204020204" charset="-122"/>
              </a:rPr>
              <a:t>去</a:t>
            </a:r>
            <a:r>
              <a:rPr lang="zh-CN" altLang="en-US" b="1" dirty="0">
                <a:solidFill>
                  <a:srgbClr val="FF0000"/>
                </a:solidFill>
                <a:latin typeface="微软雅黑" panose="020B0503020204020204" charset="-122"/>
                <a:ea typeface="微软雅黑" panose="020B0503020204020204" charset="-122"/>
              </a:rPr>
              <a:t>近似哈密顿量</a:t>
            </a:r>
            <a:r>
              <a:rPr lang="en-US" altLang="zh-CN" b="1" dirty="0" err="1">
                <a:latin typeface="微软雅黑" panose="020B0503020204020204" charset="-122"/>
                <a:ea typeface="微软雅黑" panose="020B0503020204020204" charset="-122"/>
              </a:rPr>
              <a:t>Hc</a:t>
            </a:r>
            <a:endParaRPr lang="zh-CN" altLang="en-US" b="1" dirty="0">
              <a:latin typeface="微软雅黑" panose="020B0503020204020204" charset="-122"/>
              <a:ea typeface="微软雅黑" panose="020B0503020204020204"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11</a:t>
            </a:fld>
            <a:endParaRPr lang="zh-HK" altLang="en-US">
              <a:solidFill>
                <a:prstClr val="black">
                  <a:tint val="75000"/>
                </a:prstClr>
              </a:solidFill>
            </a:endParaRP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11</a:t>
            </a:fld>
            <a:endParaRPr lang="zh-HK" altLang="en-US" sz="1600" dirty="0">
              <a:solidFill>
                <a:schemeClr val="bg1"/>
              </a:solidFill>
            </a:endParaRPr>
          </a:p>
        </p:txBody>
      </p:sp>
      <p:sp>
        <p:nvSpPr>
          <p:cNvPr id="2" name="文本框 1"/>
          <p:cNvSpPr txBox="1"/>
          <p:nvPr/>
        </p:nvSpPr>
        <p:spPr>
          <a:xfrm>
            <a:off x="0" y="845250"/>
            <a:ext cx="7992000" cy="400110"/>
          </a:xfrm>
          <a:prstGeom prst="rect">
            <a:avLst/>
          </a:prstGeom>
          <a:noFill/>
        </p:spPr>
        <p:txBody>
          <a:bodyPr wrap="square" rtlCol="0" anchor="t">
            <a:spAutoFit/>
          </a:bodyPr>
          <a:lstStyle/>
          <a:p>
            <a:r>
              <a:rPr lang="zh-CN" altLang="en-US" sz="2000" b="1">
                <a:solidFill>
                  <a:srgbClr val="0174AB"/>
                </a:solidFill>
                <a:latin typeface="Arial" panose="020B0604020202020204" pitchFamily="34" charset="0"/>
                <a:cs typeface="Arial" panose="020B0604020202020204" pitchFamily="34" charset="0"/>
              </a:rPr>
              <a:t>（</a:t>
            </a:r>
            <a:r>
              <a:rPr lang="en-US" altLang="zh-CN" sz="2000" b="1">
                <a:solidFill>
                  <a:srgbClr val="0174AB"/>
                </a:solidFill>
                <a:latin typeface="Arial" panose="020B0604020202020204" pitchFamily="34" charset="0"/>
                <a:cs typeface="Arial" panose="020B0604020202020204" pitchFamily="34" charset="0"/>
              </a:rPr>
              <a:t>4</a:t>
            </a:r>
            <a:r>
              <a:rPr lang="zh-CN" altLang="en-US" sz="2000" b="1">
                <a:solidFill>
                  <a:srgbClr val="0174AB"/>
                </a:solidFill>
                <a:latin typeface="Arial" panose="020B0604020202020204" pitchFamily="34" charset="0"/>
                <a:cs typeface="Arial" panose="020B0604020202020204" pitchFamily="34" charset="0"/>
              </a:rPr>
              <a:t>）</a:t>
            </a:r>
            <a:r>
              <a:rPr lang="en-US" altLang="zh-CN" sz="2000" b="1">
                <a:solidFill>
                  <a:srgbClr val="0174AB"/>
                </a:solidFill>
                <a:latin typeface="Arial" panose="020B0604020202020204" pitchFamily="34" charset="0"/>
                <a:cs typeface="Arial" panose="020B0604020202020204" pitchFamily="34" charset="0"/>
              </a:rPr>
              <a:t>Variational Quantum Eigensolver (VQE):</a:t>
            </a:r>
            <a:endParaRPr lang="zh-CN" altLang="en-US" sz="2000" b="1" dirty="0">
              <a:solidFill>
                <a:srgbClr val="0174AB"/>
              </a:solidFill>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3"/>
          <a:stretch>
            <a:fillRect/>
          </a:stretch>
        </p:blipFill>
        <p:spPr>
          <a:xfrm>
            <a:off x="552000" y="1210101"/>
            <a:ext cx="5616000" cy="5085600"/>
          </a:xfrm>
          <a:prstGeom prst="rect">
            <a:avLst/>
          </a:prstGeom>
        </p:spPr>
      </p:pic>
      <p:sp>
        <p:nvSpPr>
          <p:cNvPr id="3" name="文本框 2"/>
          <p:cNvSpPr txBox="1"/>
          <p:nvPr/>
        </p:nvSpPr>
        <p:spPr>
          <a:xfrm>
            <a:off x="6720000" y="1297335"/>
            <a:ext cx="4104000" cy="646331"/>
          </a:xfrm>
          <a:prstGeom prst="rect">
            <a:avLst/>
          </a:prstGeom>
          <a:noFill/>
        </p:spPr>
        <p:txBody>
          <a:bodyPr wrap="square" rtlCol="0">
            <a:spAutoFit/>
          </a:bodyPr>
          <a:lstStyle/>
          <a:p>
            <a:r>
              <a:rPr lang="zh-CN" altLang="en-US" b="1">
                <a:latin typeface="微软雅黑" panose="020B0503020204020204" charset="-122"/>
                <a:ea typeface="微软雅黑" panose="020B0503020204020204" charset="-122"/>
              </a:rPr>
              <a:t>假设：它通过</a:t>
            </a:r>
            <a:r>
              <a:rPr lang="zh-CN" altLang="en-US" b="1">
                <a:solidFill>
                  <a:srgbClr val="FF0000"/>
                </a:solidFill>
                <a:latin typeface="微软雅黑" panose="020B0503020204020204" charset="-122"/>
                <a:ea typeface="微软雅黑" panose="020B0503020204020204" charset="-122"/>
              </a:rPr>
              <a:t>优化波函数</a:t>
            </a:r>
            <a:r>
              <a:rPr lang="zh-CN" altLang="en-US" b="1">
                <a:latin typeface="微软雅黑" panose="020B0503020204020204" charset="-122"/>
                <a:ea typeface="微软雅黑" panose="020B0503020204020204" charset="-122"/>
              </a:rPr>
              <a:t>来估计哈密顿量的基态能量</a:t>
            </a:r>
          </a:p>
        </p:txBody>
      </p:sp>
      <p:sp>
        <p:nvSpPr>
          <p:cNvPr id="5" name="文本框 4"/>
          <p:cNvSpPr txBox="1"/>
          <p:nvPr/>
        </p:nvSpPr>
        <p:spPr>
          <a:xfrm>
            <a:off x="6685306" y="2061871"/>
            <a:ext cx="4104000" cy="646331"/>
          </a:xfrm>
          <a:prstGeom prst="rect">
            <a:avLst/>
          </a:prstGeom>
          <a:noFill/>
        </p:spPr>
        <p:txBody>
          <a:bodyPr wrap="square" rtlCol="0">
            <a:spAutoFit/>
          </a:bodyPr>
          <a:lstStyle/>
          <a:p>
            <a:r>
              <a:rPr lang="zh-CN" altLang="en-US" b="1" dirty="0">
                <a:latin typeface="微软雅黑" panose="020B0503020204020204" charset="-122"/>
                <a:ea typeface="微软雅黑" panose="020B0503020204020204" charset="-122"/>
              </a:rPr>
              <a:t>注：公式（</a:t>
            </a:r>
            <a:r>
              <a:rPr lang="en-US" altLang="zh-CN" b="1" dirty="0">
                <a:latin typeface="微软雅黑" panose="020B0503020204020204" charset="-122"/>
                <a:ea typeface="微软雅黑" panose="020B0503020204020204" charset="-122"/>
              </a:rPr>
              <a:t>7</a:t>
            </a:r>
            <a:r>
              <a:rPr lang="zh-CN" altLang="en-US" b="1" dirty="0">
                <a:latin typeface="微软雅黑" panose="020B0503020204020204" charset="-122"/>
                <a:ea typeface="微软雅黑" panose="020B0503020204020204" charset="-122"/>
              </a:rPr>
              <a:t>）通过</a:t>
            </a:r>
            <a:r>
              <a:rPr lang="zh-CN" altLang="en-US" b="1" dirty="0">
                <a:solidFill>
                  <a:srgbClr val="FF0000"/>
                </a:solidFill>
                <a:latin typeface="微软雅黑" panose="020B0503020204020204" charset="-122"/>
                <a:ea typeface="微软雅黑" panose="020B0503020204020204" charset="-122"/>
              </a:rPr>
              <a:t>哈伯模型</a:t>
            </a:r>
            <a:r>
              <a:rPr lang="zh-CN" altLang="en-US" b="1" dirty="0">
                <a:latin typeface="微软雅黑" panose="020B0503020204020204" charset="-122"/>
                <a:ea typeface="微软雅黑" panose="020B0503020204020204" charset="-122"/>
              </a:rPr>
              <a:t>推导，通过</a:t>
            </a:r>
            <a:r>
              <a:rPr lang="en-US" altLang="zh-CN" b="1" dirty="0">
                <a:latin typeface="微软雅黑" panose="020B0503020204020204" charset="-122"/>
                <a:ea typeface="微软雅黑" panose="020B0503020204020204" charset="-122"/>
              </a:rPr>
              <a:t>trotter</a:t>
            </a:r>
            <a:r>
              <a:rPr lang="zh-CN" altLang="en-US" b="1" dirty="0">
                <a:latin typeface="微软雅黑" panose="020B0503020204020204" charset="-122"/>
                <a:ea typeface="微软雅黑" panose="020B0503020204020204" charset="-122"/>
              </a:rPr>
              <a:t>近似化为式（</a:t>
            </a:r>
            <a:r>
              <a:rPr lang="en-US" altLang="zh-CN" b="1" dirty="0">
                <a:latin typeface="微软雅黑" panose="020B0503020204020204" charset="-122"/>
                <a:ea typeface="微软雅黑" panose="020B0503020204020204" charset="-122"/>
              </a:rPr>
              <a:t>8</a:t>
            </a:r>
            <a:r>
              <a:rPr lang="zh-CN" altLang="en-US" b="1" dirty="0">
                <a:latin typeface="微软雅黑" panose="020B0503020204020204" charset="-122"/>
                <a:ea typeface="微软雅黑" panose="020B0503020204020204" charset="-122"/>
              </a:rPr>
              <a:t>）。</a:t>
            </a:r>
          </a:p>
        </p:txBody>
      </p:sp>
      <p:sp>
        <p:nvSpPr>
          <p:cNvPr id="6" name="文本框 5"/>
          <p:cNvSpPr txBox="1"/>
          <p:nvPr/>
        </p:nvSpPr>
        <p:spPr>
          <a:xfrm>
            <a:off x="6683964" y="3141000"/>
            <a:ext cx="4236035" cy="1754326"/>
          </a:xfrm>
          <a:prstGeom prst="rect">
            <a:avLst/>
          </a:prstGeom>
          <a:noFill/>
        </p:spPr>
        <p:txBody>
          <a:bodyPr wrap="square" rtlCol="0">
            <a:spAutoFit/>
          </a:bodyPr>
          <a:lstStyle/>
          <a:p>
            <a:r>
              <a:rPr lang="zh-CN" altLang="en-US" b="1" dirty="0">
                <a:latin typeface="微软雅黑" panose="020B0503020204020204" charset="-122"/>
                <a:ea typeface="微软雅黑" panose="020B0503020204020204" charset="-122"/>
              </a:rPr>
              <a:t>补充：</a:t>
            </a:r>
            <a:r>
              <a:rPr lang="en-US" altLang="zh-CN" b="1" dirty="0" err="1">
                <a:latin typeface="微软雅黑" panose="020B0503020204020204" charset="-122"/>
                <a:ea typeface="微软雅黑" panose="020B0503020204020204" charset="-122"/>
              </a:rPr>
              <a:t>Trotterization</a:t>
            </a:r>
            <a:r>
              <a:rPr lang="en-US" altLang="zh-CN" b="1" dirty="0">
                <a:latin typeface="微软雅黑" panose="020B0503020204020204" charset="-122"/>
                <a:ea typeface="微软雅黑" panose="020B0503020204020204" charset="-122"/>
              </a:rPr>
              <a:t> approximation </a:t>
            </a:r>
            <a:r>
              <a:rPr lang="zh-CN" altLang="en-US" b="1" dirty="0">
                <a:latin typeface="微软雅黑" panose="020B0503020204020204" charset="-122"/>
                <a:ea typeface="微软雅黑" panose="020B0503020204020204" charset="-122"/>
              </a:rPr>
              <a:t>是一种用于近似模拟量子系统时间演化的数值方法，它基于</a:t>
            </a:r>
            <a:r>
              <a:rPr lang="en-US" altLang="zh-CN" b="1" dirty="0">
                <a:solidFill>
                  <a:srgbClr val="FF0000"/>
                </a:solidFill>
                <a:latin typeface="微软雅黑" panose="020B0503020204020204" charset="-122"/>
                <a:ea typeface="微软雅黑" panose="020B0503020204020204" charset="-122"/>
              </a:rPr>
              <a:t>Trotter</a:t>
            </a:r>
            <a:r>
              <a:rPr lang="zh-CN" altLang="en-US" b="1" dirty="0">
                <a:solidFill>
                  <a:srgbClr val="FF0000"/>
                </a:solidFill>
                <a:latin typeface="微软雅黑" panose="020B0503020204020204" charset="-122"/>
                <a:ea typeface="微软雅黑" panose="020B0503020204020204" charset="-122"/>
              </a:rPr>
              <a:t>分解公式</a:t>
            </a:r>
            <a:r>
              <a:rPr lang="zh-CN" altLang="en-US" b="1" dirty="0">
                <a:latin typeface="微软雅黑" panose="020B0503020204020204" charset="-122"/>
                <a:ea typeface="微软雅黑" panose="020B0503020204020204" charset="-122"/>
              </a:rPr>
              <a:t>。该方法广泛应用于量子计算和量子模拟中，用于将</a:t>
            </a:r>
            <a:r>
              <a:rPr lang="zh-CN" altLang="en-US" b="1" dirty="0">
                <a:solidFill>
                  <a:srgbClr val="FF0000"/>
                </a:solidFill>
                <a:latin typeface="微软雅黑" panose="020B0503020204020204" charset="-122"/>
                <a:ea typeface="微软雅黑" panose="020B0503020204020204" charset="-122"/>
              </a:rPr>
              <a:t>复杂的哈密顿量</a:t>
            </a:r>
            <a:r>
              <a:rPr lang="zh-CN" altLang="en-US" b="1" dirty="0">
                <a:latin typeface="微软雅黑" panose="020B0503020204020204" charset="-122"/>
                <a:ea typeface="微软雅黑" panose="020B0503020204020204" charset="-122"/>
              </a:rPr>
              <a:t>演化分解为一系列更简单的、可操作的</a:t>
            </a:r>
            <a:r>
              <a:rPr lang="zh-CN" altLang="en-US" b="1" dirty="0">
                <a:solidFill>
                  <a:srgbClr val="FF0000"/>
                </a:solidFill>
                <a:latin typeface="微软雅黑" panose="020B0503020204020204" charset="-122"/>
                <a:ea typeface="微软雅黑" panose="020B0503020204020204" charset="-122"/>
              </a:rPr>
              <a:t>量子门操作</a:t>
            </a:r>
            <a:r>
              <a:rPr lang="zh-CN" altLang="en-US" b="1" dirty="0">
                <a:latin typeface="微软雅黑" panose="020B0503020204020204" charset="-122"/>
                <a:ea typeface="微软雅黑" panose="020B0503020204020204" charset="-122"/>
              </a:rPr>
              <a:t>。</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12</a:t>
            </a:fld>
            <a:endParaRPr lang="zh-HK" altLang="en-US">
              <a:solidFill>
                <a:prstClr val="black">
                  <a:tint val="75000"/>
                </a:prstClr>
              </a:solidFill>
            </a:endParaRP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12</a:t>
            </a:fld>
            <a:endParaRPr lang="zh-HK" altLang="en-US" sz="1600" dirty="0">
              <a:solidFill>
                <a:schemeClr val="bg1"/>
              </a:solidFill>
            </a:endParaRPr>
          </a:p>
        </p:txBody>
      </p:sp>
      <p:sp>
        <p:nvSpPr>
          <p:cNvPr id="4" name="文本框 3"/>
          <p:cNvSpPr txBox="1"/>
          <p:nvPr/>
        </p:nvSpPr>
        <p:spPr>
          <a:xfrm>
            <a:off x="408000" y="765000"/>
            <a:ext cx="6126480" cy="400110"/>
          </a:xfrm>
          <a:prstGeom prst="rect">
            <a:avLst/>
          </a:prstGeom>
          <a:noFill/>
        </p:spPr>
        <p:txBody>
          <a:bodyPr wrap="square">
            <a:spAutoFit/>
          </a:bodyPr>
          <a:lstStyle/>
          <a:p>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5</a:t>
            </a:r>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 </a:t>
            </a:r>
            <a:r>
              <a:rPr lang="en-US" altLang="zh-CN" sz="2000" b="1">
                <a:solidFill>
                  <a:srgbClr val="0174AB"/>
                </a:solidFill>
                <a:effectLst/>
                <a:latin typeface="Arial" panose="020B0604020202020204" pitchFamily="34" charset="0"/>
                <a:cs typeface="Arial" panose="020B0604020202020204" pitchFamily="34" charset="0"/>
              </a:rPr>
              <a:t>VQA by Energy Minimization Solver</a:t>
            </a:r>
            <a:endParaRPr lang="zh-CN" altLang="en-US" sz="2000" b="1">
              <a:solidFill>
                <a:srgbClr val="0174AB"/>
              </a:solidFill>
              <a:latin typeface="Arial" panose="020B0604020202020204" pitchFamily="34" charset="0"/>
              <a:cs typeface="Arial" panose="020B0604020202020204" pitchFamily="34" charset="0"/>
            </a:endParaRPr>
          </a:p>
        </p:txBody>
      </p:sp>
      <p:pic>
        <p:nvPicPr>
          <p:cNvPr id="5" name="图片 4"/>
          <p:cNvPicPr>
            <a:picLocks noChangeAspect="1"/>
          </p:cNvPicPr>
          <p:nvPr/>
        </p:nvPicPr>
        <p:blipFill>
          <a:blip r:embed="rId3"/>
          <a:stretch>
            <a:fillRect/>
          </a:stretch>
        </p:blipFill>
        <p:spPr>
          <a:xfrm>
            <a:off x="143152" y="1557000"/>
            <a:ext cx="6096905" cy="3672000"/>
          </a:xfrm>
          <a:prstGeom prst="rect">
            <a:avLst/>
          </a:prstGeom>
        </p:spPr>
      </p:pic>
      <p:pic>
        <p:nvPicPr>
          <p:cNvPr id="3" name="图片 2"/>
          <p:cNvPicPr>
            <a:picLocks noChangeAspect="1"/>
          </p:cNvPicPr>
          <p:nvPr/>
        </p:nvPicPr>
        <p:blipFill>
          <a:blip r:embed="rId4"/>
          <a:stretch>
            <a:fillRect/>
          </a:stretch>
        </p:blipFill>
        <p:spPr>
          <a:xfrm>
            <a:off x="6454701" y="1155406"/>
            <a:ext cx="5509632" cy="4937594"/>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54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35775"/>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13</a:t>
            </a:fld>
            <a:endParaRPr lang="zh-HK" altLang="en-US">
              <a:solidFill>
                <a:prstClr val="black">
                  <a:tint val="75000"/>
                </a:prstClr>
              </a:solidFill>
            </a:endParaRP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13</a:t>
            </a:fld>
            <a:endParaRPr lang="zh-HK" altLang="en-US" sz="1600" dirty="0">
              <a:solidFill>
                <a:schemeClr val="bg1"/>
              </a:solidFill>
            </a:endParaRPr>
          </a:p>
        </p:txBody>
      </p:sp>
      <p:sp>
        <p:nvSpPr>
          <p:cNvPr id="4" name="文本框 3"/>
          <p:cNvSpPr txBox="1"/>
          <p:nvPr/>
        </p:nvSpPr>
        <p:spPr>
          <a:xfrm>
            <a:off x="335886" y="595576"/>
            <a:ext cx="6126480" cy="400110"/>
          </a:xfrm>
          <a:prstGeom prst="rect">
            <a:avLst/>
          </a:prstGeom>
          <a:noFill/>
        </p:spPr>
        <p:txBody>
          <a:bodyPr wrap="square">
            <a:spAutoFit/>
          </a:bodyPr>
          <a:lstStyle/>
          <a:p>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创新点</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1</a:t>
            </a:r>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a:t>
            </a:r>
            <a:r>
              <a:rPr lang="en-US" altLang="zh-CN" sz="2000" b="1">
                <a:solidFill>
                  <a:srgbClr val="0174AB"/>
                </a:solidFill>
                <a:effectLst/>
                <a:latin typeface="微软雅黑" panose="020B0503020204020204" charset="-122"/>
                <a:ea typeface="微软雅黑" panose="020B0503020204020204" charset="-122"/>
                <a:cs typeface="Arial" panose="020B0604020202020204" pitchFamily="34" charset="0"/>
              </a:rPr>
              <a:t> </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Mata-learning frameworks</a:t>
            </a:r>
            <a:endParaRPr lang="zh-CN" altLang="en-US" sz="2000" b="1">
              <a:solidFill>
                <a:srgbClr val="0174AB"/>
              </a:solidFill>
              <a:latin typeface="Arial" panose="020B0604020202020204" pitchFamily="34" charset="0"/>
              <a:cs typeface="Arial" panose="020B0604020202020204" pitchFamily="34" charset="0"/>
            </a:endParaRPr>
          </a:p>
        </p:txBody>
      </p:sp>
      <p:pic>
        <p:nvPicPr>
          <p:cNvPr id="13" name="图片 12"/>
          <p:cNvPicPr>
            <a:picLocks noChangeAspect="1"/>
          </p:cNvPicPr>
          <p:nvPr/>
        </p:nvPicPr>
        <p:blipFill>
          <a:blip r:embed="rId3"/>
          <a:srcRect t="1430"/>
          <a:stretch>
            <a:fillRect/>
          </a:stretch>
        </p:blipFill>
        <p:spPr>
          <a:xfrm>
            <a:off x="126280" y="995686"/>
            <a:ext cx="6074426" cy="5335297"/>
          </a:xfrm>
          <a:prstGeom prst="rect">
            <a:avLst/>
          </a:prstGeom>
        </p:spPr>
      </p:pic>
      <p:pic>
        <p:nvPicPr>
          <p:cNvPr id="15" name="图片 14"/>
          <p:cNvPicPr>
            <a:picLocks noChangeAspect="1"/>
          </p:cNvPicPr>
          <p:nvPr/>
        </p:nvPicPr>
        <p:blipFill>
          <a:blip r:embed="rId4"/>
          <a:stretch>
            <a:fillRect/>
          </a:stretch>
        </p:blipFill>
        <p:spPr>
          <a:xfrm>
            <a:off x="6472828" y="930264"/>
            <a:ext cx="5575753" cy="2259607"/>
          </a:xfrm>
          <a:prstGeom prst="rect">
            <a:avLst/>
          </a:prstGeom>
        </p:spPr>
      </p:pic>
      <p:pic>
        <p:nvPicPr>
          <p:cNvPr id="17" name="图片 16"/>
          <p:cNvPicPr>
            <a:picLocks noChangeAspect="1"/>
          </p:cNvPicPr>
          <p:nvPr/>
        </p:nvPicPr>
        <p:blipFill>
          <a:blip r:embed="rId5"/>
          <a:srcRect l="2574" t="1006"/>
          <a:stretch>
            <a:fillRect/>
          </a:stretch>
        </p:blipFill>
        <p:spPr>
          <a:xfrm>
            <a:off x="6570817" y="3241309"/>
            <a:ext cx="5603354" cy="1751843"/>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14</a:t>
            </a:fld>
            <a:endParaRPr lang="zh-HK" altLang="en-US">
              <a:solidFill>
                <a:prstClr val="black">
                  <a:tint val="75000"/>
                </a:prstClr>
              </a:solidFill>
            </a:endParaRP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14</a:t>
            </a:fld>
            <a:endParaRPr lang="zh-HK" altLang="en-US" sz="1600" dirty="0">
              <a:solidFill>
                <a:schemeClr val="bg1"/>
              </a:solidFill>
            </a:endParaRPr>
          </a:p>
        </p:txBody>
      </p:sp>
      <p:sp>
        <p:nvSpPr>
          <p:cNvPr id="11" name="文本框 10"/>
          <p:cNvSpPr txBox="1"/>
          <p:nvPr/>
        </p:nvSpPr>
        <p:spPr>
          <a:xfrm>
            <a:off x="264000" y="750164"/>
            <a:ext cx="6126480" cy="400110"/>
          </a:xfrm>
          <a:prstGeom prst="rect">
            <a:avLst/>
          </a:prstGeom>
          <a:noFill/>
        </p:spPr>
        <p:txBody>
          <a:bodyPr wrap="square">
            <a:spAutoFit/>
          </a:bodyPr>
          <a:lstStyle/>
          <a:p>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创新点</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2</a:t>
            </a:r>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 Stochastic Gradient Descent </a:t>
            </a:r>
            <a:endParaRPr lang="zh-CN" altLang="en-US" sz="2000" b="1">
              <a:solidFill>
                <a:srgbClr val="0174AB"/>
              </a:solidFill>
              <a:latin typeface="Arial" panose="020B0604020202020204" pitchFamily="34" charset="0"/>
              <a:cs typeface="Arial" panose="020B0604020202020204" pitchFamily="34" charset="0"/>
            </a:endParaRPr>
          </a:p>
        </p:txBody>
      </p:sp>
      <p:pic>
        <p:nvPicPr>
          <p:cNvPr id="15" name="图片 14"/>
          <p:cNvPicPr>
            <a:picLocks noChangeAspect="1"/>
          </p:cNvPicPr>
          <p:nvPr/>
        </p:nvPicPr>
        <p:blipFill>
          <a:blip r:embed="rId3"/>
          <a:stretch>
            <a:fillRect/>
          </a:stretch>
        </p:blipFill>
        <p:spPr>
          <a:xfrm>
            <a:off x="336000" y="1131743"/>
            <a:ext cx="5459768" cy="5384253"/>
          </a:xfrm>
          <a:prstGeom prst="rect">
            <a:avLst/>
          </a:prstGeom>
        </p:spPr>
      </p:pic>
      <p:pic>
        <p:nvPicPr>
          <p:cNvPr id="17" name="图片 16"/>
          <p:cNvPicPr>
            <a:picLocks noChangeAspect="1"/>
          </p:cNvPicPr>
          <p:nvPr/>
        </p:nvPicPr>
        <p:blipFill>
          <a:blip r:embed="rId4"/>
          <a:stretch>
            <a:fillRect/>
          </a:stretch>
        </p:blipFill>
        <p:spPr>
          <a:xfrm>
            <a:off x="6320917" y="1000415"/>
            <a:ext cx="5751082" cy="2815883"/>
          </a:xfrm>
          <a:prstGeom prst="rect">
            <a:avLst/>
          </a:prstGeom>
        </p:spPr>
      </p:pic>
      <mc:AlternateContent xmlns:mc="http://schemas.openxmlformats.org/markup-compatibility/2006" xmlns:a14="http://schemas.microsoft.com/office/drawing/2010/main">
        <mc:Choice Requires="a14">
          <p:sp>
            <p:nvSpPr>
              <p:cNvPr id="20" name="文本框 19"/>
              <p:cNvSpPr txBox="1"/>
              <p:nvPr/>
            </p:nvSpPr>
            <p:spPr>
              <a:xfrm>
                <a:off x="6600000" y="4950399"/>
                <a:ext cx="5471999" cy="679353"/>
              </a:xfrm>
              <a:prstGeom prst="rect">
                <a:avLst/>
              </a:prstGeom>
              <a:noFill/>
            </p:spPr>
            <p:txBody>
              <a:bodyPr wrap="square">
                <a:spAutoFit/>
              </a:bodyPr>
              <a:lstStyle/>
              <a:p>
                <a:r>
                  <a:rPr lang="zh-CN" altLang="en-US" b="1" dirty="0">
                    <a:latin typeface="微软雅黑" panose="020B0503020204020204" charset="-122"/>
                    <a:ea typeface="微软雅黑" panose="020B0503020204020204" charset="-122"/>
                  </a:rPr>
                  <a:t>注：通过</a:t>
                </a:r>
                <a:r>
                  <a:rPr lang="zh-CN" altLang="en-US" b="1" dirty="0">
                    <a:solidFill>
                      <a:srgbClr val="FF0000"/>
                    </a:solidFill>
                    <a:latin typeface="微软雅黑" panose="020B0503020204020204" charset="-122"/>
                    <a:ea typeface="微软雅黑" panose="020B0503020204020204" charset="-122"/>
                  </a:rPr>
                  <a:t>样本均值估计器</a:t>
                </a:r>
                <a:r>
                  <a:rPr lang="zh-CN" altLang="en-US" b="1" dirty="0">
                    <a:latin typeface="微软雅黑" panose="020B0503020204020204" charset="-122"/>
                    <a:ea typeface="微软雅黑" panose="020B0503020204020204" charset="-122"/>
                  </a:rPr>
                  <a:t>对</a:t>
                </a:r>
                <a14:m>
                  <m:oMath xmlns:m="http://schemas.openxmlformats.org/officeDocument/2006/math">
                    <m:d>
                      <m:dPr>
                        <m:begChr m:val="⟨"/>
                        <m:endChr m:val="⟩"/>
                        <m:ctrlPr>
                          <a:rPr lang="en-US" altLang="zh-CN" b="1" i="1" smtClean="0">
                            <a:latin typeface="Cambria Math" panose="02040503050406030204" pitchFamily="18" charset="0"/>
                            <a:ea typeface="微软雅黑" panose="020B0503020204020204" charset="-122"/>
                          </a:rPr>
                        </m:ctrlPr>
                      </m:dPr>
                      <m:e>
                        <m:acc>
                          <m:accPr>
                            <m:chr m:val="̂"/>
                            <m:ctrlPr>
                              <a:rPr lang="en-US" altLang="zh-CN" b="1" i="1" smtClean="0">
                                <a:latin typeface="Cambria Math" panose="02040503050406030204" pitchFamily="18" charset="0"/>
                                <a:ea typeface="微软雅黑" panose="020B0503020204020204" charset="-122"/>
                              </a:rPr>
                            </m:ctrlPr>
                          </m:accPr>
                          <m:e>
                            <m:r>
                              <a:rPr lang="en-US" altLang="zh-CN" b="1" i="1" smtClean="0">
                                <a:latin typeface="Cambria Math" panose="02040503050406030204" pitchFamily="18" charset="0"/>
                                <a:ea typeface="微软雅黑" panose="020B0503020204020204" charset="-122"/>
                              </a:rPr>
                              <m:t>𝑯</m:t>
                            </m:r>
                          </m:e>
                        </m:acc>
                      </m:e>
                    </m:d>
                  </m:oMath>
                </a14:m>
                <a:r>
                  <a:rPr lang="zh-CN" altLang="en-US" b="1" dirty="0">
                    <a:latin typeface="微软雅黑" panose="020B0503020204020204" charset="-122"/>
                    <a:ea typeface="微软雅黑" panose="020B0503020204020204" charset="-122"/>
                  </a:rPr>
                  <a:t>进行采样，对梯度进行二次估计，得到式</a:t>
                </a:r>
                <a:r>
                  <a:rPr lang="en-US" altLang="zh-CN" b="1" dirty="0">
                    <a:latin typeface="微软雅黑" panose="020B0503020204020204" charset="-122"/>
                    <a:ea typeface="微软雅黑" panose="020B0503020204020204" charset="-122"/>
                  </a:rPr>
                  <a:t>(17)</a:t>
                </a:r>
                <a:r>
                  <a:rPr lang="zh-CN" altLang="en-US" b="1" dirty="0">
                    <a:latin typeface="微软雅黑" panose="020B0503020204020204" charset="-122"/>
                    <a:ea typeface="微软雅黑" panose="020B0503020204020204" charset="-122"/>
                  </a:rPr>
                  <a:t>。</a:t>
                </a:r>
              </a:p>
            </p:txBody>
          </p:sp>
        </mc:Choice>
        <mc:Fallback xmlns="">
          <p:sp>
            <p:nvSpPr>
              <p:cNvPr id="20" name="文本框 19"/>
              <p:cNvSpPr txBox="1">
                <a:spLocks noRot="1" noChangeAspect="1" noMove="1" noResize="1" noEditPoints="1" noAdjustHandles="1" noChangeArrowheads="1" noChangeShapeType="1" noTextEdit="1"/>
              </p:cNvSpPr>
              <p:nvPr/>
            </p:nvSpPr>
            <p:spPr>
              <a:xfrm>
                <a:off x="6600000" y="4950399"/>
                <a:ext cx="5471999" cy="679353"/>
              </a:xfrm>
              <a:prstGeom prst="rect">
                <a:avLst/>
              </a:prstGeom>
              <a:blipFill rotWithShape="1">
                <a:blip r:embed="rId5"/>
                <a:stretch>
                  <a:fillRect l="-8" t="-84" b="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6600000" y="4240706"/>
                <a:ext cx="5471999" cy="646331"/>
              </a:xfrm>
              <a:prstGeom prst="rect">
                <a:avLst/>
              </a:prstGeom>
              <a:noFill/>
            </p:spPr>
            <p:txBody>
              <a:bodyPr wrap="square">
                <a:spAutoFit/>
              </a:bodyPr>
              <a:lstStyle/>
              <a:p>
                <a:r>
                  <a:rPr lang="zh-CN" altLang="en-US" b="1" dirty="0">
                    <a:latin typeface="微软雅黑" panose="020B0503020204020204" charset="-122"/>
                    <a:ea typeface="微软雅黑" panose="020B0503020204020204" charset="-122"/>
                  </a:rPr>
                  <a:t>注：式（</a:t>
                </a:r>
                <a:r>
                  <a:rPr lang="en-US" altLang="zh-CN" b="1" dirty="0">
                    <a:latin typeface="微软雅黑" panose="020B0503020204020204" charset="-122"/>
                    <a:ea typeface="微软雅黑" panose="020B0503020204020204" charset="-122"/>
                  </a:rPr>
                  <a:t>16</a:t>
                </a:r>
                <a:r>
                  <a:rPr lang="zh-CN" altLang="en-US" b="1" dirty="0">
                    <a:latin typeface="微软雅黑" panose="020B0503020204020204" charset="-122"/>
                    <a:ea typeface="微软雅黑" panose="020B0503020204020204" charset="-122"/>
                  </a:rPr>
                  <a:t>）通过</a:t>
                </a:r>
                <a:r>
                  <a:rPr lang="zh-CN" altLang="en-US" b="1" dirty="0">
                    <a:solidFill>
                      <a:srgbClr val="FF0000"/>
                    </a:solidFill>
                    <a:latin typeface="微软雅黑" panose="020B0503020204020204" charset="-122"/>
                    <a:ea typeface="微软雅黑" panose="020B0503020204020204" charset="-122"/>
                  </a:rPr>
                  <a:t>随机选择生成器</a:t>
                </a:r>
                <a:r>
                  <a:rPr lang="zh-CN" altLang="en-US" b="1" dirty="0">
                    <a:latin typeface="微软雅黑" panose="020B0503020204020204" charset="-122"/>
                    <a:ea typeface="微软雅黑" panose="020B0503020204020204" charset="-122"/>
                  </a:rPr>
                  <a:t>的分布</a:t>
                </a:r>
                <a:r>
                  <a:rPr lang="zh-CN" altLang="en-US" b="1" dirty="0">
                    <a:solidFill>
                      <a:srgbClr val="FF0000"/>
                    </a:solidFill>
                    <a:latin typeface="微软雅黑" panose="020B0503020204020204" charset="-122"/>
                    <a:ea typeface="微软雅黑" panose="020B0503020204020204" charset="-122"/>
                  </a:rPr>
                  <a:t>随机选择</a:t>
                </a:r>
                <a:r>
                  <a:rPr lang="zh-CN" altLang="en-US" b="1" dirty="0">
                    <a:latin typeface="微软雅黑" panose="020B0503020204020204" charset="-122"/>
                    <a:ea typeface="微软雅黑" panose="020B0503020204020204" charset="-122"/>
                  </a:rPr>
                  <a:t>系数权重</a:t>
                </a:r>
                <a14:m>
                  <m:oMath xmlns:m="http://schemas.openxmlformats.org/officeDocument/2006/math">
                    <m:sSub>
                      <m:sSubPr>
                        <m:ctrlPr>
                          <a:rPr lang="zh-CN" altLang="en-US" b="1" i="1">
                            <a:latin typeface="Cambria Math" panose="02040503050406030204" pitchFamily="18" charset="0"/>
                            <a:ea typeface="微软雅黑" panose="020B0503020204020204" charset="-122"/>
                          </a:rPr>
                        </m:ctrlPr>
                      </m:sSubPr>
                      <m:e>
                        <m:r>
                          <a:rPr lang="zh-CN" altLang="en-US" b="1" i="1">
                            <a:latin typeface="Cambria Math" panose="02040503050406030204" pitchFamily="18" charset="0"/>
                            <a:ea typeface="微软雅黑" panose="020B0503020204020204" charset="-122"/>
                          </a:rPr>
                          <m:t>𝜸</m:t>
                        </m:r>
                      </m:e>
                      <m:sub>
                        <m:r>
                          <m:rPr>
                            <m:sty m:val="p"/>
                          </m:rPr>
                          <a:rPr lang="en-US" altLang="zh-CN" b="1" i="1">
                            <a:latin typeface="Cambria Math" panose="02040503050406030204" pitchFamily="18" charset="0"/>
                            <a:ea typeface="微软雅黑" panose="020B0503020204020204" charset="-122"/>
                          </a:rPr>
                          <m:t>k</m:t>
                        </m:r>
                      </m:sub>
                    </m:sSub>
                  </m:oMath>
                </a14:m>
                <a:r>
                  <a:rPr lang="zh-CN" altLang="en-US" b="1" dirty="0">
                    <a:latin typeface="微软雅黑" panose="020B0503020204020204" charset="-122"/>
                    <a:ea typeface="微软雅黑" panose="020B0503020204020204" charset="-122"/>
                  </a:rPr>
                  <a:t>，来估计式（</a:t>
                </a:r>
                <a:r>
                  <a:rPr lang="en-US" altLang="zh-CN" b="1" dirty="0">
                    <a:latin typeface="微软雅黑" panose="020B0503020204020204" charset="-122"/>
                    <a:ea typeface="微软雅黑" panose="020B0503020204020204" charset="-122"/>
                  </a:rPr>
                  <a:t>15</a:t>
                </a:r>
                <a:r>
                  <a:rPr lang="zh-CN" altLang="en-US" b="1" dirty="0">
                    <a:latin typeface="微软雅黑" panose="020B0503020204020204" charset="-122"/>
                    <a:ea typeface="微软雅黑" panose="020B0503020204020204" charset="-122"/>
                  </a:rPr>
                  <a:t>）；</a:t>
                </a:r>
              </a:p>
            </p:txBody>
          </p:sp>
        </mc:Choice>
        <mc:Fallback xmlns="">
          <p:sp>
            <p:nvSpPr>
              <p:cNvPr id="21" name="文本框 20"/>
              <p:cNvSpPr txBox="1">
                <a:spLocks noRot="1" noChangeAspect="1" noMove="1" noResize="1" noEditPoints="1" noAdjustHandles="1" noChangeArrowheads="1" noChangeShapeType="1" noTextEdit="1"/>
              </p:cNvSpPr>
              <p:nvPr/>
            </p:nvSpPr>
            <p:spPr>
              <a:xfrm>
                <a:off x="6600000" y="4240706"/>
                <a:ext cx="5471999" cy="646331"/>
              </a:xfrm>
              <a:prstGeom prst="rect">
                <a:avLst/>
              </a:prstGeom>
              <a:blipFill rotWithShape="1">
                <a:blip r:embed="rId6"/>
                <a:stretch>
                  <a:fillRect l="-8" t="-27" b="12"/>
                </a:stretch>
              </a:blipFill>
            </p:spPr>
            <p:txBody>
              <a:bodyPr/>
              <a:lstStyle/>
              <a:p>
                <a:r>
                  <a:rPr lang="zh-CN" altLang="en-US">
                    <a:noFill/>
                  </a:rPr>
                  <a:t> </a:t>
                </a:r>
              </a:p>
            </p:txBody>
          </p:sp>
        </mc:Fallback>
      </mc:AlternateContent>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15</a:t>
            </a:fld>
            <a:endParaRPr lang="zh-HK" altLang="en-US">
              <a:solidFill>
                <a:prstClr val="black">
                  <a:tint val="75000"/>
                </a:prstClr>
              </a:solidFill>
            </a:endParaRP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15</a:t>
            </a:fld>
            <a:endParaRPr lang="zh-HK" altLang="en-US" sz="1600" dirty="0">
              <a:solidFill>
                <a:schemeClr val="bg1"/>
              </a:solidFill>
            </a:endParaRPr>
          </a:p>
        </p:txBody>
      </p:sp>
      <p:sp>
        <p:nvSpPr>
          <p:cNvPr id="5" name="文本框 4"/>
          <p:cNvSpPr txBox="1"/>
          <p:nvPr/>
        </p:nvSpPr>
        <p:spPr>
          <a:xfrm>
            <a:off x="264000" y="750164"/>
            <a:ext cx="6126480" cy="400110"/>
          </a:xfrm>
          <a:prstGeom prst="rect">
            <a:avLst/>
          </a:prstGeom>
          <a:noFill/>
        </p:spPr>
        <p:txBody>
          <a:bodyPr wrap="square">
            <a:spAutoFit/>
          </a:bodyPr>
          <a:lstStyle/>
          <a:p>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创新点</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3</a:t>
            </a:r>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 Adaptive Learning Rate</a:t>
            </a:r>
            <a:endParaRPr lang="zh-CN" altLang="en-US" sz="2000" b="1">
              <a:solidFill>
                <a:srgbClr val="0174AB"/>
              </a:solidFill>
              <a:latin typeface="Arial" panose="020B0604020202020204" pitchFamily="34" charset="0"/>
              <a:cs typeface="Arial" panose="020B0604020202020204" pitchFamily="34" charset="0"/>
            </a:endParaRPr>
          </a:p>
        </p:txBody>
      </p:sp>
      <p:pic>
        <p:nvPicPr>
          <p:cNvPr id="13" name="图片 12"/>
          <p:cNvPicPr>
            <a:picLocks noChangeAspect="1"/>
          </p:cNvPicPr>
          <p:nvPr/>
        </p:nvPicPr>
        <p:blipFill>
          <a:blip r:embed="rId3"/>
          <a:srcRect t="873"/>
          <a:stretch>
            <a:fillRect/>
          </a:stretch>
        </p:blipFill>
        <p:spPr>
          <a:xfrm>
            <a:off x="335999" y="1621588"/>
            <a:ext cx="5688001" cy="3136770"/>
          </a:xfrm>
          <a:prstGeom prst="rect">
            <a:avLst/>
          </a:prstGeom>
        </p:spPr>
      </p:pic>
      <p:pic>
        <p:nvPicPr>
          <p:cNvPr id="15" name="图片 14"/>
          <p:cNvPicPr>
            <a:picLocks noChangeAspect="1"/>
          </p:cNvPicPr>
          <p:nvPr/>
        </p:nvPicPr>
        <p:blipFill>
          <a:blip r:embed="rId4"/>
          <a:stretch>
            <a:fillRect/>
          </a:stretch>
        </p:blipFill>
        <p:spPr>
          <a:xfrm>
            <a:off x="6049775" y="1917000"/>
            <a:ext cx="6028023" cy="2411209"/>
          </a:xfrm>
          <a:prstGeom prst="rect">
            <a:avLst/>
          </a:prstGeom>
        </p:spPr>
      </p:pic>
      <p:sp>
        <p:nvSpPr>
          <p:cNvPr id="2" name="文本框 1"/>
          <p:cNvSpPr txBox="1"/>
          <p:nvPr/>
        </p:nvSpPr>
        <p:spPr>
          <a:xfrm>
            <a:off x="7536000" y="4437000"/>
            <a:ext cx="4108817" cy="369332"/>
          </a:xfrm>
          <a:prstGeom prst="rect">
            <a:avLst/>
          </a:prstGeom>
          <a:noFill/>
        </p:spPr>
        <p:txBody>
          <a:bodyPr wrap="none" rtlCol="0">
            <a:spAutoFit/>
          </a:bodyPr>
          <a:lstStyle/>
          <a:p>
            <a:r>
              <a:rPr lang="zh-CN" altLang="en-US" b="1" dirty="0">
                <a:latin typeface="微软雅黑" panose="020B0503020204020204" charset="-122"/>
                <a:ea typeface="微软雅黑" panose="020B0503020204020204" charset="-122"/>
              </a:rPr>
              <a:t>注：防止随机梯度下降收敛时出现</a:t>
            </a:r>
            <a:r>
              <a:rPr lang="zh-CN" altLang="en-US" b="1" dirty="0">
                <a:solidFill>
                  <a:srgbClr val="FF0000"/>
                </a:solidFill>
                <a:latin typeface="微软雅黑" panose="020B0503020204020204" charset="-122"/>
                <a:ea typeface="微软雅黑" panose="020B0503020204020204" charset="-122"/>
              </a:rPr>
              <a:t>震荡</a:t>
            </a:r>
          </a:p>
        </p:txBody>
      </p:sp>
      <mc:AlternateContent xmlns:mc="http://schemas.openxmlformats.org/markup-compatibility/2006" xmlns:p14="http://schemas.microsoft.com/office/powerpoint/2010/main">
        <mc:Choice Requires="p14">
          <p:contentPart p14:bwMode="auto" r:id="rId5">
            <p14:nvContentPartPr>
              <p14:cNvPr id="3" name="墨迹 2"/>
              <p14:cNvContentPartPr/>
              <p14:nvPr/>
            </p14:nvContentPartPr>
            <p14:xfrm>
              <a:off x="6158509" y="2890652"/>
              <a:ext cx="1936080" cy="74880"/>
            </p14:xfrm>
          </p:contentPart>
        </mc:Choice>
        <mc:Fallback xmlns="">
          <p:pic>
            <p:nvPicPr>
              <p:cNvPr id="3" name="墨迹 2"/>
            </p:nvPicPr>
            <p:blipFill>
              <a:blip r:embed="rId6"/>
            </p:blipFill>
            <p:spPr>
              <a:xfrm>
                <a:off x="6158509" y="2890652"/>
                <a:ext cx="1936080" cy="74880"/>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6" name="墨迹 5"/>
              <p14:cNvContentPartPr/>
              <p14:nvPr/>
            </p14:nvContentPartPr>
            <p14:xfrm>
              <a:off x="8263069" y="2957972"/>
              <a:ext cx="2945520" cy="360"/>
            </p14:xfrm>
          </p:contentPart>
        </mc:Choice>
        <mc:Fallback xmlns="">
          <p:pic>
            <p:nvPicPr>
              <p:cNvPr id="6" name="墨迹 5"/>
            </p:nvPicPr>
            <p:blipFill>
              <a:blip r:embed="rId8"/>
            </p:blipFill>
            <p:spPr>
              <a:xfrm>
                <a:off x="8263069" y="2957972"/>
                <a:ext cx="2945520" cy="360"/>
              </a:xfrm>
              <a:prstGeom prst="rect"/>
            </p:spPr>
          </p:pic>
        </mc:Fallback>
      </mc:AlternateContent>
      <mc:AlternateContent xmlns:mc="http://schemas.openxmlformats.org/markup-compatibility/2006" xmlns:p14="http://schemas.microsoft.com/office/powerpoint/2010/main">
        <mc:Choice Requires="p14">
          <p:contentPart p14:bwMode="auto" r:id="rId9">
            <p14:nvContentPartPr>
              <p14:cNvPr id="4" name="墨迹 3">
                <a:extLst>
                  <a:ext uri="{FF2B5EF4-FFF2-40B4-BE49-F238E27FC236}">
                    <a16:creationId xmlns:a16="http://schemas.microsoft.com/office/drawing/2014/main" id="{DE2DDFD7-8228-6AB0-6F57-9F6339B53C04}"/>
                  </a:ext>
                </a:extLst>
              </p14:cNvPr>
              <p14:cNvContentPartPr/>
              <p14:nvPr/>
            </p14:nvContentPartPr>
            <p14:xfrm>
              <a:off x="8235995" y="2870354"/>
              <a:ext cx="2883960" cy="15120"/>
            </p14:xfrm>
          </p:contentPart>
        </mc:Choice>
        <mc:Fallback xmlns="">
          <p:pic>
            <p:nvPicPr>
              <p:cNvPr id="4" name="墨迹 3">
                <a:extLst>
                  <a:ext uri="{FF2B5EF4-FFF2-40B4-BE49-F238E27FC236}">
                    <a16:creationId xmlns:a16="http://schemas.microsoft.com/office/drawing/2014/main" id="{DE2DDFD7-8228-6AB0-6F57-9F6339B53C04}"/>
                  </a:ext>
                </a:extLst>
              </p:cNvPr>
              <p:cNvPicPr/>
              <p:nvPr/>
            </p:nvPicPr>
            <p:blipFill>
              <a:blip r:embed="rId10"/>
              <a:stretch>
                <a:fillRect/>
              </a:stretch>
            </p:blipFill>
            <p:spPr>
              <a:xfrm>
                <a:off x="8181995" y="2762714"/>
                <a:ext cx="299160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墨迹 6">
                <a:extLst>
                  <a:ext uri="{FF2B5EF4-FFF2-40B4-BE49-F238E27FC236}">
                    <a16:creationId xmlns:a16="http://schemas.microsoft.com/office/drawing/2014/main" id="{CA1D7D95-B6A2-DF3B-1D55-699BEEF46CD0}"/>
                  </a:ext>
                </a:extLst>
              </p14:cNvPr>
              <p14:cNvContentPartPr/>
              <p14:nvPr/>
            </p14:nvContentPartPr>
            <p14:xfrm>
              <a:off x="11154155" y="2923994"/>
              <a:ext cx="551520" cy="14760"/>
            </p14:xfrm>
          </p:contentPart>
        </mc:Choice>
        <mc:Fallback xmlns="">
          <p:pic>
            <p:nvPicPr>
              <p:cNvPr id="7" name="墨迹 6">
                <a:extLst>
                  <a:ext uri="{FF2B5EF4-FFF2-40B4-BE49-F238E27FC236}">
                    <a16:creationId xmlns:a16="http://schemas.microsoft.com/office/drawing/2014/main" id="{CA1D7D95-B6A2-DF3B-1D55-699BEEF46CD0}"/>
                  </a:ext>
                </a:extLst>
              </p:cNvPr>
              <p:cNvPicPr/>
              <p:nvPr/>
            </p:nvPicPr>
            <p:blipFill>
              <a:blip r:embed="rId12"/>
              <a:stretch>
                <a:fillRect/>
              </a:stretch>
            </p:blipFill>
            <p:spPr>
              <a:xfrm>
                <a:off x="11100515" y="2815994"/>
                <a:ext cx="659160" cy="230400"/>
              </a:xfrm>
              <a:prstGeom prst="rect">
                <a:avLst/>
              </a:prstGeom>
            </p:spPr>
          </p:pic>
        </mc:Fallback>
      </mc:AlternateContent>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16</a:t>
            </a:fld>
            <a:endParaRPr lang="zh-HK" altLang="en-US">
              <a:solidFill>
                <a:prstClr val="black">
                  <a:tint val="75000"/>
                </a:prstClr>
              </a:solidFill>
            </a:endParaRP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16</a:t>
            </a:fld>
            <a:endParaRPr lang="zh-HK" altLang="en-US" sz="1600" dirty="0">
              <a:solidFill>
                <a:schemeClr val="bg1"/>
              </a:solidFill>
            </a:endParaRPr>
          </a:p>
        </p:txBody>
      </p:sp>
      <p:pic>
        <p:nvPicPr>
          <p:cNvPr id="3" name="图片 2"/>
          <p:cNvPicPr>
            <a:picLocks noChangeAspect="1"/>
          </p:cNvPicPr>
          <p:nvPr/>
        </p:nvPicPr>
        <p:blipFill>
          <a:blip r:embed="rId3"/>
          <a:stretch>
            <a:fillRect/>
          </a:stretch>
        </p:blipFill>
        <p:spPr>
          <a:xfrm>
            <a:off x="3238862" y="745966"/>
            <a:ext cx="5328000" cy="5700587"/>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 y="6553200"/>
            <a:ext cx="12192001" cy="304800"/>
            <a:chOff x="0" y="6569404"/>
            <a:chExt cx="9144000" cy="288000"/>
          </a:xfrm>
        </p:grpSpPr>
        <p:sp>
          <p:nvSpPr>
            <p:cNvPr id="7"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8"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17</a:t>
            </a:fld>
            <a:endParaRPr lang="zh-HK" altLang="en-US" sz="1600" dirty="0">
              <a:solidFill>
                <a:schemeClr val="bg1"/>
              </a:solidFill>
            </a:endParaRPr>
          </a:p>
        </p:txBody>
      </p:sp>
      <p:pic>
        <p:nvPicPr>
          <p:cNvPr id="21" name="图片 20"/>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p:cNvGrpSpPr/>
          <p:nvPr/>
        </p:nvGrpSpPr>
        <p:grpSpPr bwMode="auto">
          <a:xfrm>
            <a:off x="2409457" y="2650330"/>
            <a:ext cx="1505450" cy="1479472"/>
            <a:chOff x="1709739" y="2636838"/>
            <a:chExt cx="1590160" cy="1584325"/>
          </a:xfrm>
          <a:solidFill>
            <a:srgbClr val="044875"/>
          </a:solidFill>
        </p:grpSpPr>
        <p:sp>
          <p:nvSpPr>
            <p:cNvPr id="56"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9"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0"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1" name="文本框 7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2" name="组合 71"/>
          <p:cNvGrpSpPr/>
          <p:nvPr>
            <p:custDataLst>
              <p:tags r:id="rId1"/>
            </p:custDataLst>
          </p:nvPr>
        </p:nvGrpSpPr>
        <p:grpSpPr>
          <a:xfrm>
            <a:off x="4523741" y="2047924"/>
            <a:ext cx="5370513" cy="534987"/>
            <a:chOff x="3281952" y="1484784"/>
            <a:chExt cx="5370513" cy="534987"/>
          </a:xfrm>
        </p:grpSpPr>
        <p:grpSp>
          <p:nvGrpSpPr>
            <p:cNvPr id="73" name="组合 72"/>
            <p:cNvGrpSpPr/>
            <p:nvPr/>
          </p:nvGrpSpPr>
          <p:grpSpPr>
            <a:xfrm>
              <a:off x="3943940" y="1484784"/>
              <a:ext cx="4708525" cy="534987"/>
              <a:chOff x="3943940" y="1626760"/>
              <a:chExt cx="4708525" cy="534987"/>
            </a:xfrm>
          </p:grpSpPr>
          <p:sp>
            <p:nvSpPr>
              <p:cNvPr id="77"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78"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79" name="矩形 78"/>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0" name="直接连接符 79"/>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4" name="组合 73"/>
            <p:cNvGrpSpPr/>
            <p:nvPr/>
          </p:nvGrpSpPr>
          <p:grpSpPr>
            <a:xfrm>
              <a:off x="3281952" y="1484784"/>
              <a:ext cx="689642" cy="534987"/>
              <a:chOff x="3281952" y="1626760"/>
              <a:chExt cx="689642" cy="534987"/>
            </a:xfrm>
          </p:grpSpPr>
          <p:sp>
            <p:nvSpPr>
              <p:cNvPr id="75" name="矩形 74"/>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6"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1" name="组合 80"/>
          <p:cNvGrpSpPr/>
          <p:nvPr>
            <p:custDataLst>
              <p:tags r:id="rId2"/>
            </p:custDataLst>
          </p:nvPr>
        </p:nvGrpSpPr>
        <p:grpSpPr>
          <a:xfrm>
            <a:off x="4503593" y="3688642"/>
            <a:ext cx="5372100" cy="534987"/>
            <a:chOff x="3261805" y="3188752"/>
            <a:chExt cx="5372100" cy="534987"/>
          </a:xfrm>
        </p:grpSpPr>
        <p:grpSp>
          <p:nvGrpSpPr>
            <p:cNvPr id="82" name="组合 81"/>
            <p:cNvGrpSpPr/>
            <p:nvPr/>
          </p:nvGrpSpPr>
          <p:grpSpPr>
            <a:xfrm>
              <a:off x="3261805" y="3188752"/>
              <a:ext cx="689593" cy="534987"/>
              <a:chOff x="3261805" y="3188752"/>
              <a:chExt cx="689593" cy="534987"/>
            </a:xfrm>
          </p:grpSpPr>
          <p:sp>
            <p:nvSpPr>
              <p:cNvPr id="91" name="矩形 9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5"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83" name="组合 82"/>
            <p:cNvGrpSpPr/>
            <p:nvPr/>
          </p:nvGrpSpPr>
          <p:grpSpPr>
            <a:xfrm>
              <a:off x="3923792" y="3188752"/>
              <a:ext cx="4710113" cy="534987"/>
              <a:chOff x="3923792" y="3188752"/>
              <a:chExt cx="4710113" cy="534987"/>
            </a:xfrm>
          </p:grpSpPr>
          <p:sp>
            <p:nvSpPr>
              <p:cNvPr id="84"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85" name="矩形 84"/>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srgbClr val="044875"/>
                  </a:solidFill>
                </a:endParaRPr>
              </a:p>
            </p:txBody>
          </p:sp>
        </p:grpSp>
      </p:grpSp>
      <p:grpSp>
        <p:nvGrpSpPr>
          <p:cNvPr id="99" name="组合 98"/>
          <p:cNvGrpSpPr/>
          <p:nvPr>
            <p:custDataLst>
              <p:tags r:id="rId3"/>
            </p:custDataLst>
          </p:nvPr>
        </p:nvGrpSpPr>
        <p:grpSpPr>
          <a:xfrm>
            <a:off x="4503593" y="4509001"/>
            <a:ext cx="5372100" cy="534987"/>
            <a:chOff x="3261805" y="4046141"/>
            <a:chExt cx="5372100" cy="534987"/>
          </a:xfrm>
        </p:grpSpPr>
        <p:grpSp>
          <p:nvGrpSpPr>
            <p:cNvPr id="100" name="组合 99"/>
            <p:cNvGrpSpPr/>
            <p:nvPr/>
          </p:nvGrpSpPr>
          <p:grpSpPr>
            <a:xfrm>
              <a:off x="3261805" y="4046141"/>
              <a:ext cx="689447" cy="534987"/>
              <a:chOff x="3261805" y="3969748"/>
              <a:chExt cx="689447" cy="534987"/>
            </a:xfrm>
          </p:grpSpPr>
          <p:sp>
            <p:nvSpPr>
              <p:cNvPr id="106" name="矩形 105"/>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7"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1" name="组合 100"/>
            <p:cNvGrpSpPr/>
            <p:nvPr/>
          </p:nvGrpSpPr>
          <p:grpSpPr>
            <a:xfrm>
              <a:off x="3923792" y="4046141"/>
              <a:ext cx="4710113" cy="534987"/>
              <a:chOff x="3923792" y="3969748"/>
              <a:chExt cx="4710113" cy="534987"/>
            </a:xfrm>
          </p:grpSpPr>
          <p:sp>
            <p:nvSpPr>
              <p:cNvPr id="102"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3" name="矩形 102"/>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4" name="直接连接符 103"/>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5"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8" name="组合 107"/>
          <p:cNvGrpSpPr/>
          <p:nvPr>
            <p:custDataLst>
              <p:tags r:id="rId4"/>
            </p:custDataLst>
          </p:nvPr>
        </p:nvGrpSpPr>
        <p:grpSpPr>
          <a:xfrm>
            <a:off x="4517645" y="2868283"/>
            <a:ext cx="5370513" cy="534987"/>
            <a:chOff x="3275856" y="2348880"/>
            <a:chExt cx="5370513" cy="534987"/>
          </a:xfrm>
        </p:grpSpPr>
        <p:grpSp>
          <p:nvGrpSpPr>
            <p:cNvPr id="109" name="组合 108"/>
            <p:cNvGrpSpPr/>
            <p:nvPr/>
          </p:nvGrpSpPr>
          <p:grpSpPr>
            <a:xfrm>
              <a:off x="3275856" y="2348880"/>
              <a:ext cx="689474" cy="534987"/>
              <a:chOff x="3275856" y="2407756"/>
              <a:chExt cx="689474" cy="534987"/>
            </a:xfrm>
          </p:grpSpPr>
          <p:sp>
            <p:nvSpPr>
              <p:cNvPr id="115" name="矩形 114"/>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0" name="组合 109"/>
            <p:cNvGrpSpPr/>
            <p:nvPr/>
          </p:nvGrpSpPr>
          <p:grpSpPr>
            <a:xfrm>
              <a:off x="3937844" y="2348880"/>
              <a:ext cx="4708525" cy="534987"/>
              <a:chOff x="3937844" y="2407756"/>
              <a:chExt cx="4708525" cy="534987"/>
            </a:xfrm>
          </p:grpSpPr>
          <p:sp>
            <p:nvSpPr>
              <p:cNvPr id="111"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12" name="矩形 111"/>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5"/>
          <a:stretch>
            <a:fillRect/>
          </a:stretch>
        </p:blipFill>
        <p:spPr>
          <a:xfrm>
            <a:off x="5808000" y="3379164"/>
            <a:ext cx="6318733" cy="3015918"/>
          </a:xfrm>
          <a:prstGeom prst="rect">
            <a:avLst/>
          </a:prstGeom>
        </p:spPr>
      </p:pic>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2" name="文本框 71"/>
          <p:cNvSpPr txBox="1"/>
          <p:nvPr>
            <p:custDataLst>
              <p:tags r:id="rId2"/>
            </p:custDataLst>
          </p:nvPr>
        </p:nvSpPr>
        <p:spPr>
          <a:xfrm>
            <a:off x="0" y="66874"/>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p:cNvGrpSpPr/>
          <p:nvPr/>
        </p:nvGrpSpPr>
        <p:grpSpPr>
          <a:xfrm>
            <a:off x="-1" y="6553200"/>
            <a:ext cx="12192001" cy="304800"/>
            <a:chOff x="0" y="6569404"/>
            <a:chExt cx="9144000" cy="288000"/>
          </a:xfrm>
        </p:grpSpPr>
        <p:sp>
          <p:nvSpPr>
            <p:cNvPr id="31" name="矩形 30"/>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2" name="矩形 3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PMingLiU" panose="02020500000000000000" pitchFamily="18" charset="-120"/>
                <a:cs typeface="+mn-cs"/>
              </a:rPr>
              <a:t>18</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PMingLiU" panose="02020500000000000000" pitchFamily="18" charset="-120"/>
              <a:cs typeface="+mn-cs"/>
            </a:endParaRPr>
          </a:p>
        </p:txBody>
      </p:sp>
      <p:sp>
        <p:nvSpPr>
          <p:cNvPr id="3" name="文本框 2"/>
          <p:cNvSpPr txBox="1"/>
          <p:nvPr/>
        </p:nvSpPr>
        <p:spPr>
          <a:xfrm>
            <a:off x="408000" y="909000"/>
            <a:ext cx="6181530" cy="400110"/>
          </a:xfrm>
          <a:prstGeom prst="rect">
            <a:avLst/>
          </a:prstGeom>
          <a:noFill/>
        </p:spPr>
        <p:txBody>
          <a:bodyPr wrap="square">
            <a:spAutoFit/>
          </a:bodyPr>
          <a:lstStyle/>
          <a:p>
            <a:r>
              <a:rPr lang="en-US" altLang="zh-CN" sz="2000">
                <a:solidFill>
                  <a:srgbClr val="0174AB"/>
                </a:solidFill>
                <a:effectLst/>
                <a:latin typeface="Arial" panose="020B0604020202020204" pitchFamily="34" charset="0"/>
                <a:cs typeface="Arial" panose="020B0604020202020204" pitchFamily="34" charset="0"/>
              </a:rPr>
              <a:t>A. Molecular Hydrogen</a:t>
            </a:r>
            <a:endParaRPr lang="zh-CN" altLang="en-US" sz="2000">
              <a:solidFill>
                <a:srgbClr val="0174AB"/>
              </a:solidFill>
              <a:latin typeface="Arial" panose="020B0604020202020204" pitchFamily="34" charset="0"/>
              <a:cs typeface="Arial" panose="020B0604020202020204" pitchFamily="34" charset="0"/>
            </a:endParaRPr>
          </a:p>
        </p:txBody>
      </p:sp>
      <p:pic>
        <p:nvPicPr>
          <p:cNvPr id="7" name="图片 6"/>
          <p:cNvPicPr>
            <a:picLocks noChangeAspect="1"/>
          </p:cNvPicPr>
          <p:nvPr/>
        </p:nvPicPr>
        <p:blipFill>
          <a:blip r:embed="rId6"/>
          <a:stretch>
            <a:fillRect/>
          </a:stretch>
        </p:blipFill>
        <p:spPr>
          <a:xfrm>
            <a:off x="297598" y="1309110"/>
            <a:ext cx="5690599" cy="2639234"/>
          </a:xfrm>
          <a:prstGeom prst="rect">
            <a:avLst/>
          </a:prstGeom>
        </p:spPr>
      </p:pic>
      <p:pic>
        <p:nvPicPr>
          <p:cNvPr id="10" name="图片 9"/>
          <p:cNvPicPr>
            <a:picLocks noChangeAspect="1"/>
          </p:cNvPicPr>
          <p:nvPr/>
        </p:nvPicPr>
        <p:blipFill>
          <a:blip r:embed="rId7"/>
          <a:stretch>
            <a:fillRect/>
          </a:stretch>
        </p:blipFill>
        <p:spPr>
          <a:xfrm>
            <a:off x="6149533" y="837000"/>
            <a:ext cx="5778466" cy="2108024"/>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p:cNvGrpSpPr/>
          <p:nvPr/>
        </p:nvGrpSpPr>
        <p:grpSpPr>
          <a:xfrm>
            <a:off x="-1" y="6553200"/>
            <a:ext cx="12192001" cy="304800"/>
            <a:chOff x="0" y="6569404"/>
            <a:chExt cx="9144000" cy="288000"/>
          </a:xfrm>
        </p:grpSpPr>
        <p:sp>
          <p:nvSpPr>
            <p:cNvPr id="31" name="矩形 3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19</a:t>
            </a:fld>
            <a:endParaRPr lang="zh-HK" altLang="en-US" sz="1600" dirty="0">
              <a:solidFill>
                <a:schemeClr val="bg1"/>
              </a:solidFill>
            </a:endParaRPr>
          </a:p>
        </p:txBody>
      </p:sp>
      <p:sp>
        <p:nvSpPr>
          <p:cNvPr id="2" name="文本框 1"/>
          <p:cNvSpPr txBox="1"/>
          <p:nvPr/>
        </p:nvSpPr>
        <p:spPr>
          <a:xfrm>
            <a:off x="408000" y="909000"/>
            <a:ext cx="6181530" cy="400110"/>
          </a:xfrm>
          <a:prstGeom prst="rect">
            <a:avLst/>
          </a:prstGeom>
          <a:noFill/>
        </p:spPr>
        <p:txBody>
          <a:bodyPr wrap="square">
            <a:spAutoFit/>
          </a:bodyPr>
          <a:lstStyle/>
          <a:p>
            <a:r>
              <a:rPr lang="en-US" altLang="zh-CN" sz="2000">
                <a:solidFill>
                  <a:srgbClr val="0174AB"/>
                </a:solidFill>
                <a:latin typeface="Arial" panose="020B0604020202020204" pitchFamily="34" charset="0"/>
                <a:cs typeface="Arial" panose="020B0604020202020204" pitchFamily="34" charset="0"/>
              </a:rPr>
              <a:t>B</a:t>
            </a:r>
            <a:r>
              <a:rPr lang="en-US" altLang="zh-CN" sz="2000">
                <a:solidFill>
                  <a:srgbClr val="0174AB"/>
                </a:solidFill>
                <a:effectLst/>
                <a:latin typeface="Arial" panose="020B0604020202020204" pitchFamily="34" charset="0"/>
                <a:cs typeface="Arial" panose="020B0604020202020204" pitchFamily="34" charset="0"/>
              </a:rPr>
              <a:t>. Lithium Hydride</a:t>
            </a:r>
            <a:endParaRPr lang="zh-CN" altLang="en-US" sz="2000">
              <a:solidFill>
                <a:srgbClr val="0174AB"/>
              </a:solidFill>
              <a:latin typeface="Arial" panose="020B0604020202020204" pitchFamily="34" charset="0"/>
              <a:cs typeface="Arial" panose="020B0604020202020204" pitchFamily="34" charset="0"/>
            </a:endParaRPr>
          </a:p>
        </p:txBody>
      </p:sp>
      <p:pic>
        <p:nvPicPr>
          <p:cNvPr id="6" name="图片 5"/>
          <p:cNvPicPr>
            <a:picLocks noChangeAspect="1"/>
          </p:cNvPicPr>
          <p:nvPr/>
        </p:nvPicPr>
        <p:blipFill>
          <a:blip r:embed="rId5"/>
          <a:stretch>
            <a:fillRect/>
          </a:stretch>
        </p:blipFill>
        <p:spPr>
          <a:xfrm>
            <a:off x="442447" y="1309110"/>
            <a:ext cx="5484136" cy="3215104"/>
          </a:xfrm>
          <a:prstGeom prst="rect">
            <a:avLst/>
          </a:prstGeom>
        </p:spPr>
      </p:pic>
      <p:pic>
        <p:nvPicPr>
          <p:cNvPr id="9" name="图片 8"/>
          <p:cNvPicPr>
            <a:picLocks noChangeAspect="1"/>
          </p:cNvPicPr>
          <p:nvPr/>
        </p:nvPicPr>
        <p:blipFill>
          <a:blip r:embed="rId6"/>
          <a:stretch>
            <a:fillRect/>
          </a:stretch>
        </p:blipFill>
        <p:spPr>
          <a:xfrm>
            <a:off x="6192364" y="756617"/>
            <a:ext cx="5964689" cy="2944055"/>
          </a:xfrm>
          <a:prstGeom prst="rect">
            <a:avLst/>
          </a:prstGeom>
        </p:spPr>
      </p:pic>
      <p:pic>
        <p:nvPicPr>
          <p:cNvPr id="12" name="图片 11"/>
          <p:cNvPicPr>
            <a:picLocks noChangeAspect="1"/>
          </p:cNvPicPr>
          <p:nvPr/>
        </p:nvPicPr>
        <p:blipFill>
          <a:blip r:embed="rId7"/>
          <a:stretch>
            <a:fillRect/>
          </a:stretch>
        </p:blipFill>
        <p:spPr>
          <a:xfrm>
            <a:off x="7006248" y="3933000"/>
            <a:ext cx="4595564" cy="1892291"/>
          </a:xfrm>
          <a:prstGeom prst="rect">
            <a:avLst/>
          </a:prstGeom>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66"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20</a:t>
            </a:fld>
            <a:endParaRPr lang="zh-HK" altLang="en-US">
              <a:solidFill>
                <a:prstClr val="black">
                  <a:tint val="75000"/>
                </a:prstClr>
              </a:solidFill>
            </a:endParaRPr>
          </a:p>
        </p:txBody>
      </p:sp>
      <p:grpSp>
        <p:nvGrpSpPr>
          <p:cNvPr id="8" name="组合 7"/>
          <p:cNvGrpSpPr/>
          <p:nvPr/>
        </p:nvGrpSpPr>
        <p:grpSpPr>
          <a:xfrm>
            <a:off x="-1" y="6553200"/>
            <a:ext cx="12192001" cy="304800"/>
            <a:chOff x="0" y="6569404"/>
            <a:chExt cx="9144000" cy="288000"/>
          </a:xfrm>
        </p:grpSpPr>
        <p:sp>
          <p:nvSpPr>
            <p:cNvPr id="9"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20</a:t>
            </a:fld>
            <a:endParaRPr lang="zh-HK" altLang="en-US" sz="1600" dirty="0">
              <a:solidFill>
                <a:schemeClr val="bg1"/>
              </a:solidFill>
            </a:endParaRPr>
          </a:p>
        </p:txBody>
      </p:sp>
      <p:pic>
        <p:nvPicPr>
          <p:cNvPr id="24" name="图片 23"/>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67" name="组合 18"/>
          <p:cNvGrpSpPr/>
          <p:nvPr/>
        </p:nvGrpSpPr>
        <p:grpSpPr bwMode="auto">
          <a:xfrm>
            <a:off x="2409457" y="2650330"/>
            <a:ext cx="1505450" cy="1479472"/>
            <a:chOff x="1709739" y="2636838"/>
            <a:chExt cx="1590160" cy="1584325"/>
          </a:xfrm>
          <a:solidFill>
            <a:srgbClr val="044875"/>
          </a:solidFill>
        </p:grpSpPr>
        <p:sp>
          <p:nvSpPr>
            <p:cNvPr id="68"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3"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4"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5"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6"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7" name="文本框 76"/>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8" name="组合 77"/>
          <p:cNvGrpSpPr/>
          <p:nvPr>
            <p:custDataLst>
              <p:tags r:id="rId1"/>
            </p:custDataLst>
          </p:nvPr>
        </p:nvGrpSpPr>
        <p:grpSpPr>
          <a:xfrm>
            <a:off x="4523741" y="2047924"/>
            <a:ext cx="5370513" cy="534987"/>
            <a:chOff x="3281952" y="1484784"/>
            <a:chExt cx="5370513" cy="534987"/>
          </a:xfrm>
        </p:grpSpPr>
        <p:grpSp>
          <p:nvGrpSpPr>
            <p:cNvPr id="79" name="组合 78"/>
            <p:cNvGrpSpPr/>
            <p:nvPr/>
          </p:nvGrpSpPr>
          <p:grpSpPr>
            <a:xfrm>
              <a:off x="3943940" y="1484784"/>
              <a:ext cx="4708525" cy="534987"/>
              <a:chOff x="3943940" y="1626760"/>
              <a:chExt cx="4708525" cy="534987"/>
            </a:xfrm>
          </p:grpSpPr>
          <p:sp>
            <p:nvSpPr>
              <p:cNvPr id="83"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4"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5" name="矩形 84"/>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80" name="组合 79"/>
            <p:cNvGrpSpPr/>
            <p:nvPr/>
          </p:nvGrpSpPr>
          <p:grpSpPr>
            <a:xfrm>
              <a:off x="3281952" y="1484784"/>
              <a:ext cx="689642" cy="534987"/>
              <a:chOff x="3281952" y="1626760"/>
              <a:chExt cx="689642" cy="534987"/>
            </a:xfrm>
          </p:grpSpPr>
          <p:sp>
            <p:nvSpPr>
              <p:cNvPr id="81" name="矩形 80"/>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2"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8" name="组合 87"/>
          <p:cNvGrpSpPr/>
          <p:nvPr>
            <p:custDataLst>
              <p:tags r:id="rId2"/>
            </p:custDataLst>
          </p:nvPr>
        </p:nvGrpSpPr>
        <p:grpSpPr>
          <a:xfrm>
            <a:off x="4503593" y="3688642"/>
            <a:ext cx="5372100" cy="534987"/>
            <a:chOff x="3261805" y="3188752"/>
            <a:chExt cx="5372100" cy="534987"/>
          </a:xfrm>
        </p:grpSpPr>
        <p:grpSp>
          <p:nvGrpSpPr>
            <p:cNvPr id="91" name="组合 90"/>
            <p:cNvGrpSpPr/>
            <p:nvPr/>
          </p:nvGrpSpPr>
          <p:grpSpPr>
            <a:xfrm>
              <a:off x="3261805" y="3188752"/>
              <a:ext cx="689593" cy="534987"/>
              <a:chOff x="3261805" y="3188752"/>
              <a:chExt cx="689593" cy="534987"/>
            </a:xfrm>
          </p:grpSpPr>
          <p:sp>
            <p:nvSpPr>
              <p:cNvPr id="103" name="矩形 10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4"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95" name="组合 94"/>
            <p:cNvGrpSpPr/>
            <p:nvPr/>
          </p:nvGrpSpPr>
          <p:grpSpPr>
            <a:xfrm>
              <a:off x="3923792" y="3188752"/>
              <a:ext cx="4710113" cy="534987"/>
              <a:chOff x="3923792" y="3188752"/>
              <a:chExt cx="4710113" cy="534987"/>
            </a:xfrm>
          </p:grpSpPr>
          <p:sp>
            <p:nvSpPr>
              <p:cNvPr id="99"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0" name="矩形 9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1" name="直接连接符 10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2"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5" name="组合 104"/>
          <p:cNvGrpSpPr/>
          <p:nvPr>
            <p:custDataLst>
              <p:tags r:id="rId3"/>
            </p:custDataLst>
          </p:nvPr>
        </p:nvGrpSpPr>
        <p:grpSpPr>
          <a:xfrm>
            <a:off x="4503593" y="4509001"/>
            <a:ext cx="5372100" cy="534987"/>
            <a:chOff x="3261805" y="4046141"/>
            <a:chExt cx="5372100" cy="534987"/>
          </a:xfrm>
        </p:grpSpPr>
        <p:grpSp>
          <p:nvGrpSpPr>
            <p:cNvPr id="106" name="组合 105"/>
            <p:cNvGrpSpPr/>
            <p:nvPr/>
          </p:nvGrpSpPr>
          <p:grpSpPr>
            <a:xfrm>
              <a:off x="3261805" y="4046141"/>
              <a:ext cx="689447" cy="534987"/>
              <a:chOff x="3261805" y="3969748"/>
              <a:chExt cx="689447" cy="534987"/>
            </a:xfrm>
          </p:grpSpPr>
          <p:sp>
            <p:nvSpPr>
              <p:cNvPr id="115" name="矩形 114"/>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107" name="组合 106"/>
            <p:cNvGrpSpPr/>
            <p:nvPr/>
          </p:nvGrpSpPr>
          <p:grpSpPr>
            <a:xfrm>
              <a:off x="3923792" y="4046141"/>
              <a:ext cx="4710113" cy="534987"/>
              <a:chOff x="3923792" y="3969748"/>
              <a:chExt cx="4710113" cy="534987"/>
            </a:xfrm>
          </p:grpSpPr>
          <p:sp>
            <p:nvSpPr>
              <p:cNvPr id="108"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12" name="矩形 111"/>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117" name="组合 116"/>
          <p:cNvGrpSpPr/>
          <p:nvPr>
            <p:custDataLst>
              <p:tags r:id="rId4"/>
            </p:custDataLst>
          </p:nvPr>
        </p:nvGrpSpPr>
        <p:grpSpPr>
          <a:xfrm>
            <a:off x="4517645" y="2868283"/>
            <a:ext cx="5370513" cy="534987"/>
            <a:chOff x="3275856" y="2348880"/>
            <a:chExt cx="5370513" cy="534987"/>
          </a:xfrm>
        </p:grpSpPr>
        <p:grpSp>
          <p:nvGrpSpPr>
            <p:cNvPr id="118" name="组合 117"/>
            <p:cNvGrpSpPr/>
            <p:nvPr/>
          </p:nvGrpSpPr>
          <p:grpSpPr>
            <a:xfrm>
              <a:off x="3275856" y="2348880"/>
              <a:ext cx="689474" cy="534987"/>
              <a:chOff x="3275856" y="2407756"/>
              <a:chExt cx="689474" cy="534987"/>
            </a:xfrm>
          </p:grpSpPr>
          <p:sp>
            <p:nvSpPr>
              <p:cNvPr id="124" name="矩形 123"/>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5"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9" name="组合 118"/>
            <p:cNvGrpSpPr/>
            <p:nvPr/>
          </p:nvGrpSpPr>
          <p:grpSpPr>
            <a:xfrm>
              <a:off x="3937844" y="2348880"/>
              <a:ext cx="4708525" cy="534987"/>
              <a:chOff x="3937844" y="2407756"/>
              <a:chExt cx="4708525" cy="534987"/>
            </a:xfrm>
          </p:grpSpPr>
          <p:sp>
            <p:nvSpPr>
              <p:cNvPr id="120"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21" name="矩形 120"/>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22" name="直接连接符 121"/>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3"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Future Work</a:t>
            </a:r>
          </a:p>
        </p:txBody>
      </p:sp>
      <p:sp>
        <p:nvSpPr>
          <p:cNvPr id="2" name="矩形 1"/>
          <p:cNvSpPr/>
          <p:nvPr/>
        </p:nvSpPr>
        <p:spPr>
          <a:xfrm>
            <a:off x="264000" y="981000"/>
            <a:ext cx="11736000" cy="2957544"/>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3" name="矩形 2"/>
          <p:cNvSpPr/>
          <p:nvPr/>
        </p:nvSpPr>
        <p:spPr>
          <a:xfrm>
            <a:off x="631210" y="752888"/>
            <a:ext cx="1864789" cy="51611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Contributions</a:t>
            </a:r>
          </a:p>
        </p:txBody>
      </p:sp>
      <p:sp>
        <p:nvSpPr>
          <p:cNvPr id="14" name="文本框 13"/>
          <p:cNvSpPr txBox="1"/>
          <p:nvPr/>
        </p:nvSpPr>
        <p:spPr>
          <a:xfrm>
            <a:off x="296571" y="1252349"/>
            <a:ext cx="11736000" cy="2343655"/>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marL="457200" indent="-457200">
              <a:lnSpc>
                <a:spcPct val="150000"/>
              </a:lnSpc>
              <a:buAutoNum type="arabicPeriod"/>
            </a:pPr>
            <a:r>
              <a:rPr lang="en-US" altLang="zh-CN" sz="2000">
                <a:solidFill>
                  <a:srgbClr val="231F20"/>
                </a:solidFill>
                <a:effectLst/>
                <a:ea typeface="微软雅黑" panose="020B0503020204020204" charset="-122"/>
              </a:rPr>
              <a:t>This paper </a:t>
            </a:r>
            <a:r>
              <a:rPr lang="en-US" altLang="zh-CN" sz="2000" b="0" i="0">
                <a:effectLst/>
                <a:ea typeface="微软雅黑" panose="020B0503020204020204" charset="-122"/>
              </a:rPr>
              <a:t>proposes the </a:t>
            </a:r>
            <a:r>
              <a:rPr lang="en-US" altLang="zh-CN" sz="2000" b="1" i="0">
                <a:solidFill>
                  <a:srgbClr val="FF0000"/>
                </a:solidFill>
                <a:effectLst/>
                <a:ea typeface="微软雅黑" panose="020B0503020204020204" charset="-122"/>
              </a:rPr>
              <a:t>meta-VQA</a:t>
            </a:r>
            <a:r>
              <a:rPr lang="en-US" altLang="zh-CN" sz="2000" b="0" i="0">
                <a:effectLst/>
                <a:ea typeface="微软雅黑" panose="020B0503020204020204" charset="-122"/>
              </a:rPr>
              <a:t>, which uses recurrent units to assist quantum computing and establishes a </a:t>
            </a:r>
            <a:r>
              <a:rPr lang="en-US" altLang="zh-CN" sz="2000" b="1" i="0">
                <a:solidFill>
                  <a:srgbClr val="FF0000"/>
                </a:solidFill>
                <a:effectLst/>
                <a:ea typeface="微软雅黑" panose="020B0503020204020204" charset="-122"/>
              </a:rPr>
              <a:t>weight sharing method</a:t>
            </a:r>
            <a:r>
              <a:rPr lang="en-US" altLang="zh-CN" sz="2000" b="0" i="0">
                <a:effectLst/>
                <a:ea typeface="微软雅黑" panose="020B0503020204020204" charset="-122"/>
              </a:rPr>
              <a:t>. It helps in learning to find approximate optimal in the parameter landscape more efficiently.</a:t>
            </a:r>
          </a:p>
          <a:p>
            <a:pPr marL="457200" indent="-457200">
              <a:lnSpc>
                <a:spcPct val="150000"/>
              </a:lnSpc>
              <a:buAutoNum type="arabicPeriod"/>
            </a:pPr>
            <a:r>
              <a:rPr lang="en-US" altLang="zh-CN" sz="2000">
                <a:ea typeface="微软雅黑" panose="020B0503020204020204" charset="-122"/>
              </a:rPr>
              <a:t> This paper introduces quantum </a:t>
            </a:r>
            <a:r>
              <a:rPr lang="en-US" altLang="zh-CN" sz="2000" b="1">
                <a:solidFill>
                  <a:srgbClr val="FF0000"/>
                </a:solidFill>
                <a:ea typeface="微软雅黑" panose="020B0503020204020204" charset="-122"/>
              </a:rPr>
              <a:t>stochastic gradient descent </a:t>
            </a:r>
            <a:r>
              <a:rPr lang="en-US" altLang="zh-CN" sz="2000">
                <a:ea typeface="微软雅黑" panose="020B0503020204020204" charset="-122"/>
              </a:rPr>
              <a:t>and an </a:t>
            </a:r>
            <a:r>
              <a:rPr lang="en-US" altLang="zh-CN" sz="2000" b="1">
                <a:solidFill>
                  <a:srgbClr val="FF0000"/>
                </a:solidFill>
                <a:ea typeface="微软雅黑" panose="020B0503020204020204" charset="-122"/>
              </a:rPr>
              <a:t>adaptive learning rate method</a:t>
            </a:r>
            <a:r>
              <a:rPr lang="en-US" altLang="zh-CN" sz="2000">
                <a:ea typeface="微软雅黑" panose="020B0503020204020204" charset="-122"/>
              </a:rPr>
              <a:t> to optimize parameters, reducing the sampling number and accelerating convergence.</a:t>
            </a:r>
          </a:p>
        </p:txBody>
      </p:sp>
      <p:grpSp>
        <p:nvGrpSpPr>
          <p:cNvPr id="20" name="组合 19"/>
          <p:cNvGrpSpPr/>
          <p:nvPr/>
        </p:nvGrpSpPr>
        <p:grpSpPr>
          <a:xfrm>
            <a:off x="-1" y="6553200"/>
            <a:ext cx="12192001" cy="304800"/>
            <a:chOff x="0" y="6569404"/>
            <a:chExt cx="9144000" cy="288000"/>
          </a:xfrm>
        </p:grpSpPr>
        <p:sp>
          <p:nvSpPr>
            <p:cNvPr id="21"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2"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21</a:t>
            </a:fld>
            <a:endParaRPr lang="zh-HK" altLang="en-US" sz="1600" dirty="0">
              <a:solidFill>
                <a:schemeClr val="bg1"/>
              </a:solidFill>
            </a:endParaRPr>
          </a:p>
        </p:txBody>
      </p:sp>
      <p:sp>
        <p:nvSpPr>
          <p:cNvPr id="11" name="矩形 10"/>
          <p:cNvSpPr/>
          <p:nvPr/>
        </p:nvSpPr>
        <p:spPr>
          <a:xfrm>
            <a:off x="241320" y="4077000"/>
            <a:ext cx="11736000" cy="2109932"/>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2" name="矩形 11"/>
          <p:cNvSpPr/>
          <p:nvPr/>
        </p:nvSpPr>
        <p:spPr>
          <a:xfrm>
            <a:off x="296571" y="4176418"/>
            <a:ext cx="1864788" cy="2763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Future Work</a:t>
            </a:r>
          </a:p>
        </p:txBody>
      </p:sp>
      <p:sp>
        <p:nvSpPr>
          <p:cNvPr id="5" name="文本框 4"/>
          <p:cNvSpPr txBox="1"/>
          <p:nvPr/>
        </p:nvSpPr>
        <p:spPr>
          <a:xfrm>
            <a:off x="413871" y="4651321"/>
            <a:ext cx="11592000" cy="961289"/>
          </a:xfrm>
          <a:prstGeom prst="rect">
            <a:avLst/>
          </a:prstGeom>
          <a:noFill/>
        </p:spPr>
        <p:txBody>
          <a:bodyPr wrap="square">
            <a:spAutoFit/>
          </a:bodyPr>
          <a:lstStyle/>
          <a:p>
            <a:pPr>
              <a:lnSpc>
                <a:spcPct val="150000"/>
              </a:lnSpc>
            </a:pPr>
            <a:r>
              <a:rPr lang="en-US" altLang="zh-CN" sz="2000">
                <a:solidFill>
                  <a:srgbClr val="231F20"/>
                </a:solidFill>
                <a:effectLst/>
                <a:latin typeface="Arial" panose="020B0604020202020204" pitchFamily="34" charset="0"/>
                <a:ea typeface="微软雅黑" panose="020B0503020204020204" charset="-122"/>
                <a:cs typeface="Arial" panose="020B0604020202020204" pitchFamily="34" charset="0"/>
              </a:rPr>
              <a:t>      In the future, we will further study the coordinated implementation of meta-VQA </a:t>
            </a:r>
            <a:r>
              <a:rPr lang="en-US" altLang="zh-CN" sz="2000" b="1">
                <a:solidFill>
                  <a:srgbClr val="FF0000"/>
                </a:solidFill>
                <a:effectLst/>
                <a:latin typeface="Arial" panose="020B0604020202020204" pitchFamily="34" charset="0"/>
                <a:ea typeface="微软雅黑" panose="020B0503020204020204" charset="-122"/>
                <a:cs typeface="Arial" panose="020B0604020202020204" pitchFamily="34" charset="0"/>
              </a:rPr>
              <a:t>distributed multiquantum devices</a:t>
            </a:r>
            <a:r>
              <a:rPr lang="en-US" altLang="zh-CN" sz="2000">
                <a:solidFill>
                  <a:srgbClr val="231F20"/>
                </a:solidFill>
                <a:effectLst/>
                <a:latin typeface="Arial" panose="020B0604020202020204" pitchFamily="34" charset="0"/>
                <a:ea typeface="微软雅黑" panose="020B0503020204020204" charset="-122"/>
                <a:cs typeface="Arial" panose="020B0604020202020204" pitchFamily="34" charset="0"/>
              </a:rPr>
              <a:t>, which may inspire investigations in the field of secure QML.</a:t>
            </a:r>
            <a:endParaRPr lang="zh-CN" altLang="en-US" sz="2000">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 y="1960245"/>
            <a:ext cx="12170406" cy="2045019"/>
            <a:chOff x="1522095" y="1960245"/>
            <a:chExt cx="9147810" cy="2045019"/>
          </a:xfrm>
        </p:grpSpPr>
        <p:sp>
          <p:nvSpPr>
            <p:cNvPr id="8"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9" name="文本框 8"/>
            <p:cNvSpPr txBox="1"/>
            <p:nvPr/>
          </p:nvSpPr>
          <p:spPr>
            <a:xfrm>
              <a:off x="2081200" y="2090666"/>
              <a:ext cx="8233103" cy="1383665"/>
            </a:xfrm>
            <a:prstGeom prst="rect">
              <a:avLst/>
            </a:prstGeom>
            <a:noFill/>
          </p:spPr>
          <p:txBody>
            <a:bodyPr wrap="square" rtlCol="0" anchor="ctr">
              <a:spAutoFit/>
            </a:bodyPr>
            <a:lstStyle/>
            <a:p>
              <a:pPr algn="ctr">
                <a:lnSpc>
                  <a:spcPct val="150000"/>
                </a:lnSpc>
              </a:pPr>
              <a:r>
                <a:rPr lang="en-US" altLang="zh-CN" sz="2800" b="1">
                  <a:solidFill>
                    <a:schemeClr val="bg1"/>
                  </a:solidFill>
                  <a:latin typeface="Arial" panose="020B0604020202020204" pitchFamily="34" charset="0"/>
                  <a:cs typeface="Arial" panose="020B0604020202020204" pitchFamily="34" charset="0"/>
                  <a:sym typeface="+mn-ea"/>
                </a:rPr>
                <a:t>PQ-Net Periodic Quantum Networks for Multivariate Time Series Forecasting</a:t>
              </a:r>
              <a:endPar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sym typeface="+mn-ea"/>
              </a:endParaRPr>
            </a:p>
          </p:txBody>
        </p:sp>
      </p:grpSp>
      <p:sp>
        <p:nvSpPr>
          <p:cNvPr id="2"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2</a:t>
            </a:r>
            <a:endParaRPr lang="zh-HK" altLang="en-US"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6" name="组合 15"/>
          <p:cNvGrpSpPr/>
          <p:nvPr/>
        </p:nvGrpSpPr>
        <p:grpSpPr>
          <a:xfrm>
            <a:off x="-1" y="6553200"/>
            <a:ext cx="12192001" cy="304800"/>
            <a:chOff x="0" y="6569404"/>
            <a:chExt cx="9144000" cy="288000"/>
          </a:xfrm>
        </p:grpSpPr>
        <p:sp>
          <p:nvSpPr>
            <p:cNvPr id="17"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22</a:t>
            </a:fld>
            <a:endParaRPr lang="zh-HK" altLang="en-US" sz="1600" dirty="0">
              <a:solidFill>
                <a:schemeClr val="bg1"/>
              </a:solidFill>
            </a:endParaRPr>
          </a:p>
        </p:txBody>
      </p:sp>
      <p:pic>
        <p:nvPicPr>
          <p:cNvPr id="15" name="图片 14"/>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
        <p:nvSpPr>
          <p:cNvPr id="7" name="文本框 6"/>
          <p:cNvSpPr txBox="1"/>
          <p:nvPr/>
        </p:nvSpPr>
        <p:spPr>
          <a:xfrm>
            <a:off x="351876" y="4596014"/>
            <a:ext cx="8747760" cy="36830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 </a:t>
            </a:r>
            <a:r>
              <a:rPr lang="en-US" altLang="zh-CN" b="1">
                <a:latin typeface="Arial" panose="020B0604020202020204" pitchFamily="34" charset="0"/>
                <a:cs typeface="Arial" panose="020B0604020202020204" pitchFamily="34" charset="0"/>
              </a:rPr>
              <a:t>Journal: </a:t>
            </a:r>
            <a:r>
              <a:rPr lang="en-US" altLang="zh-CN" dirty="0">
                <a:latin typeface="Arial" panose="020B0604020202020204" pitchFamily="34" charset="0"/>
                <a:cs typeface="Arial" panose="020B0604020202020204" pitchFamily="34" charset="0"/>
              </a:rPr>
              <a:t>The International Conference on Learning Representations</a:t>
            </a:r>
          </a:p>
        </p:txBody>
      </p:sp>
      <p:sp>
        <p:nvSpPr>
          <p:cNvPr id="11" name="文本框 10"/>
          <p:cNvSpPr txBox="1"/>
          <p:nvPr/>
        </p:nvSpPr>
        <p:spPr>
          <a:xfrm>
            <a:off x="351876" y="5100204"/>
            <a:ext cx="5831840" cy="36830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Published Time</a:t>
            </a:r>
            <a:r>
              <a:rPr lang="en-US" altLang="zh-CN" b="1">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 2026</a:t>
            </a:r>
            <a:endParaRPr lang="en-US" altLang="zh-CN" dirty="0">
              <a:latin typeface="Arial" panose="020B0604020202020204" pitchFamily="34" charset="0"/>
              <a:cs typeface="Arial" panose="020B0604020202020204" pitchFamily="34" charset="0"/>
            </a:endParaRPr>
          </a:p>
        </p:txBody>
      </p:sp>
      <p:sp>
        <p:nvSpPr>
          <p:cNvPr id="3" name="文本框 2"/>
          <p:cNvSpPr txBox="1"/>
          <p:nvPr/>
        </p:nvSpPr>
        <p:spPr>
          <a:xfrm>
            <a:off x="551815" y="3644900"/>
            <a:ext cx="5929630" cy="337185"/>
          </a:xfrm>
          <a:prstGeom prst="rect">
            <a:avLst/>
          </a:prstGeom>
        </p:spPr>
        <p:txBody>
          <a:bodyPr wrap="square">
            <a:spAutoFit/>
          </a:bodyPr>
          <a:lstStyle/>
          <a:p>
            <a:pPr marL="0" indent="0">
              <a:spcBef>
                <a:spcPct val="0"/>
              </a:spcBef>
              <a:spcAft>
                <a:spcPct val="0"/>
              </a:spcAft>
            </a:pPr>
            <a:r>
              <a:rPr lang="en-US" altLang="zh-CN" sz="1600" b="1">
                <a:solidFill>
                  <a:schemeClr val="bg1"/>
                </a:solidFill>
                <a:latin typeface="Times New Roman" panose="02020603050405020304" pitchFamily="18" charset="0"/>
                <a:ea typeface="Noto Sans"/>
                <a:cs typeface="Times New Roman" panose="02020603050405020304" pitchFamily="18" charset="0"/>
              </a:rPr>
              <a:t>Yijun Wang, Qiyuan Zhuang, Xiaogang Qiang, Xiu-Shen Wei</a:t>
            </a:r>
            <a:endParaRPr lang="en-US" altLang="zh-CN" sz="1600" b="1">
              <a:solidFill>
                <a:schemeClr val="bg1"/>
              </a:solidFill>
              <a:latin typeface="Times New Roman" panose="02020603050405020304" pitchFamily="18" charset="0"/>
              <a:ea typeface="Noto Sans"/>
              <a:cs typeface="Times New Roman" panose="02020603050405020304" pitchFamily="18" charset="0"/>
              <a:hlinkClick r:id="rId5" tooltip="~Xiu-Shen_Wei1"/>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18"/>
          <p:cNvGrpSpPr/>
          <p:nvPr/>
        </p:nvGrpSpPr>
        <p:grpSpPr bwMode="auto">
          <a:xfrm>
            <a:off x="2409457" y="2650330"/>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9" name="组合 18"/>
          <p:cNvGrpSpPr/>
          <p:nvPr>
            <p:custDataLst>
              <p:tags r:id="rId1"/>
            </p:custDataLst>
          </p:nvPr>
        </p:nvGrpSpPr>
        <p:grpSpPr>
          <a:xfrm>
            <a:off x="4523741" y="2047924"/>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2" name="组合 21"/>
          <p:cNvGrpSpPr/>
          <p:nvPr>
            <p:custDataLst>
              <p:tags r:id="rId2"/>
            </p:custDataLst>
          </p:nvPr>
        </p:nvGrpSpPr>
        <p:grpSpPr>
          <a:xfrm>
            <a:off x="4503593" y="3688642"/>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3" name="组合 22"/>
          <p:cNvGrpSpPr/>
          <p:nvPr>
            <p:custDataLst>
              <p:tags r:id="rId3"/>
            </p:custDataLst>
          </p:nvPr>
        </p:nvGrpSpPr>
        <p:grpSpPr>
          <a:xfrm>
            <a:off x="4503593" y="4509001"/>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0" name="组合 19"/>
          <p:cNvGrpSpPr/>
          <p:nvPr>
            <p:custDataLst>
              <p:tags r:id="rId4"/>
            </p:custDataLst>
          </p:nvPr>
        </p:nvGrpSpPr>
        <p:grpSpPr>
          <a:xfrm>
            <a:off x="4517645" y="2868283"/>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7" name="组合 6"/>
          <p:cNvGrpSpPr/>
          <p:nvPr/>
        </p:nvGrpSpPr>
        <p:grpSpPr>
          <a:xfrm>
            <a:off x="-1" y="6553200"/>
            <a:ext cx="12192001" cy="304800"/>
            <a:chOff x="0" y="6569404"/>
            <a:chExt cx="9144000" cy="288000"/>
          </a:xfrm>
        </p:grpSpPr>
        <p:sp>
          <p:nvSpPr>
            <p:cNvPr id="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23</a:t>
            </a:fld>
            <a:endParaRPr lang="zh-HK" altLang="en-US" sz="1600" dirty="0">
              <a:solidFill>
                <a:schemeClr val="bg1"/>
              </a:solidFill>
            </a:endParaRPr>
          </a:p>
        </p:txBody>
      </p:sp>
      <p:pic>
        <p:nvPicPr>
          <p:cNvPr id="25" name="图片 24"/>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 y="6553200"/>
            <a:ext cx="12192001" cy="304800"/>
            <a:chOff x="0" y="6569404"/>
            <a:chExt cx="9144000" cy="288000"/>
          </a:xfrm>
        </p:grpSpPr>
        <p:sp>
          <p:nvSpPr>
            <p:cNvPr id="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24</a:t>
            </a:fld>
            <a:endParaRPr lang="zh-HK" altLang="en-US" sz="1600" dirty="0">
              <a:solidFill>
                <a:schemeClr val="bg1"/>
              </a:solidFill>
            </a:endParaRPr>
          </a:p>
        </p:txBody>
      </p:sp>
      <p:pic>
        <p:nvPicPr>
          <p:cNvPr id="25" name="图片 24"/>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96" name="组合 18"/>
          <p:cNvGrpSpPr/>
          <p:nvPr/>
        </p:nvGrpSpPr>
        <p:grpSpPr bwMode="auto">
          <a:xfrm>
            <a:off x="2409457" y="2650330"/>
            <a:ext cx="1505450" cy="1479472"/>
            <a:chOff x="1709739" y="2636838"/>
            <a:chExt cx="1590160" cy="1584325"/>
          </a:xfrm>
          <a:solidFill>
            <a:srgbClr val="044875"/>
          </a:solidFill>
        </p:grpSpPr>
        <p:sp>
          <p:nvSpPr>
            <p:cNvPr id="497"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8"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9"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0"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1"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2"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3"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4"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5"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506" name="文本框 505"/>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07" name="组合 506"/>
          <p:cNvGrpSpPr/>
          <p:nvPr>
            <p:custDataLst>
              <p:tags r:id="rId1"/>
            </p:custDataLst>
          </p:nvPr>
        </p:nvGrpSpPr>
        <p:grpSpPr>
          <a:xfrm>
            <a:off x="4523741" y="2047924"/>
            <a:ext cx="5370513" cy="534987"/>
            <a:chOff x="3281952" y="1484784"/>
            <a:chExt cx="5370513" cy="534987"/>
          </a:xfrm>
        </p:grpSpPr>
        <p:grpSp>
          <p:nvGrpSpPr>
            <p:cNvPr id="508" name="组合 507"/>
            <p:cNvGrpSpPr/>
            <p:nvPr/>
          </p:nvGrpSpPr>
          <p:grpSpPr>
            <a:xfrm>
              <a:off x="3943940" y="1484784"/>
              <a:ext cx="4708525" cy="534987"/>
              <a:chOff x="3943940" y="1626760"/>
              <a:chExt cx="4708525" cy="534987"/>
            </a:xfrm>
          </p:grpSpPr>
          <p:sp>
            <p:nvSpPr>
              <p:cNvPr id="512"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13"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514" name="矩形 513"/>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15" name="直接连接符 514"/>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09" name="组合 508"/>
            <p:cNvGrpSpPr/>
            <p:nvPr/>
          </p:nvGrpSpPr>
          <p:grpSpPr>
            <a:xfrm>
              <a:off x="3281952" y="1484784"/>
              <a:ext cx="689642" cy="534987"/>
              <a:chOff x="3281952" y="1626760"/>
              <a:chExt cx="689642" cy="534987"/>
            </a:xfrm>
          </p:grpSpPr>
          <p:sp>
            <p:nvSpPr>
              <p:cNvPr id="510" name="矩形 509"/>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11"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516" name="组合 515"/>
          <p:cNvGrpSpPr/>
          <p:nvPr>
            <p:custDataLst>
              <p:tags r:id="rId2"/>
            </p:custDataLst>
          </p:nvPr>
        </p:nvGrpSpPr>
        <p:grpSpPr>
          <a:xfrm>
            <a:off x="4503593" y="3688642"/>
            <a:ext cx="5372100" cy="534987"/>
            <a:chOff x="3261805" y="3188752"/>
            <a:chExt cx="5372100" cy="534987"/>
          </a:xfrm>
        </p:grpSpPr>
        <p:grpSp>
          <p:nvGrpSpPr>
            <p:cNvPr id="517" name="组合 516"/>
            <p:cNvGrpSpPr/>
            <p:nvPr/>
          </p:nvGrpSpPr>
          <p:grpSpPr>
            <a:xfrm>
              <a:off x="3261805" y="3188752"/>
              <a:ext cx="689593" cy="534987"/>
              <a:chOff x="3261805" y="3188752"/>
              <a:chExt cx="689593" cy="534987"/>
            </a:xfrm>
          </p:grpSpPr>
          <p:sp>
            <p:nvSpPr>
              <p:cNvPr id="523" name="矩形 52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24"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518" name="组合 517"/>
            <p:cNvGrpSpPr/>
            <p:nvPr/>
          </p:nvGrpSpPr>
          <p:grpSpPr>
            <a:xfrm>
              <a:off x="3923792" y="3188752"/>
              <a:ext cx="4710113" cy="534987"/>
              <a:chOff x="3923792" y="3188752"/>
              <a:chExt cx="4710113" cy="534987"/>
            </a:xfrm>
          </p:grpSpPr>
          <p:sp>
            <p:nvSpPr>
              <p:cNvPr id="519"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20" name="矩形 51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1" name="直接连接符 52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2"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25" name="组合 524"/>
          <p:cNvGrpSpPr/>
          <p:nvPr>
            <p:custDataLst>
              <p:tags r:id="rId3"/>
            </p:custDataLst>
          </p:nvPr>
        </p:nvGrpSpPr>
        <p:grpSpPr>
          <a:xfrm>
            <a:off x="4503593" y="4509001"/>
            <a:ext cx="5372100" cy="534987"/>
            <a:chOff x="3261805" y="4046141"/>
            <a:chExt cx="5372100" cy="534987"/>
          </a:xfrm>
        </p:grpSpPr>
        <p:grpSp>
          <p:nvGrpSpPr>
            <p:cNvPr id="526" name="组合 525"/>
            <p:cNvGrpSpPr/>
            <p:nvPr/>
          </p:nvGrpSpPr>
          <p:grpSpPr>
            <a:xfrm>
              <a:off x="3261805" y="4046141"/>
              <a:ext cx="689447" cy="534987"/>
              <a:chOff x="3261805" y="3969748"/>
              <a:chExt cx="689447" cy="534987"/>
            </a:xfrm>
          </p:grpSpPr>
          <p:sp>
            <p:nvSpPr>
              <p:cNvPr id="532" name="矩形 531"/>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33"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527" name="组合 526"/>
            <p:cNvGrpSpPr/>
            <p:nvPr/>
          </p:nvGrpSpPr>
          <p:grpSpPr>
            <a:xfrm>
              <a:off x="3923792" y="4046141"/>
              <a:ext cx="4710113" cy="534987"/>
              <a:chOff x="3923792" y="3969748"/>
              <a:chExt cx="4710113" cy="534987"/>
            </a:xfrm>
          </p:grpSpPr>
          <p:sp>
            <p:nvSpPr>
              <p:cNvPr id="528"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529" name="矩形 528"/>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0" name="直接连接符 529"/>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1"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34" name="组合 533"/>
          <p:cNvGrpSpPr/>
          <p:nvPr>
            <p:custDataLst>
              <p:tags r:id="rId4"/>
            </p:custDataLst>
          </p:nvPr>
        </p:nvGrpSpPr>
        <p:grpSpPr>
          <a:xfrm>
            <a:off x="4517645" y="2868283"/>
            <a:ext cx="5370513" cy="534987"/>
            <a:chOff x="3275856" y="2348880"/>
            <a:chExt cx="5370513" cy="534987"/>
          </a:xfrm>
        </p:grpSpPr>
        <p:grpSp>
          <p:nvGrpSpPr>
            <p:cNvPr id="535" name="组合 534"/>
            <p:cNvGrpSpPr/>
            <p:nvPr/>
          </p:nvGrpSpPr>
          <p:grpSpPr>
            <a:xfrm>
              <a:off x="3275856" y="2348880"/>
              <a:ext cx="689474" cy="534987"/>
              <a:chOff x="3275856" y="2407756"/>
              <a:chExt cx="689474" cy="534987"/>
            </a:xfrm>
          </p:grpSpPr>
          <p:sp>
            <p:nvSpPr>
              <p:cNvPr id="541" name="矩形 540"/>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2"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536" name="组合 535"/>
            <p:cNvGrpSpPr/>
            <p:nvPr/>
          </p:nvGrpSpPr>
          <p:grpSpPr>
            <a:xfrm>
              <a:off x="3937844" y="2348880"/>
              <a:ext cx="4708525" cy="534987"/>
              <a:chOff x="3937844" y="2407756"/>
              <a:chExt cx="4708525" cy="534987"/>
            </a:xfrm>
          </p:grpSpPr>
          <p:sp>
            <p:nvSpPr>
              <p:cNvPr id="537"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38" name="矩形 537"/>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9" name="直接连接符 538"/>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40"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8" name="文本框 7"/>
          <p:cNvSpPr txBox="1"/>
          <p:nvPr/>
        </p:nvSpPr>
        <p:spPr>
          <a:xfrm>
            <a:off x="187325" y="795020"/>
            <a:ext cx="11805920" cy="4653280"/>
          </a:xfrm>
          <a:prstGeom prst="rect">
            <a:avLst/>
          </a:prstGeom>
          <a:noFill/>
          <a:ln>
            <a:solidFill>
              <a:srgbClr val="0174AB"/>
            </a:solidFill>
          </a:ln>
        </p:spPr>
        <p:txBody>
          <a:bodyPr wrap="square" rtlCol="0">
            <a:noAutofit/>
          </a:bodyPr>
          <a:lstStyle/>
          <a:p>
            <a:pPr marL="285750" indent="-285750">
              <a:lnSpc>
                <a:spcPct val="150000"/>
              </a:lnSpc>
              <a:buFont typeface="Arial" panose="020B0604020202020204" pitchFamily="34" charset="0"/>
              <a:buChar char="•"/>
            </a:pPr>
            <a:r>
              <a:rPr lang="en-US" altLang="zh-CN" sz="2000" b="1" dirty="0">
                <a:latin typeface="Times New Roman" panose="02020603050405020304" pitchFamily="18" charset="0"/>
                <a:ea typeface="微软雅黑" panose="020B0503020204020204" charset="-122"/>
                <a:cs typeface="Times New Roman" panose="02020603050405020304" pitchFamily="18" charset="0"/>
              </a:rPr>
              <a:t>Periodic Quantum Networks (PQ-Net) </a:t>
            </a:r>
          </a:p>
          <a:p>
            <a:pPr indent="0">
              <a:lnSpc>
                <a:spcPct val="150000"/>
              </a:lnSpc>
              <a:buFont typeface="Arial" panose="020B0604020202020204" pitchFamily="34" charset="0"/>
              <a:buNone/>
            </a:pP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a:p>
            <a:pPr>
              <a:lnSpc>
                <a:spcPct val="150000"/>
              </a:lnSpc>
            </a:pPr>
            <a:r>
              <a:rPr lang="en-US" altLang="zh-CN" b="0" i="0" dirty="0">
                <a:effectLst/>
                <a:latin typeface="Arial" panose="020B0604020202020204" pitchFamily="34" charset="0"/>
                <a:cs typeface="Arial" panose="020B0604020202020204" pitchFamily="34" charset="0"/>
              </a:rPr>
              <a:t>        </a:t>
            </a:r>
            <a:r>
              <a:rPr lang="en-US" altLang="zh-CN" sz="2000" dirty="0">
                <a:latin typeface="Arial" panose="020B0604020202020204" pitchFamily="34" charset="0"/>
                <a:ea typeface="微软雅黑" panose="020B0503020204020204" charset="-122"/>
                <a:cs typeface="Arial" panose="020B0604020202020204" pitchFamily="34" charset="0"/>
              </a:rPr>
              <a:t>We propose the Periodic Quantum Networks (PQ-Net), a quantum–classical hybrid frame_x0002_work that jointly integrates explicit periodic-structure modeling with expressive cross_x0002_variable dependency learning for multivariate time series forecasting. </a:t>
            </a:r>
          </a:p>
          <a:p>
            <a:pPr>
              <a:lnSpc>
                <a:spcPct val="150000"/>
              </a:lnSpc>
            </a:pPr>
            <a:r>
              <a:rPr lang="en-US" altLang="zh-CN" sz="2000" dirty="0">
                <a:latin typeface="Arial" panose="020B0604020202020204" pitchFamily="34" charset="0"/>
                <a:ea typeface="微软雅黑" panose="020B0503020204020204" charset="-122"/>
                <a:cs typeface="Arial" panose="020B0604020202020204" pitchFamily="34" charset="0"/>
              </a:rPr>
              <a:t>       We provide a theoretical analysis showing that the Data Re-uploading Quantum Circuits (DRQC) can encode periodic patterns through its equivalence to Fourier-series modeling and capture inter-variable dependencies via quantum entanglement</a:t>
            </a:r>
          </a:p>
        </p:txBody>
      </p:sp>
      <p:grpSp>
        <p:nvGrpSpPr>
          <p:cNvPr id="12" name="组合 11"/>
          <p:cNvGrpSpPr/>
          <p:nvPr/>
        </p:nvGrpSpPr>
        <p:grpSpPr>
          <a:xfrm>
            <a:off x="-1" y="6553200"/>
            <a:ext cx="12192001" cy="304800"/>
            <a:chOff x="0" y="6569404"/>
            <a:chExt cx="9144000" cy="288000"/>
          </a:xfrm>
        </p:grpSpPr>
        <p:sp>
          <p:nvSpPr>
            <p:cNvPr id="13" name="矩形 1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25</a:t>
            </a:fld>
            <a:endParaRPr lang="zh-HK" altLang="en-US" sz="1600" dirty="0">
              <a:solidFill>
                <a:schemeClr val="bg1"/>
              </a:solidFill>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 y="6553200"/>
            <a:ext cx="12192001" cy="304800"/>
            <a:chOff x="0" y="6569404"/>
            <a:chExt cx="9144000" cy="288000"/>
          </a:xfrm>
        </p:grpSpPr>
        <p:sp>
          <p:nvSpPr>
            <p:cNvPr id="4"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26</a:t>
            </a:fld>
            <a:endParaRPr lang="zh-HK" altLang="en-US" sz="1600" dirty="0">
              <a:solidFill>
                <a:schemeClr val="bg1"/>
              </a:solidFill>
            </a:endParaRPr>
          </a:p>
        </p:txBody>
      </p:sp>
      <p:pic>
        <p:nvPicPr>
          <p:cNvPr id="7" name="图片 6"/>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p:cNvGrpSpPr/>
          <p:nvPr/>
        </p:nvGrpSpPr>
        <p:grpSpPr bwMode="auto">
          <a:xfrm>
            <a:off x="2409457" y="2650330"/>
            <a:ext cx="1505450" cy="1479472"/>
            <a:chOff x="1709739" y="2636838"/>
            <a:chExt cx="1590160" cy="1584325"/>
          </a:xfrm>
          <a:solidFill>
            <a:srgbClr val="044875"/>
          </a:solidFill>
        </p:grpSpPr>
        <p:sp>
          <p:nvSpPr>
            <p:cNvPr id="59"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3" name="文本框 72"/>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4" name="组合 73"/>
          <p:cNvGrpSpPr/>
          <p:nvPr>
            <p:custDataLst>
              <p:tags r:id="rId1"/>
            </p:custDataLst>
          </p:nvPr>
        </p:nvGrpSpPr>
        <p:grpSpPr>
          <a:xfrm>
            <a:off x="4523741" y="2047924"/>
            <a:ext cx="5370513" cy="534987"/>
            <a:chOff x="3281952" y="1484784"/>
            <a:chExt cx="5370513" cy="534987"/>
          </a:xfrm>
        </p:grpSpPr>
        <p:grpSp>
          <p:nvGrpSpPr>
            <p:cNvPr id="75" name="组合 74"/>
            <p:cNvGrpSpPr/>
            <p:nvPr/>
          </p:nvGrpSpPr>
          <p:grpSpPr>
            <a:xfrm>
              <a:off x="3943940" y="1484784"/>
              <a:ext cx="4708525" cy="534987"/>
              <a:chOff x="3943940" y="1626760"/>
              <a:chExt cx="4708525" cy="534987"/>
            </a:xfrm>
          </p:grpSpPr>
          <p:sp>
            <p:nvSpPr>
              <p:cNvPr id="7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1" name="矩形 8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2" name="直接连接符 8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6" name="组合 75"/>
            <p:cNvGrpSpPr/>
            <p:nvPr/>
          </p:nvGrpSpPr>
          <p:grpSpPr>
            <a:xfrm>
              <a:off x="3281952" y="1484784"/>
              <a:ext cx="689642" cy="534987"/>
              <a:chOff x="3281952" y="1626760"/>
              <a:chExt cx="689642" cy="534987"/>
            </a:xfrm>
          </p:grpSpPr>
          <p:sp>
            <p:nvSpPr>
              <p:cNvPr id="77" name="矩形 76"/>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8"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3" name="组合 82"/>
          <p:cNvGrpSpPr/>
          <p:nvPr>
            <p:custDataLst>
              <p:tags r:id="rId2"/>
            </p:custDataLst>
          </p:nvPr>
        </p:nvGrpSpPr>
        <p:grpSpPr>
          <a:xfrm>
            <a:off x="4503593" y="3688642"/>
            <a:ext cx="5372100" cy="534987"/>
            <a:chOff x="3261805" y="3188752"/>
            <a:chExt cx="5372100" cy="534987"/>
          </a:xfrm>
        </p:grpSpPr>
        <p:grpSp>
          <p:nvGrpSpPr>
            <p:cNvPr id="84" name="组合 83"/>
            <p:cNvGrpSpPr/>
            <p:nvPr/>
          </p:nvGrpSpPr>
          <p:grpSpPr>
            <a:xfrm>
              <a:off x="3261805" y="3188752"/>
              <a:ext cx="689593" cy="534987"/>
              <a:chOff x="3261805" y="3188752"/>
              <a:chExt cx="689593" cy="534987"/>
            </a:xfrm>
          </p:grpSpPr>
          <p:sp>
            <p:nvSpPr>
              <p:cNvPr id="100" name="矩形 99"/>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1"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85" name="组合 84"/>
            <p:cNvGrpSpPr/>
            <p:nvPr/>
          </p:nvGrpSpPr>
          <p:grpSpPr>
            <a:xfrm>
              <a:off x="3923792" y="3188752"/>
              <a:ext cx="4710113" cy="534987"/>
              <a:chOff x="3923792" y="3188752"/>
              <a:chExt cx="4710113" cy="534987"/>
            </a:xfrm>
          </p:grpSpPr>
          <p:sp>
            <p:nvSpPr>
              <p:cNvPr id="87"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91" name="矩形 90"/>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5" name="直接连接符 94"/>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9"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2" name="组合 101"/>
          <p:cNvGrpSpPr/>
          <p:nvPr>
            <p:custDataLst>
              <p:tags r:id="rId3"/>
            </p:custDataLst>
          </p:nvPr>
        </p:nvGrpSpPr>
        <p:grpSpPr>
          <a:xfrm>
            <a:off x="4503593" y="4509001"/>
            <a:ext cx="5372100" cy="534987"/>
            <a:chOff x="3261805" y="4046141"/>
            <a:chExt cx="5372100" cy="534987"/>
          </a:xfrm>
        </p:grpSpPr>
        <p:grpSp>
          <p:nvGrpSpPr>
            <p:cNvPr id="103" name="组合 102"/>
            <p:cNvGrpSpPr/>
            <p:nvPr/>
          </p:nvGrpSpPr>
          <p:grpSpPr>
            <a:xfrm>
              <a:off x="3261805" y="4046141"/>
              <a:ext cx="689447" cy="534987"/>
              <a:chOff x="3261805" y="3969748"/>
              <a:chExt cx="689447" cy="534987"/>
            </a:xfrm>
          </p:grpSpPr>
          <p:sp>
            <p:nvSpPr>
              <p:cNvPr id="109" name="矩形 10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4" name="组合 103"/>
            <p:cNvGrpSpPr/>
            <p:nvPr/>
          </p:nvGrpSpPr>
          <p:grpSpPr>
            <a:xfrm>
              <a:off x="3923792" y="4046141"/>
              <a:ext cx="4710113" cy="534987"/>
              <a:chOff x="3923792" y="3969748"/>
              <a:chExt cx="4710113" cy="534987"/>
            </a:xfrm>
          </p:grpSpPr>
          <p:sp>
            <p:nvSpPr>
              <p:cNvPr id="105"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6" name="矩形 105"/>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7" name="直接连接符 106"/>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11" name="组合 110"/>
          <p:cNvGrpSpPr/>
          <p:nvPr>
            <p:custDataLst>
              <p:tags r:id="rId4"/>
            </p:custDataLst>
          </p:nvPr>
        </p:nvGrpSpPr>
        <p:grpSpPr>
          <a:xfrm>
            <a:off x="4517645" y="2868283"/>
            <a:ext cx="5370513" cy="534987"/>
            <a:chOff x="3275856" y="2348880"/>
            <a:chExt cx="5370513" cy="534987"/>
          </a:xfrm>
        </p:grpSpPr>
        <p:grpSp>
          <p:nvGrpSpPr>
            <p:cNvPr id="112" name="组合 111"/>
            <p:cNvGrpSpPr/>
            <p:nvPr/>
          </p:nvGrpSpPr>
          <p:grpSpPr>
            <a:xfrm>
              <a:off x="3275856" y="2348880"/>
              <a:ext cx="689474" cy="534987"/>
              <a:chOff x="3275856" y="2407756"/>
              <a:chExt cx="689474" cy="534987"/>
            </a:xfrm>
          </p:grpSpPr>
          <p:sp>
            <p:nvSpPr>
              <p:cNvPr id="118" name="矩形 117"/>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9"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13" name="组合 112"/>
            <p:cNvGrpSpPr/>
            <p:nvPr/>
          </p:nvGrpSpPr>
          <p:grpSpPr>
            <a:xfrm>
              <a:off x="3937844" y="2348880"/>
              <a:ext cx="4708525" cy="534987"/>
              <a:chOff x="3937844" y="2407756"/>
              <a:chExt cx="4708525" cy="534987"/>
            </a:xfrm>
          </p:grpSpPr>
          <p:sp>
            <p:nvSpPr>
              <p:cNvPr id="114"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15" name="矩形 114"/>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6" name="直接连接符 115"/>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7"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1993265" y="692785"/>
            <a:ext cx="7595870" cy="4437380"/>
          </a:xfrm>
          <a:prstGeom prst="rect">
            <a:avLst/>
          </a:prstGeom>
        </p:spPr>
      </p:pic>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27</a:t>
            </a:fld>
            <a:endParaRPr lang="zh-HK" altLang="en-US">
              <a:solidFill>
                <a:prstClr val="black">
                  <a:tint val="75000"/>
                </a:prstClr>
              </a:solidFill>
            </a:endParaRP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27</a:t>
            </a:fld>
            <a:endParaRPr lang="zh-HK" altLang="en-US" sz="1600" dirty="0">
              <a:solidFill>
                <a:schemeClr val="bg1"/>
              </a:solidFill>
            </a:endParaRPr>
          </a:p>
        </p:txBody>
      </p:sp>
      <p:pic>
        <p:nvPicPr>
          <p:cNvPr id="12" name="图片 11"/>
          <p:cNvPicPr>
            <a:picLocks noChangeAspect="1"/>
          </p:cNvPicPr>
          <p:nvPr/>
        </p:nvPicPr>
        <p:blipFill>
          <a:blip r:embed="rId4"/>
          <a:stretch>
            <a:fillRect/>
          </a:stretch>
        </p:blipFill>
        <p:spPr>
          <a:xfrm>
            <a:off x="1703705" y="5093970"/>
            <a:ext cx="8505825" cy="1452880"/>
          </a:xfrm>
          <a:prstGeom prst="rect">
            <a:avLst/>
          </a:prstGeom>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28</a:t>
            </a:fld>
            <a:endParaRPr lang="zh-HK" altLang="en-US">
              <a:solidFill>
                <a:prstClr val="black">
                  <a:tint val="75000"/>
                </a:prstClr>
              </a:solidFill>
            </a:endParaRP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28</a:t>
            </a:fld>
            <a:endParaRPr lang="zh-HK" altLang="en-US" sz="1600" dirty="0">
              <a:solidFill>
                <a:schemeClr val="bg1"/>
              </a:solidFill>
            </a:endParaRPr>
          </a:p>
        </p:txBody>
      </p:sp>
      <p:pic>
        <p:nvPicPr>
          <p:cNvPr id="2" name="图片 1"/>
          <p:cNvPicPr>
            <a:picLocks noChangeAspect="1"/>
          </p:cNvPicPr>
          <p:nvPr/>
        </p:nvPicPr>
        <p:blipFill>
          <a:blip r:embed="rId3"/>
          <a:stretch>
            <a:fillRect/>
          </a:stretch>
        </p:blipFill>
        <p:spPr>
          <a:xfrm>
            <a:off x="1416050" y="765175"/>
            <a:ext cx="9131300" cy="2025650"/>
          </a:xfrm>
          <a:prstGeom prst="rect">
            <a:avLst/>
          </a:prstGeom>
        </p:spPr>
      </p:pic>
      <p:pic>
        <p:nvPicPr>
          <p:cNvPr id="4" name="图片 3"/>
          <p:cNvPicPr>
            <a:picLocks noChangeAspect="1"/>
          </p:cNvPicPr>
          <p:nvPr/>
        </p:nvPicPr>
        <p:blipFill>
          <a:blip r:embed="rId4"/>
          <a:stretch>
            <a:fillRect/>
          </a:stretch>
        </p:blipFill>
        <p:spPr>
          <a:xfrm>
            <a:off x="1435100" y="2853055"/>
            <a:ext cx="9112250" cy="2057400"/>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29</a:t>
            </a:fld>
            <a:endParaRPr lang="zh-HK" altLang="en-US">
              <a:solidFill>
                <a:prstClr val="black">
                  <a:tint val="75000"/>
                </a:prstClr>
              </a:solidFill>
            </a:endParaRP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29</a:t>
            </a:fld>
            <a:endParaRPr lang="zh-HK" altLang="en-US" sz="1600" dirty="0">
              <a:solidFill>
                <a:schemeClr val="bg1"/>
              </a:solidFill>
            </a:endParaRPr>
          </a:p>
        </p:txBody>
      </p:sp>
      <p:pic>
        <p:nvPicPr>
          <p:cNvPr id="2" name="图片 1"/>
          <p:cNvPicPr>
            <a:picLocks noChangeAspect="1"/>
          </p:cNvPicPr>
          <p:nvPr/>
        </p:nvPicPr>
        <p:blipFill>
          <a:blip r:embed="rId3"/>
          <a:stretch>
            <a:fillRect/>
          </a:stretch>
        </p:blipFill>
        <p:spPr>
          <a:xfrm>
            <a:off x="2207895" y="765175"/>
            <a:ext cx="8133080" cy="5773420"/>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30</a:t>
            </a:fld>
            <a:endParaRPr lang="zh-HK" altLang="en-US">
              <a:solidFill>
                <a:prstClr val="black">
                  <a:tint val="75000"/>
                </a:prstClr>
              </a:solidFill>
            </a:endParaRP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30</a:t>
            </a:fld>
            <a:endParaRPr lang="zh-HK" altLang="en-US" sz="1600" dirty="0">
              <a:solidFill>
                <a:schemeClr val="bg1"/>
              </a:solidFill>
            </a:endParaRPr>
          </a:p>
        </p:txBody>
      </p:sp>
      <p:pic>
        <p:nvPicPr>
          <p:cNvPr id="6" name="图片 5"/>
          <p:cNvPicPr>
            <a:picLocks noChangeAspect="1"/>
          </p:cNvPicPr>
          <p:nvPr/>
        </p:nvPicPr>
        <p:blipFill>
          <a:blip r:embed="rId3"/>
          <a:stretch>
            <a:fillRect/>
          </a:stretch>
        </p:blipFill>
        <p:spPr>
          <a:xfrm>
            <a:off x="1487805" y="2204720"/>
            <a:ext cx="9150350" cy="2235200"/>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31</a:t>
            </a:fld>
            <a:endParaRPr lang="zh-HK" altLang="en-US">
              <a:solidFill>
                <a:prstClr val="black">
                  <a:tint val="75000"/>
                </a:prstClr>
              </a:solidFill>
            </a:endParaRP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31</a:t>
            </a:fld>
            <a:endParaRPr lang="zh-HK" altLang="en-US" sz="1600" dirty="0">
              <a:solidFill>
                <a:schemeClr val="bg1"/>
              </a:solidFill>
            </a:endParaRPr>
          </a:p>
        </p:txBody>
      </p:sp>
      <p:pic>
        <p:nvPicPr>
          <p:cNvPr id="2" name="图片 1"/>
          <p:cNvPicPr>
            <a:picLocks noChangeAspect="1"/>
          </p:cNvPicPr>
          <p:nvPr/>
        </p:nvPicPr>
        <p:blipFill>
          <a:blip r:embed="rId3"/>
          <a:stretch>
            <a:fillRect/>
          </a:stretch>
        </p:blipFill>
        <p:spPr>
          <a:xfrm>
            <a:off x="1416050" y="765175"/>
            <a:ext cx="9112250" cy="2101850"/>
          </a:xfrm>
          <a:prstGeom prst="rect">
            <a:avLst/>
          </a:prstGeom>
        </p:spPr>
      </p:pic>
      <p:pic>
        <p:nvPicPr>
          <p:cNvPr id="4" name="图片 3"/>
          <p:cNvPicPr>
            <a:picLocks noChangeAspect="1"/>
          </p:cNvPicPr>
          <p:nvPr/>
        </p:nvPicPr>
        <p:blipFill>
          <a:blip r:embed="rId4"/>
          <a:stretch>
            <a:fillRect/>
          </a:stretch>
        </p:blipFill>
        <p:spPr>
          <a:xfrm>
            <a:off x="1416050" y="2912110"/>
            <a:ext cx="9163050" cy="3429000"/>
          </a:xfrm>
          <a:prstGeom prst="rect">
            <a:avLst/>
          </a:prstGeom>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32</a:t>
            </a:fld>
            <a:endParaRPr lang="zh-HK" altLang="en-US">
              <a:solidFill>
                <a:prstClr val="black">
                  <a:tint val="75000"/>
                </a:prstClr>
              </a:solidFill>
            </a:endParaRP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32</a:t>
            </a:fld>
            <a:endParaRPr lang="zh-HK" altLang="en-US" sz="1600" dirty="0">
              <a:solidFill>
                <a:schemeClr val="bg1"/>
              </a:solidFill>
            </a:endParaRPr>
          </a:p>
        </p:txBody>
      </p:sp>
      <p:pic>
        <p:nvPicPr>
          <p:cNvPr id="3" name="图片 2"/>
          <p:cNvPicPr>
            <a:picLocks noChangeAspect="1"/>
          </p:cNvPicPr>
          <p:nvPr/>
        </p:nvPicPr>
        <p:blipFill>
          <a:blip r:embed="rId3"/>
          <a:stretch>
            <a:fillRect/>
          </a:stretch>
        </p:blipFill>
        <p:spPr>
          <a:xfrm>
            <a:off x="2545715" y="763270"/>
            <a:ext cx="7482205" cy="5730875"/>
          </a:xfrm>
          <a:prstGeom prst="rect">
            <a:avLst/>
          </a:prstGeo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33</a:t>
            </a:fld>
            <a:endParaRPr lang="zh-HK" altLang="en-US">
              <a:solidFill>
                <a:prstClr val="black">
                  <a:tint val="75000"/>
                </a:prstClr>
              </a:solidFill>
            </a:endParaRP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33</a:t>
            </a:fld>
            <a:endParaRPr lang="zh-HK" altLang="en-US" sz="1600" dirty="0">
              <a:solidFill>
                <a:schemeClr val="bg1"/>
              </a:solidFill>
            </a:endParaRPr>
          </a:p>
        </p:txBody>
      </p:sp>
      <p:pic>
        <p:nvPicPr>
          <p:cNvPr id="2" name="图片 1"/>
          <p:cNvPicPr>
            <a:picLocks noChangeAspect="1"/>
          </p:cNvPicPr>
          <p:nvPr/>
        </p:nvPicPr>
        <p:blipFill>
          <a:blip r:embed="rId3"/>
          <a:stretch>
            <a:fillRect/>
          </a:stretch>
        </p:blipFill>
        <p:spPr>
          <a:xfrm>
            <a:off x="1631950" y="765175"/>
            <a:ext cx="8883650" cy="1301750"/>
          </a:xfrm>
          <a:prstGeom prst="rect">
            <a:avLst/>
          </a:prstGeom>
        </p:spPr>
      </p:pic>
      <p:pic>
        <p:nvPicPr>
          <p:cNvPr id="3" name="图片 2"/>
          <p:cNvPicPr>
            <a:picLocks noChangeAspect="1"/>
          </p:cNvPicPr>
          <p:nvPr/>
        </p:nvPicPr>
        <p:blipFill>
          <a:blip r:embed="rId4"/>
          <a:stretch>
            <a:fillRect/>
          </a:stretch>
        </p:blipFill>
        <p:spPr>
          <a:xfrm>
            <a:off x="1631950" y="2061210"/>
            <a:ext cx="8864600" cy="4368800"/>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 y="6553200"/>
            <a:ext cx="12192001" cy="304800"/>
            <a:chOff x="0" y="6569404"/>
            <a:chExt cx="9144000" cy="288000"/>
          </a:xfrm>
        </p:grpSpPr>
        <p:sp>
          <p:nvSpPr>
            <p:cNvPr id="7"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8"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34</a:t>
            </a:fld>
            <a:endParaRPr lang="zh-HK" altLang="en-US" sz="1600" dirty="0">
              <a:solidFill>
                <a:schemeClr val="bg1"/>
              </a:solidFill>
            </a:endParaRPr>
          </a:p>
        </p:txBody>
      </p:sp>
      <p:pic>
        <p:nvPicPr>
          <p:cNvPr id="21" name="图片 20"/>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p:cNvGrpSpPr/>
          <p:nvPr/>
        </p:nvGrpSpPr>
        <p:grpSpPr bwMode="auto">
          <a:xfrm>
            <a:off x="2409457" y="2650330"/>
            <a:ext cx="1505450" cy="1479472"/>
            <a:chOff x="1709739" y="2636838"/>
            <a:chExt cx="1590160" cy="1584325"/>
          </a:xfrm>
          <a:solidFill>
            <a:srgbClr val="044875"/>
          </a:solidFill>
        </p:grpSpPr>
        <p:sp>
          <p:nvSpPr>
            <p:cNvPr id="56"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9"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0"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1" name="文本框 7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2" name="组合 71"/>
          <p:cNvGrpSpPr/>
          <p:nvPr>
            <p:custDataLst>
              <p:tags r:id="rId1"/>
            </p:custDataLst>
          </p:nvPr>
        </p:nvGrpSpPr>
        <p:grpSpPr>
          <a:xfrm>
            <a:off x="4523741" y="2047924"/>
            <a:ext cx="5370513" cy="534987"/>
            <a:chOff x="3281952" y="1484784"/>
            <a:chExt cx="5370513" cy="534987"/>
          </a:xfrm>
        </p:grpSpPr>
        <p:grpSp>
          <p:nvGrpSpPr>
            <p:cNvPr id="73" name="组合 72"/>
            <p:cNvGrpSpPr/>
            <p:nvPr/>
          </p:nvGrpSpPr>
          <p:grpSpPr>
            <a:xfrm>
              <a:off x="3943940" y="1484784"/>
              <a:ext cx="4708525" cy="534987"/>
              <a:chOff x="3943940" y="1626760"/>
              <a:chExt cx="4708525" cy="534987"/>
            </a:xfrm>
          </p:grpSpPr>
          <p:sp>
            <p:nvSpPr>
              <p:cNvPr id="77"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78"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79" name="矩形 78"/>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0" name="直接连接符 79"/>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4" name="组合 73"/>
            <p:cNvGrpSpPr/>
            <p:nvPr/>
          </p:nvGrpSpPr>
          <p:grpSpPr>
            <a:xfrm>
              <a:off x="3281952" y="1484784"/>
              <a:ext cx="689642" cy="534987"/>
              <a:chOff x="3281952" y="1626760"/>
              <a:chExt cx="689642" cy="534987"/>
            </a:xfrm>
          </p:grpSpPr>
          <p:sp>
            <p:nvSpPr>
              <p:cNvPr id="75" name="矩形 74"/>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6"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1" name="组合 80"/>
          <p:cNvGrpSpPr/>
          <p:nvPr>
            <p:custDataLst>
              <p:tags r:id="rId2"/>
            </p:custDataLst>
          </p:nvPr>
        </p:nvGrpSpPr>
        <p:grpSpPr>
          <a:xfrm>
            <a:off x="4503593" y="3688642"/>
            <a:ext cx="5372100" cy="534987"/>
            <a:chOff x="3261805" y="3188752"/>
            <a:chExt cx="5372100" cy="534987"/>
          </a:xfrm>
        </p:grpSpPr>
        <p:grpSp>
          <p:nvGrpSpPr>
            <p:cNvPr id="82" name="组合 81"/>
            <p:cNvGrpSpPr/>
            <p:nvPr/>
          </p:nvGrpSpPr>
          <p:grpSpPr>
            <a:xfrm>
              <a:off x="3261805" y="3188752"/>
              <a:ext cx="689593" cy="534987"/>
              <a:chOff x="3261805" y="3188752"/>
              <a:chExt cx="689593" cy="534987"/>
            </a:xfrm>
          </p:grpSpPr>
          <p:sp>
            <p:nvSpPr>
              <p:cNvPr id="91" name="矩形 9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5"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83" name="组合 82"/>
            <p:cNvGrpSpPr/>
            <p:nvPr/>
          </p:nvGrpSpPr>
          <p:grpSpPr>
            <a:xfrm>
              <a:off x="3923792" y="3188752"/>
              <a:ext cx="4710113" cy="534987"/>
              <a:chOff x="3923792" y="3188752"/>
              <a:chExt cx="4710113" cy="534987"/>
            </a:xfrm>
          </p:grpSpPr>
          <p:sp>
            <p:nvSpPr>
              <p:cNvPr id="84"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85" name="矩形 84"/>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srgbClr val="044875"/>
                  </a:solidFill>
                </a:endParaRPr>
              </a:p>
            </p:txBody>
          </p:sp>
        </p:grpSp>
      </p:grpSp>
      <p:grpSp>
        <p:nvGrpSpPr>
          <p:cNvPr id="99" name="组合 98"/>
          <p:cNvGrpSpPr/>
          <p:nvPr>
            <p:custDataLst>
              <p:tags r:id="rId3"/>
            </p:custDataLst>
          </p:nvPr>
        </p:nvGrpSpPr>
        <p:grpSpPr>
          <a:xfrm>
            <a:off x="4503593" y="4509001"/>
            <a:ext cx="5372100" cy="534987"/>
            <a:chOff x="3261805" y="4046141"/>
            <a:chExt cx="5372100" cy="534987"/>
          </a:xfrm>
        </p:grpSpPr>
        <p:grpSp>
          <p:nvGrpSpPr>
            <p:cNvPr id="100" name="组合 99"/>
            <p:cNvGrpSpPr/>
            <p:nvPr/>
          </p:nvGrpSpPr>
          <p:grpSpPr>
            <a:xfrm>
              <a:off x="3261805" y="4046141"/>
              <a:ext cx="689447" cy="534987"/>
              <a:chOff x="3261805" y="3969748"/>
              <a:chExt cx="689447" cy="534987"/>
            </a:xfrm>
          </p:grpSpPr>
          <p:sp>
            <p:nvSpPr>
              <p:cNvPr id="106" name="矩形 105"/>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7"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1" name="组合 100"/>
            <p:cNvGrpSpPr/>
            <p:nvPr/>
          </p:nvGrpSpPr>
          <p:grpSpPr>
            <a:xfrm>
              <a:off x="3923792" y="4046141"/>
              <a:ext cx="4710113" cy="534987"/>
              <a:chOff x="3923792" y="3969748"/>
              <a:chExt cx="4710113" cy="534987"/>
            </a:xfrm>
          </p:grpSpPr>
          <p:sp>
            <p:nvSpPr>
              <p:cNvPr id="102"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3" name="矩形 102"/>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4" name="直接连接符 103"/>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5"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8" name="组合 107"/>
          <p:cNvGrpSpPr/>
          <p:nvPr>
            <p:custDataLst>
              <p:tags r:id="rId4"/>
            </p:custDataLst>
          </p:nvPr>
        </p:nvGrpSpPr>
        <p:grpSpPr>
          <a:xfrm>
            <a:off x="4517645" y="2868283"/>
            <a:ext cx="5370513" cy="534987"/>
            <a:chOff x="3275856" y="2348880"/>
            <a:chExt cx="5370513" cy="534987"/>
          </a:xfrm>
        </p:grpSpPr>
        <p:grpSp>
          <p:nvGrpSpPr>
            <p:cNvPr id="109" name="组合 108"/>
            <p:cNvGrpSpPr/>
            <p:nvPr/>
          </p:nvGrpSpPr>
          <p:grpSpPr>
            <a:xfrm>
              <a:off x="3275856" y="2348880"/>
              <a:ext cx="689474" cy="534987"/>
              <a:chOff x="3275856" y="2407756"/>
              <a:chExt cx="689474" cy="534987"/>
            </a:xfrm>
          </p:grpSpPr>
          <p:sp>
            <p:nvSpPr>
              <p:cNvPr id="115" name="矩形 114"/>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0" name="组合 109"/>
            <p:cNvGrpSpPr/>
            <p:nvPr/>
          </p:nvGrpSpPr>
          <p:grpSpPr>
            <a:xfrm>
              <a:off x="3937844" y="2348880"/>
              <a:ext cx="4708525" cy="534987"/>
              <a:chOff x="3937844" y="2407756"/>
              <a:chExt cx="4708525" cy="534987"/>
            </a:xfrm>
          </p:grpSpPr>
          <p:sp>
            <p:nvSpPr>
              <p:cNvPr id="111"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12" name="矩形 111"/>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2" name="文本框 71"/>
          <p:cNvSpPr txBox="1"/>
          <p:nvPr>
            <p:custDataLst>
              <p:tags r:id="rId2"/>
            </p:custDataLst>
          </p:nvPr>
        </p:nvSpPr>
        <p:spPr>
          <a:xfrm>
            <a:off x="0" y="66874"/>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p:cNvGrpSpPr/>
          <p:nvPr/>
        </p:nvGrpSpPr>
        <p:grpSpPr>
          <a:xfrm>
            <a:off x="-1" y="6553200"/>
            <a:ext cx="12192001" cy="304800"/>
            <a:chOff x="0" y="6569404"/>
            <a:chExt cx="9144000" cy="288000"/>
          </a:xfrm>
        </p:grpSpPr>
        <p:sp>
          <p:nvSpPr>
            <p:cNvPr id="31" name="矩形 30"/>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2" name="矩形 3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PMingLiU" panose="02020500000000000000" pitchFamily="18" charset="-120"/>
                <a:cs typeface="+mn-cs"/>
              </a:rPr>
              <a:t>35</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PMingLiU" panose="02020500000000000000" pitchFamily="18" charset="-120"/>
              <a:cs typeface="+mn-cs"/>
            </a:endParaRPr>
          </a:p>
        </p:txBody>
      </p:sp>
      <p:pic>
        <p:nvPicPr>
          <p:cNvPr id="2" name="图片 1"/>
          <p:cNvPicPr>
            <a:picLocks noChangeAspect="1"/>
          </p:cNvPicPr>
          <p:nvPr/>
        </p:nvPicPr>
        <p:blipFill>
          <a:blip r:embed="rId5"/>
          <a:stretch>
            <a:fillRect/>
          </a:stretch>
        </p:blipFill>
        <p:spPr>
          <a:xfrm>
            <a:off x="1631950" y="981075"/>
            <a:ext cx="8826500" cy="4000500"/>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5"/>
          <a:stretch>
            <a:fillRect/>
          </a:stretch>
        </p:blipFill>
        <p:spPr>
          <a:xfrm>
            <a:off x="5326380" y="3993515"/>
            <a:ext cx="6865620" cy="2426970"/>
          </a:xfrm>
          <a:prstGeom prst="rect">
            <a:avLst/>
          </a:prstGeom>
        </p:spPr>
      </p:pic>
      <p:pic>
        <p:nvPicPr>
          <p:cNvPr id="4" name="图片 3"/>
          <p:cNvPicPr>
            <a:picLocks noChangeAspect="1"/>
          </p:cNvPicPr>
          <p:nvPr/>
        </p:nvPicPr>
        <p:blipFill>
          <a:blip r:embed="rId6"/>
          <a:stretch>
            <a:fillRect/>
          </a:stretch>
        </p:blipFill>
        <p:spPr>
          <a:xfrm>
            <a:off x="47625" y="549275"/>
            <a:ext cx="8165465" cy="3517265"/>
          </a:xfrm>
          <a:prstGeom prst="rect">
            <a:avLst/>
          </a:prstGeom>
        </p:spPr>
      </p:pic>
      <p:sp>
        <p:nvSpPr>
          <p:cNvPr id="19" name="矩形 18"/>
          <p:cNvSpPr/>
          <p:nvPr>
            <p:custDataLst>
              <p:tags r:id="rId1"/>
            </p:custDataLst>
          </p:nvPr>
        </p:nvSpPr>
        <p:spPr>
          <a:xfrm>
            <a:off x="0" y="1"/>
            <a:ext cx="12192000" cy="54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2" name="文本框 71"/>
          <p:cNvSpPr txBox="1"/>
          <p:nvPr>
            <p:custDataLst>
              <p:tags r:id="rId2"/>
            </p:custDataLst>
          </p:nvPr>
        </p:nvSpPr>
        <p:spPr>
          <a:xfrm>
            <a:off x="0" y="-34565"/>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p:cNvGrpSpPr/>
          <p:nvPr/>
        </p:nvGrpSpPr>
        <p:grpSpPr>
          <a:xfrm>
            <a:off x="-1" y="6553200"/>
            <a:ext cx="12192001" cy="304800"/>
            <a:chOff x="0" y="6569404"/>
            <a:chExt cx="9144000" cy="288000"/>
          </a:xfrm>
        </p:grpSpPr>
        <p:sp>
          <p:nvSpPr>
            <p:cNvPr id="31" name="矩形 30"/>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2" name="矩形 3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PMingLiU" panose="02020500000000000000" pitchFamily="18" charset="-120"/>
                <a:cs typeface="+mn-cs"/>
              </a:rPr>
              <a:t>36</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PMingLiU" panose="02020500000000000000" pitchFamily="18" charset="-120"/>
              <a:cs typeface="+mn-cs"/>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66"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37</a:t>
            </a:fld>
            <a:endParaRPr lang="zh-HK" altLang="en-US">
              <a:solidFill>
                <a:prstClr val="black">
                  <a:tint val="75000"/>
                </a:prstClr>
              </a:solidFill>
            </a:endParaRPr>
          </a:p>
        </p:txBody>
      </p:sp>
      <p:grpSp>
        <p:nvGrpSpPr>
          <p:cNvPr id="8" name="组合 7"/>
          <p:cNvGrpSpPr/>
          <p:nvPr/>
        </p:nvGrpSpPr>
        <p:grpSpPr>
          <a:xfrm>
            <a:off x="-1" y="6553200"/>
            <a:ext cx="12192001" cy="304800"/>
            <a:chOff x="0" y="6569404"/>
            <a:chExt cx="9144000" cy="288000"/>
          </a:xfrm>
        </p:grpSpPr>
        <p:sp>
          <p:nvSpPr>
            <p:cNvPr id="9"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37</a:t>
            </a:fld>
            <a:endParaRPr lang="zh-HK" altLang="en-US" sz="1600" dirty="0">
              <a:solidFill>
                <a:schemeClr val="bg1"/>
              </a:solidFill>
            </a:endParaRPr>
          </a:p>
        </p:txBody>
      </p:sp>
      <p:pic>
        <p:nvPicPr>
          <p:cNvPr id="24" name="图片 23"/>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67" name="组合 18"/>
          <p:cNvGrpSpPr/>
          <p:nvPr/>
        </p:nvGrpSpPr>
        <p:grpSpPr bwMode="auto">
          <a:xfrm>
            <a:off x="2409457" y="2650330"/>
            <a:ext cx="1505450" cy="1479472"/>
            <a:chOff x="1709739" y="2636838"/>
            <a:chExt cx="1590160" cy="1584325"/>
          </a:xfrm>
          <a:solidFill>
            <a:srgbClr val="044875"/>
          </a:solidFill>
        </p:grpSpPr>
        <p:sp>
          <p:nvSpPr>
            <p:cNvPr id="68"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3"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4"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5"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6"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7" name="文本框 76"/>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8" name="组合 77"/>
          <p:cNvGrpSpPr/>
          <p:nvPr>
            <p:custDataLst>
              <p:tags r:id="rId1"/>
            </p:custDataLst>
          </p:nvPr>
        </p:nvGrpSpPr>
        <p:grpSpPr>
          <a:xfrm>
            <a:off x="4523741" y="2047924"/>
            <a:ext cx="5370513" cy="534987"/>
            <a:chOff x="3281952" y="1484784"/>
            <a:chExt cx="5370513" cy="534987"/>
          </a:xfrm>
        </p:grpSpPr>
        <p:grpSp>
          <p:nvGrpSpPr>
            <p:cNvPr id="79" name="组合 78"/>
            <p:cNvGrpSpPr/>
            <p:nvPr/>
          </p:nvGrpSpPr>
          <p:grpSpPr>
            <a:xfrm>
              <a:off x="3943940" y="1484784"/>
              <a:ext cx="4708525" cy="534987"/>
              <a:chOff x="3943940" y="1626760"/>
              <a:chExt cx="4708525" cy="534987"/>
            </a:xfrm>
          </p:grpSpPr>
          <p:sp>
            <p:nvSpPr>
              <p:cNvPr id="83"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4"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5" name="矩形 84"/>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80" name="组合 79"/>
            <p:cNvGrpSpPr/>
            <p:nvPr/>
          </p:nvGrpSpPr>
          <p:grpSpPr>
            <a:xfrm>
              <a:off x="3281952" y="1484784"/>
              <a:ext cx="689642" cy="534987"/>
              <a:chOff x="3281952" y="1626760"/>
              <a:chExt cx="689642" cy="534987"/>
            </a:xfrm>
          </p:grpSpPr>
          <p:sp>
            <p:nvSpPr>
              <p:cNvPr id="81" name="矩形 80"/>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2"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8" name="组合 87"/>
          <p:cNvGrpSpPr/>
          <p:nvPr>
            <p:custDataLst>
              <p:tags r:id="rId2"/>
            </p:custDataLst>
          </p:nvPr>
        </p:nvGrpSpPr>
        <p:grpSpPr>
          <a:xfrm>
            <a:off x="4503593" y="3688642"/>
            <a:ext cx="5372100" cy="534987"/>
            <a:chOff x="3261805" y="3188752"/>
            <a:chExt cx="5372100" cy="534987"/>
          </a:xfrm>
        </p:grpSpPr>
        <p:grpSp>
          <p:nvGrpSpPr>
            <p:cNvPr id="91" name="组合 90"/>
            <p:cNvGrpSpPr/>
            <p:nvPr/>
          </p:nvGrpSpPr>
          <p:grpSpPr>
            <a:xfrm>
              <a:off x="3261805" y="3188752"/>
              <a:ext cx="689593" cy="534987"/>
              <a:chOff x="3261805" y="3188752"/>
              <a:chExt cx="689593" cy="534987"/>
            </a:xfrm>
          </p:grpSpPr>
          <p:sp>
            <p:nvSpPr>
              <p:cNvPr id="103" name="矩形 10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4"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95" name="组合 94"/>
            <p:cNvGrpSpPr/>
            <p:nvPr/>
          </p:nvGrpSpPr>
          <p:grpSpPr>
            <a:xfrm>
              <a:off x="3923792" y="3188752"/>
              <a:ext cx="4710113" cy="534987"/>
              <a:chOff x="3923792" y="3188752"/>
              <a:chExt cx="4710113" cy="534987"/>
            </a:xfrm>
          </p:grpSpPr>
          <p:sp>
            <p:nvSpPr>
              <p:cNvPr id="99"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0" name="矩形 9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1" name="直接连接符 10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2"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5" name="组合 104"/>
          <p:cNvGrpSpPr/>
          <p:nvPr>
            <p:custDataLst>
              <p:tags r:id="rId3"/>
            </p:custDataLst>
          </p:nvPr>
        </p:nvGrpSpPr>
        <p:grpSpPr>
          <a:xfrm>
            <a:off x="4503593" y="4509001"/>
            <a:ext cx="5372100" cy="534987"/>
            <a:chOff x="3261805" y="4046141"/>
            <a:chExt cx="5372100" cy="534987"/>
          </a:xfrm>
        </p:grpSpPr>
        <p:grpSp>
          <p:nvGrpSpPr>
            <p:cNvPr id="106" name="组合 105"/>
            <p:cNvGrpSpPr/>
            <p:nvPr/>
          </p:nvGrpSpPr>
          <p:grpSpPr>
            <a:xfrm>
              <a:off x="3261805" y="4046141"/>
              <a:ext cx="689447" cy="534987"/>
              <a:chOff x="3261805" y="3969748"/>
              <a:chExt cx="689447" cy="534987"/>
            </a:xfrm>
          </p:grpSpPr>
          <p:sp>
            <p:nvSpPr>
              <p:cNvPr id="115" name="矩形 114"/>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107" name="组合 106"/>
            <p:cNvGrpSpPr/>
            <p:nvPr/>
          </p:nvGrpSpPr>
          <p:grpSpPr>
            <a:xfrm>
              <a:off x="3923792" y="4046141"/>
              <a:ext cx="4710113" cy="534987"/>
              <a:chOff x="3923792" y="3969748"/>
              <a:chExt cx="4710113" cy="534987"/>
            </a:xfrm>
          </p:grpSpPr>
          <p:sp>
            <p:nvSpPr>
              <p:cNvPr id="108"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12" name="矩形 111"/>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117" name="组合 116"/>
          <p:cNvGrpSpPr/>
          <p:nvPr>
            <p:custDataLst>
              <p:tags r:id="rId4"/>
            </p:custDataLst>
          </p:nvPr>
        </p:nvGrpSpPr>
        <p:grpSpPr>
          <a:xfrm>
            <a:off x="4517645" y="2868283"/>
            <a:ext cx="5370513" cy="534987"/>
            <a:chOff x="3275856" y="2348880"/>
            <a:chExt cx="5370513" cy="534987"/>
          </a:xfrm>
        </p:grpSpPr>
        <p:grpSp>
          <p:nvGrpSpPr>
            <p:cNvPr id="118" name="组合 117"/>
            <p:cNvGrpSpPr/>
            <p:nvPr/>
          </p:nvGrpSpPr>
          <p:grpSpPr>
            <a:xfrm>
              <a:off x="3275856" y="2348880"/>
              <a:ext cx="689474" cy="534987"/>
              <a:chOff x="3275856" y="2407756"/>
              <a:chExt cx="689474" cy="534987"/>
            </a:xfrm>
          </p:grpSpPr>
          <p:sp>
            <p:nvSpPr>
              <p:cNvPr id="124" name="矩形 123"/>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5"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9" name="组合 118"/>
            <p:cNvGrpSpPr/>
            <p:nvPr/>
          </p:nvGrpSpPr>
          <p:grpSpPr>
            <a:xfrm>
              <a:off x="3937844" y="2348880"/>
              <a:ext cx="4708525" cy="534987"/>
              <a:chOff x="3937844" y="2407756"/>
              <a:chExt cx="4708525" cy="534987"/>
            </a:xfrm>
          </p:grpSpPr>
          <p:sp>
            <p:nvSpPr>
              <p:cNvPr id="120"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21" name="矩形 120"/>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22" name="直接连接符 121"/>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3"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8687" y="72603"/>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2" name="矩形 1"/>
          <p:cNvSpPr/>
          <p:nvPr/>
        </p:nvSpPr>
        <p:spPr>
          <a:xfrm>
            <a:off x="264000" y="1125001"/>
            <a:ext cx="11736000" cy="4104000"/>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3" name="矩形 2"/>
          <p:cNvSpPr/>
          <p:nvPr/>
        </p:nvSpPr>
        <p:spPr>
          <a:xfrm>
            <a:off x="696000" y="946792"/>
            <a:ext cx="1864789" cy="51611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Contributions</a:t>
            </a:r>
          </a:p>
        </p:txBody>
      </p:sp>
      <p:grpSp>
        <p:nvGrpSpPr>
          <p:cNvPr id="20" name="组合 19"/>
          <p:cNvGrpSpPr/>
          <p:nvPr/>
        </p:nvGrpSpPr>
        <p:grpSpPr>
          <a:xfrm>
            <a:off x="-1" y="6553200"/>
            <a:ext cx="12192001" cy="304800"/>
            <a:chOff x="0" y="6569404"/>
            <a:chExt cx="9144000" cy="288000"/>
          </a:xfrm>
        </p:grpSpPr>
        <p:sp>
          <p:nvSpPr>
            <p:cNvPr id="21"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2"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38</a:t>
            </a:fld>
            <a:endParaRPr lang="zh-HK" altLang="en-US" sz="1600" dirty="0">
              <a:solidFill>
                <a:schemeClr val="bg1"/>
              </a:solidFill>
            </a:endParaRPr>
          </a:p>
        </p:txBody>
      </p:sp>
      <p:sp>
        <p:nvSpPr>
          <p:cNvPr id="5" name="文本框 4"/>
          <p:cNvSpPr txBox="1"/>
          <p:nvPr/>
        </p:nvSpPr>
        <p:spPr>
          <a:xfrm>
            <a:off x="357725" y="1729252"/>
            <a:ext cx="11448000" cy="2861310"/>
          </a:xfrm>
          <a:prstGeom prst="rect">
            <a:avLst/>
          </a:prstGeom>
          <a:noFill/>
        </p:spPr>
        <p:txBody>
          <a:bodyPr wrap="square">
            <a:spAutoFit/>
          </a:bodyPr>
          <a:lstStyle/>
          <a:p>
            <a:pPr algn="just">
              <a:lnSpc>
                <a:spcPct val="150000"/>
              </a:lnSpc>
            </a:pPr>
            <a:r>
              <a:rPr lang="en-US" altLang="zh-CN" sz="2000">
                <a:latin typeface="Arial" panose="020B0604020202020204" pitchFamily="34" charset="0"/>
                <a:ea typeface="微软雅黑" panose="020B0503020204020204" charset="-122"/>
                <a:cs typeface="Arial" panose="020B0604020202020204" pitchFamily="34" charset="0"/>
              </a:rPr>
              <a:t>This paper tackles the challenge of capturing periodic structures and cross-variable dependencies</a:t>
            </a:r>
          </a:p>
          <a:p>
            <a:pPr algn="just">
              <a:lnSpc>
                <a:spcPct val="150000"/>
              </a:lnSpc>
            </a:pPr>
            <a:r>
              <a:rPr lang="en-US" altLang="zh-CN" sz="2000">
                <a:latin typeface="Arial" panose="020B0604020202020204" pitchFamily="34" charset="0"/>
                <a:ea typeface="微软雅黑" panose="020B0503020204020204" charset="-122"/>
                <a:cs typeface="Arial" panose="020B0604020202020204" pitchFamily="34" charset="0"/>
              </a:rPr>
              <a:t>in multivariate time-series forecasting. We propose PQ-Net, a quantum framework built on Data_x0002_Reuploading Quantum Circuits (DRQC), which encode periodicity and model variable interactions via quantum entanglement. We theoretically show that DRQC correspond to truncated Fourier expansions, offering a principled and interpretable basis for phase-consistent frequency modeling.</a:t>
            </a:r>
            <a:endParaRPr lang="zh-CN" altLang="en-US" sz="2000">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2374" y="1960245"/>
            <a:ext cx="12239891" cy="2045019"/>
            <a:chOff x="1522095" y="1960245"/>
            <a:chExt cx="9147810" cy="2045019"/>
          </a:xfrm>
        </p:grpSpPr>
        <p:sp>
          <p:nvSpPr>
            <p:cNvPr id="8"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9" name="文本框 8"/>
            <p:cNvSpPr txBox="1"/>
            <p:nvPr/>
          </p:nvSpPr>
          <p:spPr>
            <a:xfrm>
              <a:off x="1818014" y="2115640"/>
              <a:ext cx="8555970" cy="1383665"/>
            </a:xfrm>
            <a:prstGeom prst="rect">
              <a:avLst/>
            </a:prstGeom>
            <a:noFill/>
          </p:spPr>
          <p:txBody>
            <a:bodyPr wrap="square" rtlCol="0" anchor="ctr">
              <a:spAutoFit/>
            </a:bodyPr>
            <a:lstStyle/>
            <a:p>
              <a:pPr algn="ctr">
                <a:lnSpc>
                  <a:spcPct val="150000"/>
                </a:lnSpc>
              </a:pPr>
              <a:r>
                <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rPr>
                <a:t>Quantum-enhanced dual-layer graph attention network for time-series forecasting</a:t>
              </a:r>
            </a:p>
          </p:txBody>
        </p:sp>
      </p:grpSp>
      <p:sp>
        <p:nvSpPr>
          <p:cNvPr id="2"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3</a:t>
            </a:r>
            <a:endParaRPr lang="zh-HK" altLang="en-US"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6" name="组合 15"/>
          <p:cNvGrpSpPr/>
          <p:nvPr/>
        </p:nvGrpSpPr>
        <p:grpSpPr>
          <a:xfrm>
            <a:off x="-1" y="6553200"/>
            <a:ext cx="12192001" cy="304800"/>
            <a:chOff x="0" y="6569404"/>
            <a:chExt cx="9144000" cy="288000"/>
          </a:xfrm>
        </p:grpSpPr>
        <p:sp>
          <p:nvSpPr>
            <p:cNvPr id="17"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39</a:t>
            </a:fld>
            <a:endParaRPr lang="zh-HK" altLang="en-US" sz="1600" dirty="0">
              <a:solidFill>
                <a:schemeClr val="bg1"/>
              </a:solidFill>
            </a:endParaRPr>
          </a:p>
        </p:txBody>
      </p:sp>
      <p:grpSp>
        <p:nvGrpSpPr>
          <p:cNvPr id="10" name="组合 9"/>
          <p:cNvGrpSpPr/>
          <p:nvPr/>
        </p:nvGrpSpPr>
        <p:grpSpPr>
          <a:xfrm>
            <a:off x="351876" y="4596014"/>
            <a:ext cx="11648124" cy="1117600"/>
            <a:chOff x="623" y="7327"/>
            <a:chExt cx="15962" cy="1760"/>
          </a:xfrm>
        </p:grpSpPr>
        <p:sp>
          <p:nvSpPr>
            <p:cNvPr id="12" name="文本框 11"/>
            <p:cNvSpPr txBox="1"/>
            <p:nvPr/>
          </p:nvSpPr>
          <p:spPr>
            <a:xfrm>
              <a:off x="623" y="7327"/>
              <a:ext cx="15962" cy="580"/>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in: </a:t>
              </a:r>
              <a:r>
                <a:rPr lang="en-US" altLang="zh-CN">
                  <a:latin typeface="Arial" panose="020B0604020202020204" pitchFamily="34" charset="0"/>
                  <a:cs typeface="Arial" panose="020B0604020202020204" pitchFamily="34" charset="0"/>
                </a:rPr>
                <a:t>Scientific Reports</a:t>
              </a:r>
              <a:endParaRPr lang="en-US" altLang="zh-CN" dirty="0">
                <a:latin typeface="Arial" panose="020B0604020202020204" pitchFamily="34" charset="0"/>
                <a:cs typeface="Arial" panose="020B0604020202020204" pitchFamily="34" charset="0"/>
              </a:endParaRPr>
            </a:p>
          </p:txBody>
        </p:sp>
        <p:sp>
          <p:nvSpPr>
            <p:cNvPr id="14" name="文本框 13"/>
            <p:cNvSpPr txBox="1"/>
            <p:nvPr/>
          </p:nvSpPr>
          <p:spPr>
            <a:xfrm>
              <a:off x="623" y="8507"/>
              <a:ext cx="9184" cy="58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Published Time</a:t>
              </a:r>
              <a:r>
                <a:rPr lang="en-US" altLang="zh-CN" b="1">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 </a:t>
              </a:r>
              <a:r>
                <a:rPr lang="en-US" altLang="zh-CN">
                  <a:latin typeface="Times New Roman" panose="02020603050405020304" pitchFamily="18" charset="0"/>
                  <a:cs typeface="Times New Roman" panose="02020603050405020304" pitchFamily="18" charset="0"/>
                </a:rPr>
                <a:t>2025</a:t>
              </a:r>
              <a:endParaRPr lang="en-US" altLang="zh-CN" dirty="0">
                <a:latin typeface="Times New Roman" panose="02020603050405020304" pitchFamily="18" charset="0"/>
                <a:cs typeface="Times New Roman" panose="02020603050405020304" pitchFamily="18" charset="0"/>
              </a:endParaRPr>
            </a:p>
          </p:txBody>
        </p:sp>
      </p:grpSp>
      <p:pic>
        <p:nvPicPr>
          <p:cNvPr id="15" name="图片 14"/>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
        <p:nvSpPr>
          <p:cNvPr id="3" name="文本框 2"/>
          <p:cNvSpPr txBox="1"/>
          <p:nvPr/>
        </p:nvSpPr>
        <p:spPr>
          <a:xfrm>
            <a:off x="280035" y="3644900"/>
            <a:ext cx="7695565" cy="337185"/>
          </a:xfrm>
          <a:prstGeom prst="rect">
            <a:avLst/>
          </a:prstGeom>
        </p:spPr>
        <p:txBody>
          <a:bodyPr wrap="square">
            <a:spAutoFit/>
          </a:bodyPr>
          <a:lstStyle/>
          <a:p>
            <a:r>
              <a:rPr lang="en-US" altLang="zh-CN" sz="1600" b="1">
                <a:solidFill>
                  <a:schemeClr val="bg1"/>
                </a:solidFill>
                <a:latin typeface="Times New Roman" panose="02020603050405020304" pitchFamily="18" charset="0"/>
                <a:ea typeface="Corbel-Bold"/>
                <a:cs typeface="Times New Roman" panose="02020603050405020304" pitchFamily="18" charset="0"/>
              </a:rPr>
              <a:t>YongliTang, Zhongqi Cai</a:t>
            </a:r>
            <a:r>
              <a:rPr lang="en-US" altLang="zh-CN" sz="1600" b="1">
                <a:solidFill>
                  <a:schemeClr val="bg1"/>
                </a:solidFill>
                <a:latin typeface="Times New Roman" panose="02020603050405020304" pitchFamily="18" charset="0"/>
                <a:ea typeface="Corbel" panose="020B0503020204020204"/>
                <a:cs typeface="Times New Roman" panose="02020603050405020304" pitchFamily="18" charset="0"/>
              </a:rPr>
              <a:t>1</a:t>
            </a:r>
            <a:r>
              <a:rPr lang="en-US" altLang="zh-CN" sz="1600" b="1">
                <a:solidFill>
                  <a:schemeClr val="bg1"/>
                </a:solidFill>
                <a:latin typeface="Times New Roman" panose="02020603050405020304" pitchFamily="18" charset="0"/>
                <a:ea typeface="Corbel-Bold"/>
                <a:cs typeface="Times New Roman" panose="02020603050405020304" pitchFamily="18" charset="0"/>
              </a:rPr>
              <a:t>, Yue Zhang, ZhenlunGao, and JinxiaYu</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18"/>
          <p:cNvGrpSpPr/>
          <p:nvPr/>
        </p:nvGrpSpPr>
        <p:grpSpPr bwMode="auto">
          <a:xfrm>
            <a:off x="2409457" y="2650330"/>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9" name="组合 18"/>
          <p:cNvGrpSpPr/>
          <p:nvPr>
            <p:custDataLst>
              <p:tags r:id="rId1"/>
            </p:custDataLst>
          </p:nvPr>
        </p:nvGrpSpPr>
        <p:grpSpPr>
          <a:xfrm>
            <a:off x="4523741" y="2047924"/>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2" name="组合 21"/>
          <p:cNvGrpSpPr/>
          <p:nvPr>
            <p:custDataLst>
              <p:tags r:id="rId2"/>
            </p:custDataLst>
          </p:nvPr>
        </p:nvGrpSpPr>
        <p:grpSpPr>
          <a:xfrm>
            <a:off x="4503593" y="3688642"/>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3" name="组合 22"/>
          <p:cNvGrpSpPr/>
          <p:nvPr>
            <p:custDataLst>
              <p:tags r:id="rId3"/>
            </p:custDataLst>
          </p:nvPr>
        </p:nvGrpSpPr>
        <p:grpSpPr>
          <a:xfrm>
            <a:off x="4503593" y="4509001"/>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0" name="组合 19"/>
          <p:cNvGrpSpPr/>
          <p:nvPr>
            <p:custDataLst>
              <p:tags r:id="rId4"/>
            </p:custDataLst>
          </p:nvPr>
        </p:nvGrpSpPr>
        <p:grpSpPr>
          <a:xfrm>
            <a:off x="4517645" y="2868283"/>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7" name="组合 6"/>
          <p:cNvGrpSpPr/>
          <p:nvPr/>
        </p:nvGrpSpPr>
        <p:grpSpPr>
          <a:xfrm>
            <a:off x="-1" y="6553200"/>
            <a:ext cx="12192001" cy="304800"/>
            <a:chOff x="0" y="6569404"/>
            <a:chExt cx="9144000" cy="288000"/>
          </a:xfrm>
        </p:grpSpPr>
        <p:sp>
          <p:nvSpPr>
            <p:cNvPr id="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40</a:t>
            </a:fld>
            <a:endParaRPr lang="zh-HK" altLang="en-US" sz="1600" dirty="0">
              <a:solidFill>
                <a:schemeClr val="bg1"/>
              </a:solidFill>
            </a:endParaRPr>
          </a:p>
        </p:txBody>
      </p:sp>
      <p:pic>
        <p:nvPicPr>
          <p:cNvPr id="25" name="图片 24"/>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 y="6553200"/>
            <a:ext cx="12192001" cy="304800"/>
            <a:chOff x="0" y="6569404"/>
            <a:chExt cx="9144000" cy="288000"/>
          </a:xfrm>
        </p:grpSpPr>
        <p:sp>
          <p:nvSpPr>
            <p:cNvPr id="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41</a:t>
            </a:fld>
            <a:endParaRPr lang="zh-HK" altLang="en-US" sz="1600" dirty="0">
              <a:solidFill>
                <a:schemeClr val="bg1"/>
              </a:solidFill>
            </a:endParaRPr>
          </a:p>
        </p:txBody>
      </p:sp>
      <p:pic>
        <p:nvPicPr>
          <p:cNvPr id="25" name="图片 24"/>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96" name="组合 18"/>
          <p:cNvGrpSpPr/>
          <p:nvPr/>
        </p:nvGrpSpPr>
        <p:grpSpPr bwMode="auto">
          <a:xfrm>
            <a:off x="2409457" y="2650330"/>
            <a:ext cx="1505450" cy="1479472"/>
            <a:chOff x="1709739" y="2636838"/>
            <a:chExt cx="1590160" cy="1584325"/>
          </a:xfrm>
          <a:solidFill>
            <a:srgbClr val="044875"/>
          </a:solidFill>
        </p:grpSpPr>
        <p:sp>
          <p:nvSpPr>
            <p:cNvPr id="497"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8"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9"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0"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1"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2"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3"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4"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5"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506" name="文本框 505"/>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07" name="组合 506"/>
          <p:cNvGrpSpPr/>
          <p:nvPr>
            <p:custDataLst>
              <p:tags r:id="rId1"/>
            </p:custDataLst>
          </p:nvPr>
        </p:nvGrpSpPr>
        <p:grpSpPr>
          <a:xfrm>
            <a:off x="4523741" y="2047924"/>
            <a:ext cx="5370513" cy="534987"/>
            <a:chOff x="3281952" y="1484784"/>
            <a:chExt cx="5370513" cy="534987"/>
          </a:xfrm>
        </p:grpSpPr>
        <p:grpSp>
          <p:nvGrpSpPr>
            <p:cNvPr id="508" name="组合 507"/>
            <p:cNvGrpSpPr/>
            <p:nvPr/>
          </p:nvGrpSpPr>
          <p:grpSpPr>
            <a:xfrm>
              <a:off x="3943940" y="1484784"/>
              <a:ext cx="4708525" cy="534987"/>
              <a:chOff x="3943940" y="1626760"/>
              <a:chExt cx="4708525" cy="534987"/>
            </a:xfrm>
          </p:grpSpPr>
          <p:sp>
            <p:nvSpPr>
              <p:cNvPr id="512"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13"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514" name="矩形 513"/>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15" name="直接连接符 514"/>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09" name="组合 508"/>
            <p:cNvGrpSpPr/>
            <p:nvPr/>
          </p:nvGrpSpPr>
          <p:grpSpPr>
            <a:xfrm>
              <a:off x="3281952" y="1484784"/>
              <a:ext cx="689642" cy="534987"/>
              <a:chOff x="3281952" y="1626760"/>
              <a:chExt cx="689642" cy="534987"/>
            </a:xfrm>
          </p:grpSpPr>
          <p:sp>
            <p:nvSpPr>
              <p:cNvPr id="510" name="矩形 509"/>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11"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516" name="组合 515"/>
          <p:cNvGrpSpPr/>
          <p:nvPr>
            <p:custDataLst>
              <p:tags r:id="rId2"/>
            </p:custDataLst>
          </p:nvPr>
        </p:nvGrpSpPr>
        <p:grpSpPr>
          <a:xfrm>
            <a:off x="4503593" y="3688642"/>
            <a:ext cx="5372100" cy="534987"/>
            <a:chOff x="3261805" y="3188752"/>
            <a:chExt cx="5372100" cy="534987"/>
          </a:xfrm>
        </p:grpSpPr>
        <p:grpSp>
          <p:nvGrpSpPr>
            <p:cNvPr id="517" name="组合 516"/>
            <p:cNvGrpSpPr/>
            <p:nvPr/>
          </p:nvGrpSpPr>
          <p:grpSpPr>
            <a:xfrm>
              <a:off x="3261805" y="3188752"/>
              <a:ext cx="689593" cy="534987"/>
              <a:chOff x="3261805" y="3188752"/>
              <a:chExt cx="689593" cy="534987"/>
            </a:xfrm>
          </p:grpSpPr>
          <p:sp>
            <p:nvSpPr>
              <p:cNvPr id="523" name="矩形 52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24"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518" name="组合 517"/>
            <p:cNvGrpSpPr/>
            <p:nvPr/>
          </p:nvGrpSpPr>
          <p:grpSpPr>
            <a:xfrm>
              <a:off x="3923792" y="3188752"/>
              <a:ext cx="4710113" cy="534987"/>
              <a:chOff x="3923792" y="3188752"/>
              <a:chExt cx="4710113" cy="534987"/>
            </a:xfrm>
          </p:grpSpPr>
          <p:sp>
            <p:nvSpPr>
              <p:cNvPr id="519"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20" name="矩形 51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1" name="直接连接符 52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2"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25" name="组合 524"/>
          <p:cNvGrpSpPr/>
          <p:nvPr>
            <p:custDataLst>
              <p:tags r:id="rId3"/>
            </p:custDataLst>
          </p:nvPr>
        </p:nvGrpSpPr>
        <p:grpSpPr>
          <a:xfrm>
            <a:off x="4503593" y="4509001"/>
            <a:ext cx="5372100" cy="534987"/>
            <a:chOff x="3261805" y="4046141"/>
            <a:chExt cx="5372100" cy="534987"/>
          </a:xfrm>
        </p:grpSpPr>
        <p:grpSp>
          <p:nvGrpSpPr>
            <p:cNvPr id="526" name="组合 525"/>
            <p:cNvGrpSpPr/>
            <p:nvPr/>
          </p:nvGrpSpPr>
          <p:grpSpPr>
            <a:xfrm>
              <a:off x="3261805" y="4046141"/>
              <a:ext cx="689447" cy="534987"/>
              <a:chOff x="3261805" y="3969748"/>
              <a:chExt cx="689447" cy="534987"/>
            </a:xfrm>
          </p:grpSpPr>
          <p:sp>
            <p:nvSpPr>
              <p:cNvPr id="532" name="矩形 531"/>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33"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527" name="组合 526"/>
            <p:cNvGrpSpPr/>
            <p:nvPr/>
          </p:nvGrpSpPr>
          <p:grpSpPr>
            <a:xfrm>
              <a:off x="3923792" y="4046141"/>
              <a:ext cx="4710113" cy="534987"/>
              <a:chOff x="3923792" y="3969748"/>
              <a:chExt cx="4710113" cy="534987"/>
            </a:xfrm>
          </p:grpSpPr>
          <p:sp>
            <p:nvSpPr>
              <p:cNvPr id="528"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529" name="矩形 528"/>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0" name="直接连接符 529"/>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1"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34" name="组合 533"/>
          <p:cNvGrpSpPr/>
          <p:nvPr>
            <p:custDataLst>
              <p:tags r:id="rId4"/>
            </p:custDataLst>
          </p:nvPr>
        </p:nvGrpSpPr>
        <p:grpSpPr>
          <a:xfrm>
            <a:off x="4517645" y="2868283"/>
            <a:ext cx="5370513" cy="534987"/>
            <a:chOff x="3275856" y="2348880"/>
            <a:chExt cx="5370513" cy="534987"/>
          </a:xfrm>
        </p:grpSpPr>
        <p:grpSp>
          <p:nvGrpSpPr>
            <p:cNvPr id="535" name="组合 534"/>
            <p:cNvGrpSpPr/>
            <p:nvPr/>
          </p:nvGrpSpPr>
          <p:grpSpPr>
            <a:xfrm>
              <a:off x="3275856" y="2348880"/>
              <a:ext cx="689474" cy="534987"/>
              <a:chOff x="3275856" y="2407756"/>
              <a:chExt cx="689474" cy="534987"/>
            </a:xfrm>
          </p:grpSpPr>
          <p:sp>
            <p:nvSpPr>
              <p:cNvPr id="541" name="矩形 540"/>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2"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536" name="组合 535"/>
            <p:cNvGrpSpPr/>
            <p:nvPr/>
          </p:nvGrpSpPr>
          <p:grpSpPr>
            <a:xfrm>
              <a:off x="3937844" y="2348880"/>
              <a:ext cx="4708525" cy="534987"/>
              <a:chOff x="3937844" y="2407756"/>
              <a:chExt cx="4708525" cy="534987"/>
            </a:xfrm>
          </p:grpSpPr>
          <p:sp>
            <p:nvSpPr>
              <p:cNvPr id="537"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38" name="矩形 537"/>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9" name="直接连接符 538"/>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40"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8" name="文本框 7"/>
          <p:cNvSpPr txBox="1"/>
          <p:nvPr/>
        </p:nvSpPr>
        <p:spPr>
          <a:xfrm>
            <a:off x="194275" y="1088933"/>
            <a:ext cx="11805725" cy="4707890"/>
          </a:xfrm>
          <a:prstGeom prst="rect">
            <a:avLst/>
          </a:prstGeom>
          <a:noFill/>
          <a:ln>
            <a:solidFill>
              <a:srgbClr val="0174AB"/>
            </a:solidFill>
          </a:ln>
        </p:spPr>
        <p:txBody>
          <a:bodyPr wrap="square" rtlCol="0">
            <a:spAutoFit/>
          </a:bodyPr>
          <a:lstStyle/>
          <a:p>
            <a:pPr indent="457200" algn="just">
              <a:lnSpc>
                <a:spcPct val="150000"/>
              </a:lnSpc>
            </a:pPr>
            <a:r>
              <a:rPr lang="en-US" altLang="zh-CN" sz="2000" dirty="0">
                <a:latin typeface="Times New Roman" panose="02020603050405020304" pitchFamily="18" charset="0"/>
                <a:ea typeface="微软雅黑" panose="020B0503020204020204" charset="-122"/>
                <a:cs typeface="Times New Roman" panose="02020603050405020304" pitchFamily="18" charset="0"/>
              </a:rPr>
              <a:t>To address these challenges, we introduce a Quantum Frequency Decomposition Reconstruction Decomposition (Q-FR-Q) as the core of the model’s deep representation learning. This module reffnes frequency components iteratively by decomposing raw input via QFT, reconstructing enhanced features, and re-decomposing signals to separate entangled patterns. Such iterative reffnement improves disentanglement of multi-frequency dynamics and long-range temporal dependencies.</a:t>
            </a:r>
          </a:p>
          <a:p>
            <a:pPr indent="457200" algn="just">
              <a:lnSpc>
                <a:spcPct val="150000"/>
              </a:lnSpc>
            </a:pPr>
            <a:endParaRPr lang="en-US" altLang="zh-CN" sz="2000" dirty="0">
              <a:latin typeface="Times New Roman" panose="02020603050405020304" pitchFamily="18" charset="0"/>
              <a:ea typeface="微软雅黑" panose="020B0503020204020204" charset="-122"/>
              <a:cs typeface="Times New Roman" panose="02020603050405020304" pitchFamily="18" charset="0"/>
            </a:endParaRPr>
          </a:p>
          <a:p>
            <a:pPr indent="457200" algn="just">
              <a:lnSpc>
                <a:spcPct val="150000"/>
              </a:lnSpc>
            </a:pPr>
            <a:r>
              <a:rPr lang="en-US" altLang="zh-CN" sz="2000" dirty="0">
                <a:latin typeface="Times New Roman" panose="02020603050405020304" pitchFamily="18" charset="0"/>
                <a:ea typeface="微软雅黑" panose="020B0503020204020204" charset="-122"/>
                <a:cs typeface="Times New Roman" panose="02020603050405020304" pitchFamily="18" charset="0"/>
              </a:rPr>
              <a:t>We further design a Dual-Layer Graph Attention Network (DL-GAN) that integrates QFT with graph-based attention mechanisms. TTis architecture enables localized feature extraction from decomposed components and adaptively models inter-frequency interactions through graph-relational learning.</a:t>
            </a:r>
          </a:p>
          <a:p>
            <a:pPr indent="457200" algn="just">
              <a:lnSpc>
                <a:spcPct val="150000"/>
              </a:lnSpc>
            </a:pPr>
            <a:endParaRPr lang="en-US" altLang="zh-CN" sz="2000" dirty="0">
              <a:latin typeface="Times New Roman" panose="02020603050405020304" pitchFamily="18" charset="0"/>
              <a:cs typeface="Times New Roman" panose="02020603050405020304" pitchFamily="18" charset="0"/>
            </a:endParaRPr>
          </a:p>
        </p:txBody>
      </p:sp>
      <p:grpSp>
        <p:nvGrpSpPr>
          <p:cNvPr id="12" name="组合 11"/>
          <p:cNvGrpSpPr/>
          <p:nvPr/>
        </p:nvGrpSpPr>
        <p:grpSpPr>
          <a:xfrm>
            <a:off x="-1" y="6553200"/>
            <a:ext cx="12192001" cy="304800"/>
            <a:chOff x="0" y="6569404"/>
            <a:chExt cx="9144000" cy="288000"/>
          </a:xfrm>
        </p:grpSpPr>
        <p:sp>
          <p:nvSpPr>
            <p:cNvPr id="13" name="矩形 1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42</a:t>
            </a:fld>
            <a:endParaRPr lang="zh-HK" altLang="en-US" sz="1600" dirty="0">
              <a:solidFill>
                <a:schemeClr val="bg1"/>
              </a:solidFill>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 y="6553200"/>
            <a:ext cx="12192001" cy="304800"/>
            <a:chOff x="0" y="6569404"/>
            <a:chExt cx="9144000" cy="288000"/>
          </a:xfrm>
        </p:grpSpPr>
        <p:sp>
          <p:nvSpPr>
            <p:cNvPr id="4"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43</a:t>
            </a:fld>
            <a:endParaRPr lang="zh-HK" altLang="en-US" sz="1600" dirty="0">
              <a:solidFill>
                <a:schemeClr val="bg1"/>
              </a:solidFill>
            </a:endParaRPr>
          </a:p>
        </p:txBody>
      </p:sp>
      <p:pic>
        <p:nvPicPr>
          <p:cNvPr id="7" name="图片 6"/>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p:cNvGrpSpPr/>
          <p:nvPr/>
        </p:nvGrpSpPr>
        <p:grpSpPr bwMode="auto">
          <a:xfrm>
            <a:off x="2409457" y="2650330"/>
            <a:ext cx="1505450" cy="1479472"/>
            <a:chOff x="1709739" y="2636838"/>
            <a:chExt cx="1590160" cy="1584325"/>
          </a:xfrm>
          <a:solidFill>
            <a:srgbClr val="044875"/>
          </a:solidFill>
        </p:grpSpPr>
        <p:sp>
          <p:nvSpPr>
            <p:cNvPr id="59"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3" name="文本框 72"/>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4" name="组合 73"/>
          <p:cNvGrpSpPr/>
          <p:nvPr>
            <p:custDataLst>
              <p:tags r:id="rId1"/>
            </p:custDataLst>
          </p:nvPr>
        </p:nvGrpSpPr>
        <p:grpSpPr>
          <a:xfrm>
            <a:off x="4523741" y="2047924"/>
            <a:ext cx="5370513" cy="534987"/>
            <a:chOff x="3281952" y="1484784"/>
            <a:chExt cx="5370513" cy="534987"/>
          </a:xfrm>
        </p:grpSpPr>
        <p:grpSp>
          <p:nvGrpSpPr>
            <p:cNvPr id="75" name="组合 74"/>
            <p:cNvGrpSpPr/>
            <p:nvPr/>
          </p:nvGrpSpPr>
          <p:grpSpPr>
            <a:xfrm>
              <a:off x="3943940" y="1484784"/>
              <a:ext cx="4708525" cy="534987"/>
              <a:chOff x="3943940" y="1626760"/>
              <a:chExt cx="4708525" cy="534987"/>
            </a:xfrm>
          </p:grpSpPr>
          <p:sp>
            <p:nvSpPr>
              <p:cNvPr id="7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1" name="矩形 8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2" name="直接连接符 8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6" name="组合 75"/>
            <p:cNvGrpSpPr/>
            <p:nvPr/>
          </p:nvGrpSpPr>
          <p:grpSpPr>
            <a:xfrm>
              <a:off x="3281952" y="1484784"/>
              <a:ext cx="689642" cy="534987"/>
              <a:chOff x="3281952" y="1626760"/>
              <a:chExt cx="689642" cy="534987"/>
            </a:xfrm>
          </p:grpSpPr>
          <p:sp>
            <p:nvSpPr>
              <p:cNvPr id="77" name="矩形 76"/>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8"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3" name="组合 82"/>
          <p:cNvGrpSpPr/>
          <p:nvPr>
            <p:custDataLst>
              <p:tags r:id="rId2"/>
            </p:custDataLst>
          </p:nvPr>
        </p:nvGrpSpPr>
        <p:grpSpPr>
          <a:xfrm>
            <a:off x="4503593" y="3688642"/>
            <a:ext cx="5372100" cy="534987"/>
            <a:chOff x="3261805" y="3188752"/>
            <a:chExt cx="5372100" cy="534987"/>
          </a:xfrm>
        </p:grpSpPr>
        <p:grpSp>
          <p:nvGrpSpPr>
            <p:cNvPr id="84" name="组合 83"/>
            <p:cNvGrpSpPr/>
            <p:nvPr/>
          </p:nvGrpSpPr>
          <p:grpSpPr>
            <a:xfrm>
              <a:off x="3261805" y="3188752"/>
              <a:ext cx="689593" cy="534987"/>
              <a:chOff x="3261805" y="3188752"/>
              <a:chExt cx="689593" cy="534987"/>
            </a:xfrm>
          </p:grpSpPr>
          <p:sp>
            <p:nvSpPr>
              <p:cNvPr id="100" name="矩形 99"/>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1"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85" name="组合 84"/>
            <p:cNvGrpSpPr/>
            <p:nvPr/>
          </p:nvGrpSpPr>
          <p:grpSpPr>
            <a:xfrm>
              <a:off x="3923792" y="3188752"/>
              <a:ext cx="4710113" cy="534987"/>
              <a:chOff x="3923792" y="3188752"/>
              <a:chExt cx="4710113" cy="534987"/>
            </a:xfrm>
          </p:grpSpPr>
          <p:sp>
            <p:nvSpPr>
              <p:cNvPr id="87"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91" name="矩形 90"/>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5" name="直接连接符 94"/>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9"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2" name="组合 101"/>
          <p:cNvGrpSpPr/>
          <p:nvPr>
            <p:custDataLst>
              <p:tags r:id="rId3"/>
            </p:custDataLst>
          </p:nvPr>
        </p:nvGrpSpPr>
        <p:grpSpPr>
          <a:xfrm>
            <a:off x="4503593" y="4509001"/>
            <a:ext cx="5372100" cy="534987"/>
            <a:chOff x="3261805" y="4046141"/>
            <a:chExt cx="5372100" cy="534987"/>
          </a:xfrm>
        </p:grpSpPr>
        <p:grpSp>
          <p:nvGrpSpPr>
            <p:cNvPr id="103" name="组合 102"/>
            <p:cNvGrpSpPr/>
            <p:nvPr/>
          </p:nvGrpSpPr>
          <p:grpSpPr>
            <a:xfrm>
              <a:off x="3261805" y="4046141"/>
              <a:ext cx="689447" cy="534987"/>
              <a:chOff x="3261805" y="3969748"/>
              <a:chExt cx="689447" cy="534987"/>
            </a:xfrm>
          </p:grpSpPr>
          <p:sp>
            <p:nvSpPr>
              <p:cNvPr id="109" name="矩形 10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4" name="组合 103"/>
            <p:cNvGrpSpPr/>
            <p:nvPr/>
          </p:nvGrpSpPr>
          <p:grpSpPr>
            <a:xfrm>
              <a:off x="3923792" y="4046141"/>
              <a:ext cx="4710113" cy="534987"/>
              <a:chOff x="3923792" y="3969748"/>
              <a:chExt cx="4710113" cy="534987"/>
            </a:xfrm>
          </p:grpSpPr>
          <p:sp>
            <p:nvSpPr>
              <p:cNvPr id="105"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6" name="矩形 105"/>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7" name="直接连接符 106"/>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11" name="组合 110"/>
          <p:cNvGrpSpPr/>
          <p:nvPr>
            <p:custDataLst>
              <p:tags r:id="rId4"/>
            </p:custDataLst>
          </p:nvPr>
        </p:nvGrpSpPr>
        <p:grpSpPr>
          <a:xfrm>
            <a:off x="4517645" y="2868283"/>
            <a:ext cx="5370513" cy="534987"/>
            <a:chOff x="3275856" y="2348880"/>
            <a:chExt cx="5370513" cy="534987"/>
          </a:xfrm>
        </p:grpSpPr>
        <p:grpSp>
          <p:nvGrpSpPr>
            <p:cNvPr id="112" name="组合 111"/>
            <p:cNvGrpSpPr/>
            <p:nvPr/>
          </p:nvGrpSpPr>
          <p:grpSpPr>
            <a:xfrm>
              <a:off x="3275856" y="2348880"/>
              <a:ext cx="689474" cy="534987"/>
              <a:chOff x="3275856" y="2407756"/>
              <a:chExt cx="689474" cy="534987"/>
            </a:xfrm>
          </p:grpSpPr>
          <p:sp>
            <p:nvSpPr>
              <p:cNvPr id="118" name="矩形 117"/>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9"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13" name="组合 112"/>
            <p:cNvGrpSpPr/>
            <p:nvPr/>
          </p:nvGrpSpPr>
          <p:grpSpPr>
            <a:xfrm>
              <a:off x="3937844" y="2348880"/>
              <a:ext cx="4708525" cy="534987"/>
              <a:chOff x="3937844" y="2407756"/>
              <a:chExt cx="4708525" cy="534987"/>
            </a:xfrm>
          </p:grpSpPr>
          <p:sp>
            <p:nvSpPr>
              <p:cNvPr id="114"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15" name="矩形 114"/>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6" name="直接连接符 115"/>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7"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44</a:t>
            </a:fld>
            <a:endParaRPr lang="zh-HK" altLang="en-US" sz="1600" dirty="0">
              <a:solidFill>
                <a:schemeClr val="bg1"/>
              </a:solidFill>
            </a:endParaRPr>
          </a:p>
        </p:txBody>
      </p:sp>
      <p:pic>
        <p:nvPicPr>
          <p:cNvPr id="2" name="图片 1"/>
          <p:cNvPicPr>
            <a:picLocks noChangeAspect="1"/>
          </p:cNvPicPr>
          <p:nvPr/>
        </p:nvPicPr>
        <p:blipFill>
          <a:blip r:embed="rId3"/>
          <a:srcRect t="12364"/>
          <a:stretch>
            <a:fillRect/>
          </a:stretch>
        </p:blipFill>
        <p:spPr>
          <a:xfrm>
            <a:off x="911860" y="2348865"/>
            <a:ext cx="10810240" cy="2039620"/>
          </a:xfrm>
          <a:prstGeom prst="rect">
            <a:avLst/>
          </a:prstGeom>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45</a:t>
            </a:fld>
            <a:endParaRPr lang="zh-HK" altLang="en-US" sz="1600" dirty="0">
              <a:solidFill>
                <a:schemeClr val="bg1"/>
              </a:solidFill>
            </a:endParaRPr>
          </a:p>
        </p:txBody>
      </p:sp>
      <p:pic>
        <p:nvPicPr>
          <p:cNvPr id="2" name="图片 1"/>
          <p:cNvPicPr>
            <a:picLocks noChangeAspect="1"/>
          </p:cNvPicPr>
          <p:nvPr/>
        </p:nvPicPr>
        <p:blipFill>
          <a:blip r:embed="rId3"/>
          <a:stretch>
            <a:fillRect/>
          </a:stretch>
        </p:blipFill>
        <p:spPr>
          <a:xfrm>
            <a:off x="1489075" y="1070610"/>
            <a:ext cx="9596120" cy="5188585"/>
          </a:xfrm>
          <a:prstGeom prst="rect">
            <a:avLst/>
          </a:prstGeom>
        </p:spPr>
      </p:pic>
      <p:sp>
        <p:nvSpPr>
          <p:cNvPr id="3" name="文本框 2"/>
          <p:cNvSpPr txBox="1"/>
          <p:nvPr/>
        </p:nvSpPr>
        <p:spPr>
          <a:xfrm>
            <a:off x="408000" y="4581000"/>
            <a:ext cx="4320000" cy="646331"/>
          </a:xfrm>
          <a:prstGeom prst="rect">
            <a:avLst/>
          </a:prstGeom>
          <a:noFill/>
        </p:spPr>
        <p:txBody>
          <a:bodyPr wrap="square" rtlCol="0">
            <a:spAutoFit/>
          </a:bodyPr>
          <a:lstStyle/>
          <a:p>
            <a:r>
              <a:rPr lang="zh-CN" altLang="en-US" b="1">
                <a:latin typeface="微软雅黑" panose="020B0503020204020204" charset="-122"/>
                <a:ea typeface="微软雅黑" panose="020B0503020204020204" charset="-122"/>
              </a:rPr>
              <a:t>通过</a:t>
            </a:r>
            <a:r>
              <a:rPr lang="zh-CN" altLang="en-US" b="1">
                <a:solidFill>
                  <a:srgbClr val="FF0000"/>
                </a:solidFill>
                <a:latin typeface="微软雅黑" panose="020B0503020204020204" charset="-122"/>
                <a:ea typeface="微软雅黑" panose="020B0503020204020204" charset="-122"/>
              </a:rPr>
              <a:t>旋转门</a:t>
            </a:r>
            <a:r>
              <a:rPr lang="zh-CN" altLang="en-US" b="1">
                <a:latin typeface="微软雅黑" panose="020B0503020204020204" charset="-122"/>
                <a:ea typeface="微软雅黑" panose="020B0503020204020204" charset="-122"/>
              </a:rPr>
              <a:t>的</a:t>
            </a:r>
            <a:r>
              <a:rPr lang="zh-CN" altLang="en-US" b="1">
                <a:solidFill>
                  <a:srgbClr val="FF0000"/>
                </a:solidFill>
                <a:latin typeface="微软雅黑" panose="020B0503020204020204" charset="-122"/>
                <a:ea typeface="微软雅黑" panose="020B0503020204020204" charset="-122"/>
              </a:rPr>
              <a:t>幺正变换</a:t>
            </a:r>
            <a:r>
              <a:rPr lang="zh-CN" altLang="en-US" b="1">
                <a:latin typeface="微软雅黑" panose="020B0503020204020204" charset="-122"/>
                <a:ea typeface="微软雅黑" panose="020B0503020204020204" charset="-122"/>
              </a:rPr>
              <a:t>实现</a:t>
            </a:r>
            <a:r>
              <a:rPr lang="zh-CN" altLang="en-US" b="1">
                <a:solidFill>
                  <a:srgbClr val="FF0000"/>
                </a:solidFill>
                <a:latin typeface="微软雅黑" panose="020B0503020204020204" charset="-122"/>
                <a:ea typeface="微软雅黑" panose="020B0503020204020204" charset="-122"/>
              </a:rPr>
              <a:t>傅里叶变换</a:t>
            </a:r>
            <a:r>
              <a:rPr lang="zh-CN" altLang="en-US" b="1">
                <a:latin typeface="微软雅黑" panose="020B0503020204020204" charset="-122"/>
                <a:ea typeface="微软雅黑" panose="020B0503020204020204" charset="-122"/>
              </a:rPr>
              <a:t>，</a:t>
            </a:r>
            <a:endParaRPr lang="en-US" altLang="zh-CN" b="1">
              <a:latin typeface="微软雅黑" panose="020B0503020204020204" charset="-122"/>
              <a:ea typeface="微软雅黑" panose="020B0503020204020204" charset="-122"/>
            </a:endParaRPr>
          </a:p>
          <a:p>
            <a:r>
              <a:rPr lang="zh-CN" altLang="en-US" b="1">
                <a:latin typeface="微软雅黑" panose="020B0503020204020204" charset="-122"/>
                <a:ea typeface="微软雅黑" panose="020B0503020204020204" charset="-122"/>
              </a:rPr>
              <a:t>理论依据在第一篇论文中已提到</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46</a:t>
            </a:fld>
            <a:endParaRPr lang="zh-HK" altLang="en-US" sz="1600" dirty="0">
              <a:solidFill>
                <a:schemeClr val="bg1"/>
              </a:solidFill>
            </a:endParaRPr>
          </a:p>
        </p:txBody>
      </p:sp>
      <p:pic>
        <p:nvPicPr>
          <p:cNvPr id="3" name="图片 2"/>
          <p:cNvPicPr>
            <a:picLocks noChangeAspect="1"/>
          </p:cNvPicPr>
          <p:nvPr/>
        </p:nvPicPr>
        <p:blipFill>
          <a:blip r:embed="rId3"/>
          <a:srcRect t="2183"/>
          <a:stretch>
            <a:fillRect/>
          </a:stretch>
        </p:blipFill>
        <p:spPr>
          <a:xfrm>
            <a:off x="766445" y="1485265"/>
            <a:ext cx="10960100" cy="2186305"/>
          </a:xfrm>
          <a:prstGeom prst="rect">
            <a:avLst/>
          </a:prstGeom>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47</a:t>
            </a:fld>
            <a:endParaRPr lang="zh-HK" altLang="en-US" sz="1600" dirty="0">
              <a:solidFill>
                <a:schemeClr val="bg1"/>
              </a:solidFill>
            </a:endParaRPr>
          </a:p>
        </p:txBody>
      </p:sp>
      <p:pic>
        <p:nvPicPr>
          <p:cNvPr id="3" name="图片 2"/>
          <p:cNvPicPr>
            <a:picLocks noChangeAspect="1"/>
          </p:cNvPicPr>
          <p:nvPr/>
        </p:nvPicPr>
        <p:blipFill>
          <a:blip r:embed="rId3"/>
          <a:stretch>
            <a:fillRect/>
          </a:stretch>
        </p:blipFill>
        <p:spPr>
          <a:xfrm>
            <a:off x="1416050" y="838200"/>
            <a:ext cx="9526270" cy="5182235"/>
          </a:xfrm>
          <a:prstGeom prst="rect">
            <a:avLst/>
          </a:prstGeom>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48</a:t>
            </a:fld>
            <a:endParaRPr lang="zh-HK" altLang="en-US" sz="1600" dirty="0">
              <a:solidFill>
                <a:schemeClr val="bg1"/>
              </a:solidFill>
            </a:endParaRPr>
          </a:p>
        </p:txBody>
      </p:sp>
      <p:pic>
        <p:nvPicPr>
          <p:cNvPr id="3" name="图片 2"/>
          <p:cNvPicPr>
            <a:picLocks noChangeAspect="1"/>
          </p:cNvPicPr>
          <p:nvPr/>
        </p:nvPicPr>
        <p:blipFill>
          <a:blip r:embed="rId3"/>
          <a:stretch>
            <a:fillRect/>
          </a:stretch>
        </p:blipFill>
        <p:spPr>
          <a:xfrm>
            <a:off x="1847850" y="765175"/>
            <a:ext cx="8965565" cy="1416685"/>
          </a:xfrm>
          <a:prstGeom prst="rect">
            <a:avLst/>
          </a:prstGeom>
        </p:spPr>
      </p:pic>
      <p:pic>
        <p:nvPicPr>
          <p:cNvPr id="4" name="图片 3"/>
          <p:cNvPicPr>
            <a:picLocks noChangeAspect="1"/>
          </p:cNvPicPr>
          <p:nvPr/>
        </p:nvPicPr>
        <p:blipFill>
          <a:blip r:embed="rId4"/>
          <a:stretch>
            <a:fillRect/>
          </a:stretch>
        </p:blipFill>
        <p:spPr>
          <a:xfrm>
            <a:off x="2019300" y="2132965"/>
            <a:ext cx="8376920" cy="4403725"/>
          </a:xfrm>
          <a:prstGeom prst="rect">
            <a:avLst/>
          </a:prstGeom>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49</a:t>
            </a:fld>
            <a:endParaRPr lang="zh-HK" altLang="en-US" sz="1600" dirty="0">
              <a:solidFill>
                <a:schemeClr val="bg1"/>
              </a:solidFill>
            </a:endParaRPr>
          </a:p>
        </p:txBody>
      </p:sp>
      <p:pic>
        <p:nvPicPr>
          <p:cNvPr id="2" name="图片 1"/>
          <p:cNvPicPr>
            <a:picLocks noChangeAspect="1"/>
          </p:cNvPicPr>
          <p:nvPr/>
        </p:nvPicPr>
        <p:blipFill>
          <a:blip r:embed="rId3"/>
          <a:stretch>
            <a:fillRect/>
          </a:stretch>
        </p:blipFill>
        <p:spPr>
          <a:xfrm>
            <a:off x="1200150" y="807085"/>
            <a:ext cx="10661015" cy="5659755"/>
          </a:xfrm>
          <a:prstGeom prst="rect">
            <a:avLst/>
          </a:prstGeom>
        </p:spPr>
      </p:pic>
      <p:sp>
        <p:nvSpPr>
          <p:cNvPr id="3" name="文本框 2"/>
          <p:cNvSpPr txBox="1"/>
          <p:nvPr/>
        </p:nvSpPr>
        <p:spPr>
          <a:xfrm>
            <a:off x="1239680" y="2793575"/>
            <a:ext cx="3416320" cy="646331"/>
          </a:xfrm>
          <a:prstGeom prst="rect">
            <a:avLst/>
          </a:prstGeom>
          <a:noFill/>
        </p:spPr>
        <p:txBody>
          <a:bodyPr wrap="none" rtlCol="0">
            <a:spAutoFit/>
          </a:bodyPr>
          <a:lstStyle/>
          <a:p>
            <a:r>
              <a:rPr lang="zh-CN" altLang="en-US" b="1">
                <a:latin typeface="微软雅黑" panose="020B0503020204020204" charset="-122"/>
                <a:ea typeface="微软雅黑" panose="020B0503020204020204" charset="-122"/>
              </a:rPr>
              <a:t>双层图注意力网络，第一层处理</a:t>
            </a:r>
            <a:endParaRPr lang="en-US" altLang="zh-CN" b="1">
              <a:latin typeface="微软雅黑" panose="020B0503020204020204" charset="-122"/>
              <a:ea typeface="微软雅黑" panose="020B0503020204020204" charset="-122"/>
            </a:endParaRPr>
          </a:p>
          <a:p>
            <a:r>
              <a:rPr lang="zh-CN" altLang="en-US" b="1">
                <a:solidFill>
                  <a:srgbClr val="FF0000"/>
                </a:solidFill>
                <a:latin typeface="微软雅黑" panose="020B0503020204020204" charset="-122"/>
                <a:ea typeface="微软雅黑" panose="020B0503020204020204" charset="-122"/>
              </a:rPr>
              <a:t>时间层面</a:t>
            </a:r>
            <a:r>
              <a:rPr lang="zh-CN" altLang="en-US" b="1">
                <a:latin typeface="微软雅黑" panose="020B0503020204020204" charset="-122"/>
                <a:ea typeface="微软雅黑" panose="020B0503020204020204" charset="-122"/>
              </a:rPr>
              <a:t>依赖（</a:t>
            </a:r>
            <a:r>
              <a:rPr lang="zh-CN" altLang="en-US" b="1">
                <a:solidFill>
                  <a:srgbClr val="FF0000"/>
                </a:solidFill>
                <a:latin typeface="微软雅黑" panose="020B0503020204020204" charset="-122"/>
                <a:ea typeface="微软雅黑" panose="020B0503020204020204" charset="-122"/>
              </a:rPr>
              <a:t>同频段</a:t>
            </a:r>
            <a:r>
              <a:rPr lang="zh-CN" altLang="en-US" b="1">
                <a:latin typeface="微软雅黑" panose="020B0503020204020204" charset="-122"/>
                <a:ea typeface="微软雅黑" panose="020B0503020204020204" charset="-122"/>
              </a:rPr>
              <a:t>内）</a:t>
            </a:r>
            <a:endParaRPr lang="en-US" altLang="zh-CN" b="1">
              <a:latin typeface="微软雅黑" panose="020B0503020204020204" charset="-122"/>
              <a:ea typeface="微软雅黑" panose="020B0503020204020204" charset="-122"/>
            </a:endParaRPr>
          </a:p>
        </p:txBody>
      </p:sp>
      <p:sp>
        <p:nvSpPr>
          <p:cNvPr id="5" name="文本框 4"/>
          <p:cNvSpPr txBox="1"/>
          <p:nvPr/>
        </p:nvSpPr>
        <p:spPr>
          <a:xfrm>
            <a:off x="1200000" y="4964731"/>
            <a:ext cx="3024000" cy="646331"/>
          </a:xfrm>
          <a:prstGeom prst="rect">
            <a:avLst/>
          </a:prstGeom>
          <a:noFill/>
        </p:spPr>
        <p:txBody>
          <a:bodyPr wrap="square">
            <a:spAutoFit/>
          </a:bodyPr>
          <a:lstStyle/>
          <a:p>
            <a:r>
              <a:rPr lang="zh-CN" altLang="en-US" b="1">
                <a:latin typeface="微软雅黑" panose="020B0503020204020204" charset="-122"/>
                <a:ea typeface="微软雅黑" panose="020B0503020204020204" charset="-122"/>
              </a:rPr>
              <a:t>第二层用来补偿</a:t>
            </a:r>
            <a:r>
              <a:rPr lang="zh-CN" altLang="en-US" b="1">
                <a:solidFill>
                  <a:srgbClr val="FF0000"/>
                </a:solidFill>
                <a:latin typeface="微软雅黑" panose="020B0503020204020204" charset="-122"/>
                <a:ea typeface="微软雅黑" panose="020B0503020204020204" charset="-122"/>
              </a:rPr>
              <a:t>频谱间</a:t>
            </a:r>
            <a:r>
              <a:rPr lang="zh-CN" altLang="en-US" b="1">
                <a:latin typeface="微软雅黑" panose="020B0503020204020204" charset="-122"/>
                <a:ea typeface="微软雅黑" panose="020B0503020204020204" charset="-122"/>
              </a:rPr>
              <a:t>依赖</a:t>
            </a:r>
            <a:endParaRPr lang="en-US" altLang="zh-CN" b="1">
              <a:latin typeface="微软雅黑" panose="020B0503020204020204" charset="-122"/>
              <a:ea typeface="微软雅黑" panose="020B0503020204020204" charset="-122"/>
            </a:endParaRPr>
          </a:p>
          <a:p>
            <a:r>
              <a:rPr lang="zh-CN" altLang="en-US" b="1">
                <a:latin typeface="微软雅黑" panose="020B0503020204020204" charset="-122"/>
                <a:ea typeface="微软雅黑" panose="020B0503020204020204" charset="-122"/>
              </a:rPr>
              <a:t>（</a:t>
            </a:r>
            <a:r>
              <a:rPr lang="zh-CN" altLang="en-US" b="1">
                <a:solidFill>
                  <a:srgbClr val="FF0000"/>
                </a:solidFill>
                <a:latin typeface="微软雅黑" panose="020B0503020204020204" charset="-122"/>
                <a:ea typeface="微软雅黑" panose="020B0503020204020204" charset="-122"/>
              </a:rPr>
              <a:t>不同频谱</a:t>
            </a:r>
            <a:r>
              <a:rPr lang="zh-CN" altLang="en-US" b="1">
                <a:latin typeface="微软雅黑" panose="020B0503020204020204" charset="-122"/>
                <a:ea typeface="微软雅黑" panose="020B0503020204020204" charset="-122"/>
              </a:rPr>
              <a:t>间）</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50</a:t>
            </a:fld>
            <a:endParaRPr lang="zh-HK" altLang="en-US" sz="1600" dirty="0">
              <a:solidFill>
                <a:schemeClr val="bg1"/>
              </a:solidFill>
            </a:endParaRPr>
          </a:p>
        </p:txBody>
      </p:sp>
      <p:pic>
        <p:nvPicPr>
          <p:cNvPr id="3" name="图片 2"/>
          <p:cNvPicPr>
            <a:picLocks noChangeAspect="1"/>
          </p:cNvPicPr>
          <p:nvPr/>
        </p:nvPicPr>
        <p:blipFill>
          <a:blip r:embed="rId3"/>
          <a:stretch>
            <a:fillRect/>
          </a:stretch>
        </p:blipFill>
        <p:spPr>
          <a:xfrm>
            <a:off x="1056005" y="981075"/>
            <a:ext cx="10438130" cy="4638040"/>
          </a:xfrm>
          <a:prstGeom prst="rect">
            <a:avLst/>
          </a:prstGeom>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51</a:t>
            </a:fld>
            <a:endParaRPr lang="zh-HK" altLang="en-US" sz="1600" dirty="0">
              <a:solidFill>
                <a:schemeClr val="bg1"/>
              </a:solidFill>
            </a:endParaRPr>
          </a:p>
        </p:txBody>
      </p:sp>
      <p:pic>
        <p:nvPicPr>
          <p:cNvPr id="2" name="图片 1"/>
          <p:cNvPicPr>
            <a:picLocks noChangeAspect="1"/>
          </p:cNvPicPr>
          <p:nvPr/>
        </p:nvPicPr>
        <p:blipFill>
          <a:blip r:embed="rId3"/>
          <a:srcRect t="1374"/>
          <a:stretch>
            <a:fillRect/>
          </a:stretch>
        </p:blipFill>
        <p:spPr>
          <a:xfrm>
            <a:off x="1467485" y="740410"/>
            <a:ext cx="9295765" cy="5798185"/>
          </a:xfrm>
          <a:prstGeom prst="rect">
            <a:avLst/>
          </a:prstGeom>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 y="6553200"/>
            <a:ext cx="12192001" cy="304800"/>
            <a:chOff x="0" y="6569404"/>
            <a:chExt cx="9144000" cy="288000"/>
          </a:xfrm>
        </p:grpSpPr>
        <p:sp>
          <p:nvSpPr>
            <p:cNvPr id="7"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8"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52</a:t>
            </a:fld>
            <a:endParaRPr lang="zh-HK" altLang="en-US" sz="1600" dirty="0">
              <a:solidFill>
                <a:schemeClr val="bg1"/>
              </a:solidFill>
            </a:endParaRPr>
          </a:p>
        </p:txBody>
      </p:sp>
      <p:pic>
        <p:nvPicPr>
          <p:cNvPr id="21" name="图片 20"/>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p:cNvGrpSpPr/>
          <p:nvPr/>
        </p:nvGrpSpPr>
        <p:grpSpPr bwMode="auto">
          <a:xfrm>
            <a:off x="2409457" y="2650330"/>
            <a:ext cx="1505450" cy="1479472"/>
            <a:chOff x="1709739" y="2636838"/>
            <a:chExt cx="1590160" cy="1584325"/>
          </a:xfrm>
          <a:solidFill>
            <a:srgbClr val="044875"/>
          </a:solidFill>
        </p:grpSpPr>
        <p:sp>
          <p:nvSpPr>
            <p:cNvPr id="56"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9"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0"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1" name="文本框 7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2" name="组合 71"/>
          <p:cNvGrpSpPr/>
          <p:nvPr>
            <p:custDataLst>
              <p:tags r:id="rId1"/>
            </p:custDataLst>
          </p:nvPr>
        </p:nvGrpSpPr>
        <p:grpSpPr>
          <a:xfrm>
            <a:off x="4523741" y="2047924"/>
            <a:ext cx="5370513" cy="534987"/>
            <a:chOff x="3281952" y="1484784"/>
            <a:chExt cx="5370513" cy="534987"/>
          </a:xfrm>
        </p:grpSpPr>
        <p:grpSp>
          <p:nvGrpSpPr>
            <p:cNvPr id="73" name="组合 72"/>
            <p:cNvGrpSpPr/>
            <p:nvPr/>
          </p:nvGrpSpPr>
          <p:grpSpPr>
            <a:xfrm>
              <a:off x="3943940" y="1484784"/>
              <a:ext cx="4708525" cy="534987"/>
              <a:chOff x="3943940" y="1626760"/>
              <a:chExt cx="4708525" cy="534987"/>
            </a:xfrm>
          </p:grpSpPr>
          <p:sp>
            <p:nvSpPr>
              <p:cNvPr id="77"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78"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79" name="矩形 78"/>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0" name="直接连接符 79"/>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4" name="组合 73"/>
            <p:cNvGrpSpPr/>
            <p:nvPr/>
          </p:nvGrpSpPr>
          <p:grpSpPr>
            <a:xfrm>
              <a:off x="3281952" y="1484784"/>
              <a:ext cx="689642" cy="534987"/>
              <a:chOff x="3281952" y="1626760"/>
              <a:chExt cx="689642" cy="534987"/>
            </a:xfrm>
          </p:grpSpPr>
          <p:sp>
            <p:nvSpPr>
              <p:cNvPr id="75" name="矩形 74"/>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6"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1" name="组合 80"/>
          <p:cNvGrpSpPr/>
          <p:nvPr>
            <p:custDataLst>
              <p:tags r:id="rId2"/>
            </p:custDataLst>
          </p:nvPr>
        </p:nvGrpSpPr>
        <p:grpSpPr>
          <a:xfrm>
            <a:off x="4503593" y="3688642"/>
            <a:ext cx="5372100" cy="534987"/>
            <a:chOff x="3261805" y="3188752"/>
            <a:chExt cx="5372100" cy="534987"/>
          </a:xfrm>
        </p:grpSpPr>
        <p:grpSp>
          <p:nvGrpSpPr>
            <p:cNvPr id="82" name="组合 81"/>
            <p:cNvGrpSpPr/>
            <p:nvPr/>
          </p:nvGrpSpPr>
          <p:grpSpPr>
            <a:xfrm>
              <a:off x="3261805" y="3188752"/>
              <a:ext cx="689593" cy="534987"/>
              <a:chOff x="3261805" y="3188752"/>
              <a:chExt cx="689593" cy="534987"/>
            </a:xfrm>
          </p:grpSpPr>
          <p:sp>
            <p:nvSpPr>
              <p:cNvPr id="91" name="矩形 9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5"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83" name="组合 82"/>
            <p:cNvGrpSpPr/>
            <p:nvPr/>
          </p:nvGrpSpPr>
          <p:grpSpPr>
            <a:xfrm>
              <a:off x="3923792" y="3188752"/>
              <a:ext cx="4710113" cy="534987"/>
              <a:chOff x="3923792" y="3188752"/>
              <a:chExt cx="4710113" cy="534987"/>
            </a:xfrm>
          </p:grpSpPr>
          <p:sp>
            <p:nvSpPr>
              <p:cNvPr id="84"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85" name="矩形 84"/>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srgbClr val="044875"/>
                  </a:solidFill>
                </a:endParaRPr>
              </a:p>
            </p:txBody>
          </p:sp>
        </p:grpSp>
      </p:grpSp>
      <p:grpSp>
        <p:nvGrpSpPr>
          <p:cNvPr id="99" name="组合 98"/>
          <p:cNvGrpSpPr/>
          <p:nvPr>
            <p:custDataLst>
              <p:tags r:id="rId3"/>
            </p:custDataLst>
          </p:nvPr>
        </p:nvGrpSpPr>
        <p:grpSpPr>
          <a:xfrm>
            <a:off x="4503593" y="4509001"/>
            <a:ext cx="5372100" cy="534987"/>
            <a:chOff x="3261805" y="4046141"/>
            <a:chExt cx="5372100" cy="534987"/>
          </a:xfrm>
        </p:grpSpPr>
        <p:grpSp>
          <p:nvGrpSpPr>
            <p:cNvPr id="100" name="组合 99"/>
            <p:cNvGrpSpPr/>
            <p:nvPr/>
          </p:nvGrpSpPr>
          <p:grpSpPr>
            <a:xfrm>
              <a:off x="3261805" y="4046141"/>
              <a:ext cx="689447" cy="534987"/>
              <a:chOff x="3261805" y="3969748"/>
              <a:chExt cx="689447" cy="534987"/>
            </a:xfrm>
          </p:grpSpPr>
          <p:sp>
            <p:nvSpPr>
              <p:cNvPr id="106" name="矩形 105"/>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7"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1" name="组合 100"/>
            <p:cNvGrpSpPr/>
            <p:nvPr/>
          </p:nvGrpSpPr>
          <p:grpSpPr>
            <a:xfrm>
              <a:off x="3923792" y="4046141"/>
              <a:ext cx="4710113" cy="534987"/>
              <a:chOff x="3923792" y="3969748"/>
              <a:chExt cx="4710113" cy="534987"/>
            </a:xfrm>
          </p:grpSpPr>
          <p:sp>
            <p:nvSpPr>
              <p:cNvPr id="102"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3" name="矩形 102"/>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4" name="直接连接符 103"/>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5"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8" name="组合 107"/>
          <p:cNvGrpSpPr/>
          <p:nvPr>
            <p:custDataLst>
              <p:tags r:id="rId4"/>
            </p:custDataLst>
          </p:nvPr>
        </p:nvGrpSpPr>
        <p:grpSpPr>
          <a:xfrm>
            <a:off x="4517645" y="2868283"/>
            <a:ext cx="5370513" cy="534987"/>
            <a:chOff x="3275856" y="2348880"/>
            <a:chExt cx="5370513" cy="534987"/>
          </a:xfrm>
        </p:grpSpPr>
        <p:grpSp>
          <p:nvGrpSpPr>
            <p:cNvPr id="109" name="组合 108"/>
            <p:cNvGrpSpPr/>
            <p:nvPr/>
          </p:nvGrpSpPr>
          <p:grpSpPr>
            <a:xfrm>
              <a:off x="3275856" y="2348880"/>
              <a:ext cx="689474" cy="534987"/>
              <a:chOff x="3275856" y="2407756"/>
              <a:chExt cx="689474" cy="534987"/>
            </a:xfrm>
          </p:grpSpPr>
          <p:sp>
            <p:nvSpPr>
              <p:cNvPr id="115" name="矩形 114"/>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0" name="组合 109"/>
            <p:cNvGrpSpPr/>
            <p:nvPr/>
          </p:nvGrpSpPr>
          <p:grpSpPr>
            <a:xfrm>
              <a:off x="3937844" y="2348880"/>
              <a:ext cx="4708525" cy="534987"/>
              <a:chOff x="3937844" y="2407756"/>
              <a:chExt cx="4708525" cy="534987"/>
            </a:xfrm>
          </p:grpSpPr>
          <p:sp>
            <p:nvSpPr>
              <p:cNvPr id="111"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12" name="矩形 111"/>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53</a:t>
            </a:fld>
            <a:endParaRPr lang="zh-HK" altLang="en-US" sz="1600" dirty="0">
              <a:solidFill>
                <a:schemeClr val="bg1"/>
              </a:solidFill>
            </a:endParaRPr>
          </a:p>
        </p:txBody>
      </p:sp>
      <p:pic>
        <p:nvPicPr>
          <p:cNvPr id="2" name="图片 1"/>
          <p:cNvPicPr>
            <a:picLocks noChangeAspect="1"/>
          </p:cNvPicPr>
          <p:nvPr/>
        </p:nvPicPr>
        <p:blipFill>
          <a:blip r:embed="rId3"/>
          <a:stretch>
            <a:fillRect/>
          </a:stretch>
        </p:blipFill>
        <p:spPr>
          <a:xfrm>
            <a:off x="1776095" y="1629410"/>
            <a:ext cx="9239250" cy="2324100"/>
          </a:xfrm>
          <a:prstGeom prst="rect">
            <a:avLst/>
          </a:prstGeom>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54</a:t>
            </a:fld>
            <a:endParaRPr lang="zh-HK" altLang="en-US" sz="1600" dirty="0">
              <a:solidFill>
                <a:schemeClr val="bg1"/>
              </a:solidFill>
            </a:endParaRPr>
          </a:p>
        </p:txBody>
      </p:sp>
      <p:pic>
        <p:nvPicPr>
          <p:cNvPr id="3" name="图片 2"/>
          <p:cNvPicPr>
            <a:picLocks noChangeAspect="1"/>
          </p:cNvPicPr>
          <p:nvPr/>
        </p:nvPicPr>
        <p:blipFill>
          <a:blip r:embed="rId3"/>
          <a:stretch>
            <a:fillRect/>
          </a:stretch>
        </p:blipFill>
        <p:spPr>
          <a:xfrm>
            <a:off x="1991995" y="980440"/>
            <a:ext cx="9444990" cy="5009515"/>
          </a:xfrm>
          <a:prstGeom prst="rect">
            <a:avLst/>
          </a:prstGeom>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55</a:t>
            </a:fld>
            <a:endParaRPr lang="zh-HK" altLang="en-US" sz="1600" dirty="0">
              <a:solidFill>
                <a:schemeClr val="bg1"/>
              </a:solidFill>
            </a:endParaRPr>
          </a:p>
        </p:txBody>
      </p:sp>
      <p:pic>
        <p:nvPicPr>
          <p:cNvPr id="2" name="图片 1"/>
          <p:cNvPicPr>
            <a:picLocks noChangeAspect="1"/>
          </p:cNvPicPr>
          <p:nvPr/>
        </p:nvPicPr>
        <p:blipFill>
          <a:blip r:embed="rId3"/>
          <a:stretch>
            <a:fillRect/>
          </a:stretch>
        </p:blipFill>
        <p:spPr>
          <a:xfrm>
            <a:off x="3719999" y="772376"/>
            <a:ext cx="5944065" cy="5712244"/>
          </a:xfrm>
          <a:prstGeom prst="rect">
            <a:avLst/>
          </a:prstGeom>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56</a:t>
            </a:fld>
            <a:endParaRPr lang="zh-HK" altLang="en-US" sz="1600" dirty="0">
              <a:solidFill>
                <a:schemeClr val="bg1"/>
              </a:solidFill>
            </a:endParaRPr>
          </a:p>
        </p:txBody>
      </p:sp>
      <p:pic>
        <p:nvPicPr>
          <p:cNvPr id="2" name="图片 1"/>
          <p:cNvPicPr>
            <a:picLocks noChangeAspect="1"/>
          </p:cNvPicPr>
          <p:nvPr/>
        </p:nvPicPr>
        <p:blipFill>
          <a:blip r:embed="rId3"/>
          <a:stretch>
            <a:fillRect/>
          </a:stretch>
        </p:blipFill>
        <p:spPr>
          <a:xfrm>
            <a:off x="1271905" y="1053465"/>
            <a:ext cx="9992360" cy="5248910"/>
          </a:xfrm>
          <a:prstGeom prst="rect">
            <a:avLst/>
          </a:prstGeom>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57</a:t>
            </a:fld>
            <a:endParaRPr lang="zh-HK" altLang="en-US" sz="1600" dirty="0">
              <a:solidFill>
                <a:schemeClr val="bg1"/>
              </a:solidFill>
            </a:endParaRPr>
          </a:p>
        </p:txBody>
      </p:sp>
      <p:pic>
        <p:nvPicPr>
          <p:cNvPr id="2" name="图片 1"/>
          <p:cNvPicPr>
            <a:picLocks noChangeAspect="1"/>
          </p:cNvPicPr>
          <p:nvPr/>
        </p:nvPicPr>
        <p:blipFill>
          <a:blip r:embed="rId3"/>
          <a:stretch>
            <a:fillRect/>
          </a:stretch>
        </p:blipFill>
        <p:spPr>
          <a:xfrm>
            <a:off x="1237615" y="720725"/>
            <a:ext cx="9622790" cy="3168015"/>
          </a:xfrm>
          <a:prstGeom prst="rect">
            <a:avLst/>
          </a:prstGeom>
        </p:spPr>
      </p:pic>
      <p:pic>
        <p:nvPicPr>
          <p:cNvPr id="3" name="图片 2"/>
          <p:cNvPicPr>
            <a:picLocks noChangeAspect="1"/>
          </p:cNvPicPr>
          <p:nvPr/>
        </p:nvPicPr>
        <p:blipFill>
          <a:blip r:embed="rId4"/>
          <a:stretch>
            <a:fillRect/>
          </a:stretch>
        </p:blipFill>
        <p:spPr>
          <a:xfrm>
            <a:off x="1452245" y="3892550"/>
            <a:ext cx="8902065" cy="2629535"/>
          </a:xfrm>
          <a:prstGeom prst="rect">
            <a:avLst/>
          </a:prstGeom>
        </p:spPr>
      </p:pic>
      <mc:AlternateContent xmlns:mc="http://schemas.openxmlformats.org/markup-compatibility/2006" xmlns:p14="http://schemas.microsoft.com/office/powerpoint/2010/main">
        <mc:Choice Requires="p14">
          <p:contentPart p14:bwMode="auto" r:id="rId5">
            <p14:nvContentPartPr>
              <p14:cNvPr id="4" name="墨迹 3"/>
              <p14:cNvContentPartPr/>
              <p14:nvPr/>
            </p14:nvContentPartPr>
            <p14:xfrm>
              <a:off x="5555880" y="1599200"/>
              <a:ext cx="1270440" cy="7920"/>
            </p14:xfrm>
          </p:contentPart>
        </mc:Choice>
        <mc:Fallback xmlns="">
          <p:pic>
            <p:nvPicPr>
              <p:cNvPr id="4" name="墨迹 3"/>
            </p:nvPicPr>
            <p:blipFill>
              <a:blip r:embed="rId6"/>
            </p:blipFill>
            <p:spPr>
              <a:xfrm>
                <a:off x="5555880" y="1599200"/>
                <a:ext cx="1270440" cy="7920"/>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5" name="墨迹 4"/>
              <p14:cNvContentPartPr/>
              <p14:nvPr/>
            </p14:nvContentPartPr>
            <p14:xfrm>
              <a:off x="7181640" y="1542680"/>
              <a:ext cx="2412720" cy="27000"/>
            </p14:xfrm>
          </p:contentPart>
        </mc:Choice>
        <mc:Fallback xmlns="">
          <p:pic>
            <p:nvPicPr>
              <p:cNvPr id="5" name="墨迹 4"/>
            </p:nvPicPr>
            <p:blipFill>
              <a:blip r:embed="rId8"/>
            </p:blipFill>
            <p:spPr>
              <a:xfrm>
                <a:off x="7181640" y="1542680"/>
                <a:ext cx="2412720" cy="27000"/>
              </a:xfrm>
              <a:prstGeom prst="rect"/>
            </p:spPr>
          </p:pic>
        </mc:Fallback>
      </mc:AlternateContent>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58</a:t>
            </a:fld>
            <a:endParaRPr lang="zh-HK" altLang="en-US" sz="1600" dirty="0">
              <a:solidFill>
                <a:schemeClr val="bg1"/>
              </a:solidFill>
            </a:endParaRPr>
          </a:p>
        </p:txBody>
      </p:sp>
      <p:pic>
        <p:nvPicPr>
          <p:cNvPr id="2" name="图片 1"/>
          <p:cNvPicPr>
            <a:picLocks noChangeAspect="1"/>
          </p:cNvPicPr>
          <p:nvPr/>
        </p:nvPicPr>
        <p:blipFill>
          <a:blip r:embed="rId3"/>
          <a:stretch>
            <a:fillRect/>
          </a:stretch>
        </p:blipFill>
        <p:spPr>
          <a:xfrm>
            <a:off x="191770" y="785495"/>
            <a:ext cx="8064230" cy="3667028"/>
          </a:xfrm>
          <a:prstGeom prst="rect">
            <a:avLst/>
          </a:prstGeom>
        </p:spPr>
      </p:pic>
      <p:pic>
        <p:nvPicPr>
          <p:cNvPr id="4" name="图片 3"/>
          <p:cNvPicPr>
            <a:picLocks noChangeAspect="1"/>
          </p:cNvPicPr>
          <p:nvPr/>
        </p:nvPicPr>
        <p:blipFill>
          <a:blip r:embed="rId4"/>
          <a:stretch>
            <a:fillRect/>
          </a:stretch>
        </p:blipFill>
        <p:spPr>
          <a:xfrm>
            <a:off x="3864000" y="4246881"/>
            <a:ext cx="7717765" cy="2259329"/>
          </a:xfrm>
          <a:prstGeom prst="rect">
            <a:avLst/>
          </a:prstGeom>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66"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59</a:t>
            </a:fld>
            <a:endParaRPr lang="zh-HK" altLang="en-US">
              <a:solidFill>
                <a:prstClr val="black">
                  <a:tint val="75000"/>
                </a:prstClr>
              </a:solidFill>
            </a:endParaRPr>
          </a:p>
        </p:txBody>
      </p:sp>
      <p:grpSp>
        <p:nvGrpSpPr>
          <p:cNvPr id="8" name="组合 7"/>
          <p:cNvGrpSpPr/>
          <p:nvPr/>
        </p:nvGrpSpPr>
        <p:grpSpPr>
          <a:xfrm>
            <a:off x="-1" y="6553200"/>
            <a:ext cx="12192001" cy="304800"/>
            <a:chOff x="0" y="6569404"/>
            <a:chExt cx="9144000" cy="288000"/>
          </a:xfrm>
        </p:grpSpPr>
        <p:sp>
          <p:nvSpPr>
            <p:cNvPr id="9"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59</a:t>
            </a:fld>
            <a:endParaRPr lang="zh-HK" altLang="en-US" sz="1600" dirty="0">
              <a:solidFill>
                <a:schemeClr val="bg1"/>
              </a:solidFill>
            </a:endParaRPr>
          </a:p>
        </p:txBody>
      </p:sp>
      <p:pic>
        <p:nvPicPr>
          <p:cNvPr id="24" name="图片 23"/>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67" name="组合 18"/>
          <p:cNvGrpSpPr/>
          <p:nvPr/>
        </p:nvGrpSpPr>
        <p:grpSpPr bwMode="auto">
          <a:xfrm>
            <a:off x="2409457" y="2650330"/>
            <a:ext cx="1505450" cy="1479472"/>
            <a:chOff x="1709739" y="2636838"/>
            <a:chExt cx="1590160" cy="1584325"/>
          </a:xfrm>
          <a:solidFill>
            <a:srgbClr val="044875"/>
          </a:solidFill>
        </p:grpSpPr>
        <p:sp>
          <p:nvSpPr>
            <p:cNvPr id="68"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3"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4"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5"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6"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7" name="文本框 76"/>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8" name="组合 77"/>
          <p:cNvGrpSpPr/>
          <p:nvPr>
            <p:custDataLst>
              <p:tags r:id="rId1"/>
            </p:custDataLst>
          </p:nvPr>
        </p:nvGrpSpPr>
        <p:grpSpPr>
          <a:xfrm>
            <a:off x="4523741" y="2047924"/>
            <a:ext cx="5370513" cy="534987"/>
            <a:chOff x="3281952" y="1484784"/>
            <a:chExt cx="5370513" cy="534987"/>
          </a:xfrm>
        </p:grpSpPr>
        <p:grpSp>
          <p:nvGrpSpPr>
            <p:cNvPr id="79" name="组合 78"/>
            <p:cNvGrpSpPr/>
            <p:nvPr/>
          </p:nvGrpSpPr>
          <p:grpSpPr>
            <a:xfrm>
              <a:off x="3943940" y="1484784"/>
              <a:ext cx="4708525" cy="534987"/>
              <a:chOff x="3943940" y="1626760"/>
              <a:chExt cx="4708525" cy="534987"/>
            </a:xfrm>
          </p:grpSpPr>
          <p:sp>
            <p:nvSpPr>
              <p:cNvPr id="83"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4"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5" name="矩形 84"/>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80" name="组合 79"/>
            <p:cNvGrpSpPr/>
            <p:nvPr/>
          </p:nvGrpSpPr>
          <p:grpSpPr>
            <a:xfrm>
              <a:off x="3281952" y="1484784"/>
              <a:ext cx="689642" cy="534987"/>
              <a:chOff x="3281952" y="1626760"/>
              <a:chExt cx="689642" cy="534987"/>
            </a:xfrm>
          </p:grpSpPr>
          <p:sp>
            <p:nvSpPr>
              <p:cNvPr id="81" name="矩形 80"/>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2"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8" name="组合 87"/>
          <p:cNvGrpSpPr/>
          <p:nvPr>
            <p:custDataLst>
              <p:tags r:id="rId2"/>
            </p:custDataLst>
          </p:nvPr>
        </p:nvGrpSpPr>
        <p:grpSpPr>
          <a:xfrm>
            <a:off x="4503593" y="3688642"/>
            <a:ext cx="5372100" cy="534987"/>
            <a:chOff x="3261805" y="3188752"/>
            <a:chExt cx="5372100" cy="534987"/>
          </a:xfrm>
        </p:grpSpPr>
        <p:grpSp>
          <p:nvGrpSpPr>
            <p:cNvPr id="91" name="组合 90"/>
            <p:cNvGrpSpPr/>
            <p:nvPr/>
          </p:nvGrpSpPr>
          <p:grpSpPr>
            <a:xfrm>
              <a:off x="3261805" y="3188752"/>
              <a:ext cx="689593" cy="534987"/>
              <a:chOff x="3261805" y="3188752"/>
              <a:chExt cx="689593" cy="534987"/>
            </a:xfrm>
          </p:grpSpPr>
          <p:sp>
            <p:nvSpPr>
              <p:cNvPr id="103" name="矩形 10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4"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95" name="组合 94"/>
            <p:cNvGrpSpPr/>
            <p:nvPr/>
          </p:nvGrpSpPr>
          <p:grpSpPr>
            <a:xfrm>
              <a:off x="3923792" y="3188752"/>
              <a:ext cx="4710113" cy="534987"/>
              <a:chOff x="3923792" y="3188752"/>
              <a:chExt cx="4710113" cy="534987"/>
            </a:xfrm>
          </p:grpSpPr>
          <p:sp>
            <p:nvSpPr>
              <p:cNvPr id="99"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0" name="矩形 9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1" name="直接连接符 10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2"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5" name="组合 104"/>
          <p:cNvGrpSpPr/>
          <p:nvPr>
            <p:custDataLst>
              <p:tags r:id="rId3"/>
            </p:custDataLst>
          </p:nvPr>
        </p:nvGrpSpPr>
        <p:grpSpPr>
          <a:xfrm>
            <a:off x="4503593" y="4509001"/>
            <a:ext cx="5372100" cy="534987"/>
            <a:chOff x="3261805" y="4046141"/>
            <a:chExt cx="5372100" cy="534987"/>
          </a:xfrm>
        </p:grpSpPr>
        <p:grpSp>
          <p:nvGrpSpPr>
            <p:cNvPr id="106" name="组合 105"/>
            <p:cNvGrpSpPr/>
            <p:nvPr/>
          </p:nvGrpSpPr>
          <p:grpSpPr>
            <a:xfrm>
              <a:off x="3261805" y="4046141"/>
              <a:ext cx="689447" cy="534987"/>
              <a:chOff x="3261805" y="3969748"/>
              <a:chExt cx="689447" cy="534987"/>
            </a:xfrm>
          </p:grpSpPr>
          <p:sp>
            <p:nvSpPr>
              <p:cNvPr id="115" name="矩形 114"/>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107" name="组合 106"/>
            <p:cNvGrpSpPr/>
            <p:nvPr/>
          </p:nvGrpSpPr>
          <p:grpSpPr>
            <a:xfrm>
              <a:off x="3923792" y="4046141"/>
              <a:ext cx="4710113" cy="534987"/>
              <a:chOff x="3923792" y="3969748"/>
              <a:chExt cx="4710113" cy="534987"/>
            </a:xfrm>
          </p:grpSpPr>
          <p:sp>
            <p:nvSpPr>
              <p:cNvPr id="108"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12" name="矩形 111"/>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117" name="组合 116"/>
          <p:cNvGrpSpPr/>
          <p:nvPr>
            <p:custDataLst>
              <p:tags r:id="rId4"/>
            </p:custDataLst>
          </p:nvPr>
        </p:nvGrpSpPr>
        <p:grpSpPr>
          <a:xfrm>
            <a:off x="4517645" y="2868283"/>
            <a:ext cx="5370513" cy="534987"/>
            <a:chOff x="3275856" y="2348880"/>
            <a:chExt cx="5370513" cy="534987"/>
          </a:xfrm>
        </p:grpSpPr>
        <p:grpSp>
          <p:nvGrpSpPr>
            <p:cNvPr id="118" name="组合 117"/>
            <p:cNvGrpSpPr/>
            <p:nvPr/>
          </p:nvGrpSpPr>
          <p:grpSpPr>
            <a:xfrm>
              <a:off x="3275856" y="2348880"/>
              <a:ext cx="689474" cy="534987"/>
              <a:chOff x="3275856" y="2407756"/>
              <a:chExt cx="689474" cy="534987"/>
            </a:xfrm>
          </p:grpSpPr>
          <p:sp>
            <p:nvSpPr>
              <p:cNvPr id="124" name="矩形 123"/>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5"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9" name="组合 118"/>
            <p:cNvGrpSpPr/>
            <p:nvPr/>
          </p:nvGrpSpPr>
          <p:grpSpPr>
            <a:xfrm>
              <a:off x="3937844" y="2348880"/>
              <a:ext cx="4708525" cy="534987"/>
              <a:chOff x="3937844" y="2407756"/>
              <a:chExt cx="4708525" cy="534987"/>
            </a:xfrm>
          </p:grpSpPr>
          <p:sp>
            <p:nvSpPr>
              <p:cNvPr id="120"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21" name="矩形 120"/>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22" name="直接连接符 121"/>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3"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Future Work</a:t>
            </a:r>
          </a:p>
        </p:txBody>
      </p:sp>
      <p:sp>
        <p:nvSpPr>
          <p:cNvPr id="2" name="矩形 1"/>
          <p:cNvSpPr/>
          <p:nvPr/>
        </p:nvSpPr>
        <p:spPr>
          <a:xfrm>
            <a:off x="264000" y="980999"/>
            <a:ext cx="11736000" cy="3096001"/>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3" name="矩形 2"/>
          <p:cNvSpPr/>
          <p:nvPr/>
        </p:nvSpPr>
        <p:spPr>
          <a:xfrm>
            <a:off x="631210" y="752888"/>
            <a:ext cx="1864789" cy="51611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Contributions</a:t>
            </a:r>
          </a:p>
        </p:txBody>
      </p:sp>
      <p:sp>
        <p:nvSpPr>
          <p:cNvPr id="14" name="文本框 13"/>
          <p:cNvSpPr txBox="1"/>
          <p:nvPr/>
        </p:nvSpPr>
        <p:spPr>
          <a:xfrm>
            <a:off x="451882" y="1484020"/>
            <a:ext cx="11357425" cy="1938020"/>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en-US" altLang="zh-CN" sz="2000" dirty="0">
                <a:ea typeface="微软雅黑" panose="020B0503020204020204" charset="-122"/>
              </a:rPr>
              <a:t>This work introduces a quantum-enhanced forecasting framework for multivariate time-series analysis. Through the incorporation of frequency-domain transformations and graph-based relational modeling, the framework establishes a structured pipeline for capturing both global periodic patterns and local temporal dependencies. </a:t>
            </a:r>
          </a:p>
        </p:txBody>
      </p:sp>
      <p:grpSp>
        <p:nvGrpSpPr>
          <p:cNvPr id="20" name="组合 19"/>
          <p:cNvGrpSpPr/>
          <p:nvPr/>
        </p:nvGrpSpPr>
        <p:grpSpPr>
          <a:xfrm>
            <a:off x="-1" y="6553200"/>
            <a:ext cx="12192001" cy="304800"/>
            <a:chOff x="0" y="6569404"/>
            <a:chExt cx="9144000" cy="288000"/>
          </a:xfrm>
        </p:grpSpPr>
        <p:sp>
          <p:nvSpPr>
            <p:cNvPr id="21"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2"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60</a:t>
            </a:fld>
            <a:endParaRPr lang="zh-HK" altLang="en-US" sz="1600" dirty="0">
              <a:solidFill>
                <a:schemeClr val="bg1"/>
              </a:solidFill>
            </a:endParaRPr>
          </a:p>
        </p:txBody>
      </p:sp>
      <p:sp>
        <p:nvSpPr>
          <p:cNvPr id="4" name="矩形 3"/>
          <p:cNvSpPr/>
          <p:nvPr/>
        </p:nvSpPr>
        <p:spPr>
          <a:xfrm>
            <a:off x="241320" y="4271670"/>
            <a:ext cx="11736000" cy="1915262"/>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5" name="矩形 4"/>
          <p:cNvSpPr/>
          <p:nvPr/>
        </p:nvSpPr>
        <p:spPr>
          <a:xfrm>
            <a:off x="349808" y="4395309"/>
            <a:ext cx="1864788" cy="2763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Future Work</a:t>
            </a:r>
          </a:p>
        </p:txBody>
      </p:sp>
      <p:sp>
        <p:nvSpPr>
          <p:cNvPr id="6" name="文本框 5"/>
          <p:cNvSpPr txBox="1"/>
          <p:nvPr/>
        </p:nvSpPr>
        <p:spPr>
          <a:xfrm>
            <a:off x="551577" y="4822850"/>
            <a:ext cx="11357425" cy="1014730"/>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en-US" altLang="zh-CN" sz="2000" dirty="0">
                <a:ea typeface="微软雅黑" panose="020B0503020204020204" charset="-122"/>
              </a:rPr>
              <a:t>Future research should consider algorithmic refinements to reduce computational complexity, such as incorporating approximate quantum transformations or sparse spectral filtering. </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2374" y="1960245"/>
            <a:ext cx="12748565" cy="2525451"/>
            <a:chOff x="1522095" y="1960245"/>
            <a:chExt cx="9527981" cy="2525451"/>
          </a:xfrm>
        </p:grpSpPr>
        <p:sp>
          <p:nvSpPr>
            <p:cNvPr id="8"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9" name="文本框 8"/>
            <p:cNvSpPr txBox="1"/>
            <p:nvPr/>
          </p:nvSpPr>
          <p:spPr>
            <a:xfrm>
              <a:off x="1818014" y="2154890"/>
              <a:ext cx="8555970" cy="1305165"/>
            </a:xfrm>
            <a:prstGeom prst="rect">
              <a:avLst/>
            </a:prstGeom>
            <a:noFill/>
          </p:spPr>
          <p:txBody>
            <a:bodyPr wrap="square" rtlCol="0" anchor="ctr">
              <a:spAutoFit/>
            </a:bodyPr>
            <a:lstStyle/>
            <a:p>
              <a:pPr algn="ctr">
                <a:lnSpc>
                  <a:spcPct val="150000"/>
                </a:lnSpc>
              </a:pPr>
              <a:r>
                <a:rPr lang="en-US" altLang="zh-CN" sz="2800" b="1">
                  <a:solidFill>
                    <a:schemeClr val="bg1"/>
                  </a:solidFill>
                  <a:latin typeface="Arial" panose="020B0604020202020204" pitchFamily="34" charset="0"/>
                  <a:ea typeface="微软雅黑" panose="020B0503020204020204" charset="-122"/>
                  <a:cs typeface="Arial" panose="020B0604020202020204" pitchFamily="34" charset="0"/>
                </a:rPr>
                <a:t>Towards provably efficient quantum</a:t>
              </a:r>
            </a:p>
            <a:p>
              <a:pPr algn="ctr">
                <a:lnSpc>
                  <a:spcPct val="150000"/>
                </a:lnSpc>
              </a:pPr>
              <a:r>
                <a:rPr lang="en-US" altLang="zh-CN" sz="2800" b="1">
                  <a:solidFill>
                    <a:schemeClr val="bg1"/>
                  </a:solidFill>
                  <a:latin typeface="Arial" panose="020B0604020202020204" pitchFamily="34" charset="0"/>
                  <a:ea typeface="微软雅黑" panose="020B0503020204020204" charset="-122"/>
                  <a:cs typeface="Arial" panose="020B0604020202020204" pitchFamily="34" charset="0"/>
                </a:rPr>
                <a:t>algorithms for large-scale machinelearning models</a:t>
              </a:r>
              <a:endPar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3" name="文本框 2"/>
            <p:cNvSpPr txBox="1"/>
            <p:nvPr/>
          </p:nvSpPr>
          <p:spPr>
            <a:xfrm>
              <a:off x="1687636" y="3654699"/>
              <a:ext cx="9362440" cy="830997"/>
            </a:xfrm>
            <a:prstGeom prst="rect">
              <a:avLst/>
            </a:prstGeom>
            <a:noFill/>
          </p:spPr>
          <p:txBody>
            <a:bodyPr wrap="square" rtlCol="0">
              <a:spAutoFit/>
            </a:bodyPr>
            <a:lstStyle/>
            <a:p>
              <a:r>
                <a:rPr lang="en-US" altLang="zh-CN" sz="1600">
                  <a:solidFill>
                    <a:schemeClr val="bg1"/>
                  </a:solidFill>
                  <a:latin typeface="Arial" panose="020B0604020202020204" pitchFamily="34" charset="0"/>
                  <a:cs typeface="Arial" panose="020B0604020202020204" pitchFamily="34" charset="0"/>
                </a:rPr>
                <a:t>Junyu Liu, Minzhao Liu, Jin-Peng Liu, Ziyu Ye</a:t>
              </a:r>
            </a:p>
            <a:p>
              <a:r>
                <a:rPr lang="en-US" altLang="zh-CN" sz="1600">
                  <a:solidFill>
                    <a:schemeClr val="bg1"/>
                  </a:solidFill>
                  <a:latin typeface="Arial" panose="020B0604020202020204" pitchFamily="34" charset="0"/>
                  <a:cs typeface="Arial" panose="020B0604020202020204" pitchFamily="34" charset="0"/>
                </a:rPr>
                <a:t>,</a:t>
              </a:r>
            </a:p>
            <a:p>
              <a:r>
                <a:rPr lang="en-US" altLang="zh-CN" sz="1600">
                  <a:solidFill>
                    <a:schemeClr val="bg1"/>
                  </a:solidFill>
                  <a:latin typeface="Arial" panose="020B0604020202020204" pitchFamily="34" charset="0"/>
                  <a:cs typeface="Arial" panose="020B0604020202020204" pitchFamily="34" charset="0"/>
                </a:rPr>
                <a:t>Yunfei Wang12, Yuri Alexeev2,3,8, Jens Eisert 13 &amp; Liang Jiang</a:t>
              </a:r>
              <a:endParaRPr lang="zh-CN" altLang="en-US" sz="1600" dirty="0">
                <a:solidFill>
                  <a:schemeClr val="bg1"/>
                </a:solidFill>
                <a:latin typeface="Arial" panose="020B0604020202020204" pitchFamily="34" charset="0"/>
                <a:cs typeface="Arial" panose="020B0604020202020204" pitchFamily="34" charset="0"/>
              </a:endParaRPr>
            </a:p>
          </p:txBody>
        </p:sp>
      </p:grpSp>
      <p:sp>
        <p:nvSpPr>
          <p:cNvPr id="2"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4</a:t>
            </a:r>
            <a:endParaRPr lang="zh-HK" altLang="en-US"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6" name="组合 15"/>
          <p:cNvGrpSpPr/>
          <p:nvPr/>
        </p:nvGrpSpPr>
        <p:grpSpPr>
          <a:xfrm>
            <a:off x="-1" y="6553200"/>
            <a:ext cx="12192001" cy="304800"/>
            <a:chOff x="0" y="6569404"/>
            <a:chExt cx="9144000" cy="288000"/>
          </a:xfrm>
        </p:grpSpPr>
        <p:sp>
          <p:nvSpPr>
            <p:cNvPr id="17"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61</a:t>
            </a:fld>
            <a:endParaRPr lang="zh-HK" altLang="en-US" sz="1600" dirty="0">
              <a:solidFill>
                <a:schemeClr val="bg1"/>
              </a:solidFill>
            </a:endParaRPr>
          </a:p>
        </p:txBody>
      </p:sp>
      <p:grpSp>
        <p:nvGrpSpPr>
          <p:cNvPr id="10" name="组合 9"/>
          <p:cNvGrpSpPr/>
          <p:nvPr/>
        </p:nvGrpSpPr>
        <p:grpSpPr>
          <a:xfrm>
            <a:off x="351876" y="4596014"/>
            <a:ext cx="11648124" cy="1117600"/>
            <a:chOff x="623" y="7327"/>
            <a:chExt cx="15962" cy="1760"/>
          </a:xfrm>
        </p:grpSpPr>
        <p:sp>
          <p:nvSpPr>
            <p:cNvPr id="12" name="文本框 11"/>
            <p:cNvSpPr txBox="1"/>
            <p:nvPr/>
          </p:nvSpPr>
          <p:spPr>
            <a:xfrm>
              <a:off x="623" y="7327"/>
              <a:ext cx="15962" cy="582"/>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in: </a:t>
              </a:r>
              <a:r>
                <a:rPr lang="en-US" altLang="zh-CN">
                  <a:latin typeface="Arial" panose="020B0604020202020204" pitchFamily="34" charset="0"/>
                  <a:cs typeface="Arial" panose="020B0604020202020204" pitchFamily="34" charset="0"/>
                </a:rPr>
                <a:t>Nature Communication</a:t>
              </a:r>
              <a:endParaRPr lang="en-US" altLang="zh-CN" dirty="0">
                <a:latin typeface="Arial" panose="020B0604020202020204" pitchFamily="34" charset="0"/>
                <a:cs typeface="Arial" panose="020B0604020202020204" pitchFamily="34" charset="0"/>
              </a:endParaRPr>
            </a:p>
          </p:txBody>
        </p:sp>
        <p:sp>
          <p:nvSpPr>
            <p:cNvPr id="14" name="文本框 13"/>
            <p:cNvSpPr txBox="1"/>
            <p:nvPr/>
          </p:nvSpPr>
          <p:spPr>
            <a:xfrm>
              <a:off x="623" y="8507"/>
              <a:ext cx="9184" cy="58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Published Time</a:t>
              </a:r>
              <a:r>
                <a:rPr lang="en-US" altLang="zh-CN" b="1">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 </a:t>
              </a:r>
              <a:r>
                <a:rPr lang="en-US" altLang="zh-CN">
                  <a:latin typeface="-apple-system"/>
                  <a:cs typeface="Arial" panose="020B0604020202020204" pitchFamily="34" charset="0"/>
                </a:rPr>
                <a:t>2024</a:t>
              </a:r>
              <a:endParaRPr lang="en-US" altLang="zh-CN" dirty="0">
                <a:latin typeface="Arial" panose="020B0604020202020204" pitchFamily="34" charset="0"/>
                <a:cs typeface="Arial" panose="020B0604020202020204" pitchFamily="34" charset="0"/>
              </a:endParaRPr>
            </a:p>
          </p:txBody>
        </p:sp>
      </p:grpSp>
      <p:pic>
        <p:nvPicPr>
          <p:cNvPr id="15" name="图片 14"/>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18"/>
          <p:cNvGrpSpPr/>
          <p:nvPr/>
        </p:nvGrpSpPr>
        <p:grpSpPr bwMode="auto">
          <a:xfrm>
            <a:off x="2409457" y="2650330"/>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9" name="组合 18"/>
          <p:cNvGrpSpPr/>
          <p:nvPr>
            <p:custDataLst>
              <p:tags r:id="rId1"/>
            </p:custDataLst>
          </p:nvPr>
        </p:nvGrpSpPr>
        <p:grpSpPr>
          <a:xfrm>
            <a:off x="4523741" y="2047924"/>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2" name="组合 21"/>
          <p:cNvGrpSpPr/>
          <p:nvPr>
            <p:custDataLst>
              <p:tags r:id="rId2"/>
            </p:custDataLst>
          </p:nvPr>
        </p:nvGrpSpPr>
        <p:grpSpPr>
          <a:xfrm>
            <a:off x="4503593" y="3688642"/>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3" name="组合 22"/>
          <p:cNvGrpSpPr/>
          <p:nvPr>
            <p:custDataLst>
              <p:tags r:id="rId3"/>
            </p:custDataLst>
          </p:nvPr>
        </p:nvGrpSpPr>
        <p:grpSpPr>
          <a:xfrm>
            <a:off x="4503593" y="4509001"/>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0" name="组合 19"/>
          <p:cNvGrpSpPr/>
          <p:nvPr>
            <p:custDataLst>
              <p:tags r:id="rId4"/>
            </p:custDataLst>
          </p:nvPr>
        </p:nvGrpSpPr>
        <p:grpSpPr>
          <a:xfrm>
            <a:off x="4517645" y="2868283"/>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7" name="组合 6"/>
          <p:cNvGrpSpPr/>
          <p:nvPr/>
        </p:nvGrpSpPr>
        <p:grpSpPr>
          <a:xfrm>
            <a:off x="-1" y="6553200"/>
            <a:ext cx="12192001" cy="304800"/>
            <a:chOff x="0" y="6569404"/>
            <a:chExt cx="9144000" cy="288000"/>
          </a:xfrm>
        </p:grpSpPr>
        <p:sp>
          <p:nvSpPr>
            <p:cNvPr id="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62</a:t>
            </a:fld>
            <a:endParaRPr lang="zh-HK" altLang="en-US" sz="1600" dirty="0">
              <a:solidFill>
                <a:schemeClr val="bg1"/>
              </a:solidFill>
            </a:endParaRPr>
          </a:p>
        </p:txBody>
      </p:sp>
      <p:pic>
        <p:nvPicPr>
          <p:cNvPr id="25" name="图片 24"/>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 y="6553200"/>
            <a:ext cx="12192001" cy="304800"/>
            <a:chOff x="0" y="6569404"/>
            <a:chExt cx="9144000" cy="288000"/>
          </a:xfrm>
        </p:grpSpPr>
        <p:sp>
          <p:nvSpPr>
            <p:cNvPr id="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63</a:t>
            </a:fld>
            <a:endParaRPr lang="zh-HK" altLang="en-US" sz="1600" dirty="0">
              <a:solidFill>
                <a:schemeClr val="bg1"/>
              </a:solidFill>
            </a:endParaRPr>
          </a:p>
        </p:txBody>
      </p:sp>
      <p:pic>
        <p:nvPicPr>
          <p:cNvPr id="25" name="图片 24"/>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96" name="组合 18"/>
          <p:cNvGrpSpPr/>
          <p:nvPr/>
        </p:nvGrpSpPr>
        <p:grpSpPr bwMode="auto">
          <a:xfrm>
            <a:off x="2409457" y="2650330"/>
            <a:ext cx="1505450" cy="1479472"/>
            <a:chOff x="1709739" y="2636838"/>
            <a:chExt cx="1590160" cy="1584325"/>
          </a:xfrm>
          <a:solidFill>
            <a:srgbClr val="044875"/>
          </a:solidFill>
        </p:grpSpPr>
        <p:sp>
          <p:nvSpPr>
            <p:cNvPr id="497"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8"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9"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0"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1"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2"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3"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4"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5"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506" name="文本框 505"/>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07" name="组合 506"/>
          <p:cNvGrpSpPr/>
          <p:nvPr>
            <p:custDataLst>
              <p:tags r:id="rId1"/>
            </p:custDataLst>
          </p:nvPr>
        </p:nvGrpSpPr>
        <p:grpSpPr>
          <a:xfrm>
            <a:off x="4523741" y="2047924"/>
            <a:ext cx="5370513" cy="534987"/>
            <a:chOff x="3281952" y="1484784"/>
            <a:chExt cx="5370513" cy="534987"/>
          </a:xfrm>
        </p:grpSpPr>
        <p:grpSp>
          <p:nvGrpSpPr>
            <p:cNvPr id="508" name="组合 507"/>
            <p:cNvGrpSpPr/>
            <p:nvPr/>
          </p:nvGrpSpPr>
          <p:grpSpPr>
            <a:xfrm>
              <a:off x="3943940" y="1484784"/>
              <a:ext cx="4708525" cy="534987"/>
              <a:chOff x="3943940" y="1626760"/>
              <a:chExt cx="4708525" cy="534987"/>
            </a:xfrm>
          </p:grpSpPr>
          <p:sp>
            <p:nvSpPr>
              <p:cNvPr id="512"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13"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514" name="矩形 513"/>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15" name="直接连接符 514"/>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09" name="组合 508"/>
            <p:cNvGrpSpPr/>
            <p:nvPr/>
          </p:nvGrpSpPr>
          <p:grpSpPr>
            <a:xfrm>
              <a:off x="3281952" y="1484784"/>
              <a:ext cx="689642" cy="534987"/>
              <a:chOff x="3281952" y="1626760"/>
              <a:chExt cx="689642" cy="534987"/>
            </a:xfrm>
          </p:grpSpPr>
          <p:sp>
            <p:nvSpPr>
              <p:cNvPr id="510" name="矩形 509"/>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11"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516" name="组合 515"/>
          <p:cNvGrpSpPr/>
          <p:nvPr>
            <p:custDataLst>
              <p:tags r:id="rId2"/>
            </p:custDataLst>
          </p:nvPr>
        </p:nvGrpSpPr>
        <p:grpSpPr>
          <a:xfrm>
            <a:off x="4503593" y="3688642"/>
            <a:ext cx="5372100" cy="534987"/>
            <a:chOff x="3261805" y="3188752"/>
            <a:chExt cx="5372100" cy="534987"/>
          </a:xfrm>
        </p:grpSpPr>
        <p:grpSp>
          <p:nvGrpSpPr>
            <p:cNvPr id="517" name="组合 516"/>
            <p:cNvGrpSpPr/>
            <p:nvPr/>
          </p:nvGrpSpPr>
          <p:grpSpPr>
            <a:xfrm>
              <a:off x="3261805" y="3188752"/>
              <a:ext cx="689593" cy="534987"/>
              <a:chOff x="3261805" y="3188752"/>
              <a:chExt cx="689593" cy="534987"/>
            </a:xfrm>
          </p:grpSpPr>
          <p:sp>
            <p:nvSpPr>
              <p:cNvPr id="523" name="矩形 52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24"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518" name="组合 517"/>
            <p:cNvGrpSpPr/>
            <p:nvPr/>
          </p:nvGrpSpPr>
          <p:grpSpPr>
            <a:xfrm>
              <a:off x="3923792" y="3188752"/>
              <a:ext cx="4710113" cy="534987"/>
              <a:chOff x="3923792" y="3188752"/>
              <a:chExt cx="4710113" cy="534987"/>
            </a:xfrm>
          </p:grpSpPr>
          <p:sp>
            <p:nvSpPr>
              <p:cNvPr id="519"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20" name="矩形 51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1" name="直接连接符 52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2"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25" name="组合 524"/>
          <p:cNvGrpSpPr/>
          <p:nvPr>
            <p:custDataLst>
              <p:tags r:id="rId3"/>
            </p:custDataLst>
          </p:nvPr>
        </p:nvGrpSpPr>
        <p:grpSpPr>
          <a:xfrm>
            <a:off x="4503593" y="4509001"/>
            <a:ext cx="5372100" cy="534987"/>
            <a:chOff x="3261805" y="4046141"/>
            <a:chExt cx="5372100" cy="534987"/>
          </a:xfrm>
        </p:grpSpPr>
        <p:grpSp>
          <p:nvGrpSpPr>
            <p:cNvPr id="526" name="组合 525"/>
            <p:cNvGrpSpPr/>
            <p:nvPr/>
          </p:nvGrpSpPr>
          <p:grpSpPr>
            <a:xfrm>
              <a:off x="3261805" y="4046141"/>
              <a:ext cx="689447" cy="534987"/>
              <a:chOff x="3261805" y="3969748"/>
              <a:chExt cx="689447" cy="534987"/>
            </a:xfrm>
          </p:grpSpPr>
          <p:sp>
            <p:nvSpPr>
              <p:cNvPr id="532" name="矩形 531"/>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33"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527" name="组合 526"/>
            <p:cNvGrpSpPr/>
            <p:nvPr/>
          </p:nvGrpSpPr>
          <p:grpSpPr>
            <a:xfrm>
              <a:off x="3923792" y="4046141"/>
              <a:ext cx="4710113" cy="534987"/>
              <a:chOff x="3923792" y="3969748"/>
              <a:chExt cx="4710113" cy="534987"/>
            </a:xfrm>
          </p:grpSpPr>
          <p:sp>
            <p:nvSpPr>
              <p:cNvPr id="528"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529" name="矩形 528"/>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0" name="直接连接符 529"/>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1"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34" name="组合 533"/>
          <p:cNvGrpSpPr/>
          <p:nvPr>
            <p:custDataLst>
              <p:tags r:id="rId4"/>
            </p:custDataLst>
          </p:nvPr>
        </p:nvGrpSpPr>
        <p:grpSpPr>
          <a:xfrm>
            <a:off x="4517645" y="2868283"/>
            <a:ext cx="5370513" cy="534987"/>
            <a:chOff x="3275856" y="2348880"/>
            <a:chExt cx="5370513" cy="534987"/>
          </a:xfrm>
        </p:grpSpPr>
        <p:grpSp>
          <p:nvGrpSpPr>
            <p:cNvPr id="535" name="组合 534"/>
            <p:cNvGrpSpPr/>
            <p:nvPr/>
          </p:nvGrpSpPr>
          <p:grpSpPr>
            <a:xfrm>
              <a:off x="3275856" y="2348880"/>
              <a:ext cx="689474" cy="534987"/>
              <a:chOff x="3275856" y="2407756"/>
              <a:chExt cx="689474" cy="534987"/>
            </a:xfrm>
          </p:grpSpPr>
          <p:sp>
            <p:nvSpPr>
              <p:cNvPr id="541" name="矩形 540"/>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2"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536" name="组合 535"/>
            <p:cNvGrpSpPr/>
            <p:nvPr/>
          </p:nvGrpSpPr>
          <p:grpSpPr>
            <a:xfrm>
              <a:off x="3937844" y="2348880"/>
              <a:ext cx="4708525" cy="534987"/>
              <a:chOff x="3937844" y="2407756"/>
              <a:chExt cx="4708525" cy="534987"/>
            </a:xfrm>
          </p:grpSpPr>
          <p:sp>
            <p:nvSpPr>
              <p:cNvPr id="537"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38" name="矩形 537"/>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9" name="直接连接符 538"/>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40"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8" name="文本框 7"/>
          <p:cNvSpPr txBox="1"/>
          <p:nvPr/>
        </p:nvSpPr>
        <p:spPr>
          <a:xfrm>
            <a:off x="194275" y="1088933"/>
            <a:ext cx="11805725" cy="4196020"/>
          </a:xfrm>
          <a:prstGeom prst="rect">
            <a:avLst/>
          </a:prstGeom>
          <a:noFill/>
          <a:ln>
            <a:solidFill>
              <a:srgbClr val="0174AB"/>
            </a:solidFill>
          </a:ln>
        </p:spPr>
        <p:txBody>
          <a:bodyPr wrap="square" rtlCol="0">
            <a:spAutoFit/>
          </a:bodyPr>
          <a:lstStyle/>
          <a:p>
            <a:pPr indent="457200">
              <a:lnSpc>
                <a:spcPct val="150000"/>
              </a:lnSpc>
            </a:pPr>
            <a:r>
              <a:rPr lang="en-US" altLang="zh-CN" dirty="0">
                <a:solidFill>
                  <a:srgbClr val="000000"/>
                </a:solidFill>
                <a:latin typeface="Arial" panose="020B0604020202020204" pitchFamily="34" charset="0"/>
                <a:cs typeface="Arial" panose="020B0604020202020204" pitchFamily="34" charset="0"/>
              </a:rPr>
              <a:t>In this work, we show that </a:t>
            </a:r>
            <a:r>
              <a:rPr lang="en-US" altLang="zh-CN" b="1" dirty="0">
                <a:solidFill>
                  <a:srgbClr val="FF0000"/>
                </a:solidFill>
                <a:latin typeface="Arial" panose="020B0604020202020204" pitchFamily="34" charset="0"/>
                <a:cs typeface="Arial" panose="020B0604020202020204" pitchFamily="34" charset="0"/>
              </a:rPr>
              <a:t>quantum computing</a:t>
            </a:r>
            <a:r>
              <a:rPr lang="en-US" altLang="zh-CN" dirty="0">
                <a:solidFill>
                  <a:srgbClr val="000000"/>
                </a:solidFill>
                <a:latin typeface="Arial" panose="020B0604020202020204" pitchFamily="34" charset="0"/>
                <a:cs typeface="Arial" panose="020B0604020202020204" pitchFamily="34" charset="0"/>
              </a:rPr>
              <a:t> could possibly provide provably efficient resolutions for generic </a:t>
            </a:r>
            <a:r>
              <a:rPr lang="en-US" altLang="zh-CN" b="1" dirty="0">
                <a:solidFill>
                  <a:srgbClr val="FF0000"/>
                </a:solidFill>
                <a:latin typeface="Arial" panose="020B0604020202020204" pitchFamily="34" charset="0"/>
                <a:cs typeface="Arial" panose="020B0604020202020204" pitchFamily="34" charset="0"/>
              </a:rPr>
              <a:t>stochastic gradient descent algorithms</a:t>
            </a:r>
            <a:r>
              <a:rPr lang="en-US" altLang="zh-CN" dirty="0">
                <a:solidFill>
                  <a:srgbClr val="000000"/>
                </a:solidFill>
                <a:latin typeface="Arial" panose="020B0604020202020204" pitchFamily="34" charset="0"/>
                <a:cs typeface="Arial" panose="020B0604020202020204" pitchFamily="34" charset="0"/>
              </a:rPr>
              <a:t>. In practice, we benchmark instances of </a:t>
            </a:r>
            <a:r>
              <a:rPr lang="en-US" altLang="zh-CN" b="1" dirty="0">
                <a:solidFill>
                  <a:srgbClr val="FF0000"/>
                </a:solidFill>
                <a:latin typeface="Arial" panose="020B0604020202020204" pitchFamily="34" charset="0"/>
                <a:cs typeface="Arial" panose="020B0604020202020204" pitchFamily="34" charset="0"/>
              </a:rPr>
              <a:t>large machine learning </a:t>
            </a:r>
            <a:r>
              <a:rPr lang="en-US" altLang="zh-CN" dirty="0">
                <a:solidFill>
                  <a:srgbClr val="000000"/>
                </a:solidFill>
                <a:latin typeface="Arial" panose="020B0604020202020204" pitchFamily="34" charset="0"/>
                <a:cs typeface="Arial" panose="020B0604020202020204" pitchFamily="34" charset="0"/>
              </a:rPr>
              <a:t>models from 7 million to 103 million parameters. We find in the context of sparse training, a quantum enhancement is possible at the early stage of learning after model pruning, motivating a sparse parameter download and re-upload scheme.</a:t>
            </a:r>
            <a:endParaRPr lang="en-US" altLang="zh-CN" sz="1800" dirty="0">
              <a:solidFill>
                <a:srgbClr val="000000"/>
              </a:solidFill>
              <a:latin typeface="Arial" panose="020B0604020202020204" pitchFamily="34" charset="0"/>
              <a:ea typeface="微软雅黑" panose="020B0503020204020204" charset="-122"/>
              <a:cs typeface="Arial" panose="020B0604020202020204" pitchFamily="34" charset="0"/>
            </a:endParaRPr>
          </a:p>
          <a:p>
            <a:pPr indent="457200">
              <a:lnSpc>
                <a:spcPct val="150000"/>
              </a:lnSpc>
            </a:pPr>
            <a:r>
              <a:rPr lang="en-US" altLang="zh-CN" sz="1800" b="1" dirty="0">
                <a:latin typeface="Arial" panose="020B0604020202020204" pitchFamily="34" charset="0"/>
                <a:ea typeface="微软雅黑" panose="020B0503020204020204" charset="-122"/>
                <a:cs typeface="Arial" panose="020B0604020202020204" pitchFamily="34" charset="0"/>
              </a:rPr>
              <a:t>Method:</a:t>
            </a:r>
            <a:endParaRPr lang="en-US" altLang="zh-CN" b="1" dirty="0">
              <a:latin typeface="Arial" panose="020B0604020202020204" pitchFamily="34" charset="0"/>
              <a:ea typeface="微软雅黑" panose="020B0503020204020204" charset="-122"/>
              <a:cs typeface="Arial" panose="020B0604020202020204" pitchFamily="34" charset="0"/>
            </a:endParaRPr>
          </a:p>
          <a:p>
            <a:pPr>
              <a:lnSpc>
                <a:spcPct val="150000"/>
              </a:lnSpc>
            </a:pPr>
            <a:r>
              <a:rPr lang="en-US" altLang="zh-CN" dirty="0">
                <a:latin typeface="Arial" panose="020B0604020202020204" pitchFamily="34" charset="0"/>
                <a:ea typeface="微软雅黑" panose="020B0503020204020204" charset="-122"/>
                <a:cs typeface="Arial" panose="020B0604020202020204" pitchFamily="34" charset="0"/>
              </a:rPr>
              <a:t>         This paper using </a:t>
            </a:r>
            <a:r>
              <a:rPr lang="en-US" altLang="zh-CN" b="1" dirty="0">
                <a:solidFill>
                  <a:srgbClr val="FF0000"/>
                </a:solidFill>
                <a:latin typeface="Arial" panose="020B0604020202020204" pitchFamily="34" charset="0"/>
                <a:ea typeface="微软雅黑" panose="020B0503020204020204" charset="-122"/>
                <a:cs typeface="Arial" panose="020B0604020202020204" pitchFamily="34" charset="0"/>
              </a:rPr>
              <a:t>quantum </a:t>
            </a:r>
            <a:r>
              <a:rPr lang="en-US" altLang="zh-CN" b="1" dirty="0" err="1">
                <a:solidFill>
                  <a:srgbClr val="FF0000"/>
                </a:solidFill>
                <a:latin typeface="Arial" panose="020B0604020202020204" pitchFamily="34" charset="0"/>
                <a:ea typeface="微软雅黑" panose="020B0503020204020204" charset="-122"/>
                <a:cs typeface="Arial" panose="020B0604020202020204" pitchFamily="34" charset="0"/>
              </a:rPr>
              <a:t>Carleman</a:t>
            </a:r>
            <a:r>
              <a:rPr lang="en-US" altLang="zh-CN" b="1" dirty="0">
                <a:solidFill>
                  <a:srgbClr val="FF0000"/>
                </a:solidFill>
                <a:latin typeface="Arial" panose="020B0604020202020204" pitchFamily="34" charset="0"/>
                <a:ea typeface="微软雅黑" panose="020B0503020204020204" charset="-122"/>
                <a:cs typeface="Arial" panose="020B0604020202020204" pitchFamily="34" charset="0"/>
              </a:rPr>
              <a:t> linearization method </a:t>
            </a:r>
            <a:r>
              <a:rPr lang="en-US" altLang="zh-CN" dirty="0">
                <a:latin typeface="Arial" panose="020B0604020202020204" pitchFamily="34" charset="0"/>
                <a:ea typeface="微软雅黑" panose="020B0503020204020204" charset="-122"/>
                <a:cs typeface="Arial" panose="020B0604020202020204" pitchFamily="34" charset="0"/>
              </a:rPr>
              <a:t>to linearization the nonlinear gradient descent process to an infinite-dimensional system of linear equations, followed by truncation to accommodate the solution of digital quantum systems. Afterwards, a variant of the </a:t>
            </a:r>
            <a:r>
              <a:rPr lang="en-US" altLang="zh-CN" b="1" dirty="0">
                <a:solidFill>
                  <a:srgbClr val="FF0000"/>
                </a:solidFill>
                <a:latin typeface="Arial" panose="020B0604020202020204" pitchFamily="34" charset="0"/>
                <a:ea typeface="微软雅黑" panose="020B0503020204020204" charset="-122"/>
                <a:cs typeface="Arial" panose="020B0604020202020204" pitchFamily="34" charset="0"/>
              </a:rPr>
              <a:t>HHL algorithm is used to solve the matrix inverse problem after linearization</a:t>
            </a:r>
            <a:r>
              <a:rPr lang="en-US" altLang="zh-CN" dirty="0">
                <a:latin typeface="Arial" panose="020B0604020202020204" pitchFamily="34" charset="0"/>
                <a:ea typeface="微软雅黑" panose="020B0503020204020204" charset="-122"/>
                <a:cs typeface="Arial" panose="020B0604020202020204" pitchFamily="34" charset="0"/>
              </a:rPr>
              <a:t>, thus enabling the solution of gradient descent dynamics on a quantum computer.</a:t>
            </a:r>
            <a:endParaRPr lang="en-US" altLang="zh-CN" dirty="0">
              <a:latin typeface="Arial" panose="020B0604020202020204" pitchFamily="34" charset="0"/>
              <a:cs typeface="Arial" panose="020B0604020202020204" pitchFamily="34" charset="0"/>
            </a:endParaRPr>
          </a:p>
        </p:txBody>
      </p:sp>
      <p:grpSp>
        <p:nvGrpSpPr>
          <p:cNvPr id="12" name="组合 11"/>
          <p:cNvGrpSpPr/>
          <p:nvPr/>
        </p:nvGrpSpPr>
        <p:grpSpPr>
          <a:xfrm>
            <a:off x="-1" y="6553200"/>
            <a:ext cx="12192001" cy="304800"/>
            <a:chOff x="0" y="6569404"/>
            <a:chExt cx="9144000" cy="288000"/>
          </a:xfrm>
        </p:grpSpPr>
        <p:sp>
          <p:nvSpPr>
            <p:cNvPr id="13" name="矩形 1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64</a:t>
            </a:fld>
            <a:endParaRPr lang="zh-HK" altLang="en-US" sz="1600" dirty="0">
              <a:solidFill>
                <a:schemeClr val="bg1"/>
              </a:solidFill>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 y="6553200"/>
            <a:ext cx="12192001" cy="304800"/>
            <a:chOff x="0" y="6569404"/>
            <a:chExt cx="9144000" cy="288000"/>
          </a:xfrm>
        </p:grpSpPr>
        <p:sp>
          <p:nvSpPr>
            <p:cNvPr id="4"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65</a:t>
            </a:fld>
            <a:endParaRPr lang="zh-HK" altLang="en-US" sz="1600" dirty="0">
              <a:solidFill>
                <a:schemeClr val="bg1"/>
              </a:solidFill>
            </a:endParaRPr>
          </a:p>
        </p:txBody>
      </p:sp>
      <p:pic>
        <p:nvPicPr>
          <p:cNvPr id="7" name="图片 6"/>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p:cNvGrpSpPr/>
          <p:nvPr/>
        </p:nvGrpSpPr>
        <p:grpSpPr bwMode="auto">
          <a:xfrm>
            <a:off x="2409457" y="2650330"/>
            <a:ext cx="1505450" cy="1479472"/>
            <a:chOff x="1709739" y="2636838"/>
            <a:chExt cx="1590160" cy="1584325"/>
          </a:xfrm>
          <a:solidFill>
            <a:srgbClr val="044875"/>
          </a:solidFill>
        </p:grpSpPr>
        <p:sp>
          <p:nvSpPr>
            <p:cNvPr id="59"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3" name="文本框 72"/>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4" name="组合 73"/>
          <p:cNvGrpSpPr/>
          <p:nvPr>
            <p:custDataLst>
              <p:tags r:id="rId1"/>
            </p:custDataLst>
          </p:nvPr>
        </p:nvGrpSpPr>
        <p:grpSpPr>
          <a:xfrm>
            <a:off x="4523741" y="2047924"/>
            <a:ext cx="5370513" cy="534987"/>
            <a:chOff x="3281952" y="1484784"/>
            <a:chExt cx="5370513" cy="534987"/>
          </a:xfrm>
        </p:grpSpPr>
        <p:grpSp>
          <p:nvGrpSpPr>
            <p:cNvPr id="75" name="组合 74"/>
            <p:cNvGrpSpPr/>
            <p:nvPr/>
          </p:nvGrpSpPr>
          <p:grpSpPr>
            <a:xfrm>
              <a:off x="3943940" y="1484784"/>
              <a:ext cx="4708525" cy="534987"/>
              <a:chOff x="3943940" y="1626760"/>
              <a:chExt cx="4708525" cy="534987"/>
            </a:xfrm>
          </p:grpSpPr>
          <p:sp>
            <p:nvSpPr>
              <p:cNvPr id="7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1" name="矩形 8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2" name="直接连接符 8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6" name="组合 75"/>
            <p:cNvGrpSpPr/>
            <p:nvPr/>
          </p:nvGrpSpPr>
          <p:grpSpPr>
            <a:xfrm>
              <a:off x="3281952" y="1484784"/>
              <a:ext cx="689642" cy="534987"/>
              <a:chOff x="3281952" y="1626760"/>
              <a:chExt cx="689642" cy="534987"/>
            </a:xfrm>
          </p:grpSpPr>
          <p:sp>
            <p:nvSpPr>
              <p:cNvPr id="77" name="矩形 76"/>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8"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3" name="组合 82"/>
          <p:cNvGrpSpPr/>
          <p:nvPr>
            <p:custDataLst>
              <p:tags r:id="rId2"/>
            </p:custDataLst>
          </p:nvPr>
        </p:nvGrpSpPr>
        <p:grpSpPr>
          <a:xfrm>
            <a:off x="4503593" y="3688642"/>
            <a:ext cx="5372100" cy="534987"/>
            <a:chOff x="3261805" y="3188752"/>
            <a:chExt cx="5372100" cy="534987"/>
          </a:xfrm>
        </p:grpSpPr>
        <p:grpSp>
          <p:nvGrpSpPr>
            <p:cNvPr id="84" name="组合 83"/>
            <p:cNvGrpSpPr/>
            <p:nvPr/>
          </p:nvGrpSpPr>
          <p:grpSpPr>
            <a:xfrm>
              <a:off x="3261805" y="3188752"/>
              <a:ext cx="689593" cy="534987"/>
              <a:chOff x="3261805" y="3188752"/>
              <a:chExt cx="689593" cy="534987"/>
            </a:xfrm>
          </p:grpSpPr>
          <p:sp>
            <p:nvSpPr>
              <p:cNvPr id="100" name="矩形 99"/>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1"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85" name="组合 84"/>
            <p:cNvGrpSpPr/>
            <p:nvPr/>
          </p:nvGrpSpPr>
          <p:grpSpPr>
            <a:xfrm>
              <a:off x="3923792" y="3188752"/>
              <a:ext cx="4710113" cy="534987"/>
              <a:chOff x="3923792" y="3188752"/>
              <a:chExt cx="4710113" cy="534987"/>
            </a:xfrm>
          </p:grpSpPr>
          <p:sp>
            <p:nvSpPr>
              <p:cNvPr id="87"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91" name="矩形 90"/>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5" name="直接连接符 94"/>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9"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2" name="组合 101"/>
          <p:cNvGrpSpPr/>
          <p:nvPr>
            <p:custDataLst>
              <p:tags r:id="rId3"/>
            </p:custDataLst>
          </p:nvPr>
        </p:nvGrpSpPr>
        <p:grpSpPr>
          <a:xfrm>
            <a:off x="4503593" y="4509001"/>
            <a:ext cx="5372100" cy="534987"/>
            <a:chOff x="3261805" y="4046141"/>
            <a:chExt cx="5372100" cy="534987"/>
          </a:xfrm>
        </p:grpSpPr>
        <p:grpSp>
          <p:nvGrpSpPr>
            <p:cNvPr id="103" name="组合 102"/>
            <p:cNvGrpSpPr/>
            <p:nvPr/>
          </p:nvGrpSpPr>
          <p:grpSpPr>
            <a:xfrm>
              <a:off x="3261805" y="4046141"/>
              <a:ext cx="689447" cy="534987"/>
              <a:chOff x="3261805" y="3969748"/>
              <a:chExt cx="689447" cy="534987"/>
            </a:xfrm>
          </p:grpSpPr>
          <p:sp>
            <p:nvSpPr>
              <p:cNvPr id="109" name="矩形 10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4" name="组合 103"/>
            <p:cNvGrpSpPr/>
            <p:nvPr/>
          </p:nvGrpSpPr>
          <p:grpSpPr>
            <a:xfrm>
              <a:off x="3923792" y="4046141"/>
              <a:ext cx="4710113" cy="534987"/>
              <a:chOff x="3923792" y="3969748"/>
              <a:chExt cx="4710113" cy="534987"/>
            </a:xfrm>
          </p:grpSpPr>
          <p:sp>
            <p:nvSpPr>
              <p:cNvPr id="105"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6" name="矩形 105"/>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7" name="直接连接符 106"/>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11" name="组合 110"/>
          <p:cNvGrpSpPr/>
          <p:nvPr>
            <p:custDataLst>
              <p:tags r:id="rId4"/>
            </p:custDataLst>
          </p:nvPr>
        </p:nvGrpSpPr>
        <p:grpSpPr>
          <a:xfrm>
            <a:off x="4517645" y="2868283"/>
            <a:ext cx="5370513" cy="534987"/>
            <a:chOff x="3275856" y="2348880"/>
            <a:chExt cx="5370513" cy="534987"/>
          </a:xfrm>
        </p:grpSpPr>
        <p:grpSp>
          <p:nvGrpSpPr>
            <p:cNvPr id="112" name="组合 111"/>
            <p:cNvGrpSpPr/>
            <p:nvPr/>
          </p:nvGrpSpPr>
          <p:grpSpPr>
            <a:xfrm>
              <a:off x="3275856" y="2348880"/>
              <a:ext cx="689474" cy="534987"/>
              <a:chOff x="3275856" y="2407756"/>
              <a:chExt cx="689474" cy="534987"/>
            </a:xfrm>
          </p:grpSpPr>
          <p:sp>
            <p:nvSpPr>
              <p:cNvPr id="118" name="矩形 117"/>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9"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13" name="组合 112"/>
            <p:cNvGrpSpPr/>
            <p:nvPr/>
          </p:nvGrpSpPr>
          <p:grpSpPr>
            <a:xfrm>
              <a:off x="3937844" y="2348880"/>
              <a:ext cx="4708525" cy="534987"/>
              <a:chOff x="3937844" y="2407756"/>
              <a:chExt cx="4708525" cy="534987"/>
            </a:xfrm>
          </p:grpSpPr>
          <p:sp>
            <p:nvSpPr>
              <p:cNvPr id="114"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15" name="矩形 114"/>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6" name="直接连接符 115"/>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7"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66</a:t>
            </a:fld>
            <a:endParaRPr lang="zh-HK" altLang="en-US" sz="1600" dirty="0">
              <a:solidFill>
                <a:schemeClr val="bg1"/>
              </a:solidFill>
            </a:endParaRPr>
          </a:p>
        </p:txBody>
      </p:sp>
      <p:pic>
        <p:nvPicPr>
          <p:cNvPr id="5" name="图片 4"/>
          <p:cNvPicPr>
            <a:picLocks noChangeAspect="1"/>
          </p:cNvPicPr>
          <p:nvPr/>
        </p:nvPicPr>
        <p:blipFill>
          <a:blip r:embed="rId3"/>
          <a:stretch>
            <a:fillRect/>
          </a:stretch>
        </p:blipFill>
        <p:spPr>
          <a:xfrm>
            <a:off x="264000" y="1053000"/>
            <a:ext cx="7944959" cy="4277322"/>
          </a:xfrm>
          <a:prstGeom prst="rect">
            <a:avLst/>
          </a:prstGeom>
        </p:spPr>
      </p:pic>
      <p:sp>
        <p:nvSpPr>
          <p:cNvPr id="7" name="文本框 6"/>
          <p:cNvSpPr txBox="1"/>
          <p:nvPr/>
        </p:nvSpPr>
        <p:spPr>
          <a:xfrm>
            <a:off x="8400000" y="1413000"/>
            <a:ext cx="3877985" cy="369332"/>
          </a:xfrm>
          <a:prstGeom prst="rect">
            <a:avLst/>
          </a:prstGeom>
          <a:noFill/>
        </p:spPr>
        <p:txBody>
          <a:bodyPr wrap="none" rtlCol="0">
            <a:spAutoFit/>
          </a:bodyPr>
          <a:lstStyle/>
          <a:p>
            <a:r>
              <a:rPr lang="zh-CN" altLang="en-US" b="1">
                <a:latin typeface="微软雅黑" panose="020B0503020204020204" charset="-122"/>
                <a:ea typeface="微软雅黑" panose="020B0503020204020204" charset="-122"/>
              </a:rPr>
              <a:t>注：量子计算的</a:t>
            </a:r>
            <a:r>
              <a:rPr lang="zh-CN" altLang="en-US" b="1">
                <a:solidFill>
                  <a:srgbClr val="FF0000"/>
                </a:solidFill>
                <a:latin typeface="微软雅黑" panose="020B0503020204020204" charset="-122"/>
                <a:ea typeface="微软雅黑" panose="020B0503020204020204" charset="-122"/>
              </a:rPr>
              <a:t>时间复杂度</a:t>
            </a:r>
            <a:r>
              <a:rPr lang="zh-CN" altLang="en-US" b="1">
                <a:latin typeface="微软雅黑" panose="020B0503020204020204" charset="-122"/>
                <a:ea typeface="微软雅黑" panose="020B0503020204020204" charset="-122"/>
              </a:rPr>
              <a:t>上界定理</a:t>
            </a:r>
          </a:p>
        </p:txBody>
      </p:sp>
      <p:sp>
        <p:nvSpPr>
          <p:cNvPr id="4" name="文本框 3"/>
          <p:cNvSpPr txBox="1"/>
          <p:nvPr/>
        </p:nvSpPr>
        <p:spPr>
          <a:xfrm>
            <a:off x="8388918" y="2061000"/>
            <a:ext cx="3683081" cy="1200329"/>
          </a:xfrm>
          <a:prstGeom prst="rect">
            <a:avLst/>
          </a:prstGeom>
          <a:noFill/>
        </p:spPr>
        <p:txBody>
          <a:bodyPr wrap="square" rtlCol="0">
            <a:spAutoFit/>
          </a:bodyPr>
          <a:lstStyle/>
          <a:p>
            <a:r>
              <a:rPr lang="zh-CN" altLang="en-US" b="1" dirty="0">
                <a:latin typeface="微软雅黑" panose="020B0503020204020204" charset="-122"/>
                <a:ea typeface="微软雅黑" panose="020B0503020204020204" charset="-122"/>
              </a:rPr>
              <a:t>注：经典计算的</a:t>
            </a:r>
            <a:r>
              <a:rPr lang="zh-CN" altLang="en-US" b="1" dirty="0">
                <a:solidFill>
                  <a:srgbClr val="FF0000"/>
                </a:solidFill>
                <a:latin typeface="微软雅黑" panose="020B0503020204020204" charset="-122"/>
                <a:ea typeface="微软雅黑" panose="020B0503020204020204" charset="-122"/>
              </a:rPr>
              <a:t>时间复杂度</a:t>
            </a:r>
            <a:r>
              <a:rPr lang="zh-CN" altLang="en-US" b="1" dirty="0">
                <a:latin typeface="微软雅黑" panose="020B0503020204020204" charset="-122"/>
                <a:ea typeface="微软雅黑" panose="020B0503020204020204" charset="-122"/>
              </a:rPr>
              <a:t>通常需要 </a:t>
            </a:r>
            <a:r>
              <a:rPr lang="en-US" altLang="zh-CN" b="1" dirty="0">
                <a:solidFill>
                  <a:srgbClr val="FF0000"/>
                </a:solidFill>
                <a:latin typeface="微软雅黑" panose="020B0503020204020204" charset="-122"/>
                <a:ea typeface="微软雅黑" panose="020B0503020204020204" charset="-122"/>
              </a:rPr>
              <a:t>O(</a:t>
            </a:r>
            <a:r>
              <a:rPr lang="en-US" altLang="zh-CN" b="1" dirty="0" err="1">
                <a:solidFill>
                  <a:srgbClr val="FF0000"/>
                </a:solidFill>
                <a:latin typeface="微软雅黑" panose="020B0503020204020204" charset="-122"/>
                <a:ea typeface="微软雅黑" panose="020B0503020204020204" charset="-122"/>
              </a:rPr>
              <a:t>nT</a:t>
            </a:r>
            <a:r>
              <a:rPr lang="en-US" altLang="zh-CN" b="1" dirty="0">
                <a:solidFill>
                  <a:srgbClr val="FF0000"/>
                </a:solidFill>
                <a:latin typeface="微软雅黑" panose="020B0503020204020204" charset="-122"/>
                <a:ea typeface="微软雅黑" panose="020B0503020204020204" charset="-122"/>
              </a:rPr>
              <a:t>) </a:t>
            </a:r>
            <a:r>
              <a:rPr lang="zh-CN" altLang="en-US" b="1" dirty="0">
                <a:latin typeface="微软雅黑" panose="020B0503020204020204" charset="-122"/>
                <a:ea typeface="微软雅黑" panose="020B0503020204020204" charset="-122"/>
              </a:rPr>
              <a:t>，此定理为量子计算提供理论上的性能保证。且量子算法在</a:t>
            </a:r>
            <a:r>
              <a:rPr lang="zh-CN" altLang="en-US" b="1" dirty="0">
                <a:solidFill>
                  <a:srgbClr val="FF0000"/>
                </a:solidFill>
                <a:latin typeface="微软雅黑" panose="020B0503020204020204" charset="-122"/>
                <a:ea typeface="微软雅黑" panose="020B0503020204020204" charset="-122"/>
              </a:rPr>
              <a:t>高精度要求下</a:t>
            </a:r>
            <a:r>
              <a:rPr lang="zh-CN" altLang="en-US" b="1" dirty="0">
                <a:latin typeface="微软雅黑" panose="020B0503020204020204" charset="-122"/>
                <a:ea typeface="微软雅黑" panose="020B0503020204020204" charset="-122"/>
              </a:rPr>
              <a:t>仍然保持高效。</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67</a:t>
            </a:fld>
            <a:endParaRPr lang="zh-HK" altLang="en-US" sz="1600" dirty="0">
              <a:solidFill>
                <a:schemeClr val="bg1"/>
              </a:solidFill>
            </a:endParaRPr>
          </a:p>
        </p:txBody>
      </p:sp>
      <p:sp>
        <p:nvSpPr>
          <p:cNvPr id="6" name="文本框 5"/>
          <p:cNvSpPr txBox="1"/>
          <p:nvPr/>
        </p:nvSpPr>
        <p:spPr>
          <a:xfrm>
            <a:off x="264000" y="909000"/>
            <a:ext cx="6624000" cy="461665"/>
          </a:xfrm>
          <a:prstGeom prst="rect">
            <a:avLst/>
          </a:prstGeom>
          <a:noFill/>
        </p:spPr>
        <p:txBody>
          <a:bodyPr wrap="square">
            <a:spAutoFit/>
          </a:bodyPr>
          <a:lstStyle/>
          <a:p>
            <a:r>
              <a:rPr lang="en-US" altLang="zh-CN" sz="2400" b="1" dirty="0">
                <a:latin typeface="Arial" panose="020B0604020202020204" pitchFamily="34" charset="0"/>
                <a:ea typeface="Arial Unicode MS" panose="020B0604020202020204" charset="-122"/>
                <a:cs typeface="Arial" panose="020B0604020202020204" pitchFamily="34" charset="0"/>
              </a:rPr>
              <a:t>(1)</a:t>
            </a:r>
            <a:r>
              <a:rPr lang="zh-CN" altLang="en-US" sz="2400" b="1" dirty="0">
                <a:latin typeface="Arial" panose="020B0604020202020204" pitchFamily="34" charset="0"/>
                <a:ea typeface="Arial Unicode MS" panose="020B0604020202020204" charset="-122"/>
                <a:cs typeface="Arial" panose="020B0604020202020204" pitchFamily="34" charset="0"/>
              </a:rPr>
              <a:t> Nonlinear stochastic gradient descent</a:t>
            </a:r>
          </a:p>
        </p:txBody>
      </p:sp>
      <p:pic>
        <p:nvPicPr>
          <p:cNvPr id="8" name="图片 7"/>
          <p:cNvPicPr>
            <a:picLocks noChangeAspect="1"/>
          </p:cNvPicPr>
          <p:nvPr/>
        </p:nvPicPr>
        <p:blipFill>
          <a:blip r:embed="rId3"/>
          <a:srcRect l="3243" r="23231"/>
          <a:stretch>
            <a:fillRect/>
          </a:stretch>
        </p:blipFill>
        <p:spPr>
          <a:xfrm>
            <a:off x="1037995" y="1495718"/>
            <a:ext cx="4248000" cy="1181965"/>
          </a:xfrm>
          <a:prstGeom prst="rect">
            <a:avLst/>
          </a:prstGeom>
        </p:spPr>
      </p:pic>
      <p:pic>
        <p:nvPicPr>
          <p:cNvPr id="10" name="图片 9"/>
          <p:cNvPicPr>
            <a:picLocks noChangeAspect="1"/>
          </p:cNvPicPr>
          <p:nvPr/>
        </p:nvPicPr>
        <p:blipFill>
          <a:blip r:embed="rId4"/>
          <a:stretch>
            <a:fillRect/>
          </a:stretch>
        </p:blipFill>
        <p:spPr>
          <a:xfrm>
            <a:off x="1128000" y="3391246"/>
            <a:ext cx="3961848" cy="2923127"/>
          </a:xfrm>
          <a:prstGeom prst="rect">
            <a:avLst/>
          </a:prstGeom>
        </p:spPr>
      </p:pic>
      <p:sp>
        <p:nvSpPr>
          <p:cNvPr id="11" name="文本框 10"/>
          <p:cNvSpPr txBox="1"/>
          <p:nvPr/>
        </p:nvSpPr>
        <p:spPr>
          <a:xfrm>
            <a:off x="264000" y="3119309"/>
            <a:ext cx="6141944" cy="461665"/>
          </a:xfrm>
          <a:prstGeom prst="rect">
            <a:avLst/>
          </a:prstGeom>
          <a:noFill/>
        </p:spPr>
        <p:txBody>
          <a:bodyPr wrap="square">
            <a:spAutoFit/>
          </a:bodyPr>
          <a:lstStyle/>
          <a:p>
            <a:r>
              <a:rPr lang="en-US" altLang="zh-CN" sz="2400" b="1" dirty="0">
                <a:latin typeface="Arial" panose="020B0604020202020204" pitchFamily="34" charset="0"/>
                <a:ea typeface="Arial Unicode MS" panose="020B0604020202020204" charset="-122"/>
                <a:cs typeface="Arial" panose="020B0604020202020204" pitchFamily="34" charset="0"/>
              </a:rPr>
              <a:t>(2)</a:t>
            </a:r>
            <a:r>
              <a:rPr lang="zh-CN" altLang="en-US" sz="2400" b="1" dirty="0">
                <a:latin typeface="Arial" panose="020B0604020202020204" pitchFamily="34" charset="0"/>
                <a:ea typeface="Arial Unicode MS" panose="020B0604020202020204" charset="-122"/>
                <a:cs typeface="Arial" panose="020B0604020202020204" pitchFamily="34" charset="0"/>
              </a:rPr>
              <a:t> </a:t>
            </a:r>
            <a:r>
              <a:rPr lang="en-US" altLang="zh-CN" sz="2400" b="1" dirty="0">
                <a:latin typeface="Arial" panose="020B0604020202020204" pitchFamily="34" charset="0"/>
                <a:ea typeface="Arial Unicode MS" panose="020B0604020202020204" charset="-122"/>
                <a:cs typeface="Arial" panose="020B0604020202020204" pitchFamily="34" charset="0"/>
              </a:rPr>
              <a:t>Quantum </a:t>
            </a:r>
            <a:r>
              <a:rPr lang="en-US" altLang="zh-CN" sz="2400" b="1" dirty="0" err="1">
                <a:latin typeface="Arial" panose="020B0604020202020204" pitchFamily="34" charset="0"/>
                <a:ea typeface="Arial Unicode MS" panose="020B0604020202020204" charset="-122"/>
                <a:cs typeface="Arial" panose="020B0604020202020204" pitchFamily="34" charset="0"/>
              </a:rPr>
              <a:t>Carleman</a:t>
            </a:r>
            <a:r>
              <a:rPr lang="en-US" altLang="zh-CN" sz="2400" b="1" dirty="0">
                <a:latin typeface="Arial" panose="020B0604020202020204" pitchFamily="34" charset="0"/>
                <a:ea typeface="Arial Unicode MS" panose="020B0604020202020204" charset="-122"/>
                <a:cs typeface="Arial" panose="020B0604020202020204" pitchFamily="34" charset="0"/>
              </a:rPr>
              <a:t> linearization</a:t>
            </a:r>
            <a:endParaRPr lang="zh-CN" altLang="en-US" sz="2400" b="1" dirty="0">
              <a:latin typeface="Arial" panose="020B0604020202020204" pitchFamily="34" charset="0"/>
              <a:ea typeface="Arial Unicode MS" panose="020B0604020202020204" charset="-122"/>
              <a:cs typeface="Arial" panose="020B0604020202020204" pitchFamily="34" charset="0"/>
            </a:endParaRPr>
          </a:p>
        </p:txBody>
      </p:sp>
      <p:pic>
        <p:nvPicPr>
          <p:cNvPr id="13" name="图片 12"/>
          <p:cNvPicPr>
            <a:picLocks noChangeAspect="1"/>
          </p:cNvPicPr>
          <p:nvPr/>
        </p:nvPicPr>
        <p:blipFill>
          <a:blip r:embed="rId5"/>
          <a:stretch>
            <a:fillRect/>
          </a:stretch>
        </p:blipFill>
        <p:spPr>
          <a:xfrm>
            <a:off x="6121366" y="4162392"/>
            <a:ext cx="5684359" cy="1849418"/>
          </a:xfrm>
          <a:prstGeom prst="rect">
            <a:avLst/>
          </a:prstGeom>
        </p:spPr>
      </p:pic>
      <p:sp>
        <p:nvSpPr>
          <p:cNvPr id="14" name="箭头: 右 13"/>
          <p:cNvSpPr/>
          <p:nvPr/>
        </p:nvSpPr>
        <p:spPr>
          <a:xfrm>
            <a:off x="5155301" y="4890241"/>
            <a:ext cx="915334"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下 14"/>
          <p:cNvSpPr/>
          <p:nvPr/>
        </p:nvSpPr>
        <p:spPr>
          <a:xfrm>
            <a:off x="2856000" y="2695608"/>
            <a:ext cx="288000" cy="42434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5786057" y="2925000"/>
            <a:ext cx="6141944" cy="923330"/>
          </a:xfrm>
          <a:prstGeom prst="rect">
            <a:avLst/>
          </a:prstGeom>
          <a:noFill/>
        </p:spPr>
        <p:txBody>
          <a:bodyPr wrap="square" rtlCol="0">
            <a:spAutoFit/>
          </a:bodyPr>
          <a:lstStyle/>
          <a:p>
            <a:r>
              <a:rPr lang="zh-CN" altLang="en-US" b="1">
                <a:latin typeface="微软雅黑" panose="020B0503020204020204" charset="-122"/>
                <a:ea typeface="微软雅黑" panose="020B0503020204020204" charset="-122"/>
              </a:rPr>
              <a:t>注：</a:t>
            </a:r>
            <a:r>
              <a:rPr lang="zh-CN" altLang="en-US" b="1" i="0">
                <a:effectLst/>
                <a:latin typeface="微软雅黑" panose="020B0503020204020204" charset="-122"/>
                <a:ea typeface="微软雅黑" panose="020B0503020204020204" charset="-122"/>
              </a:rPr>
              <a:t> </a:t>
            </a:r>
            <a:r>
              <a:rPr lang="en-US" altLang="zh-CN" b="1" i="0">
                <a:solidFill>
                  <a:srgbClr val="FF0000"/>
                </a:solidFill>
                <a:effectLst/>
                <a:latin typeface="微软雅黑" panose="020B0503020204020204" charset="-122"/>
                <a:ea typeface="微软雅黑" panose="020B0503020204020204" charset="-122"/>
              </a:rPr>
              <a:t>HHL</a:t>
            </a:r>
            <a:r>
              <a:rPr lang="zh-CN" altLang="en-US" b="1" i="0">
                <a:solidFill>
                  <a:srgbClr val="FF0000"/>
                </a:solidFill>
                <a:effectLst/>
                <a:latin typeface="微软雅黑" panose="020B0503020204020204" charset="-122"/>
                <a:ea typeface="微软雅黑" panose="020B0503020204020204" charset="-122"/>
              </a:rPr>
              <a:t>算法</a:t>
            </a:r>
            <a:r>
              <a:rPr lang="zh-CN" altLang="en-US" b="1" i="0">
                <a:effectLst/>
                <a:latin typeface="微软雅黑" panose="020B0503020204020204" charset="-122"/>
                <a:ea typeface="微软雅黑" panose="020B0503020204020204" charset="-122"/>
              </a:rPr>
              <a:t>是一种用于求解线性方程组的量子算法。即</a:t>
            </a:r>
            <a:r>
              <a:rPr lang="zh-CN" altLang="en-US" b="1">
                <a:latin typeface="微软雅黑" panose="020B0503020204020204" charset="-122"/>
                <a:ea typeface="微软雅黑" panose="020B0503020204020204" charset="-122"/>
              </a:rPr>
              <a:t>在定理</a:t>
            </a:r>
            <a:r>
              <a:rPr lang="en-US" altLang="zh-CN" b="1">
                <a:latin typeface="微软雅黑" panose="020B0503020204020204" charset="-122"/>
                <a:ea typeface="微软雅黑" panose="020B0503020204020204" charset="-122"/>
              </a:rPr>
              <a:t>1</a:t>
            </a:r>
            <a:r>
              <a:rPr lang="zh-CN" altLang="en-US" b="1">
                <a:latin typeface="微软雅黑" panose="020B0503020204020204" charset="-122"/>
                <a:ea typeface="微软雅黑" panose="020B0503020204020204" charset="-122"/>
              </a:rPr>
              <a:t>的基础上，可以保证在时间复杂度</a:t>
            </a:r>
            <a:endParaRPr lang="en-US" altLang="zh-CN" b="1">
              <a:latin typeface="微软雅黑" panose="020B0503020204020204" charset="-122"/>
              <a:ea typeface="微软雅黑" panose="020B0503020204020204" charset="-122"/>
            </a:endParaRPr>
          </a:p>
          <a:p>
            <a:r>
              <a:rPr lang="zh-CN" altLang="en-US" b="1">
                <a:latin typeface="微软雅黑" panose="020B0503020204020204" charset="-122"/>
                <a:ea typeface="微软雅黑" panose="020B0503020204020204" charset="-122"/>
              </a:rPr>
              <a:t>下实现求解 </a:t>
            </a:r>
            <a:r>
              <a:rPr lang="en-US" altLang="zh-CN" b="1">
                <a:latin typeface="微软雅黑" panose="020B0503020204020204" charset="-122"/>
                <a:ea typeface="微软雅黑" panose="020B0503020204020204" charset="-122"/>
              </a:rPr>
              <a:t>n×n </a:t>
            </a:r>
            <a:r>
              <a:rPr lang="zh-CN" altLang="en-US" b="1">
                <a:latin typeface="微软雅黑" panose="020B0503020204020204" charset="-122"/>
                <a:ea typeface="微软雅黑" panose="020B0503020204020204" charset="-122"/>
              </a:rPr>
              <a:t>稀疏矩阵的逆问题。</a:t>
            </a:r>
          </a:p>
        </p:txBody>
      </p:sp>
      <p:pic>
        <p:nvPicPr>
          <p:cNvPr id="18" name="图片 17"/>
          <p:cNvPicPr>
            <a:picLocks noChangeAspect="1"/>
          </p:cNvPicPr>
          <p:nvPr/>
        </p:nvPicPr>
        <p:blipFill>
          <a:blip r:embed="rId6"/>
          <a:stretch>
            <a:fillRect/>
          </a:stretch>
        </p:blipFill>
        <p:spPr>
          <a:xfrm>
            <a:off x="10165456" y="3260549"/>
            <a:ext cx="1793370" cy="310782"/>
          </a:xfrm>
          <a:prstGeom prst="rect">
            <a:avLst/>
          </a:prstGeom>
        </p:spPr>
      </p:pic>
      <p:pic>
        <p:nvPicPr>
          <p:cNvPr id="3" name="图片 2"/>
          <p:cNvPicPr>
            <a:picLocks noChangeAspect="1"/>
          </p:cNvPicPr>
          <p:nvPr/>
        </p:nvPicPr>
        <p:blipFill>
          <a:blip r:embed="rId7"/>
          <a:stretch>
            <a:fillRect/>
          </a:stretch>
        </p:blipFill>
        <p:spPr>
          <a:xfrm>
            <a:off x="6600000" y="1701477"/>
            <a:ext cx="3258005" cy="952633"/>
          </a:xfrm>
          <a:prstGeom prst="rect">
            <a:avLst/>
          </a:prstGeom>
        </p:spPr>
      </p:pic>
      <p:sp>
        <p:nvSpPr>
          <p:cNvPr id="4" name="箭头: 右 3"/>
          <p:cNvSpPr/>
          <p:nvPr/>
        </p:nvSpPr>
        <p:spPr>
          <a:xfrm rot="10800000">
            <a:off x="5638332" y="2078160"/>
            <a:ext cx="915334"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6672000" y="1693189"/>
            <a:ext cx="3258005" cy="1035636"/>
          </a:xfrm>
          <a:prstGeom prst="rect">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 y="6553200"/>
            <a:ext cx="12192001" cy="304800"/>
            <a:chOff x="0" y="6569404"/>
            <a:chExt cx="9144000" cy="288000"/>
          </a:xfrm>
        </p:grpSpPr>
        <p:sp>
          <p:nvSpPr>
            <p:cNvPr id="7"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8"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68</a:t>
            </a:fld>
            <a:endParaRPr lang="zh-HK" altLang="en-US" sz="1600" dirty="0">
              <a:solidFill>
                <a:schemeClr val="bg1"/>
              </a:solidFill>
            </a:endParaRPr>
          </a:p>
        </p:txBody>
      </p:sp>
      <p:pic>
        <p:nvPicPr>
          <p:cNvPr id="21" name="图片 20"/>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p:cNvGrpSpPr/>
          <p:nvPr/>
        </p:nvGrpSpPr>
        <p:grpSpPr bwMode="auto">
          <a:xfrm>
            <a:off x="2409457" y="2650330"/>
            <a:ext cx="1505450" cy="1479472"/>
            <a:chOff x="1709739" y="2636838"/>
            <a:chExt cx="1590160" cy="1584325"/>
          </a:xfrm>
          <a:solidFill>
            <a:srgbClr val="044875"/>
          </a:solidFill>
        </p:grpSpPr>
        <p:sp>
          <p:nvSpPr>
            <p:cNvPr id="56"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9"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0"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1" name="文本框 7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2" name="组合 71"/>
          <p:cNvGrpSpPr/>
          <p:nvPr>
            <p:custDataLst>
              <p:tags r:id="rId1"/>
            </p:custDataLst>
          </p:nvPr>
        </p:nvGrpSpPr>
        <p:grpSpPr>
          <a:xfrm>
            <a:off x="4523741" y="2047924"/>
            <a:ext cx="5370513" cy="534987"/>
            <a:chOff x="3281952" y="1484784"/>
            <a:chExt cx="5370513" cy="534987"/>
          </a:xfrm>
        </p:grpSpPr>
        <p:grpSp>
          <p:nvGrpSpPr>
            <p:cNvPr id="73" name="组合 72"/>
            <p:cNvGrpSpPr/>
            <p:nvPr/>
          </p:nvGrpSpPr>
          <p:grpSpPr>
            <a:xfrm>
              <a:off x="3943940" y="1484784"/>
              <a:ext cx="4708525" cy="534987"/>
              <a:chOff x="3943940" y="1626760"/>
              <a:chExt cx="4708525" cy="534987"/>
            </a:xfrm>
          </p:grpSpPr>
          <p:sp>
            <p:nvSpPr>
              <p:cNvPr id="77"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78"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79" name="矩形 78"/>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0" name="直接连接符 79"/>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4" name="组合 73"/>
            <p:cNvGrpSpPr/>
            <p:nvPr/>
          </p:nvGrpSpPr>
          <p:grpSpPr>
            <a:xfrm>
              <a:off x="3281952" y="1484784"/>
              <a:ext cx="689642" cy="534987"/>
              <a:chOff x="3281952" y="1626760"/>
              <a:chExt cx="689642" cy="534987"/>
            </a:xfrm>
          </p:grpSpPr>
          <p:sp>
            <p:nvSpPr>
              <p:cNvPr id="75" name="矩形 74"/>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6"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1" name="组合 80"/>
          <p:cNvGrpSpPr/>
          <p:nvPr>
            <p:custDataLst>
              <p:tags r:id="rId2"/>
            </p:custDataLst>
          </p:nvPr>
        </p:nvGrpSpPr>
        <p:grpSpPr>
          <a:xfrm>
            <a:off x="4503593" y="3688642"/>
            <a:ext cx="5372100" cy="534987"/>
            <a:chOff x="3261805" y="3188752"/>
            <a:chExt cx="5372100" cy="534987"/>
          </a:xfrm>
        </p:grpSpPr>
        <p:grpSp>
          <p:nvGrpSpPr>
            <p:cNvPr id="82" name="组合 81"/>
            <p:cNvGrpSpPr/>
            <p:nvPr/>
          </p:nvGrpSpPr>
          <p:grpSpPr>
            <a:xfrm>
              <a:off x="3261805" y="3188752"/>
              <a:ext cx="689593" cy="534987"/>
              <a:chOff x="3261805" y="3188752"/>
              <a:chExt cx="689593" cy="534987"/>
            </a:xfrm>
          </p:grpSpPr>
          <p:sp>
            <p:nvSpPr>
              <p:cNvPr id="91" name="矩形 9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5"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83" name="组合 82"/>
            <p:cNvGrpSpPr/>
            <p:nvPr/>
          </p:nvGrpSpPr>
          <p:grpSpPr>
            <a:xfrm>
              <a:off x="3923792" y="3188752"/>
              <a:ext cx="4710113" cy="534987"/>
              <a:chOff x="3923792" y="3188752"/>
              <a:chExt cx="4710113" cy="534987"/>
            </a:xfrm>
          </p:grpSpPr>
          <p:sp>
            <p:nvSpPr>
              <p:cNvPr id="84"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85" name="矩形 84"/>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srgbClr val="044875"/>
                  </a:solidFill>
                </a:endParaRPr>
              </a:p>
            </p:txBody>
          </p:sp>
        </p:grpSp>
      </p:grpSp>
      <p:grpSp>
        <p:nvGrpSpPr>
          <p:cNvPr id="99" name="组合 98"/>
          <p:cNvGrpSpPr/>
          <p:nvPr>
            <p:custDataLst>
              <p:tags r:id="rId3"/>
            </p:custDataLst>
          </p:nvPr>
        </p:nvGrpSpPr>
        <p:grpSpPr>
          <a:xfrm>
            <a:off x="4503593" y="4509001"/>
            <a:ext cx="5372100" cy="534987"/>
            <a:chOff x="3261805" y="4046141"/>
            <a:chExt cx="5372100" cy="534987"/>
          </a:xfrm>
        </p:grpSpPr>
        <p:grpSp>
          <p:nvGrpSpPr>
            <p:cNvPr id="100" name="组合 99"/>
            <p:cNvGrpSpPr/>
            <p:nvPr/>
          </p:nvGrpSpPr>
          <p:grpSpPr>
            <a:xfrm>
              <a:off x="3261805" y="4046141"/>
              <a:ext cx="689447" cy="534987"/>
              <a:chOff x="3261805" y="3969748"/>
              <a:chExt cx="689447" cy="534987"/>
            </a:xfrm>
          </p:grpSpPr>
          <p:sp>
            <p:nvSpPr>
              <p:cNvPr id="106" name="矩形 105"/>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7"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1" name="组合 100"/>
            <p:cNvGrpSpPr/>
            <p:nvPr/>
          </p:nvGrpSpPr>
          <p:grpSpPr>
            <a:xfrm>
              <a:off x="3923792" y="4046141"/>
              <a:ext cx="4710113" cy="534987"/>
              <a:chOff x="3923792" y="3969748"/>
              <a:chExt cx="4710113" cy="534987"/>
            </a:xfrm>
          </p:grpSpPr>
          <p:sp>
            <p:nvSpPr>
              <p:cNvPr id="102"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3" name="矩形 102"/>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4" name="直接连接符 103"/>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5"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8" name="组合 107"/>
          <p:cNvGrpSpPr/>
          <p:nvPr>
            <p:custDataLst>
              <p:tags r:id="rId4"/>
            </p:custDataLst>
          </p:nvPr>
        </p:nvGrpSpPr>
        <p:grpSpPr>
          <a:xfrm>
            <a:off x="4517645" y="2868283"/>
            <a:ext cx="5370513" cy="534987"/>
            <a:chOff x="3275856" y="2348880"/>
            <a:chExt cx="5370513" cy="534987"/>
          </a:xfrm>
        </p:grpSpPr>
        <p:grpSp>
          <p:nvGrpSpPr>
            <p:cNvPr id="109" name="组合 108"/>
            <p:cNvGrpSpPr/>
            <p:nvPr/>
          </p:nvGrpSpPr>
          <p:grpSpPr>
            <a:xfrm>
              <a:off x="3275856" y="2348880"/>
              <a:ext cx="689474" cy="534987"/>
              <a:chOff x="3275856" y="2407756"/>
              <a:chExt cx="689474" cy="534987"/>
            </a:xfrm>
          </p:grpSpPr>
          <p:sp>
            <p:nvSpPr>
              <p:cNvPr id="115" name="矩形 114"/>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0" name="组合 109"/>
            <p:cNvGrpSpPr/>
            <p:nvPr/>
          </p:nvGrpSpPr>
          <p:grpSpPr>
            <a:xfrm>
              <a:off x="3937844" y="2348880"/>
              <a:ext cx="4708525" cy="534987"/>
              <a:chOff x="3937844" y="2407756"/>
              <a:chExt cx="4708525" cy="534987"/>
            </a:xfrm>
          </p:grpSpPr>
          <p:sp>
            <p:nvSpPr>
              <p:cNvPr id="111"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12" name="矩形 111"/>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p:cNvGrpSpPr/>
          <p:nvPr/>
        </p:nvGrpSpPr>
        <p:grpSpPr>
          <a:xfrm>
            <a:off x="-1" y="6553200"/>
            <a:ext cx="12192001" cy="304800"/>
            <a:chOff x="0" y="6569404"/>
            <a:chExt cx="9144000" cy="288000"/>
          </a:xfrm>
        </p:grpSpPr>
        <p:sp>
          <p:nvSpPr>
            <p:cNvPr id="5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69</a:t>
            </a:fld>
            <a:endParaRPr lang="zh-HK" altLang="en-US" sz="1600" dirty="0">
              <a:solidFill>
                <a:schemeClr val="bg1"/>
              </a:solidFill>
            </a:endParaRPr>
          </a:p>
        </p:txBody>
      </p:sp>
      <p:pic>
        <p:nvPicPr>
          <p:cNvPr id="6" name="图片 5"/>
          <p:cNvPicPr>
            <a:picLocks noChangeAspect="1"/>
          </p:cNvPicPr>
          <p:nvPr/>
        </p:nvPicPr>
        <p:blipFill>
          <a:blip r:embed="rId3"/>
          <a:stretch>
            <a:fillRect/>
          </a:stretch>
        </p:blipFill>
        <p:spPr>
          <a:xfrm>
            <a:off x="624000" y="796090"/>
            <a:ext cx="4896000" cy="5672770"/>
          </a:xfrm>
          <a:prstGeom prst="rect">
            <a:avLst/>
          </a:prstGeom>
        </p:spPr>
      </p:pic>
      <p:sp>
        <p:nvSpPr>
          <p:cNvPr id="10" name="文本框 9"/>
          <p:cNvSpPr txBox="1"/>
          <p:nvPr/>
        </p:nvSpPr>
        <p:spPr>
          <a:xfrm>
            <a:off x="5808000" y="750598"/>
            <a:ext cx="6361587" cy="2031325"/>
          </a:xfrm>
          <a:prstGeom prst="rect">
            <a:avLst/>
          </a:prstGeom>
          <a:noFill/>
        </p:spPr>
        <p:txBody>
          <a:bodyPr wrap="square">
            <a:spAutoFit/>
          </a:bodyPr>
          <a:lstStyle/>
          <a:p>
            <a:pPr>
              <a:buNone/>
            </a:pPr>
            <a:r>
              <a:rPr lang="en-US" altLang="zh-CN" sz="1800">
                <a:solidFill>
                  <a:srgbClr val="000000"/>
                </a:solidFill>
                <a:effectLst/>
                <a:latin typeface="Arial" panose="020B0604020202020204" pitchFamily="34" charset="0"/>
                <a:ea typeface="Arial Unicode MS" panose="020B0604020202020204" charset="-122"/>
                <a:cs typeface="Arial" panose="020B0604020202020204" pitchFamily="34" charset="0"/>
              </a:rPr>
              <a:t>       First</a:t>
            </a:r>
            <a:r>
              <a:rPr lang="en-US" altLang="zh-CN" sz="1800" dirty="0">
                <a:solidFill>
                  <a:srgbClr val="000000"/>
                </a:solidFill>
                <a:effectLst/>
                <a:latin typeface="Arial" panose="020B0604020202020204" pitchFamily="34" charset="0"/>
                <a:ea typeface="Arial Unicode MS" panose="020B0604020202020204" charset="-122"/>
                <a:cs typeface="Arial" panose="020B0604020202020204" pitchFamily="34" charset="0"/>
              </a:rPr>
              <a:t>, we study a model with </a:t>
            </a:r>
            <a:r>
              <a:rPr lang="en-US" altLang="zh-CN" sz="1800" b="1" dirty="0">
                <a:solidFill>
                  <a:srgbClr val="FF0000"/>
                </a:solidFill>
                <a:effectLst/>
                <a:latin typeface="Arial" panose="020B0604020202020204" pitchFamily="34" charset="0"/>
                <a:ea typeface="Arial Unicode MS" panose="020B0604020202020204" charset="-122"/>
                <a:cs typeface="Arial" panose="020B0604020202020204" pitchFamily="34" charset="0"/>
              </a:rPr>
              <a:t>7 million trainable parameters</a:t>
            </a:r>
            <a:r>
              <a:rPr lang="en-US" altLang="zh-CN" sz="1800" dirty="0">
                <a:solidFill>
                  <a:srgbClr val="000000"/>
                </a:solidFill>
                <a:effectLst/>
                <a:latin typeface="Arial" panose="020B0604020202020204" pitchFamily="34" charset="0"/>
                <a:ea typeface="Arial Unicode MS" panose="020B0604020202020204" charset="-122"/>
                <a:cs typeface="Arial" panose="020B0604020202020204" pitchFamily="34" charset="0"/>
              </a:rPr>
              <a:t> trained to distinguish images of 100 classes. We first pre-train the neural network, use the largest 10% of learned parameters for initialization, and use the quantum ODE system to obtain a sparse output model. We record the </a:t>
            </a:r>
            <a:r>
              <a:rPr lang="en-US" altLang="zh-CN" sz="1800" b="1" dirty="0">
                <a:solidFill>
                  <a:srgbClr val="FF0000"/>
                </a:solidFill>
                <a:effectLst/>
                <a:latin typeface="Arial" panose="020B0604020202020204" pitchFamily="34" charset="0"/>
                <a:ea typeface="Arial Unicode MS" panose="020B0604020202020204" charset="-122"/>
                <a:cs typeface="Arial" panose="020B0604020202020204" pitchFamily="34" charset="0"/>
              </a:rPr>
              <a:t>Hessian spectra </a:t>
            </a:r>
            <a:r>
              <a:rPr lang="en-US" altLang="zh-CN" sz="1800" dirty="0">
                <a:solidFill>
                  <a:srgbClr val="000000"/>
                </a:solidFill>
                <a:effectLst/>
                <a:latin typeface="Arial" panose="020B0604020202020204" pitchFamily="34" charset="0"/>
                <a:ea typeface="Arial Unicode MS" panose="020B0604020202020204" charset="-122"/>
                <a:cs typeface="Arial" panose="020B0604020202020204" pitchFamily="34" charset="0"/>
              </a:rPr>
              <a:t>during sparse training, allowing us to track the evolution of an error bound related quantity, given by</a:t>
            </a:r>
            <a:r>
              <a:rPr lang="zh-CN" altLang="en-US" sz="1800" dirty="0">
                <a:solidFill>
                  <a:srgbClr val="000000"/>
                </a:solidFill>
                <a:effectLst/>
                <a:latin typeface="Arial" panose="020B0604020202020204" pitchFamily="34" charset="0"/>
                <a:ea typeface="Arial Unicode MS" panose="020B0604020202020204" charset="-122"/>
                <a:cs typeface="Arial" panose="020B0604020202020204" pitchFamily="34" charset="0"/>
              </a:rPr>
              <a:t>：</a:t>
            </a:r>
            <a:endParaRPr lang="zh-CN" altLang="en-US" dirty="0">
              <a:latin typeface="Arial" panose="020B0604020202020204" pitchFamily="34" charset="0"/>
              <a:ea typeface="Arial Unicode MS" panose="020B0604020202020204" charset="-122"/>
              <a:cs typeface="Arial" panose="020B0604020202020204" pitchFamily="34" charset="0"/>
            </a:endParaRPr>
          </a:p>
        </p:txBody>
      </p:sp>
      <p:pic>
        <p:nvPicPr>
          <p:cNvPr id="12" name="图片 11"/>
          <p:cNvPicPr>
            <a:picLocks noChangeAspect="1"/>
          </p:cNvPicPr>
          <p:nvPr/>
        </p:nvPicPr>
        <p:blipFill>
          <a:blip r:embed="rId4"/>
          <a:stretch>
            <a:fillRect/>
          </a:stretch>
        </p:blipFill>
        <p:spPr>
          <a:xfrm>
            <a:off x="5834771" y="3002304"/>
            <a:ext cx="6195653" cy="3105098"/>
          </a:xfrm>
          <a:prstGeom prst="rect">
            <a:avLst/>
          </a:prstGeom>
        </p:spPr>
      </p:pic>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66"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70</a:t>
            </a:fld>
            <a:endParaRPr lang="zh-HK" altLang="en-US">
              <a:solidFill>
                <a:prstClr val="black">
                  <a:tint val="75000"/>
                </a:prstClr>
              </a:solidFill>
            </a:endParaRPr>
          </a:p>
        </p:txBody>
      </p:sp>
      <p:grpSp>
        <p:nvGrpSpPr>
          <p:cNvPr id="8" name="组合 7"/>
          <p:cNvGrpSpPr/>
          <p:nvPr/>
        </p:nvGrpSpPr>
        <p:grpSpPr>
          <a:xfrm>
            <a:off x="-1" y="6553200"/>
            <a:ext cx="12192001" cy="304800"/>
            <a:chOff x="0" y="6569404"/>
            <a:chExt cx="9144000" cy="288000"/>
          </a:xfrm>
        </p:grpSpPr>
        <p:sp>
          <p:nvSpPr>
            <p:cNvPr id="9"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70</a:t>
            </a:fld>
            <a:endParaRPr lang="zh-HK" altLang="en-US" sz="1600" dirty="0">
              <a:solidFill>
                <a:schemeClr val="bg1"/>
              </a:solidFill>
            </a:endParaRPr>
          </a:p>
        </p:txBody>
      </p:sp>
      <p:pic>
        <p:nvPicPr>
          <p:cNvPr id="24" name="图片 23"/>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67" name="组合 18"/>
          <p:cNvGrpSpPr/>
          <p:nvPr/>
        </p:nvGrpSpPr>
        <p:grpSpPr bwMode="auto">
          <a:xfrm>
            <a:off x="2409457" y="2650330"/>
            <a:ext cx="1505450" cy="1479472"/>
            <a:chOff x="1709739" y="2636838"/>
            <a:chExt cx="1590160" cy="1584325"/>
          </a:xfrm>
          <a:solidFill>
            <a:srgbClr val="044875"/>
          </a:solidFill>
        </p:grpSpPr>
        <p:sp>
          <p:nvSpPr>
            <p:cNvPr id="68"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3"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4"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5"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6"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7" name="文本框 76"/>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8" name="组合 77"/>
          <p:cNvGrpSpPr/>
          <p:nvPr>
            <p:custDataLst>
              <p:tags r:id="rId1"/>
            </p:custDataLst>
          </p:nvPr>
        </p:nvGrpSpPr>
        <p:grpSpPr>
          <a:xfrm>
            <a:off x="4523741" y="2047924"/>
            <a:ext cx="5370513" cy="534987"/>
            <a:chOff x="3281952" y="1484784"/>
            <a:chExt cx="5370513" cy="534987"/>
          </a:xfrm>
        </p:grpSpPr>
        <p:grpSp>
          <p:nvGrpSpPr>
            <p:cNvPr id="79" name="组合 78"/>
            <p:cNvGrpSpPr/>
            <p:nvPr/>
          </p:nvGrpSpPr>
          <p:grpSpPr>
            <a:xfrm>
              <a:off x="3943940" y="1484784"/>
              <a:ext cx="4708525" cy="534987"/>
              <a:chOff x="3943940" y="1626760"/>
              <a:chExt cx="4708525" cy="534987"/>
            </a:xfrm>
          </p:grpSpPr>
          <p:sp>
            <p:nvSpPr>
              <p:cNvPr id="83"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4"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5" name="矩形 84"/>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80" name="组合 79"/>
            <p:cNvGrpSpPr/>
            <p:nvPr/>
          </p:nvGrpSpPr>
          <p:grpSpPr>
            <a:xfrm>
              <a:off x="3281952" y="1484784"/>
              <a:ext cx="689642" cy="534987"/>
              <a:chOff x="3281952" y="1626760"/>
              <a:chExt cx="689642" cy="534987"/>
            </a:xfrm>
          </p:grpSpPr>
          <p:sp>
            <p:nvSpPr>
              <p:cNvPr id="81" name="矩形 80"/>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2"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8" name="组合 87"/>
          <p:cNvGrpSpPr/>
          <p:nvPr>
            <p:custDataLst>
              <p:tags r:id="rId2"/>
            </p:custDataLst>
          </p:nvPr>
        </p:nvGrpSpPr>
        <p:grpSpPr>
          <a:xfrm>
            <a:off x="4503593" y="3688642"/>
            <a:ext cx="5372100" cy="534987"/>
            <a:chOff x="3261805" y="3188752"/>
            <a:chExt cx="5372100" cy="534987"/>
          </a:xfrm>
        </p:grpSpPr>
        <p:grpSp>
          <p:nvGrpSpPr>
            <p:cNvPr id="91" name="组合 90"/>
            <p:cNvGrpSpPr/>
            <p:nvPr/>
          </p:nvGrpSpPr>
          <p:grpSpPr>
            <a:xfrm>
              <a:off x="3261805" y="3188752"/>
              <a:ext cx="689593" cy="534987"/>
              <a:chOff x="3261805" y="3188752"/>
              <a:chExt cx="689593" cy="534987"/>
            </a:xfrm>
          </p:grpSpPr>
          <p:sp>
            <p:nvSpPr>
              <p:cNvPr id="103" name="矩形 10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4"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95" name="组合 94"/>
            <p:cNvGrpSpPr/>
            <p:nvPr/>
          </p:nvGrpSpPr>
          <p:grpSpPr>
            <a:xfrm>
              <a:off x="3923792" y="3188752"/>
              <a:ext cx="4710113" cy="534987"/>
              <a:chOff x="3923792" y="3188752"/>
              <a:chExt cx="4710113" cy="534987"/>
            </a:xfrm>
          </p:grpSpPr>
          <p:sp>
            <p:nvSpPr>
              <p:cNvPr id="99"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0" name="矩形 9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1" name="直接连接符 10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2"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5" name="组合 104"/>
          <p:cNvGrpSpPr/>
          <p:nvPr>
            <p:custDataLst>
              <p:tags r:id="rId3"/>
            </p:custDataLst>
          </p:nvPr>
        </p:nvGrpSpPr>
        <p:grpSpPr>
          <a:xfrm>
            <a:off x="4503593" y="4509001"/>
            <a:ext cx="5372100" cy="534987"/>
            <a:chOff x="3261805" y="4046141"/>
            <a:chExt cx="5372100" cy="534987"/>
          </a:xfrm>
        </p:grpSpPr>
        <p:grpSp>
          <p:nvGrpSpPr>
            <p:cNvPr id="106" name="组合 105"/>
            <p:cNvGrpSpPr/>
            <p:nvPr/>
          </p:nvGrpSpPr>
          <p:grpSpPr>
            <a:xfrm>
              <a:off x="3261805" y="4046141"/>
              <a:ext cx="689447" cy="534987"/>
              <a:chOff x="3261805" y="3969748"/>
              <a:chExt cx="689447" cy="534987"/>
            </a:xfrm>
          </p:grpSpPr>
          <p:sp>
            <p:nvSpPr>
              <p:cNvPr id="115" name="矩形 114"/>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107" name="组合 106"/>
            <p:cNvGrpSpPr/>
            <p:nvPr/>
          </p:nvGrpSpPr>
          <p:grpSpPr>
            <a:xfrm>
              <a:off x="3923792" y="4046141"/>
              <a:ext cx="4710113" cy="534987"/>
              <a:chOff x="3923792" y="3969748"/>
              <a:chExt cx="4710113" cy="534987"/>
            </a:xfrm>
          </p:grpSpPr>
          <p:sp>
            <p:nvSpPr>
              <p:cNvPr id="108"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12" name="矩形 111"/>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117" name="组合 116"/>
          <p:cNvGrpSpPr/>
          <p:nvPr>
            <p:custDataLst>
              <p:tags r:id="rId4"/>
            </p:custDataLst>
          </p:nvPr>
        </p:nvGrpSpPr>
        <p:grpSpPr>
          <a:xfrm>
            <a:off x="4517645" y="2868283"/>
            <a:ext cx="5370513" cy="534987"/>
            <a:chOff x="3275856" y="2348880"/>
            <a:chExt cx="5370513" cy="534987"/>
          </a:xfrm>
        </p:grpSpPr>
        <p:grpSp>
          <p:nvGrpSpPr>
            <p:cNvPr id="118" name="组合 117"/>
            <p:cNvGrpSpPr/>
            <p:nvPr/>
          </p:nvGrpSpPr>
          <p:grpSpPr>
            <a:xfrm>
              <a:off x="3275856" y="2348880"/>
              <a:ext cx="689474" cy="534987"/>
              <a:chOff x="3275856" y="2407756"/>
              <a:chExt cx="689474" cy="534987"/>
            </a:xfrm>
          </p:grpSpPr>
          <p:sp>
            <p:nvSpPr>
              <p:cNvPr id="124" name="矩形 123"/>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5"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9" name="组合 118"/>
            <p:cNvGrpSpPr/>
            <p:nvPr/>
          </p:nvGrpSpPr>
          <p:grpSpPr>
            <a:xfrm>
              <a:off x="3937844" y="2348880"/>
              <a:ext cx="4708525" cy="534987"/>
              <a:chOff x="3937844" y="2407756"/>
              <a:chExt cx="4708525" cy="534987"/>
            </a:xfrm>
          </p:grpSpPr>
          <p:sp>
            <p:nvSpPr>
              <p:cNvPr id="120"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21" name="矩形 120"/>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22" name="直接连接符 121"/>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3"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B68CB-EB38-4BCC-5FFC-35F306D37112}"/>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D033EC5C-5ED5-9319-CB6C-00C17D2FA09B}"/>
              </a:ext>
            </a:extLst>
          </p:cNvPr>
          <p:cNvGrpSpPr/>
          <p:nvPr/>
        </p:nvGrpSpPr>
        <p:grpSpPr>
          <a:xfrm>
            <a:off x="-72374" y="1960245"/>
            <a:ext cx="12576374" cy="2045019"/>
            <a:chOff x="1522095" y="1960245"/>
            <a:chExt cx="9399290" cy="2045019"/>
          </a:xfrm>
        </p:grpSpPr>
        <p:sp>
          <p:nvSpPr>
            <p:cNvPr id="8" name="矩形 7">
              <a:extLst>
                <a:ext uri="{FF2B5EF4-FFF2-40B4-BE49-F238E27FC236}">
                  <a16:creationId xmlns:a16="http://schemas.microsoft.com/office/drawing/2014/main" id="{437C9D7F-2EF3-66D3-E20D-3F77A3A8232E}"/>
                </a:ext>
              </a:extLst>
            </p:cNvPr>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F8A807A7-7BFC-4B39-14E0-185E1FCDB5DD}"/>
                </a:ext>
              </a:extLst>
            </p:cNvPr>
            <p:cNvSpPr txBox="1"/>
            <p:nvPr/>
          </p:nvSpPr>
          <p:spPr>
            <a:xfrm>
              <a:off x="1818014" y="2154890"/>
              <a:ext cx="8555970" cy="1305165"/>
            </a:xfrm>
            <a:prstGeom prst="rect">
              <a:avLst/>
            </a:prstGeom>
            <a:noFill/>
          </p:spPr>
          <p:txBody>
            <a:bodyPr wrap="square" rtlCol="0" anchor="ctr">
              <a:spAutoFit/>
            </a:bodyPr>
            <a:lstStyle/>
            <a:p>
              <a:pPr algn="ctr">
                <a:lnSpc>
                  <a:spcPct val="150000"/>
                </a:lnSpc>
              </a:pPr>
              <a:r>
                <a:rPr lang="en-US" altLang="zh-CN" sz="2800" b="1">
                  <a:solidFill>
                    <a:schemeClr val="bg1"/>
                  </a:solidFill>
                  <a:latin typeface="Arial" panose="020B0604020202020204" pitchFamily="34" charset="0"/>
                  <a:ea typeface="微软雅黑" panose="020B0503020204020204" charset="-122"/>
                  <a:cs typeface="Arial" panose="020B0604020202020204" pitchFamily="34" charset="0"/>
                </a:rPr>
                <a:t>Towards provably efficient quantum</a:t>
              </a:r>
            </a:p>
            <a:p>
              <a:pPr algn="ctr">
                <a:lnSpc>
                  <a:spcPct val="150000"/>
                </a:lnSpc>
              </a:pPr>
              <a:r>
                <a:rPr lang="en-US" altLang="zh-CN" sz="2800" b="1">
                  <a:solidFill>
                    <a:schemeClr val="bg1"/>
                  </a:solidFill>
                  <a:latin typeface="Arial" panose="020B0604020202020204" pitchFamily="34" charset="0"/>
                  <a:ea typeface="微软雅黑" panose="020B0503020204020204" charset="-122"/>
                  <a:cs typeface="Arial" panose="020B0604020202020204" pitchFamily="34" charset="0"/>
                </a:rPr>
                <a:t>algorithms for large-scale machine learning models</a:t>
              </a:r>
              <a:endPar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3" name="文本框 2">
              <a:extLst>
                <a:ext uri="{FF2B5EF4-FFF2-40B4-BE49-F238E27FC236}">
                  <a16:creationId xmlns:a16="http://schemas.microsoft.com/office/drawing/2014/main" id="{08A72609-0347-0594-0A66-E8F39B634E27}"/>
                </a:ext>
              </a:extLst>
            </p:cNvPr>
            <p:cNvSpPr txBox="1"/>
            <p:nvPr/>
          </p:nvSpPr>
          <p:spPr>
            <a:xfrm>
              <a:off x="1558945" y="3697223"/>
              <a:ext cx="9362440" cy="307777"/>
            </a:xfrm>
            <a:prstGeom prst="rect">
              <a:avLst/>
            </a:prstGeom>
            <a:noFill/>
          </p:spPr>
          <p:txBody>
            <a:bodyPr wrap="square" rtlCol="0">
              <a:spAutoFit/>
            </a:bodyPr>
            <a:lstStyle/>
            <a:p>
              <a:pPr>
                <a:buNone/>
              </a:pPr>
              <a:r>
                <a:rPr lang="zh-CN" altLang="zh-CN" sz="1400">
                  <a:solidFill>
                    <a:schemeClr val="bg1"/>
                  </a:solidFill>
                  <a:effectLst/>
                  <a:latin typeface="Arial Unicode MS" panose="020B0604020202020204" pitchFamily="34" charset="-122"/>
                  <a:ea typeface="Arial Unicode MS" panose="020B0604020202020204" pitchFamily="34" charset="-122"/>
                  <a:cs typeface="Arial Unicode MS" panose="020B0604020202020204" pitchFamily="34" charset="-122"/>
                </a:rPr>
                <a:t>Matthias C. Caro,</a:t>
              </a:r>
              <a:r>
                <a:rPr lang="en-US" altLang="zh-CN" sz="1400">
                  <a:solidFill>
                    <a:schemeClr val="bg1"/>
                  </a:solidFill>
                  <a:effectLst/>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zh-CN" sz="1400">
                  <a:solidFill>
                    <a:schemeClr val="bg1"/>
                  </a:solidFill>
                  <a:effectLst/>
                  <a:latin typeface="Arial Unicode MS" panose="020B0604020202020204" pitchFamily="34" charset="-122"/>
                  <a:ea typeface="Arial Unicode MS" panose="020B0604020202020204" pitchFamily="34" charset="-122"/>
                  <a:cs typeface="Arial Unicode MS" panose="020B0604020202020204" pitchFamily="34" charset="-122"/>
                </a:rPr>
                <a:t>Hsin-Yuan Huang,</a:t>
              </a:r>
              <a:r>
                <a:rPr lang="en-US" altLang="zh-CN" sz="14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zh-CN" sz="1400">
                  <a:solidFill>
                    <a:schemeClr val="bg1"/>
                  </a:solidFill>
                  <a:effectLst/>
                  <a:latin typeface="Arial Unicode MS" panose="020B0604020202020204" pitchFamily="34" charset="-122"/>
                  <a:ea typeface="Arial Unicode MS" panose="020B0604020202020204" pitchFamily="34" charset="-122"/>
                  <a:cs typeface="Arial Unicode MS" panose="020B0604020202020204" pitchFamily="34" charset="-122"/>
                </a:rPr>
                <a:t>M. Cerezo, Kunal Sharma,</a:t>
              </a:r>
              <a:r>
                <a:rPr lang="en-US" altLang="zh-CN" sz="14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zh-CN" sz="1400">
                  <a:solidFill>
                    <a:schemeClr val="bg1"/>
                  </a:solidFill>
                  <a:effectLst/>
                  <a:latin typeface="Arial Unicode MS" panose="020B0604020202020204" pitchFamily="34" charset="-122"/>
                  <a:ea typeface="Arial Unicode MS" panose="020B0604020202020204" pitchFamily="34" charset="-122"/>
                  <a:cs typeface="Arial Unicode MS" panose="020B0604020202020204" pitchFamily="34" charset="-122"/>
                </a:rPr>
                <a:t> Andrew Sornborger,</a:t>
              </a:r>
              <a:r>
                <a:rPr lang="en-US" altLang="zh-CN" sz="14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zh-CN" sz="1400">
                  <a:solidFill>
                    <a:schemeClr val="bg1"/>
                  </a:solidFill>
                  <a:effectLst/>
                  <a:latin typeface="Arial Unicode MS" panose="020B0604020202020204" pitchFamily="34" charset="-122"/>
                  <a:ea typeface="Arial Unicode MS" panose="020B0604020202020204" pitchFamily="34" charset="-122"/>
                  <a:cs typeface="Arial Unicode MS" panose="020B0604020202020204" pitchFamily="34" charset="-122"/>
                </a:rPr>
                <a:t>Lukasz Cincio,</a:t>
              </a:r>
              <a:r>
                <a:rPr lang="en-US" altLang="zh-CN" sz="14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zh-CN" sz="1400">
                  <a:solidFill>
                    <a:schemeClr val="bg1"/>
                  </a:solidFill>
                  <a:effectLst/>
                  <a:latin typeface="Arial Unicode MS" panose="020B0604020202020204" pitchFamily="34" charset="-122"/>
                  <a:ea typeface="Arial Unicode MS" panose="020B0604020202020204" pitchFamily="34" charset="-122"/>
                  <a:cs typeface="Arial Unicode MS" panose="020B0604020202020204" pitchFamily="34" charset="-122"/>
                </a:rPr>
                <a:t>and Patrick J. Coles</a:t>
              </a:r>
              <a:r>
                <a:rPr lang="en-US" altLang="zh-CN" sz="14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Yunfei Wang, Yuri Alexeev</a:t>
              </a:r>
              <a:endParaRPr lang="zh-CN" altLang="en-US" sz="14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sp>
        <p:nvSpPr>
          <p:cNvPr id="2" name="文本框 1">
            <a:extLst>
              <a:ext uri="{FF2B5EF4-FFF2-40B4-BE49-F238E27FC236}">
                <a16:creationId xmlns:a16="http://schemas.microsoft.com/office/drawing/2014/main" id="{499AAAC3-A502-80D7-CD0F-3593C3AEFD02}"/>
              </a:ext>
            </a:extLst>
          </p:cNvPr>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5</a:t>
            </a:r>
            <a:endParaRPr lang="zh-HK" altLang="en-US"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6" name="组合 15">
            <a:extLst>
              <a:ext uri="{FF2B5EF4-FFF2-40B4-BE49-F238E27FC236}">
                <a16:creationId xmlns:a16="http://schemas.microsoft.com/office/drawing/2014/main" id="{6F057C23-8865-8E28-D436-FD311B99298F}"/>
              </a:ext>
            </a:extLst>
          </p:cNvPr>
          <p:cNvGrpSpPr/>
          <p:nvPr/>
        </p:nvGrpSpPr>
        <p:grpSpPr>
          <a:xfrm>
            <a:off x="-1" y="6553200"/>
            <a:ext cx="12192001" cy="304800"/>
            <a:chOff x="0" y="6569404"/>
            <a:chExt cx="9144000" cy="288000"/>
          </a:xfrm>
        </p:grpSpPr>
        <p:sp>
          <p:nvSpPr>
            <p:cNvPr id="17" name="矩形 16">
              <a:extLst>
                <a:ext uri="{FF2B5EF4-FFF2-40B4-BE49-F238E27FC236}">
                  <a16:creationId xmlns:a16="http://schemas.microsoft.com/office/drawing/2014/main" id="{5785ECD0-9592-EF8A-FC9A-FFB88E8ABC02}"/>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442C0AD0-A727-346D-793D-DBD59464D0D4}"/>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9" name="灯片编号占位符 5">
            <a:extLst>
              <a:ext uri="{FF2B5EF4-FFF2-40B4-BE49-F238E27FC236}">
                <a16:creationId xmlns:a16="http://schemas.microsoft.com/office/drawing/2014/main" id="{547E6293-E85A-A818-A1AC-374117EF0EC4}"/>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71</a:t>
            </a:fld>
            <a:endParaRPr lang="zh-HK" altLang="en-US" sz="1600" dirty="0">
              <a:solidFill>
                <a:schemeClr val="bg1"/>
              </a:solidFill>
            </a:endParaRPr>
          </a:p>
        </p:txBody>
      </p:sp>
      <p:grpSp>
        <p:nvGrpSpPr>
          <p:cNvPr id="10" name="组合 9">
            <a:extLst>
              <a:ext uri="{FF2B5EF4-FFF2-40B4-BE49-F238E27FC236}">
                <a16:creationId xmlns:a16="http://schemas.microsoft.com/office/drawing/2014/main" id="{7A1DCA3B-0E54-DF2E-1823-D54A519A4A00}"/>
              </a:ext>
            </a:extLst>
          </p:cNvPr>
          <p:cNvGrpSpPr/>
          <p:nvPr/>
        </p:nvGrpSpPr>
        <p:grpSpPr>
          <a:xfrm>
            <a:off x="351876" y="4596014"/>
            <a:ext cx="11648124" cy="1117600"/>
            <a:chOff x="623" y="7327"/>
            <a:chExt cx="15962" cy="1760"/>
          </a:xfrm>
        </p:grpSpPr>
        <p:sp>
          <p:nvSpPr>
            <p:cNvPr id="12" name="文本框 11">
              <a:extLst>
                <a:ext uri="{FF2B5EF4-FFF2-40B4-BE49-F238E27FC236}">
                  <a16:creationId xmlns:a16="http://schemas.microsoft.com/office/drawing/2014/main" id="{3AAF6743-B458-2FA6-F47E-488C2F09F0CC}"/>
                </a:ext>
              </a:extLst>
            </p:cNvPr>
            <p:cNvSpPr txBox="1"/>
            <p:nvPr/>
          </p:nvSpPr>
          <p:spPr>
            <a:xfrm>
              <a:off x="623" y="7327"/>
              <a:ext cx="15962" cy="582"/>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in: </a:t>
              </a:r>
              <a:r>
                <a:rPr lang="en-US" altLang="zh-CN">
                  <a:latin typeface="Arial" panose="020B0604020202020204" pitchFamily="34" charset="0"/>
                  <a:cs typeface="Arial" panose="020B0604020202020204" pitchFamily="34" charset="0"/>
                </a:rPr>
                <a:t>Nature Communication</a:t>
              </a:r>
              <a:endParaRPr lang="en-US" altLang="zh-CN" dirty="0">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200F0C3F-1C19-EFDC-7290-22D2C4F876A3}"/>
                </a:ext>
              </a:extLst>
            </p:cNvPr>
            <p:cNvSpPr txBox="1"/>
            <p:nvPr/>
          </p:nvSpPr>
          <p:spPr>
            <a:xfrm>
              <a:off x="623" y="8507"/>
              <a:ext cx="9184" cy="58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Published Time</a:t>
              </a:r>
              <a:r>
                <a:rPr lang="en-US" altLang="zh-CN" b="1">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 </a:t>
              </a:r>
              <a:r>
                <a:rPr lang="en-US" altLang="zh-CN">
                  <a:latin typeface="-apple-system"/>
                  <a:cs typeface="Arial" panose="020B0604020202020204" pitchFamily="34" charset="0"/>
                </a:rPr>
                <a:t>2024</a:t>
              </a:r>
              <a:endParaRPr lang="en-US" altLang="zh-CN" dirty="0">
                <a:latin typeface="Arial" panose="020B0604020202020204" pitchFamily="34" charset="0"/>
                <a:cs typeface="Arial" panose="020B0604020202020204" pitchFamily="34" charset="0"/>
              </a:endParaRPr>
            </a:p>
          </p:txBody>
        </p:sp>
      </p:grpSp>
      <p:pic>
        <p:nvPicPr>
          <p:cNvPr id="15" name="图片 14">
            <a:extLst>
              <a:ext uri="{FF2B5EF4-FFF2-40B4-BE49-F238E27FC236}">
                <a16:creationId xmlns:a16="http://schemas.microsoft.com/office/drawing/2014/main" id="{7CE22470-8E26-3651-DFB3-F08D46707A75}"/>
              </a:ext>
            </a:extLst>
          </p:cNvPr>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extLst>
      <p:ext uri="{BB962C8B-B14F-4D97-AF65-F5344CB8AC3E}">
        <p14:creationId xmlns:p14="http://schemas.microsoft.com/office/powerpoint/2010/main" val="35628265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AB580-3738-BBC0-EAC8-008E3A9B7A3F}"/>
            </a:ext>
          </a:extLst>
        </p:cNvPr>
        <p:cNvGrpSpPr/>
        <p:nvPr/>
      </p:nvGrpSpPr>
      <p:grpSpPr>
        <a:xfrm>
          <a:off x="0" y="0"/>
          <a:ext cx="0" cy="0"/>
          <a:chOff x="0" y="0"/>
          <a:chExt cx="0" cy="0"/>
        </a:xfrm>
      </p:grpSpPr>
      <p:grpSp>
        <p:nvGrpSpPr>
          <p:cNvPr id="27" name="组合 18">
            <a:extLst>
              <a:ext uri="{FF2B5EF4-FFF2-40B4-BE49-F238E27FC236}">
                <a16:creationId xmlns:a16="http://schemas.microsoft.com/office/drawing/2014/main" id="{42D232C4-D55D-E3D0-7DA2-D7EF88C2D681}"/>
              </a:ext>
            </a:extLst>
          </p:cNvPr>
          <p:cNvGrpSpPr/>
          <p:nvPr/>
        </p:nvGrpSpPr>
        <p:grpSpPr bwMode="auto">
          <a:xfrm>
            <a:off x="2409457" y="2650330"/>
            <a:ext cx="1505450" cy="1479472"/>
            <a:chOff x="1709739" y="2636838"/>
            <a:chExt cx="1590160" cy="1584325"/>
          </a:xfrm>
          <a:solidFill>
            <a:srgbClr val="044875"/>
          </a:solidFill>
        </p:grpSpPr>
        <p:sp>
          <p:nvSpPr>
            <p:cNvPr id="35" name="Freeform 6">
              <a:extLst>
                <a:ext uri="{FF2B5EF4-FFF2-40B4-BE49-F238E27FC236}">
                  <a16:creationId xmlns:a16="http://schemas.microsoft.com/office/drawing/2014/main" id="{9239AF39-89BF-1979-9367-0CCFE2F11CB2}"/>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a:extLst>
                <a:ext uri="{FF2B5EF4-FFF2-40B4-BE49-F238E27FC236}">
                  <a16:creationId xmlns:a16="http://schemas.microsoft.com/office/drawing/2014/main" id="{0FA1AA0A-4DBE-59D5-3E62-7DFDC58CA1E6}"/>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a:extLst>
                <a:ext uri="{FF2B5EF4-FFF2-40B4-BE49-F238E27FC236}">
                  <a16:creationId xmlns:a16="http://schemas.microsoft.com/office/drawing/2014/main" id="{E2DF5CEE-DD60-48D1-618C-DCCD4AB0674D}"/>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a:extLst>
                <a:ext uri="{FF2B5EF4-FFF2-40B4-BE49-F238E27FC236}">
                  <a16:creationId xmlns:a16="http://schemas.microsoft.com/office/drawing/2014/main" id="{9CE2A41E-DEDE-F59D-210B-09D609502208}"/>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a:extLst>
                <a:ext uri="{FF2B5EF4-FFF2-40B4-BE49-F238E27FC236}">
                  <a16:creationId xmlns:a16="http://schemas.microsoft.com/office/drawing/2014/main" id="{F46D61D6-9F06-C57A-3D35-937CDAB059FA}"/>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a:extLst>
                <a:ext uri="{FF2B5EF4-FFF2-40B4-BE49-F238E27FC236}">
                  <a16:creationId xmlns:a16="http://schemas.microsoft.com/office/drawing/2014/main" id="{DE4435C5-D914-CBB1-2EFD-BF042C928FA9}"/>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a:extLst>
                <a:ext uri="{FF2B5EF4-FFF2-40B4-BE49-F238E27FC236}">
                  <a16:creationId xmlns:a16="http://schemas.microsoft.com/office/drawing/2014/main" id="{2076A876-2BF6-B520-FEB2-DA682163449E}"/>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a:extLst>
                <a:ext uri="{FF2B5EF4-FFF2-40B4-BE49-F238E27FC236}">
                  <a16:creationId xmlns:a16="http://schemas.microsoft.com/office/drawing/2014/main" id="{181B919A-AB70-34AF-64EB-0DD615E4D7C0}"/>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a:extLst>
                <a:ext uri="{FF2B5EF4-FFF2-40B4-BE49-F238E27FC236}">
                  <a16:creationId xmlns:a16="http://schemas.microsoft.com/office/drawing/2014/main" id="{8B8035FD-BFE0-F58F-BE17-9253ED22DFE7}"/>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a:extLst>
              <a:ext uri="{FF2B5EF4-FFF2-40B4-BE49-F238E27FC236}">
                <a16:creationId xmlns:a16="http://schemas.microsoft.com/office/drawing/2014/main" id="{58D18D28-73E0-688E-E4D9-03C97A9AD1B9}"/>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9" name="组合 18">
            <a:extLst>
              <a:ext uri="{FF2B5EF4-FFF2-40B4-BE49-F238E27FC236}">
                <a16:creationId xmlns:a16="http://schemas.microsoft.com/office/drawing/2014/main" id="{CA3BFD98-0AEF-C277-DF9B-EBE1F4DFA851}"/>
              </a:ext>
            </a:extLst>
          </p:cNvPr>
          <p:cNvGrpSpPr/>
          <p:nvPr>
            <p:custDataLst>
              <p:tags r:id="rId1"/>
            </p:custDataLst>
          </p:nvPr>
        </p:nvGrpSpPr>
        <p:grpSpPr>
          <a:xfrm>
            <a:off x="4523741" y="2047924"/>
            <a:ext cx="5370513" cy="534987"/>
            <a:chOff x="3281952" y="1484784"/>
            <a:chExt cx="5370513" cy="534987"/>
          </a:xfrm>
        </p:grpSpPr>
        <p:grpSp>
          <p:nvGrpSpPr>
            <p:cNvPr id="14" name="组合 13">
              <a:extLst>
                <a:ext uri="{FF2B5EF4-FFF2-40B4-BE49-F238E27FC236}">
                  <a16:creationId xmlns:a16="http://schemas.microsoft.com/office/drawing/2014/main" id="{8C63DB72-A965-DCCD-92A6-819643FF96D3}"/>
                </a:ext>
              </a:extLst>
            </p:cNvPr>
            <p:cNvGrpSpPr/>
            <p:nvPr/>
          </p:nvGrpSpPr>
          <p:grpSpPr>
            <a:xfrm>
              <a:off x="3943940" y="1484784"/>
              <a:ext cx="4708525" cy="534987"/>
              <a:chOff x="3943940" y="1626760"/>
              <a:chExt cx="4708525" cy="534987"/>
            </a:xfrm>
          </p:grpSpPr>
          <p:sp>
            <p:nvSpPr>
              <p:cNvPr id="49" name="Freeform 74">
                <a:extLst>
                  <a:ext uri="{FF2B5EF4-FFF2-40B4-BE49-F238E27FC236}">
                    <a16:creationId xmlns:a16="http://schemas.microsoft.com/office/drawing/2014/main" id="{B31C3E93-BA1E-72E7-7811-6E0F4830D013}"/>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0" name="文本框 20">
                <a:extLst>
                  <a:ext uri="{FF2B5EF4-FFF2-40B4-BE49-F238E27FC236}">
                    <a16:creationId xmlns:a16="http://schemas.microsoft.com/office/drawing/2014/main" id="{79EB74A1-82F3-10D0-3351-1B30190B7650}"/>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51" name="矩形 50">
                <a:extLst>
                  <a:ext uri="{FF2B5EF4-FFF2-40B4-BE49-F238E27FC236}">
                    <a16:creationId xmlns:a16="http://schemas.microsoft.com/office/drawing/2014/main" id="{46C18DB7-9A62-677E-568D-C52EF0C56ABD}"/>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 name="直接连接符 51">
                <a:extLst>
                  <a:ext uri="{FF2B5EF4-FFF2-40B4-BE49-F238E27FC236}">
                    <a16:creationId xmlns:a16="http://schemas.microsoft.com/office/drawing/2014/main" id="{2FDFEF4D-748E-6F10-FB91-696F50051693}"/>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235FF22B-7079-CEF3-3824-8D8238977217}"/>
                </a:ext>
              </a:extLst>
            </p:cNvPr>
            <p:cNvGrpSpPr/>
            <p:nvPr/>
          </p:nvGrpSpPr>
          <p:grpSpPr>
            <a:xfrm>
              <a:off x="3281952" y="1484784"/>
              <a:ext cx="689642" cy="534987"/>
              <a:chOff x="3281952" y="1626760"/>
              <a:chExt cx="689642" cy="534987"/>
            </a:xfrm>
          </p:grpSpPr>
          <p:sp>
            <p:nvSpPr>
              <p:cNvPr id="53" name="矩形 52">
                <a:extLst>
                  <a:ext uri="{FF2B5EF4-FFF2-40B4-BE49-F238E27FC236}">
                    <a16:creationId xmlns:a16="http://schemas.microsoft.com/office/drawing/2014/main" id="{AA93AD08-B097-E19E-66C5-F0136F4803B7}"/>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文本框 18">
                <a:extLst>
                  <a:ext uri="{FF2B5EF4-FFF2-40B4-BE49-F238E27FC236}">
                    <a16:creationId xmlns:a16="http://schemas.microsoft.com/office/drawing/2014/main" id="{A847FADA-5EAB-8176-9E5A-C93B977D7BEE}"/>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2" name="组合 21">
            <a:extLst>
              <a:ext uri="{FF2B5EF4-FFF2-40B4-BE49-F238E27FC236}">
                <a16:creationId xmlns:a16="http://schemas.microsoft.com/office/drawing/2014/main" id="{0EA405C5-7931-F115-3E4D-422F845CD3B8}"/>
              </a:ext>
            </a:extLst>
          </p:cNvPr>
          <p:cNvGrpSpPr/>
          <p:nvPr>
            <p:custDataLst>
              <p:tags r:id="rId2"/>
            </p:custDataLst>
          </p:nvPr>
        </p:nvGrpSpPr>
        <p:grpSpPr>
          <a:xfrm>
            <a:off x="4503593" y="3688642"/>
            <a:ext cx="5372100" cy="534987"/>
            <a:chOff x="3261805" y="3188752"/>
            <a:chExt cx="5372100" cy="534987"/>
          </a:xfrm>
        </p:grpSpPr>
        <p:grpSp>
          <p:nvGrpSpPr>
            <p:cNvPr id="12" name="组合 11">
              <a:extLst>
                <a:ext uri="{FF2B5EF4-FFF2-40B4-BE49-F238E27FC236}">
                  <a16:creationId xmlns:a16="http://schemas.microsoft.com/office/drawing/2014/main" id="{9269C17B-CA59-89B6-7AF6-5AB5DB1F5C6C}"/>
                </a:ext>
              </a:extLst>
            </p:cNvPr>
            <p:cNvGrpSpPr/>
            <p:nvPr/>
          </p:nvGrpSpPr>
          <p:grpSpPr>
            <a:xfrm>
              <a:off x="3261805" y="3188752"/>
              <a:ext cx="689593" cy="534987"/>
              <a:chOff x="3261805" y="3188752"/>
              <a:chExt cx="689593" cy="534987"/>
            </a:xfrm>
          </p:grpSpPr>
          <p:sp>
            <p:nvSpPr>
              <p:cNvPr id="61" name="矩形 60">
                <a:extLst>
                  <a:ext uri="{FF2B5EF4-FFF2-40B4-BE49-F238E27FC236}">
                    <a16:creationId xmlns:a16="http://schemas.microsoft.com/office/drawing/2014/main" id="{874E8A12-5C3E-540C-21EB-626B059066BB}"/>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2" name="文本框 86">
                <a:extLst>
                  <a:ext uri="{FF2B5EF4-FFF2-40B4-BE49-F238E27FC236}">
                    <a16:creationId xmlns:a16="http://schemas.microsoft.com/office/drawing/2014/main" id="{4B95501D-D451-93C5-5E8B-6158F750B337}"/>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16" name="组合 15">
              <a:extLst>
                <a:ext uri="{FF2B5EF4-FFF2-40B4-BE49-F238E27FC236}">
                  <a16:creationId xmlns:a16="http://schemas.microsoft.com/office/drawing/2014/main" id="{6F64D925-9145-167A-51A7-F2265D2EC860}"/>
                </a:ext>
              </a:extLst>
            </p:cNvPr>
            <p:cNvGrpSpPr/>
            <p:nvPr/>
          </p:nvGrpSpPr>
          <p:grpSpPr>
            <a:xfrm>
              <a:off x="3923792" y="3188752"/>
              <a:ext cx="4710113" cy="534987"/>
              <a:chOff x="3923792" y="3188752"/>
              <a:chExt cx="4710113" cy="534987"/>
            </a:xfrm>
          </p:grpSpPr>
          <p:sp>
            <p:nvSpPr>
              <p:cNvPr id="56" name="文本框 81">
                <a:extLst>
                  <a:ext uri="{FF2B5EF4-FFF2-40B4-BE49-F238E27FC236}">
                    <a16:creationId xmlns:a16="http://schemas.microsoft.com/office/drawing/2014/main" id="{E2C372C4-82FA-6CA2-CB46-DE836B456F41}"/>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57" name="矩形 56">
                <a:extLst>
                  <a:ext uri="{FF2B5EF4-FFF2-40B4-BE49-F238E27FC236}">
                    <a16:creationId xmlns:a16="http://schemas.microsoft.com/office/drawing/2014/main" id="{207ECE6E-98AF-345B-B383-B4D6E5CF30CF}"/>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8" name="直接连接符 57">
                <a:extLst>
                  <a:ext uri="{FF2B5EF4-FFF2-40B4-BE49-F238E27FC236}">
                    <a16:creationId xmlns:a16="http://schemas.microsoft.com/office/drawing/2014/main" id="{6816A0E9-D22C-4057-19C2-2DF4CF7BD4E1}"/>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a:extLst>
                  <a:ext uri="{FF2B5EF4-FFF2-40B4-BE49-F238E27FC236}">
                    <a16:creationId xmlns:a16="http://schemas.microsoft.com/office/drawing/2014/main" id="{C310EAFC-CD61-D132-F399-4D93CA32D5D4}"/>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3" name="组合 22">
            <a:extLst>
              <a:ext uri="{FF2B5EF4-FFF2-40B4-BE49-F238E27FC236}">
                <a16:creationId xmlns:a16="http://schemas.microsoft.com/office/drawing/2014/main" id="{B87C9DE9-5D23-2753-D7E1-5B036DD87663}"/>
              </a:ext>
            </a:extLst>
          </p:cNvPr>
          <p:cNvGrpSpPr/>
          <p:nvPr>
            <p:custDataLst>
              <p:tags r:id="rId3"/>
            </p:custDataLst>
          </p:nvPr>
        </p:nvGrpSpPr>
        <p:grpSpPr>
          <a:xfrm>
            <a:off x="4503593" y="4509001"/>
            <a:ext cx="5372100" cy="534987"/>
            <a:chOff x="3261805" y="4046141"/>
            <a:chExt cx="5372100" cy="534987"/>
          </a:xfrm>
        </p:grpSpPr>
        <p:grpSp>
          <p:nvGrpSpPr>
            <p:cNvPr id="13" name="组合 12">
              <a:extLst>
                <a:ext uri="{FF2B5EF4-FFF2-40B4-BE49-F238E27FC236}">
                  <a16:creationId xmlns:a16="http://schemas.microsoft.com/office/drawing/2014/main" id="{65ED77A4-1A06-D5B5-9BEC-15A291BFCB3F}"/>
                </a:ext>
              </a:extLst>
            </p:cNvPr>
            <p:cNvGrpSpPr/>
            <p:nvPr/>
          </p:nvGrpSpPr>
          <p:grpSpPr>
            <a:xfrm>
              <a:off x="3261805" y="4046141"/>
              <a:ext cx="689447" cy="534987"/>
              <a:chOff x="3261805" y="3969748"/>
              <a:chExt cx="689447" cy="534987"/>
            </a:xfrm>
          </p:grpSpPr>
          <p:sp>
            <p:nvSpPr>
              <p:cNvPr id="89" name="矩形 88">
                <a:extLst>
                  <a:ext uri="{FF2B5EF4-FFF2-40B4-BE49-F238E27FC236}">
                    <a16:creationId xmlns:a16="http://schemas.microsoft.com/office/drawing/2014/main" id="{808AE7FC-1BC0-D5A0-AC8B-519F06ADB523}"/>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a:extLst>
                  <a:ext uri="{FF2B5EF4-FFF2-40B4-BE49-F238E27FC236}">
                    <a16:creationId xmlns:a16="http://schemas.microsoft.com/office/drawing/2014/main" id="{E41B088C-ABE5-14A1-6B7C-AC8E4B92F8F4}"/>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17" name="组合 16">
              <a:extLst>
                <a:ext uri="{FF2B5EF4-FFF2-40B4-BE49-F238E27FC236}">
                  <a16:creationId xmlns:a16="http://schemas.microsoft.com/office/drawing/2014/main" id="{B11750CF-EF92-B27D-E4EA-6B994FAA98D3}"/>
                </a:ext>
              </a:extLst>
            </p:cNvPr>
            <p:cNvGrpSpPr/>
            <p:nvPr/>
          </p:nvGrpSpPr>
          <p:grpSpPr>
            <a:xfrm>
              <a:off x="3923792" y="4046141"/>
              <a:ext cx="4710113" cy="534987"/>
              <a:chOff x="3923792" y="3969748"/>
              <a:chExt cx="4710113" cy="534987"/>
            </a:xfrm>
          </p:grpSpPr>
          <p:sp>
            <p:nvSpPr>
              <p:cNvPr id="64" name="文本框 126">
                <a:extLst>
                  <a:ext uri="{FF2B5EF4-FFF2-40B4-BE49-F238E27FC236}">
                    <a16:creationId xmlns:a16="http://schemas.microsoft.com/office/drawing/2014/main" id="{415A5E40-0BE1-25EF-58E3-426988F2B9D2}"/>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65" name="矩形 64">
                <a:extLst>
                  <a:ext uri="{FF2B5EF4-FFF2-40B4-BE49-F238E27FC236}">
                    <a16:creationId xmlns:a16="http://schemas.microsoft.com/office/drawing/2014/main" id="{824998E2-7EE5-1A2E-B48A-E94505752369}"/>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a:extLst>
                  <a:ext uri="{FF2B5EF4-FFF2-40B4-BE49-F238E27FC236}">
                    <a16:creationId xmlns:a16="http://schemas.microsoft.com/office/drawing/2014/main" id="{3082BE52-AEC6-B4C4-B4CD-3ECC319D3272}"/>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a:extLst>
                  <a:ext uri="{FF2B5EF4-FFF2-40B4-BE49-F238E27FC236}">
                    <a16:creationId xmlns:a16="http://schemas.microsoft.com/office/drawing/2014/main" id="{AEB76793-2A17-D2EE-D3DF-4DA5E31F0263}"/>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0" name="组合 19">
            <a:extLst>
              <a:ext uri="{FF2B5EF4-FFF2-40B4-BE49-F238E27FC236}">
                <a16:creationId xmlns:a16="http://schemas.microsoft.com/office/drawing/2014/main" id="{55E216B6-13E9-1032-7A40-5D344B4A50AA}"/>
              </a:ext>
            </a:extLst>
          </p:cNvPr>
          <p:cNvGrpSpPr/>
          <p:nvPr>
            <p:custDataLst>
              <p:tags r:id="rId4"/>
            </p:custDataLst>
          </p:nvPr>
        </p:nvGrpSpPr>
        <p:grpSpPr>
          <a:xfrm>
            <a:off x="4517645" y="2868283"/>
            <a:ext cx="5370513" cy="534987"/>
            <a:chOff x="3275856" y="2348880"/>
            <a:chExt cx="5370513" cy="534987"/>
          </a:xfrm>
        </p:grpSpPr>
        <p:grpSp>
          <p:nvGrpSpPr>
            <p:cNvPr id="11" name="组合 10">
              <a:extLst>
                <a:ext uri="{FF2B5EF4-FFF2-40B4-BE49-F238E27FC236}">
                  <a16:creationId xmlns:a16="http://schemas.microsoft.com/office/drawing/2014/main" id="{D6D72F83-E137-636C-45D8-F92427C4CA1A}"/>
                </a:ext>
              </a:extLst>
            </p:cNvPr>
            <p:cNvGrpSpPr/>
            <p:nvPr/>
          </p:nvGrpSpPr>
          <p:grpSpPr>
            <a:xfrm>
              <a:off x="3275856" y="2348880"/>
              <a:ext cx="689474" cy="534987"/>
              <a:chOff x="3275856" y="2407756"/>
              <a:chExt cx="689474" cy="534987"/>
            </a:xfrm>
          </p:grpSpPr>
          <p:sp>
            <p:nvSpPr>
              <p:cNvPr id="97" name="矩形 96">
                <a:extLst>
                  <a:ext uri="{FF2B5EF4-FFF2-40B4-BE49-F238E27FC236}">
                    <a16:creationId xmlns:a16="http://schemas.microsoft.com/office/drawing/2014/main" id="{9F67D955-764A-1DCA-5DC0-BE567C7C812B}"/>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8" name="文本框 78">
                <a:extLst>
                  <a:ext uri="{FF2B5EF4-FFF2-40B4-BE49-F238E27FC236}">
                    <a16:creationId xmlns:a16="http://schemas.microsoft.com/office/drawing/2014/main" id="{A6514C8F-AD81-D439-78F1-3CE237FCC5A6}"/>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5" name="组合 14">
              <a:extLst>
                <a:ext uri="{FF2B5EF4-FFF2-40B4-BE49-F238E27FC236}">
                  <a16:creationId xmlns:a16="http://schemas.microsoft.com/office/drawing/2014/main" id="{D5BFA2F7-C1C1-CD7D-EDC5-1659E7B4FD79}"/>
                </a:ext>
              </a:extLst>
            </p:cNvPr>
            <p:cNvGrpSpPr/>
            <p:nvPr/>
          </p:nvGrpSpPr>
          <p:grpSpPr>
            <a:xfrm>
              <a:off x="3937844" y="2348880"/>
              <a:ext cx="4708525" cy="534987"/>
              <a:chOff x="3937844" y="2407756"/>
              <a:chExt cx="4708525" cy="534987"/>
            </a:xfrm>
          </p:grpSpPr>
          <p:sp>
            <p:nvSpPr>
              <p:cNvPr id="92" name="文本框 73">
                <a:extLst>
                  <a:ext uri="{FF2B5EF4-FFF2-40B4-BE49-F238E27FC236}">
                    <a16:creationId xmlns:a16="http://schemas.microsoft.com/office/drawing/2014/main" id="{F2760A17-66E6-5274-3465-6514C0D494AF}"/>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93" name="矩形 92">
                <a:extLst>
                  <a:ext uri="{FF2B5EF4-FFF2-40B4-BE49-F238E27FC236}">
                    <a16:creationId xmlns:a16="http://schemas.microsoft.com/office/drawing/2014/main" id="{C7427B65-D619-C049-FF2A-BA38D6660904}"/>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4" name="直接连接符 93">
                <a:extLst>
                  <a:ext uri="{FF2B5EF4-FFF2-40B4-BE49-F238E27FC236}">
                    <a16:creationId xmlns:a16="http://schemas.microsoft.com/office/drawing/2014/main" id="{C688FE35-1836-EFCC-33A3-4F77419BC7F6}"/>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a:extLst>
                  <a:ext uri="{FF2B5EF4-FFF2-40B4-BE49-F238E27FC236}">
                    <a16:creationId xmlns:a16="http://schemas.microsoft.com/office/drawing/2014/main" id="{D2999AF3-F5C1-1484-969D-46F5BF05C2EC}"/>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7" name="组合 6">
            <a:extLst>
              <a:ext uri="{FF2B5EF4-FFF2-40B4-BE49-F238E27FC236}">
                <a16:creationId xmlns:a16="http://schemas.microsoft.com/office/drawing/2014/main" id="{3BC0872B-91D4-BFE0-0517-95A8843C2902}"/>
              </a:ext>
            </a:extLst>
          </p:cNvPr>
          <p:cNvGrpSpPr/>
          <p:nvPr/>
        </p:nvGrpSpPr>
        <p:grpSpPr>
          <a:xfrm>
            <a:off x="-1" y="6553200"/>
            <a:ext cx="12192001" cy="304800"/>
            <a:chOff x="0" y="6569404"/>
            <a:chExt cx="9144000" cy="288000"/>
          </a:xfrm>
        </p:grpSpPr>
        <p:sp>
          <p:nvSpPr>
            <p:cNvPr id="8" name="矩形 7">
              <a:extLst>
                <a:ext uri="{FF2B5EF4-FFF2-40B4-BE49-F238E27FC236}">
                  <a16:creationId xmlns:a16="http://schemas.microsoft.com/office/drawing/2014/main" id="{2877A3DD-FD76-2E3E-4050-8289E07AE8CC}"/>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6769BC28-2C3B-DA51-15CE-13F900AE6878}"/>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a:extLst>
              <a:ext uri="{FF2B5EF4-FFF2-40B4-BE49-F238E27FC236}">
                <a16:creationId xmlns:a16="http://schemas.microsoft.com/office/drawing/2014/main" id="{16D5A251-36E0-94BE-96C8-7BC49457229A}"/>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72</a:t>
            </a:fld>
            <a:endParaRPr lang="zh-HK" altLang="en-US" sz="1600" dirty="0">
              <a:solidFill>
                <a:schemeClr val="bg1"/>
              </a:solidFill>
            </a:endParaRPr>
          </a:p>
        </p:txBody>
      </p:sp>
      <p:pic>
        <p:nvPicPr>
          <p:cNvPr id="25" name="图片 24">
            <a:extLst>
              <a:ext uri="{FF2B5EF4-FFF2-40B4-BE49-F238E27FC236}">
                <a16:creationId xmlns:a16="http://schemas.microsoft.com/office/drawing/2014/main" id="{2F69E3D5-EF58-C837-92D8-E32A24B7D5DE}"/>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extLst>
      <p:ext uri="{BB962C8B-B14F-4D97-AF65-F5344CB8AC3E}">
        <p14:creationId xmlns:p14="http://schemas.microsoft.com/office/powerpoint/2010/main" val="1362672487"/>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9E9E6-1D92-89CC-40E5-F56CC4A1DB52}"/>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696AECE9-8A57-4EBF-A6BF-75F7F6878005}"/>
              </a:ext>
            </a:extLst>
          </p:cNvPr>
          <p:cNvGrpSpPr/>
          <p:nvPr/>
        </p:nvGrpSpPr>
        <p:grpSpPr>
          <a:xfrm>
            <a:off x="-1" y="6553200"/>
            <a:ext cx="12192001" cy="304800"/>
            <a:chOff x="0" y="6569404"/>
            <a:chExt cx="9144000" cy="288000"/>
          </a:xfrm>
        </p:grpSpPr>
        <p:sp>
          <p:nvSpPr>
            <p:cNvPr id="8" name="矩形 7">
              <a:extLst>
                <a:ext uri="{FF2B5EF4-FFF2-40B4-BE49-F238E27FC236}">
                  <a16:creationId xmlns:a16="http://schemas.microsoft.com/office/drawing/2014/main" id="{D1F2A4B0-7150-F4DC-FBB5-07E6BF479D4D}"/>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A2764EB6-3C4E-B94E-6031-80FBEEF02612}"/>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a:extLst>
              <a:ext uri="{FF2B5EF4-FFF2-40B4-BE49-F238E27FC236}">
                <a16:creationId xmlns:a16="http://schemas.microsoft.com/office/drawing/2014/main" id="{6A6D6B57-13CE-16E6-3B03-3AACBA3F77D6}"/>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73</a:t>
            </a:fld>
            <a:endParaRPr lang="zh-HK" altLang="en-US" sz="1600" dirty="0">
              <a:solidFill>
                <a:schemeClr val="bg1"/>
              </a:solidFill>
            </a:endParaRPr>
          </a:p>
        </p:txBody>
      </p:sp>
      <p:pic>
        <p:nvPicPr>
          <p:cNvPr id="25" name="图片 24">
            <a:extLst>
              <a:ext uri="{FF2B5EF4-FFF2-40B4-BE49-F238E27FC236}">
                <a16:creationId xmlns:a16="http://schemas.microsoft.com/office/drawing/2014/main" id="{F32D08F4-674A-7F0D-C0EB-6930F7DF0BE8}"/>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96" name="组合 18">
            <a:extLst>
              <a:ext uri="{FF2B5EF4-FFF2-40B4-BE49-F238E27FC236}">
                <a16:creationId xmlns:a16="http://schemas.microsoft.com/office/drawing/2014/main" id="{51484724-05D7-4DAD-43D9-40B6A9FDBB6F}"/>
              </a:ext>
            </a:extLst>
          </p:cNvPr>
          <p:cNvGrpSpPr/>
          <p:nvPr/>
        </p:nvGrpSpPr>
        <p:grpSpPr bwMode="auto">
          <a:xfrm>
            <a:off x="2409457" y="2650330"/>
            <a:ext cx="1505450" cy="1479472"/>
            <a:chOff x="1709739" y="2636838"/>
            <a:chExt cx="1590160" cy="1584325"/>
          </a:xfrm>
          <a:solidFill>
            <a:srgbClr val="044875"/>
          </a:solidFill>
        </p:grpSpPr>
        <p:sp>
          <p:nvSpPr>
            <p:cNvPr id="497" name="Freeform 6">
              <a:extLst>
                <a:ext uri="{FF2B5EF4-FFF2-40B4-BE49-F238E27FC236}">
                  <a16:creationId xmlns:a16="http://schemas.microsoft.com/office/drawing/2014/main" id="{34D13B86-484C-B911-0847-AAE1AC8D523B}"/>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8" name="Freeform 7">
              <a:extLst>
                <a:ext uri="{FF2B5EF4-FFF2-40B4-BE49-F238E27FC236}">
                  <a16:creationId xmlns:a16="http://schemas.microsoft.com/office/drawing/2014/main" id="{F05388EE-1804-4D87-D92E-FD4E0687F79A}"/>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9" name="Freeform 8">
              <a:extLst>
                <a:ext uri="{FF2B5EF4-FFF2-40B4-BE49-F238E27FC236}">
                  <a16:creationId xmlns:a16="http://schemas.microsoft.com/office/drawing/2014/main" id="{C7A122C7-4ABF-59D6-F860-A8301724A2DD}"/>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0" name="Freeform 9">
              <a:extLst>
                <a:ext uri="{FF2B5EF4-FFF2-40B4-BE49-F238E27FC236}">
                  <a16:creationId xmlns:a16="http://schemas.microsoft.com/office/drawing/2014/main" id="{644F87EE-C685-926E-E7B1-704A880893DF}"/>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1" name="Freeform 10">
              <a:extLst>
                <a:ext uri="{FF2B5EF4-FFF2-40B4-BE49-F238E27FC236}">
                  <a16:creationId xmlns:a16="http://schemas.microsoft.com/office/drawing/2014/main" id="{F90AC860-4C43-319C-8749-F86C32EAC758}"/>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2" name="Freeform 11">
              <a:extLst>
                <a:ext uri="{FF2B5EF4-FFF2-40B4-BE49-F238E27FC236}">
                  <a16:creationId xmlns:a16="http://schemas.microsoft.com/office/drawing/2014/main" id="{AF7E30B0-6D92-591C-3268-BE380939F5E2}"/>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3" name="Freeform 12">
              <a:extLst>
                <a:ext uri="{FF2B5EF4-FFF2-40B4-BE49-F238E27FC236}">
                  <a16:creationId xmlns:a16="http://schemas.microsoft.com/office/drawing/2014/main" id="{B457FB90-7018-151B-5900-F56F0E3102B1}"/>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4" name="Freeform 13">
              <a:extLst>
                <a:ext uri="{FF2B5EF4-FFF2-40B4-BE49-F238E27FC236}">
                  <a16:creationId xmlns:a16="http://schemas.microsoft.com/office/drawing/2014/main" id="{6DA799B0-D06C-D9C9-6866-5D62C8D31192}"/>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5" name="Freeform 14">
              <a:extLst>
                <a:ext uri="{FF2B5EF4-FFF2-40B4-BE49-F238E27FC236}">
                  <a16:creationId xmlns:a16="http://schemas.microsoft.com/office/drawing/2014/main" id="{BF62E90E-8A79-6A4D-EE2C-F546625270D6}"/>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506" name="文本框 505">
            <a:extLst>
              <a:ext uri="{FF2B5EF4-FFF2-40B4-BE49-F238E27FC236}">
                <a16:creationId xmlns:a16="http://schemas.microsoft.com/office/drawing/2014/main" id="{F5300DE9-37EA-0520-3399-35EE35905D46}"/>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07" name="组合 506">
            <a:extLst>
              <a:ext uri="{FF2B5EF4-FFF2-40B4-BE49-F238E27FC236}">
                <a16:creationId xmlns:a16="http://schemas.microsoft.com/office/drawing/2014/main" id="{BF086F61-CE81-03B3-DA26-2887FD72DA9C}"/>
              </a:ext>
            </a:extLst>
          </p:cNvPr>
          <p:cNvGrpSpPr/>
          <p:nvPr>
            <p:custDataLst>
              <p:tags r:id="rId1"/>
            </p:custDataLst>
          </p:nvPr>
        </p:nvGrpSpPr>
        <p:grpSpPr>
          <a:xfrm>
            <a:off x="4523741" y="2047924"/>
            <a:ext cx="5370513" cy="534987"/>
            <a:chOff x="3281952" y="1484784"/>
            <a:chExt cx="5370513" cy="534987"/>
          </a:xfrm>
        </p:grpSpPr>
        <p:grpSp>
          <p:nvGrpSpPr>
            <p:cNvPr id="508" name="组合 507">
              <a:extLst>
                <a:ext uri="{FF2B5EF4-FFF2-40B4-BE49-F238E27FC236}">
                  <a16:creationId xmlns:a16="http://schemas.microsoft.com/office/drawing/2014/main" id="{A4CF353C-8068-2525-87ED-739B2282740F}"/>
                </a:ext>
              </a:extLst>
            </p:cNvPr>
            <p:cNvGrpSpPr/>
            <p:nvPr/>
          </p:nvGrpSpPr>
          <p:grpSpPr>
            <a:xfrm>
              <a:off x="3943940" y="1484784"/>
              <a:ext cx="4708525" cy="534987"/>
              <a:chOff x="3943940" y="1626760"/>
              <a:chExt cx="4708525" cy="534987"/>
            </a:xfrm>
          </p:grpSpPr>
          <p:sp>
            <p:nvSpPr>
              <p:cNvPr id="512" name="Freeform 74">
                <a:extLst>
                  <a:ext uri="{FF2B5EF4-FFF2-40B4-BE49-F238E27FC236}">
                    <a16:creationId xmlns:a16="http://schemas.microsoft.com/office/drawing/2014/main" id="{1CA8625C-047B-D6C9-A0F2-96C0E3D297E2}"/>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13" name="文本框 20">
                <a:extLst>
                  <a:ext uri="{FF2B5EF4-FFF2-40B4-BE49-F238E27FC236}">
                    <a16:creationId xmlns:a16="http://schemas.microsoft.com/office/drawing/2014/main" id="{FA2A98A0-3D69-1E2B-26E6-039B8AF5CF29}"/>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514" name="矩形 513">
                <a:extLst>
                  <a:ext uri="{FF2B5EF4-FFF2-40B4-BE49-F238E27FC236}">
                    <a16:creationId xmlns:a16="http://schemas.microsoft.com/office/drawing/2014/main" id="{9E5FD03E-E369-FFF8-16CA-51B962614806}"/>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15" name="直接连接符 514">
                <a:extLst>
                  <a:ext uri="{FF2B5EF4-FFF2-40B4-BE49-F238E27FC236}">
                    <a16:creationId xmlns:a16="http://schemas.microsoft.com/office/drawing/2014/main" id="{CA2B1BAB-8E67-0DA3-35B2-BB3AA675488C}"/>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09" name="组合 508">
              <a:extLst>
                <a:ext uri="{FF2B5EF4-FFF2-40B4-BE49-F238E27FC236}">
                  <a16:creationId xmlns:a16="http://schemas.microsoft.com/office/drawing/2014/main" id="{23206225-9500-D17C-71C9-1C8A88F9FC3D}"/>
                </a:ext>
              </a:extLst>
            </p:cNvPr>
            <p:cNvGrpSpPr/>
            <p:nvPr/>
          </p:nvGrpSpPr>
          <p:grpSpPr>
            <a:xfrm>
              <a:off x="3281952" y="1484784"/>
              <a:ext cx="689642" cy="534987"/>
              <a:chOff x="3281952" y="1626760"/>
              <a:chExt cx="689642" cy="534987"/>
            </a:xfrm>
          </p:grpSpPr>
          <p:sp>
            <p:nvSpPr>
              <p:cNvPr id="510" name="矩形 509">
                <a:extLst>
                  <a:ext uri="{FF2B5EF4-FFF2-40B4-BE49-F238E27FC236}">
                    <a16:creationId xmlns:a16="http://schemas.microsoft.com/office/drawing/2014/main" id="{7CDEA4FE-5389-D428-F248-334A15100E86}"/>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11" name="文本框 18">
                <a:extLst>
                  <a:ext uri="{FF2B5EF4-FFF2-40B4-BE49-F238E27FC236}">
                    <a16:creationId xmlns:a16="http://schemas.microsoft.com/office/drawing/2014/main" id="{44E7AB5A-8560-B911-7718-40A682F15EA7}"/>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516" name="组合 515">
            <a:extLst>
              <a:ext uri="{FF2B5EF4-FFF2-40B4-BE49-F238E27FC236}">
                <a16:creationId xmlns:a16="http://schemas.microsoft.com/office/drawing/2014/main" id="{02767FF8-3B8C-4B0D-A846-CD7CA1ADA8AE}"/>
              </a:ext>
            </a:extLst>
          </p:cNvPr>
          <p:cNvGrpSpPr/>
          <p:nvPr>
            <p:custDataLst>
              <p:tags r:id="rId2"/>
            </p:custDataLst>
          </p:nvPr>
        </p:nvGrpSpPr>
        <p:grpSpPr>
          <a:xfrm>
            <a:off x="4503593" y="3688642"/>
            <a:ext cx="5372100" cy="534987"/>
            <a:chOff x="3261805" y="3188752"/>
            <a:chExt cx="5372100" cy="534987"/>
          </a:xfrm>
        </p:grpSpPr>
        <p:grpSp>
          <p:nvGrpSpPr>
            <p:cNvPr id="517" name="组合 516">
              <a:extLst>
                <a:ext uri="{FF2B5EF4-FFF2-40B4-BE49-F238E27FC236}">
                  <a16:creationId xmlns:a16="http://schemas.microsoft.com/office/drawing/2014/main" id="{E32D630F-9B12-361F-91EB-CBDC1668AB44}"/>
                </a:ext>
              </a:extLst>
            </p:cNvPr>
            <p:cNvGrpSpPr/>
            <p:nvPr/>
          </p:nvGrpSpPr>
          <p:grpSpPr>
            <a:xfrm>
              <a:off x="3261805" y="3188752"/>
              <a:ext cx="689593" cy="534987"/>
              <a:chOff x="3261805" y="3188752"/>
              <a:chExt cx="689593" cy="534987"/>
            </a:xfrm>
          </p:grpSpPr>
          <p:sp>
            <p:nvSpPr>
              <p:cNvPr id="523" name="矩形 522">
                <a:extLst>
                  <a:ext uri="{FF2B5EF4-FFF2-40B4-BE49-F238E27FC236}">
                    <a16:creationId xmlns:a16="http://schemas.microsoft.com/office/drawing/2014/main" id="{6C38422F-B659-CFF8-5D4D-51D80448FA9C}"/>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24" name="文本框 86">
                <a:extLst>
                  <a:ext uri="{FF2B5EF4-FFF2-40B4-BE49-F238E27FC236}">
                    <a16:creationId xmlns:a16="http://schemas.microsoft.com/office/drawing/2014/main" id="{1BA02D0E-32A5-BC38-2CB2-C50581EC974E}"/>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518" name="组合 517">
              <a:extLst>
                <a:ext uri="{FF2B5EF4-FFF2-40B4-BE49-F238E27FC236}">
                  <a16:creationId xmlns:a16="http://schemas.microsoft.com/office/drawing/2014/main" id="{62F166E8-4FD8-DAA3-05F7-7604817DE70C}"/>
                </a:ext>
              </a:extLst>
            </p:cNvPr>
            <p:cNvGrpSpPr/>
            <p:nvPr/>
          </p:nvGrpSpPr>
          <p:grpSpPr>
            <a:xfrm>
              <a:off x="3923792" y="3188752"/>
              <a:ext cx="4710113" cy="534987"/>
              <a:chOff x="3923792" y="3188752"/>
              <a:chExt cx="4710113" cy="534987"/>
            </a:xfrm>
          </p:grpSpPr>
          <p:sp>
            <p:nvSpPr>
              <p:cNvPr id="519" name="文本框 81">
                <a:extLst>
                  <a:ext uri="{FF2B5EF4-FFF2-40B4-BE49-F238E27FC236}">
                    <a16:creationId xmlns:a16="http://schemas.microsoft.com/office/drawing/2014/main" id="{269EA1BE-CA25-B82C-6038-2A64A65AAEC8}"/>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20" name="矩形 519">
                <a:extLst>
                  <a:ext uri="{FF2B5EF4-FFF2-40B4-BE49-F238E27FC236}">
                    <a16:creationId xmlns:a16="http://schemas.microsoft.com/office/drawing/2014/main" id="{48AD531D-82C2-C81D-36A1-1E17051E3203}"/>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1" name="直接连接符 520">
                <a:extLst>
                  <a:ext uri="{FF2B5EF4-FFF2-40B4-BE49-F238E27FC236}">
                    <a16:creationId xmlns:a16="http://schemas.microsoft.com/office/drawing/2014/main" id="{46353B6E-071F-0058-DD0F-0F0963FE85B7}"/>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2" name="Freeform 71">
                <a:extLst>
                  <a:ext uri="{FF2B5EF4-FFF2-40B4-BE49-F238E27FC236}">
                    <a16:creationId xmlns:a16="http://schemas.microsoft.com/office/drawing/2014/main" id="{116F2DBD-2F61-4820-50A1-FADE4F3312E9}"/>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25" name="组合 524">
            <a:extLst>
              <a:ext uri="{FF2B5EF4-FFF2-40B4-BE49-F238E27FC236}">
                <a16:creationId xmlns:a16="http://schemas.microsoft.com/office/drawing/2014/main" id="{A351F857-01AB-8555-B3DD-588AB8E287F6}"/>
              </a:ext>
            </a:extLst>
          </p:cNvPr>
          <p:cNvGrpSpPr/>
          <p:nvPr>
            <p:custDataLst>
              <p:tags r:id="rId3"/>
            </p:custDataLst>
          </p:nvPr>
        </p:nvGrpSpPr>
        <p:grpSpPr>
          <a:xfrm>
            <a:off x="4503593" y="4509001"/>
            <a:ext cx="5372100" cy="534987"/>
            <a:chOff x="3261805" y="4046141"/>
            <a:chExt cx="5372100" cy="534987"/>
          </a:xfrm>
        </p:grpSpPr>
        <p:grpSp>
          <p:nvGrpSpPr>
            <p:cNvPr id="526" name="组合 525">
              <a:extLst>
                <a:ext uri="{FF2B5EF4-FFF2-40B4-BE49-F238E27FC236}">
                  <a16:creationId xmlns:a16="http://schemas.microsoft.com/office/drawing/2014/main" id="{4FE047CF-C1BF-0364-F677-B5722A6016EA}"/>
                </a:ext>
              </a:extLst>
            </p:cNvPr>
            <p:cNvGrpSpPr/>
            <p:nvPr/>
          </p:nvGrpSpPr>
          <p:grpSpPr>
            <a:xfrm>
              <a:off x="3261805" y="4046141"/>
              <a:ext cx="689447" cy="534987"/>
              <a:chOff x="3261805" y="3969748"/>
              <a:chExt cx="689447" cy="534987"/>
            </a:xfrm>
          </p:grpSpPr>
          <p:sp>
            <p:nvSpPr>
              <p:cNvPr id="532" name="矩形 531">
                <a:extLst>
                  <a:ext uri="{FF2B5EF4-FFF2-40B4-BE49-F238E27FC236}">
                    <a16:creationId xmlns:a16="http://schemas.microsoft.com/office/drawing/2014/main" id="{816B9B4E-E4F6-80AA-F3D7-82CA40C711CB}"/>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33" name="文本框 131">
                <a:extLst>
                  <a:ext uri="{FF2B5EF4-FFF2-40B4-BE49-F238E27FC236}">
                    <a16:creationId xmlns:a16="http://schemas.microsoft.com/office/drawing/2014/main" id="{414E898F-2FDA-FCE9-BA2C-D8BA0DCC06D9}"/>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527" name="组合 526">
              <a:extLst>
                <a:ext uri="{FF2B5EF4-FFF2-40B4-BE49-F238E27FC236}">
                  <a16:creationId xmlns:a16="http://schemas.microsoft.com/office/drawing/2014/main" id="{687E126D-6E25-BEA7-F0AC-768BFC7D62DF}"/>
                </a:ext>
              </a:extLst>
            </p:cNvPr>
            <p:cNvGrpSpPr/>
            <p:nvPr/>
          </p:nvGrpSpPr>
          <p:grpSpPr>
            <a:xfrm>
              <a:off x="3923792" y="4046141"/>
              <a:ext cx="4710113" cy="534987"/>
              <a:chOff x="3923792" y="3969748"/>
              <a:chExt cx="4710113" cy="534987"/>
            </a:xfrm>
          </p:grpSpPr>
          <p:sp>
            <p:nvSpPr>
              <p:cNvPr id="528" name="文本框 126">
                <a:extLst>
                  <a:ext uri="{FF2B5EF4-FFF2-40B4-BE49-F238E27FC236}">
                    <a16:creationId xmlns:a16="http://schemas.microsoft.com/office/drawing/2014/main" id="{2358A4CF-9D44-3A97-5BE2-43DF384414CB}"/>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529" name="矩形 528">
                <a:extLst>
                  <a:ext uri="{FF2B5EF4-FFF2-40B4-BE49-F238E27FC236}">
                    <a16:creationId xmlns:a16="http://schemas.microsoft.com/office/drawing/2014/main" id="{FF843DDB-74F1-0DAC-C661-A77366539A55}"/>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0" name="直接连接符 529">
                <a:extLst>
                  <a:ext uri="{FF2B5EF4-FFF2-40B4-BE49-F238E27FC236}">
                    <a16:creationId xmlns:a16="http://schemas.microsoft.com/office/drawing/2014/main" id="{71CC4378-0148-2107-D075-84880DD60B46}"/>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1" name="Freeform 306">
                <a:extLst>
                  <a:ext uri="{FF2B5EF4-FFF2-40B4-BE49-F238E27FC236}">
                    <a16:creationId xmlns:a16="http://schemas.microsoft.com/office/drawing/2014/main" id="{62E23E9F-83C0-4CFE-E88E-26EB7F169EEE}"/>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34" name="组合 533">
            <a:extLst>
              <a:ext uri="{FF2B5EF4-FFF2-40B4-BE49-F238E27FC236}">
                <a16:creationId xmlns:a16="http://schemas.microsoft.com/office/drawing/2014/main" id="{B8DD7D3F-0235-398D-C30B-305A8366C65C}"/>
              </a:ext>
            </a:extLst>
          </p:cNvPr>
          <p:cNvGrpSpPr/>
          <p:nvPr>
            <p:custDataLst>
              <p:tags r:id="rId4"/>
            </p:custDataLst>
          </p:nvPr>
        </p:nvGrpSpPr>
        <p:grpSpPr>
          <a:xfrm>
            <a:off x="4517645" y="2868283"/>
            <a:ext cx="5370513" cy="534987"/>
            <a:chOff x="3275856" y="2348880"/>
            <a:chExt cx="5370513" cy="534987"/>
          </a:xfrm>
        </p:grpSpPr>
        <p:grpSp>
          <p:nvGrpSpPr>
            <p:cNvPr id="535" name="组合 534">
              <a:extLst>
                <a:ext uri="{FF2B5EF4-FFF2-40B4-BE49-F238E27FC236}">
                  <a16:creationId xmlns:a16="http://schemas.microsoft.com/office/drawing/2014/main" id="{FAF023E9-C339-1628-2CF9-E25865A71401}"/>
                </a:ext>
              </a:extLst>
            </p:cNvPr>
            <p:cNvGrpSpPr/>
            <p:nvPr/>
          </p:nvGrpSpPr>
          <p:grpSpPr>
            <a:xfrm>
              <a:off x="3275856" y="2348880"/>
              <a:ext cx="689474" cy="534987"/>
              <a:chOff x="3275856" y="2407756"/>
              <a:chExt cx="689474" cy="534987"/>
            </a:xfrm>
          </p:grpSpPr>
          <p:sp>
            <p:nvSpPr>
              <p:cNvPr id="541" name="矩形 540">
                <a:extLst>
                  <a:ext uri="{FF2B5EF4-FFF2-40B4-BE49-F238E27FC236}">
                    <a16:creationId xmlns:a16="http://schemas.microsoft.com/office/drawing/2014/main" id="{4B74D6F8-085B-12E2-21DC-4CEB483AFBC8}"/>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2" name="文本框 78">
                <a:extLst>
                  <a:ext uri="{FF2B5EF4-FFF2-40B4-BE49-F238E27FC236}">
                    <a16:creationId xmlns:a16="http://schemas.microsoft.com/office/drawing/2014/main" id="{80BBCA7E-F794-EF93-B96B-09AA7C6D6643}"/>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536" name="组合 535">
              <a:extLst>
                <a:ext uri="{FF2B5EF4-FFF2-40B4-BE49-F238E27FC236}">
                  <a16:creationId xmlns:a16="http://schemas.microsoft.com/office/drawing/2014/main" id="{4E6EC3CD-D5A9-FB3D-7378-7FD1528F95F5}"/>
                </a:ext>
              </a:extLst>
            </p:cNvPr>
            <p:cNvGrpSpPr/>
            <p:nvPr/>
          </p:nvGrpSpPr>
          <p:grpSpPr>
            <a:xfrm>
              <a:off x="3937844" y="2348880"/>
              <a:ext cx="4708525" cy="534987"/>
              <a:chOff x="3937844" y="2407756"/>
              <a:chExt cx="4708525" cy="534987"/>
            </a:xfrm>
          </p:grpSpPr>
          <p:sp>
            <p:nvSpPr>
              <p:cNvPr id="537" name="文本框 73">
                <a:extLst>
                  <a:ext uri="{FF2B5EF4-FFF2-40B4-BE49-F238E27FC236}">
                    <a16:creationId xmlns:a16="http://schemas.microsoft.com/office/drawing/2014/main" id="{5F1F218E-1261-D48F-CC68-C42EB9620E1F}"/>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38" name="矩形 537">
                <a:extLst>
                  <a:ext uri="{FF2B5EF4-FFF2-40B4-BE49-F238E27FC236}">
                    <a16:creationId xmlns:a16="http://schemas.microsoft.com/office/drawing/2014/main" id="{7E895CDC-DEC3-2995-5F79-4414109D8FA5}"/>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9" name="直接连接符 538">
                <a:extLst>
                  <a:ext uri="{FF2B5EF4-FFF2-40B4-BE49-F238E27FC236}">
                    <a16:creationId xmlns:a16="http://schemas.microsoft.com/office/drawing/2014/main" id="{E44F52BF-FA4E-61DE-D454-2FC18160D180}"/>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40" name="Freeform 30">
                <a:extLst>
                  <a:ext uri="{FF2B5EF4-FFF2-40B4-BE49-F238E27FC236}">
                    <a16:creationId xmlns:a16="http://schemas.microsoft.com/office/drawing/2014/main" id="{9A2F9E70-729E-A0A6-1786-677A6CAA232A}"/>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3418554640"/>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D4D0-28FE-7C7F-02FB-513492AA5DE5}"/>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7B239882-23E4-FFE0-9AE6-6C10AAC869ED}"/>
              </a:ext>
            </a:extLst>
          </p:cNvPr>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EBAEF1F2-7FC6-3146-4AB7-F23BA32F377C}"/>
              </a:ext>
            </a:extLst>
          </p:cNvPr>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8" name="文本框 7">
            <a:extLst>
              <a:ext uri="{FF2B5EF4-FFF2-40B4-BE49-F238E27FC236}">
                <a16:creationId xmlns:a16="http://schemas.microsoft.com/office/drawing/2014/main" id="{7103E649-BF74-7693-00DC-A0B05D4424FF}"/>
              </a:ext>
            </a:extLst>
          </p:cNvPr>
          <p:cNvSpPr txBox="1"/>
          <p:nvPr/>
        </p:nvSpPr>
        <p:spPr>
          <a:xfrm>
            <a:off x="194275" y="1088933"/>
            <a:ext cx="11805725" cy="5115311"/>
          </a:xfrm>
          <a:prstGeom prst="rect">
            <a:avLst/>
          </a:prstGeom>
          <a:noFill/>
          <a:ln>
            <a:solidFill>
              <a:srgbClr val="0174AB"/>
            </a:solidFill>
          </a:ln>
        </p:spPr>
        <p:txBody>
          <a:bodyPr wrap="square" rtlCol="0">
            <a:spAutoFit/>
          </a:bodyPr>
          <a:lstStyle/>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In this work, we prove highly general theoretical bounds on the generalization error in variational QML: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The generalization error is approximately upper bounded by </a:t>
            </a:r>
            <a:r>
              <a:rPr lang="zh-CN" altLang="zh-CN" sz="2000" i="1">
                <a:solidFill>
                  <a:srgbClr val="000000"/>
                </a:solidFill>
                <a:effectLst/>
                <a:latin typeface="Times New Roman" panose="02020603050405020304" pitchFamily="18" charset="0"/>
                <a:cs typeface="Times New Roman" panose="02020603050405020304" pitchFamily="18" charset="0"/>
              </a:rPr>
              <a:t>T /N</a:t>
            </a:r>
            <a:r>
              <a:rPr lang="zh-CN" altLang="zh-CN" sz="2000">
                <a:solidFill>
                  <a:srgbClr val="000000"/>
                </a:solidFill>
                <a:effectLst/>
                <a:latin typeface="Times New Roman" panose="02020603050405020304" pitchFamily="18" charset="0"/>
                <a:cs typeface="Times New Roman" panose="02020603050405020304" pitchFamily="18" charset="0"/>
              </a:rPr>
              <a:t>.</a:t>
            </a:r>
            <a:r>
              <a:rPr lang="en-US" altLang="zh-CN" sz="2000">
                <a:solidFill>
                  <a:srgbClr val="000000"/>
                </a:solidFill>
                <a:effectLst/>
                <a:latin typeface="Times New Roman" panose="02020603050405020304" pitchFamily="18" charset="0"/>
                <a:cs typeface="Times New Roman" panose="02020603050405020304" pitchFamily="18" charset="0"/>
              </a:rPr>
              <a:t> </a:t>
            </a:r>
            <a:r>
              <a:rPr lang="zh-CN" altLang="zh-CN" sz="2000">
                <a:solidFill>
                  <a:srgbClr val="000000"/>
                </a:solidFill>
                <a:effectLst/>
                <a:latin typeface="Times New Roman" panose="02020603050405020304" pitchFamily="18" charset="0"/>
                <a:cs typeface="Times New Roman" panose="02020603050405020304" pitchFamily="18" charset="0"/>
              </a:rPr>
              <a:t>In our proofs, we first establish covering num</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ber bounds for the class of quantum operations that a variational QML model can implement. From these, we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then derive generalization error bounds using the chaining technique for random processes. A key implication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of our results is that an efficiently implementable QML model, one such that </a:t>
            </a:r>
            <a:r>
              <a:rPr lang="zh-CN" altLang="zh-CN" sz="2000" i="1">
                <a:solidFill>
                  <a:srgbClr val="000000"/>
                </a:solidFill>
                <a:effectLst/>
                <a:latin typeface="Times New Roman" panose="02020603050405020304" pitchFamily="18" charset="0"/>
                <a:cs typeface="Times New Roman" panose="02020603050405020304" pitchFamily="18" charset="0"/>
              </a:rPr>
              <a:t>T ∈ O</a:t>
            </a:r>
            <a:r>
              <a:rPr lang="zh-CN" altLang="zh-CN" sz="2000">
                <a:solidFill>
                  <a:srgbClr val="000000"/>
                </a:solidFill>
                <a:effectLst/>
                <a:latin typeface="Times New Roman" panose="02020603050405020304" pitchFamily="18" charset="0"/>
                <a:cs typeface="Times New Roman" panose="02020603050405020304" pitchFamily="18" charset="0"/>
              </a:rPr>
              <a:t>(poly </a:t>
            </a:r>
            <a:r>
              <a:rPr lang="zh-CN" altLang="zh-CN" sz="2000" i="1">
                <a:solidFill>
                  <a:srgbClr val="000000"/>
                </a:solidFill>
                <a:effectLst/>
                <a:latin typeface="Times New Roman" panose="02020603050405020304" pitchFamily="18" charset="0"/>
                <a:cs typeface="Times New Roman" panose="02020603050405020304" pitchFamily="18" charset="0"/>
              </a:rPr>
              <a:t>n</a:t>
            </a:r>
            <a:r>
              <a:rPr lang="zh-CN" altLang="zh-CN" sz="2000">
                <a:solidFill>
                  <a:srgbClr val="000000"/>
                </a:solidFill>
                <a:effectLst/>
                <a:latin typeface="Times New Roman" panose="02020603050405020304" pitchFamily="18" charset="0"/>
                <a:cs typeface="Times New Roman" panose="02020603050405020304" pitchFamily="18" charset="0"/>
              </a:rPr>
              <a:t>), only requires an ef-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ficient amount of training data, </a:t>
            </a:r>
            <a:r>
              <a:rPr lang="zh-CN" altLang="zh-CN" sz="2000" i="1">
                <a:solidFill>
                  <a:srgbClr val="000000"/>
                </a:solidFill>
                <a:effectLst/>
                <a:latin typeface="Times New Roman" panose="02020603050405020304" pitchFamily="18" charset="0"/>
                <a:cs typeface="Times New Roman" panose="02020603050405020304" pitchFamily="18" charset="0"/>
              </a:rPr>
              <a:t>N ∈ O</a:t>
            </a:r>
            <a:r>
              <a:rPr lang="zh-CN" altLang="zh-CN" sz="2000">
                <a:solidFill>
                  <a:srgbClr val="000000"/>
                </a:solidFill>
                <a:effectLst/>
                <a:latin typeface="Times New Roman" panose="02020603050405020304" pitchFamily="18" charset="0"/>
                <a:cs typeface="Times New Roman" panose="02020603050405020304" pitchFamily="18" charset="0"/>
              </a:rPr>
              <a:t>(poly </a:t>
            </a:r>
            <a:r>
              <a:rPr lang="zh-CN" altLang="zh-CN" sz="2000" i="1">
                <a:solidFill>
                  <a:srgbClr val="000000"/>
                </a:solidFill>
                <a:effectLst/>
                <a:latin typeface="Times New Roman" panose="02020603050405020304" pitchFamily="18" charset="0"/>
                <a:cs typeface="Times New Roman" panose="02020603050405020304" pitchFamily="18" charset="0"/>
              </a:rPr>
              <a:t>n</a:t>
            </a:r>
            <a:r>
              <a:rPr lang="zh-CN" altLang="zh-CN" sz="2000">
                <a:solidFill>
                  <a:srgbClr val="000000"/>
                </a:solidFill>
                <a:effectLst/>
                <a:latin typeface="Times New Roman" panose="02020603050405020304" pitchFamily="18" charset="0"/>
                <a:cs typeface="Times New Roman" panose="02020603050405020304" pitchFamily="18" charset="0"/>
              </a:rPr>
              <a:t>), to obtain good generalization. This implication, by itself, will im</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prove the efficiency guarantees of variational quantum algorithms [</a:t>
            </a:r>
            <a:r>
              <a:rPr lang="zh-CN" altLang="zh-CN" sz="2000">
                <a:solidFill>
                  <a:srgbClr val="0000FF"/>
                </a:solidFill>
                <a:effectLst/>
                <a:latin typeface="Times New Roman" panose="02020603050405020304" pitchFamily="18" charset="0"/>
                <a:cs typeface="Times New Roman" panose="02020603050405020304" pitchFamily="18" charset="0"/>
              </a:rPr>
              <a:t>10</a:t>
            </a:r>
            <a:r>
              <a:rPr lang="zh-CN" altLang="zh-CN" sz="2000">
                <a:solidFill>
                  <a:srgbClr val="000000"/>
                </a:solidFill>
                <a:effectLst/>
                <a:latin typeface="Times New Roman" panose="02020603050405020304" pitchFamily="18" charset="0"/>
                <a:cs typeface="Times New Roman" panose="02020603050405020304" pitchFamily="18" charset="0"/>
              </a:rPr>
              <a:t>, </a:t>
            </a:r>
            <a:r>
              <a:rPr lang="zh-CN" altLang="zh-CN" sz="2000">
                <a:solidFill>
                  <a:srgbClr val="0000FF"/>
                </a:solidFill>
                <a:effectLst/>
                <a:latin typeface="Times New Roman" panose="02020603050405020304" pitchFamily="18" charset="0"/>
                <a:cs typeface="Times New Roman" panose="02020603050405020304" pitchFamily="18" charset="0"/>
              </a:rPr>
              <a:t>41</a:t>
            </a:r>
            <a:r>
              <a:rPr lang="zh-CN" altLang="zh-CN" sz="2000">
                <a:solidFill>
                  <a:srgbClr val="000000"/>
                </a:solidFill>
                <a:effectLst/>
                <a:latin typeface="Times New Roman" panose="02020603050405020304" pitchFamily="18" charset="0"/>
                <a:cs typeface="Times New Roman" panose="02020603050405020304" pitchFamily="18" charset="0"/>
              </a:rPr>
              <a:t>, </a:t>
            </a:r>
            <a:r>
              <a:rPr lang="zh-CN" altLang="zh-CN" sz="2000">
                <a:solidFill>
                  <a:srgbClr val="0000FF"/>
                </a:solidFill>
                <a:effectLst/>
                <a:latin typeface="Times New Roman" panose="02020603050405020304" pitchFamily="18" charset="0"/>
                <a:cs typeface="Times New Roman" panose="02020603050405020304" pitchFamily="18" charset="0"/>
              </a:rPr>
              <a:t>42</a:t>
            </a:r>
            <a:r>
              <a:rPr lang="zh-CN" altLang="zh-CN" sz="2000">
                <a:solidFill>
                  <a:srgbClr val="000000"/>
                </a:solidFill>
                <a:effectLst/>
                <a:latin typeface="Times New Roman" panose="02020603050405020304" pitchFamily="18" charset="0"/>
                <a:cs typeface="Times New Roman" panose="02020603050405020304" pitchFamily="18" charset="0"/>
              </a:rPr>
              <a:t>] that employ training data, such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as quantum autoencoders [</a:t>
            </a:r>
            <a:r>
              <a:rPr lang="zh-CN" altLang="zh-CN" sz="2000">
                <a:solidFill>
                  <a:srgbClr val="0000FF"/>
                </a:solidFill>
                <a:effectLst/>
                <a:latin typeface="Times New Roman" panose="02020603050405020304" pitchFamily="18" charset="0"/>
                <a:cs typeface="Times New Roman" panose="02020603050405020304" pitchFamily="18" charset="0"/>
              </a:rPr>
              <a:t>13</a:t>
            </a:r>
            <a:r>
              <a:rPr lang="zh-CN" altLang="zh-CN" sz="2000">
                <a:solidFill>
                  <a:srgbClr val="000000"/>
                </a:solidFill>
                <a:effectLst/>
                <a:latin typeface="Times New Roman" panose="02020603050405020304" pitchFamily="18" charset="0"/>
                <a:cs typeface="Times New Roman" panose="02020603050405020304" pitchFamily="18" charset="0"/>
              </a:rPr>
              <a:t>], quantum generative adversarial networks [</a:t>
            </a:r>
            <a:r>
              <a:rPr lang="zh-CN" altLang="zh-CN" sz="2000">
                <a:solidFill>
                  <a:srgbClr val="0000FF"/>
                </a:solidFill>
                <a:effectLst/>
                <a:latin typeface="Times New Roman" panose="02020603050405020304" pitchFamily="18" charset="0"/>
                <a:cs typeface="Times New Roman" panose="02020603050405020304" pitchFamily="18" charset="0"/>
              </a:rPr>
              <a:t>43</a:t>
            </a:r>
            <a:r>
              <a:rPr lang="zh-CN" altLang="zh-CN" sz="2000">
                <a:solidFill>
                  <a:srgbClr val="000000"/>
                </a:solidFill>
                <a:effectLst/>
                <a:latin typeface="Times New Roman" panose="02020603050405020304" pitchFamily="18" charset="0"/>
                <a:cs typeface="Times New Roman" panose="02020603050405020304" pitchFamily="18" charset="0"/>
              </a:rPr>
              <a:t>], variational quantum error cor</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rection [</a:t>
            </a:r>
            <a:r>
              <a:rPr lang="zh-CN" altLang="zh-CN" sz="2000">
                <a:solidFill>
                  <a:srgbClr val="0000FF"/>
                </a:solidFill>
                <a:effectLst/>
                <a:latin typeface="Times New Roman" panose="02020603050405020304" pitchFamily="18" charset="0"/>
                <a:cs typeface="Times New Roman" panose="02020603050405020304" pitchFamily="18" charset="0"/>
              </a:rPr>
              <a:t>44</a:t>
            </a:r>
            <a:r>
              <a:rPr lang="zh-CN" altLang="zh-CN" sz="2000">
                <a:solidFill>
                  <a:srgbClr val="000000"/>
                </a:solidFill>
                <a:effectLst/>
                <a:latin typeface="Times New Roman" panose="02020603050405020304" pitchFamily="18" charset="0"/>
                <a:cs typeface="Times New Roman" panose="02020603050405020304" pitchFamily="18" charset="0"/>
              </a:rPr>
              <a:t>, </a:t>
            </a:r>
            <a:r>
              <a:rPr lang="zh-CN" altLang="zh-CN" sz="2000">
                <a:solidFill>
                  <a:srgbClr val="0000FF"/>
                </a:solidFill>
                <a:effectLst/>
                <a:latin typeface="Times New Roman" panose="02020603050405020304" pitchFamily="18" charset="0"/>
                <a:cs typeface="Times New Roman" panose="02020603050405020304" pitchFamily="18" charset="0"/>
              </a:rPr>
              <a:t>45</a:t>
            </a:r>
            <a:r>
              <a:rPr lang="zh-CN" altLang="zh-CN" sz="2000">
                <a:solidFill>
                  <a:srgbClr val="000000"/>
                </a:solidFill>
                <a:effectLst/>
                <a:latin typeface="Times New Roman" panose="02020603050405020304" pitchFamily="18" charset="0"/>
                <a:cs typeface="Times New Roman" panose="02020603050405020304" pitchFamily="18" charset="0"/>
              </a:rPr>
              <a:t>], variational quantum compiling [</a:t>
            </a:r>
            <a:r>
              <a:rPr lang="zh-CN" altLang="zh-CN" sz="2000">
                <a:solidFill>
                  <a:srgbClr val="0000FF"/>
                </a:solidFill>
                <a:effectLst/>
                <a:latin typeface="Times New Roman" panose="02020603050405020304" pitchFamily="18" charset="0"/>
                <a:cs typeface="Times New Roman" panose="02020603050405020304" pitchFamily="18" charset="0"/>
              </a:rPr>
              <a:t>46</a:t>
            </a:r>
            <a:r>
              <a:rPr lang="zh-CN" altLang="zh-CN" sz="2000">
                <a:solidFill>
                  <a:srgbClr val="000000"/>
                </a:solidFill>
                <a:effectLst/>
                <a:latin typeface="Times New Roman" panose="02020603050405020304" pitchFamily="18" charset="0"/>
                <a:cs typeface="Times New Roman" panose="02020603050405020304" pitchFamily="18" charset="0"/>
              </a:rPr>
              <a:t>, </a:t>
            </a:r>
            <a:r>
              <a:rPr lang="zh-CN" altLang="zh-CN" sz="2000">
                <a:solidFill>
                  <a:srgbClr val="0000FF"/>
                </a:solidFill>
                <a:effectLst/>
                <a:latin typeface="Times New Roman" panose="02020603050405020304" pitchFamily="18" charset="0"/>
                <a:cs typeface="Times New Roman" panose="02020603050405020304" pitchFamily="18" charset="0"/>
              </a:rPr>
              <a:t>47</a:t>
            </a:r>
            <a:r>
              <a:rPr lang="zh-CN" altLang="zh-CN" sz="2000">
                <a:solidFill>
                  <a:srgbClr val="000000"/>
                </a:solidFill>
                <a:effectLst/>
                <a:latin typeface="Times New Roman" panose="02020603050405020304" pitchFamily="18" charset="0"/>
                <a:cs typeface="Times New Roman" panose="02020603050405020304" pitchFamily="18" charset="0"/>
              </a:rPr>
              <a:t>], and variational dynamical simulation [</a:t>
            </a:r>
            <a:r>
              <a:rPr lang="zh-CN" altLang="zh-CN" sz="2000">
                <a:solidFill>
                  <a:srgbClr val="0000FF"/>
                </a:solidFill>
                <a:effectLst/>
                <a:latin typeface="Times New Roman" panose="02020603050405020304" pitchFamily="18" charset="0"/>
                <a:cs typeface="Times New Roman" panose="02020603050405020304" pitchFamily="18" charset="0"/>
              </a:rPr>
              <a:t>48</a:t>
            </a:r>
            <a:r>
              <a:rPr lang="zh-CN" altLang="zh-CN" sz="2000">
                <a:solidFill>
                  <a:srgbClr val="000000"/>
                </a:solidFill>
                <a:effectLst/>
                <a:latin typeface="Times New Roman" panose="02020603050405020304" pitchFamily="18" charset="0"/>
                <a:cs typeface="Times New Roman" panose="02020603050405020304" pitchFamily="18" charset="0"/>
              </a:rPr>
              <a:t>–</a:t>
            </a:r>
            <a:r>
              <a:rPr lang="zh-CN" altLang="zh-CN" sz="2000">
                <a:solidFill>
                  <a:srgbClr val="0000FF"/>
                </a:solidFill>
                <a:effectLst/>
                <a:latin typeface="Times New Roman" panose="02020603050405020304" pitchFamily="18" charset="0"/>
                <a:cs typeface="Times New Roman" panose="02020603050405020304" pitchFamily="18" charset="0"/>
              </a:rPr>
              <a:t>51</a:t>
            </a:r>
            <a:r>
              <a:rPr lang="zh-CN" altLang="zh-CN" sz="2000">
                <a:solidFill>
                  <a:srgbClr val="000000"/>
                </a:solidFill>
                <a:effectLst/>
                <a:latin typeface="Times New Roman" panose="02020603050405020304" pitchFamily="18" charset="0"/>
                <a:cs typeface="Times New Roman" panose="02020603050405020304" pitchFamily="18" charset="0"/>
              </a:rPr>
              <a:t>]. It also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yields improved efficiency guarantees for classical algorithms that simulate QML models.</a:t>
            </a:r>
            <a:endParaRPr lang="en-US" altLang="zh-CN" sz="2000">
              <a:latin typeface="Times New Roman" panose="02020603050405020304" pitchFamily="18" charset="0"/>
              <a:ea typeface="微软雅黑" panose="020B0503020204020204" charset="-122"/>
              <a:cs typeface="Times New Roman" panose="02020603050405020304" pitchFamily="18" charset="0"/>
            </a:endParaRPr>
          </a:p>
          <a:p>
            <a:pPr indent="457200" algn="just">
              <a:lnSpc>
                <a:spcPct val="150000"/>
              </a:lnSpc>
            </a:pPr>
            <a:endParaRPr lang="en-US" altLang="zh-CN" sz="2000" dirty="0">
              <a:latin typeface="Times New Roman" panose="02020603050405020304" pitchFamily="18" charset="0"/>
              <a:cs typeface="Times New Roman" panose="02020603050405020304" pitchFamily="18" charset="0"/>
            </a:endParaRPr>
          </a:p>
        </p:txBody>
      </p:sp>
      <p:grpSp>
        <p:nvGrpSpPr>
          <p:cNvPr id="12" name="组合 11">
            <a:extLst>
              <a:ext uri="{FF2B5EF4-FFF2-40B4-BE49-F238E27FC236}">
                <a16:creationId xmlns:a16="http://schemas.microsoft.com/office/drawing/2014/main" id="{78B0308E-6BF2-2EC4-7A9D-7BF46E7D7410}"/>
              </a:ext>
            </a:extLst>
          </p:cNvPr>
          <p:cNvGrpSpPr/>
          <p:nvPr/>
        </p:nvGrpSpPr>
        <p:grpSpPr>
          <a:xfrm>
            <a:off x="-1" y="6553200"/>
            <a:ext cx="12192001" cy="304800"/>
            <a:chOff x="0" y="6569404"/>
            <a:chExt cx="9144000" cy="288000"/>
          </a:xfrm>
        </p:grpSpPr>
        <p:sp>
          <p:nvSpPr>
            <p:cNvPr id="13" name="矩形 12">
              <a:extLst>
                <a:ext uri="{FF2B5EF4-FFF2-40B4-BE49-F238E27FC236}">
                  <a16:creationId xmlns:a16="http://schemas.microsoft.com/office/drawing/2014/main" id="{D441A878-9C58-F903-CE8C-ACE828A9A6E2}"/>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90547B2A-8D08-4ACB-56B0-8CC230A4AF77}"/>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a:extLst>
              <a:ext uri="{FF2B5EF4-FFF2-40B4-BE49-F238E27FC236}">
                <a16:creationId xmlns:a16="http://schemas.microsoft.com/office/drawing/2014/main" id="{371CAEB9-6D78-7963-02D8-EBF0870B5C6A}"/>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74</a:t>
            </a:fld>
            <a:endParaRPr lang="zh-HK" altLang="en-US" sz="1600" dirty="0">
              <a:solidFill>
                <a:schemeClr val="bg1"/>
              </a:solidFill>
            </a:endParaRPr>
          </a:p>
        </p:txBody>
      </p:sp>
    </p:spTree>
    <p:extLst>
      <p:ext uri="{BB962C8B-B14F-4D97-AF65-F5344CB8AC3E}">
        <p14:creationId xmlns:p14="http://schemas.microsoft.com/office/powerpoint/2010/main" val="2909252941"/>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72885-C205-FDB3-FA89-F06918BF514B}"/>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E51ED7F8-5BD8-422D-7AA8-4686ADB606F7}"/>
              </a:ext>
            </a:extLst>
          </p:cNvPr>
          <p:cNvGrpSpPr/>
          <p:nvPr/>
        </p:nvGrpSpPr>
        <p:grpSpPr>
          <a:xfrm>
            <a:off x="-1" y="6553200"/>
            <a:ext cx="12192001" cy="304800"/>
            <a:chOff x="0" y="6569404"/>
            <a:chExt cx="9144000" cy="288000"/>
          </a:xfrm>
        </p:grpSpPr>
        <p:sp>
          <p:nvSpPr>
            <p:cNvPr id="4" name="矩形 3">
              <a:extLst>
                <a:ext uri="{FF2B5EF4-FFF2-40B4-BE49-F238E27FC236}">
                  <a16:creationId xmlns:a16="http://schemas.microsoft.com/office/drawing/2014/main" id="{9EDA17E5-E00B-744B-677A-E7F2E40E9FA8}"/>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899CD84C-D29B-698A-E17B-34A140597392}"/>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 name="灯片编号占位符 5">
            <a:extLst>
              <a:ext uri="{FF2B5EF4-FFF2-40B4-BE49-F238E27FC236}">
                <a16:creationId xmlns:a16="http://schemas.microsoft.com/office/drawing/2014/main" id="{C30101CA-8367-7D1A-B289-5B5993D558FA}"/>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75</a:t>
            </a:fld>
            <a:endParaRPr lang="zh-HK" altLang="en-US" sz="1600" dirty="0">
              <a:solidFill>
                <a:schemeClr val="bg1"/>
              </a:solidFill>
            </a:endParaRPr>
          </a:p>
        </p:txBody>
      </p:sp>
      <p:pic>
        <p:nvPicPr>
          <p:cNvPr id="7" name="图片 6">
            <a:extLst>
              <a:ext uri="{FF2B5EF4-FFF2-40B4-BE49-F238E27FC236}">
                <a16:creationId xmlns:a16="http://schemas.microsoft.com/office/drawing/2014/main" id="{FEE0EC83-85F7-C1A5-11CD-76702960ABDF}"/>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a:extLst>
              <a:ext uri="{FF2B5EF4-FFF2-40B4-BE49-F238E27FC236}">
                <a16:creationId xmlns:a16="http://schemas.microsoft.com/office/drawing/2014/main" id="{0981D866-FFBC-6E02-5294-4AE8276EC579}"/>
              </a:ext>
            </a:extLst>
          </p:cNvPr>
          <p:cNvGrpSpPr/>
          <p:nvPr/>
        </p:nvGrpSpPr>
        <p:grpSpPr bwMode="auto">
          <a:xfrm>
            <a:off x="2409457" y="2650330"/>
            <a:ext cx="1505450" cy="1479472"/>
            <a:chOff x="1709739" y="2636838"/>
            <a:chExt cx="1590160" cy="1584325"/>
          </a:xfrm>
          <a:solidFill>
            <a:srgbClr val="044875"/>
          </a:solidFill>
        </p:grpSpPr>
        <p:sp>
          <p:nvSpPr>
            <p:cNvPr id="59" name="Freeform 6">
              <a:extLst>
                <a:ext uri="{FF2B5EF4-FFF2-40B4-BE49-F238E27FC236}">
                  <a16:creationId xmlns:a16="http://schemas.microsoft.com/office/drawing/2014/main" id="{39EF8203-ACBA-001F-D17E-3BC03FB6C212}"/>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7">
              <a:extLst>
                <a:ext uri="{FF2B5EF4-FFF2-40B4-BE49-F238E27FC236}">
                  <a16:creationId xmlns:a16="http://schemas.microsoft.com/office/drawing/2014/main" id="{975EBD76-360C-9B4A-D6F0-485C8BD928FA}"/>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8">
              <a:extLst>
                <a:ext uri="{FF2B5EF4-FFF2-40B4-BE49-F238E27FC236}">
                  <a16:creationId xmlns:a16="http://schemas.microsoft.com/office/drawing/2014/main" id="{7E025824-7DC1-C309-F14C-564D7DC8CDCE}"/>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9">
              <a:extLst>
                <a:ext uri="{FF2B5EF4-FFF2-40B4-BE49-F238E27FC236}">
                  <a16:creationId xmlns:a16="http://schemas.microsoft.com/office/drawing/2014/main" id="{6C1336C6-85F0-F754-99D6-16A61B4D0315}"/>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0">
              <a:extLst>
                <a:ext uri="{FF2B5EF4-FFF2-40B4-BE49-F238E27FC236}">
                  <a16:creationId xmlns:a16="http://schemas.microsoft.com/office/drawing/2014/main" id="{3002813D-0B12-9139-8128-CF4804D2E546}"/>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1">
              <a:extLst>
                <a:ext uri="{FF2B5EF4-FFF2-40B4-BE49-F238E27FC236}">
                  <a16:creationId xmlns:a16="http://schemas.microsoft.com/office/drawing/2014/main" id="{01CA18BD-D8EF-CE32-7E99-87C820D0BA56}"/>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2">
              <a:extLst>
                <a:ext uri="{FF2B5EF4-FFF2-40B4-BE49-F238E27FC236}">
                  <a16:creationId xmlns:a16="http://schemas.microsoft.com/office/drawing/2014/main" id="{80E7B4B1-235C-5F4D-2EBD-BB16CCB637AD}"/>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13">
              <a:extLst>
                <a:ext uri="{FF2B5EF4-FFF2-40B4-BE49-F238E27FC236}">
                  <a16:creationId xmlns:a16="http://schemas.microsoft.com/office/drawing/2014/main" id="{3956168F-4A56-4C8D-76C5-370F78971B15}"/>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4">
              <a:extLst>
                <a:ext uri="{FF2B5EF4-FFF2-40B4-BE49-F238E27FC236}">
                  <a16:creationId xmlns:a16="http://schemas.microsoft.com/office/drawing/2014/main" id="{2C5DB20C-793C-014B-3E40-C8ED506EE6C8}"/>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3" name="文本框 72">
            <a:extLst>
              <a:ext uri="{FF2B5EF4-FFF2-40B4-BE49-F238E27FC236}">
                <a16:creationId xmlns:a16="http://schemas.microsoft.com/office/drawing/2014/main" id="{52F5DF21-8B0E-728D-E5BC-A6A0BF02D87E}"/>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4" name="组合 73">
            <a:extLst>
              <a:ext uri="{FF2B5EF4-FFF2-40B4-BE49-F238E27FC236}">
                <a16:creationId xmlns:a16="http://schemas.microsoft.com/office/drawing/2014/main" id="{3D5919BF-62E5-E69B-5651-5E8A547909BE}"/>
              </a:ext>
            </a:extLst>
          </p:cNvPr>
          <p:cNvGrpSpPr/>
          <p:nvPr>
            <p:custDataLst>
              <p:tags r:id="rId1"/>
            </p:custDataLst>
          </p:nvPr>
        </p:nvGrpSpPr>
        <p:grpSpPr>
          <a:xfrm>
            <a:off x="4523741" y="2047924"/>
            <a:ext cx="5370513" cy="534987"/>
            <a:chOff x="3281952" y="1484784"/>
            <a:chExt cx="5370513" cy="534987"/>
          </a:xfrm>
        </p:grpSpPr>
        <p:grpSp>
          <p:nvGrpSpPr>
            <p:cNvPr id="75" name="组合 74">
              <a:extLst>
                <a:ext uri="{FF2B5EF4-FFF2-40B4-BE49-F238E27FC236}">
                  <a16:creationId xmlns:a16="http://schemas.microsoft.com/office/drawing/2014/main" id="{E6BD539C-EB25-2E95-FC92-8A926F1BF7E7}"/>
                </a:ext>
              </a:extLst>
            </p:cNvPr>
            <p:cNvGrpSpPr/>
            <p:nvPr/>
          </p:nvGrpSpPr>
          <p:grpSpPr>
            <a:xfrm>
              <a:off x="3943940" y="1484784"/>
              <a:ext cx="4708525" cy="534987"/>
              <a:chOff x="3943940" y="1626760"/>
              <a:chExt cx="4708525" cy="534987"/>
            </a:xfrm>
          </p:grpSpPr>
          <p:sp>
            <p:nvSpPr>
              <p:cNvPr id="79" name="Freeform 74">
                <a:extLst>
                  <a:ext uri="{FF2B5EF4-FFF2-40B4-BE49-F238E27FC236}">
                    <a16:creationId xmlns:a16="http://schemas.microsoft.com/office/drawing/2014/main" id="{FBBF122B-03A1-1E9C-201C-0FD71701DEC0}"/>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0" name="文本框 20">
                <a:extLst>
                  <a:ext uri="{FF2B5EF4-FFF2-40B4-BE49-F238E27FC236}">
                    <a16:creationId xmlns:a16="http://schemas.microsoft.com/office/drawing/2014/main" id="{F37A65D5-115D-E5F6-E5A4-E38D758A6991}"/>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1" name="矩形 80">
                <a:extLst>
                  <a:ext uri="{FF2B5EF4-FFF2-40B4-BE49-F238E27FC236}">
                    <a16:creationId xmlns:a16="http://schemas.microsoft.com/office/drawing/2014/main" id="{DDF9AF5D-518F-E5DC-2D71-A21E707510A6}"/>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2" name="直接连接符 81">
                <a:extLst>
                  <a:ext uri="{FF2B5EF4-FFF2-40B4-BE49-F238E27FC236}">
                    <a16:creationId xmlns:a16="http://schemas.microsoft.com/office/drawing/2014/main" id="{E5EBBD5B-18E9-35BC-2574-E503042DA735}"/>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6" name="组合 75">
              <a:extLst>
                <a:ext uri="{FF2B5EF4-FFF2-40B4-BE49-F238E27FC236}">
                  <a16:creationId xmlns:a16="http://schemas.microsoft.com/office/drawing/2014/main" id="{948E6218-960B-82C3-DC83-EC9084B1933C}"/>
                </a:ext>
              </a:extLst>
            </p:cNvPr>
            <p:cNvGrpSpPr/>
            <p:nvPr/>
          </p:nvGrpSpPr>
          <p:grpSpPr>
            <a:xfrm>
              <a:off x="3281952" y="1484784"/>
              <a:ext cx="689642" cy="534987"/>
              <a:chOff x="3281952" y="1626760"/>
              <a:chExt cx="689642" cy="534987"/>
            </a:xfrm>
          </p:grpSpPr>
          <p:sp>
            <p:nvSpPr>
              <p:cNvPr id="77" name="矩形 76">
                <a:extLst>
                  <a:ext uri="{FF2B5EF4-FFF2-40B4-BE49-F238E27FC236}">
                    <a16:creationId xmlns:a16="http://schemas.microsoft.com/office/drawing/2014/main" id="{23ED1F45-0D27-B6B2-AB67-3DAE6730E669}"/>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8" name="文本框 18">
                <a:extLst>
                  <a:ext uri="{FF2B5EF4-FFF2-40B4-BE49-F238E27FC236}">
                    <a16:creationId xmlns:a16="http://schemas.microsoft.com/office/drawing/2014/main" id="{549939F5-D585-1E61-FBFC-CD0A2D8EEAE8}"/>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3" name="组合 82">
            <a:extLst>
              <a:ext uri="{FF2B5EF4-FFF2-40B4-BE49-F238E27FC236}">
                <a16:creationId xmlns:a16="http://schemas.microsoft.com/office/drawing/2014/main" id="{B1BC35A5-464E-BD16-28AD-DE74F9805C3E}"/>
              </a:ext>
            </a:extLst>
          </p:cNvPr>
          <p:cNvGrpSpPr/>
          <p:nvPr>
            <p:custDataLst>
              <p:tags r:id="rId2"/>
            </p:custDataLst>
          </p:nvPr>
        </p:nvGrpSpPr>
        <p:grpSpPr>
          <a:xfrm>
            <a:off x="4503593" y="3688642"/>
            <a:ext cx="5372100" cy="534987"/>
            <a:chOff x="3261805" y="3188752"/>
            <a:chExt cx="5372100" cy="534987"/>
          </a:xfrm>
        </p:grpSpPr>
        <p:grpSp>
          <p:nvGrpSpPr>
            <p:cNvPr id="84" name="组合 83">
              <a:extLst>
                <a:ext uri="{FF2B5EF4-FFF2-40B4-BE49-F238E27FC236}">
                  <a16:creationId xmlns:a16="http://schemas.microsoft.com/office/drawing/2014/main" id="{FA0606B4-C5D8-D0D4-7A83-56B31703B502}"/>
                </a:ext>
              </a:extLst>
            </p:cNvPr>
            <p:cNvGrpSpPr/>
            <p:nvPr/>
          </p:nvGrpSpPr>
          <p:grpSpPr>
            <a:xfrm>
              <a:off x="3261805" y="3188752"/>
              <a:ext cx="689593" cy="534987"/>
              <a:chOff x="3261805" y="3188752"/>
              <a:chExt cx="689593" cy="534987"/>
            </a:xfrm>
          </p:grpSpPr>
          <p:sp>
            <p:nvSpPr>
              <p:cNvPr id="100" name="矩形 99">
                <a:extLst>
                  <a:ext uri="{FF2B5EF4-FFF2-40B4-BE49-F238E27FC236}">
                    <a16:creationId xmlns:a16="http://schemas.microsoft.com/office/drawing/2014/main" id="{30B8BCF1-A77A-1CCB-D045-093C4AE84781}"/>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1" name="文本框 86">
                <a:extLst>
                  <a:ext uri="{FF2B5EF4-FFF2-40B4-BE49-F238E27FC236}">
                    <a16:creationId xmlns:a16="http://schemas.microsoft.com/office/drawing/2014/main" id="{07C89B5C-EC30-4304-9BBA-C7ABB8D20F6F}"/>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85" name="组合 84">
              <a:extLst>
                <a:ext uri="{FF2B5EF4-FFF2-40B4-BE49-F238E27FC236}">
                  <a16:creationId xmlns:a16="http://schemas.microsoft.com/office/drawing/2014/main" id="{35B6C1C7-2C4C-96A3-234A-FCCB8E432EED}"/>
                </a:ext>
              </a:extLst>
            </p:cNvPr>
            <p:cNvGrpSpPr/>
            <p:nvPr/>
          </p:nvGrpSpPr>
          <p:grpSpPr>
            <a:xfrm>
              <a:off x="3923792" y="3188752"/>
              <a:ext cx="4710113" cy="534987"/>
              <a:chOff x="3923792" y="3188752"/>
              <a:chExt cx="4710113" cy="534987"/>
            </a:xfrm>
          </p:grpSpPr>
          <p:sp>
            <p:nvSpPr>
              <p:cNvPr id="87" name="文本框 81">
                <a:extLst>
                  <a:ext uri="{FF2B5EF4-FFF2-40B4-BE49-F238E27FC236}">
                    <a16:creationId xmlns:a16="http://schemas.microsoft.com/office/drawing/2014/main" id="{0890DD5A-BFEA-DFC3-749B-66EFF7E4DDC9}"/>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91" name="矩形 90">
                <a:extLst>
                  <a:ext uri="{FF2B5EF4-FFF2-40B4-BE49-F238E27FC236}">
                    <a16:creationId xmlns:a16="http://schemas.microsoft.com/office/drawing/2014/main" id="{3453E8E5-D25D-DE7D-8AFD-117AF3450460}"/>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5" name="直接连接符 94">
                <a:extLst>
                  <a:ext uri="{FF2B5EF4-FFF2-40B4-BE49-F238E27FC236}">
                    <a16:creationId xmlns:a16="http://schemas.microsoft.com/office/drawing/2014/main" id="{15E3BE38-2535-A686-CD32-16FC3551B88C}"/>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9" name="Freeform 71">
                <a:extLst>
                  <a:ext uri="{FF2B5EF4-FFF2-40B4-BE49-F238E27FC236}">
                    <a16:creationId xmlns:a16="http://schemas.microsoft.com/office/drawing/2014/main" id="{FB4BD221-C2BC-206E-E8DC-28A22092DD96}"/>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2" name="组合 101">
            <a:extLst>
              <a:ext uri="{FF2B5EF4-FFF2-40B4-BE49-F238E27FC236}">
                <a16:creationId xmlns:a16="http://schemas.microsoft.com/office/drawing/2014/main" id="{765893B8-50FC-9EC1-0F7F-0122656365F4}"/>
              </a:ext>
            </a:extLst>
          </p:cNvPr>
          <p:cNvGrpSpPr/>
          <p:nvPr>
            <p:custDataLst>
              <p:tags r:id="rId3"/>
            </p:custDataLst>
          </p:nvPr>
        </p:nvGrpSpPr>
        <p:grpSpPr>
          <a:xfrm>
            <a:off x="4503593" y="4509001"/>
            <a:ext cx="5372100" cy="534987"/>
            <a:chOff x="3261805" y="4046141"/>
            <a:chExt cx="5372100" cy="534987"/>
          </a:xfrm>
        </p:grpSpPr>
        <p:grpSp>
          <p:nvGrpSpPr>
            <p:cNvPr id="103" name="组合 102">
              <a:extLst>
                <a:ext uri="{FF2B5EF4-FFF2-40B4-BE49-F238E27FC236}">
                  <a16:creationId xmlns:a16="http://schemas.microsoft.com/office/drawing/2014/main" id="{D6693FE3-836A-DC20-E2CD-C659FD9FAFD2}"/>
                </a:ext>
              </a:extLst>
            </p:cNvPr>
            <p:cNvGrpSpPr/>
            <p:nvPr/>
          </p:nvGrpSpPr>
          <p:grpSpPr>
            <a:xfrm>
              <a:off x="3261805" y="4046141"/>
              <a:ext cx="689447" cy="534987"/>
              <a:chOff x="3261805" y="3969748"/>
              <a:chExt cx="689447" cy="534987"/>
            </a:xfrm>
          </p:grpSpPr>
          <p:sp>
            <p:nvSpPr>
              <p:cNvPr id="109" name="矩形 108">
                <a:extLst>
                  <a:ext uri="{FF2B5EF4-FFF2-40B4-BE49-F238E27FC236}">
                    <a16:creationId xmlns:a16="http://schemas.microsoft.com/office/drawing/2014/main" id="{415D6792-6B8F-FBD8-E93F-55DA3B3AB369}"/>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0" name="文本框 131">
                <a:extLst>
                  <a:ext uri="{FF2B5EF4-FFF2-40B4-BE49-F238E27FC236}">
                    <a16:creationId xmlns:a16="http://schemas.microsoft.com/office/drawing/2014/main" id="{23198433-F91B-9696-B070-44C302D334B8}"/>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4" name="组合 103">
              <a:extLst>
                <a:ext uri="{FF2B5EF4-FFF2-40B4-BE49-F238E27FC236}">
                  <a16:creationId xmlns:a16="http://schemas.microsoft.com/office/drawing/2014/main" id="{3B0B4AFA-D55A-906B-1B27-497B271EA031}"/>
                </a:ext>
              </a:extLst>
            </p:cNvPr>
            <p:cNvGrpSpPr/>
            <p:nvPr/>
          </p:nvGrpSpPr>
          <p:grpSpPr>
            <a:xfrm>
              <a:off x="3923792" y="4046141"/>
              <a:ext cx="4710113" cy="534987"/>
              <a:chOff x="3923792" y="3969748"/>
              <a:chExt cx="4710113" cy="534987"/>
            </a:xfrm>
          </p:grpSpPr>
          <p:sp>
            <p:nvSpPr>
              <p:cNvPr id="105" name="文本框 126">
                <a:extLst>
                  <a:ext uri="{FF2B5EF4-FFF2-40B4-BE49-F238E27FC236}">
                    <a16:creationId xmlns:a16="http://schemas.microsoft.com/office/drawing/2014/main" id="{204F1DBE-5C47-CD58-A37D-84FE5990E43A}"/>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6" name="矩形 105">
                <a:extLst>
                  <a:ext uri="{FF2B5EF4-FFF2-40B4-BE49-F238E27FC236}">
                    <a16:creationId xmlns:a16="http://schemas.microsoft.com/office/drawing/2014/main" id="{48416472-578A-E8FE-64F2-C8E1DFE8A068}"/>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7" name="直接连接符 106">
                <a:extLst>
                  <a:ext uri="{FF2B5EF4-FFF2-40B4-BE49-F238E27FC236}">
                    <a16:creationId xmlns:a16="http://schemas.microsoft.com/office/drawing/2014/main" id="{0E3A84B7-E62D-C7DC-7318-D498A30A32EF}"/>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8" name="Freeform 306">
                <a:extLst>
                  <a:ext uri="{FF2B5EF4-FFF2-40B4-BE49-F238E27FC236}">
                    <a16:creationId xmlns:a16="http://schemas.microsoft.com/office/drawing/2014/main" id="{DEC78EB4-F206-D6B9-056F-042F82888C33}"/>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11" name="组合 110">
            <a:extLst>
              <a:ext uri="{FF2B5EF4-FFF2-40B4-BE49-F238E27FC236}">
                <a16:creationId xmlns:a16="http://schemas.microsoft.com/office/drawing/2014/main" id="{DFCE5F81-0473-A4B4-29CC-67E3271E565F}"/>
              </a:ext>
            </a:extLst>
          </p:cNvPr>
          <p:cNvGrpSpPr/>
          <p:nvPr>
            <p:custDataLst>
              <p:tags r:id="rId4"/>
            </p:custDataLst>
          </p:nvPr>
        </p:nvGrpSpPr>
        <p:grpSpPr>
          <a:xfrm>
            <a:off x="4517645" y="2868283"/>
            <a:ext cx="5370513" cy="534987"/>
            <a:chOff x="3275856" y="2348880"/>
            <a:chExt cx="5370513" cy="534987"/>
          </a:xfrm>
        </p:grpSpPr>
        <p:grpSp>
          <p:nvGrpSpPr>
            <p:cNvPr id="112" name="组合 111">
              <a:extLst>
                <a:ext uri="{FF2B5EF4-FFF2-40B4-BE49-F238E27FC236}">
                  <a16:creationId xmlns:a16="http://schemas.microsoft.com/office/drawing/2014/main" id="{45A35C5F-6989-6E55-EF6C-CD17965B9D0D}"/>
                </a:ext>
              </a:extLst>
            </p:cNvPr>
            <p:cNvGrpSpPr/>
            <p:nvPr/>
          </p:nvGrpSpPr>
          <p:grpSpPr>
            <a:xfrm>
              <a:off x="3275856" y="2348880"/>
              <a:ext cx="689474" cy="534987"/>
              <a:chOff x="3275856" y="2407756"/>
              <a:chExt cx="689474" cy="534987"/>
            </a:xfrm>
          </p:grpSpPr>
          <p:sp>
            <p:nvSpPr>
              <p:cNvPr id="118" name="矩形 117">
                <a:extLst>
                  <a:ext uri="{FF2B5EF4-FFF2-40B4-BE49-F238E27FC236}">
                    <a16:creationId xmlns:a16="http://schemas.microsoft.com/office/drawing/2014/main" id="{2ECFF26C-4ED9-0173-772F-7671AA7ECA64}"/>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9" name="文本框 78">
                <a:extLst>
                  <a:ext uri="{FF2B5EF4-FFF2-40B4-BE49-F238E27FC236}">
                    <a16:creationId xmlns:a16="http://schemas.microsoft.com/office/drawing/2014/main" id="{BF64E882-0DBB-CCE9-9387-75450CACCAF1}"/>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13" name="组合 112">
              <a:extLst>
                <a:ext uri="{FF2B5EF4-FFF2-40B4-BE49-F238E27FC236}">
                  <a16:creationId xmlns:a16="http://schemas.microsoft.com/office/drawing/2014/main" id="{D1C4B951-D0CF-0CD1-8CCC-2E18650273C7}"/>
                </a:ext>
              </a:extLst>
            </p:cNvPr>
            <p:cNvGrpSpPr/>
            <p:nvPr/>
          </p:nvGrpSpPr>
          <p:grpSpPr>
            <a:xfrm>
              <a:off x="3937844" y="2348880"/>
              <a:ext cx="4708525" cy="534987"/>
              <a:chOff x="3937844" y="2407756"/>
              <a:chExt cx="4708525" cy="534987"/>
            </a:xfrm>
          </p:grpSpPr>
          <p:sp>
            <p:nvSpPr>
              <p:cNvPr id="114" name="文本框 73">
                <a:extLst>
                  <a:ext uri="{FF2B5EF4-FFF2-40B4-BE49-F238E27FC236}">
                    <a16:creationId xmlns:a16="http://schemas.microsoft.com/office/drawing/2014/main" id="{2C2AB99F-1AFB-9C75-CFEA-D52340B7F98A}"/>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15" name="矩形 114">
                <a:extLst>
                  <a:ext uri="{FF2B5EF4-FFF2-40B4-BE49-F238E27FC236}">
                    <a16:creationId xmlns:a16="http://schemas.microsoft.com/office/drawing/2014/main" id="{083A174C-D06A-DB9E-047A-202066A2539F}"/>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6" name="直接连接符 115">
                <a:extLst>
                  <a:ext uri="{FF2B5EF4-FFF2-40B4-BE49-F238E27FC236}">
                    <a16:creationId xmlns:a16="http://schemas.microsoft.com/office/drawing/2014/main" id="{9CCE4C12-9B9D-1103-D707-4A89E1E1A510}"/>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7" name="Freeform 30">
                <a:extLst>
                  <a:ext uri="{FF2B5EF4-FFF2-40B4-BE49-F238E27FC236}">
                    <a16:creationId xmlns:a16="http://schemas.microsoft.com/office/drawing/2014/main" id="{8C472E6A-9548-0923-B319-58CB0D8DBFC9}"/>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4162943949"/>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6F365-3556-8A4B-39AD-A5F50AD54198}"/>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4B08FD39-5ABF-F7E0-EAEA-1B5F3A5DF126}"/>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06BF178A-9F12-455A-2CFC-89D376364745}"/>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a:extLst>
              <a:ext uri="{FF2B5EF4-FFF2-40B4-BE49-F238E27FC236}">
                <a16:creationId xmlns:a16="http://schemas.microsoft.com/office/drawing/2014/main" id="{EB92611A-2FB1-6ECA-57D0-26C5FF27D0F5}"/>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0BB91BFB-9885-D451-2C31-116DA834FDC7}"/>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E6394490-E6BD-357A-1485-0C58E5B5F226}"/>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42D9A87B-FFE2-BB86-14ED-DD83C645DA91}"/>
              </a:ext>
            </a:extLst>
          </p:cNvPr>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76</a:t>
            </a:fld>
            <a:endParaRPr lang="zh-HK" altLang="en-US" sz="1600" dirty="0">
              <a:solidFill>
                <a:schemeClr val="bg1"/>
              </a:solidFill>
            </a:endParaRPr>
          </a:p>
        </p:txBody>
      </p:sp>
      <p:pic>
        <p:nvPicPr>
          <p:cNvPr id="3" name="图片 2">
            <a:extLst>
              <a:ext uri="{FF2B5EF4-FFF2-40B4-BE49-F238E27FC236}">
                <a16:creationId xmlns:a16="http://schemas.microsoft.com/office/drawing/2014/main" id="{64092922-CA69-6CD4-FADE-E510E974BB9F}"/>
              </a:ext>
            </a:extLst>
          </p:cNvPr>
          <p:cNvPicPr>
            <a:picLocks noChangeAspect="1"/>
          </p:cNvPicPr>
          <p:nvPr/>
        </p:nvPicPr>
        <p:blipFill>
          <a:blip r:embed="rId3"/>
          <a:stretch>
            <a:fillRect/>
          </a:stretch>
        </p:blipFill>
        <p:spPr>
          <a:xfrm>
            <a:off x="1560000" y="763326"/>
            <a:ext cx="9794070" cy="5748693"/>
          </a:xfrm>
          <a:prstGeom prst="rect">
            <a:avLst/>
          </a:prstGeom>
        </p:spPr>
      </p:pic>
    </p:spTree>
    <p:extLst>
      <p:ext uri="{BB962C8B-B14F-4D97-AF65-F5344CB8AC3E}">
        <p14:creationId xmlns:p14="http://schemas.microsoft.com/office/powerpoint/2010/main" val="1840142981"/>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BDB87-123B-264F-1FA3-D625541D021B}"/>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4FDBEBEF-13A4-6976-DF73-80F692E4252F}"/>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DD3FC7CB-8B5E-F2FF-61AD-5C7876594404}"/>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a:extLst>
              <a:ext uri="{FF2B5EF4-FFF2-40B4-BE49-F238E27FC236}">
                <a16:creationId xmlns:a16="http://schemas.microsoft.com/office/drawing/2014/main" id="{0D1B21DE-FA6E-F8E2-40EA-47D92EBCB3F7}"/>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A789C2E8-C908-6DE9-FD8A-19D6E5509A66}"/>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2D8BDF9E-8CB1-4598-0855-B9FBB42A3B63}"/>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41229E97-DB7A-3F4B-BFE1-7AF13DDB286F}"/>
              </a:ext>
            </a:extLst>
          </p:cNvPr>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77</a:t>
            </a:fld>
            <a:endParaRPr lang="zh-HK" altLang="en-US" sz="1600" dirty="0">
              <a:solidFill>
                <a:schemeClr val="bg1"/>
              </a:solidFill>
            </a:endParaRPr>
          </a:p>
        </p:txBody>
      </p:sp>
      <p:pic>
        <p:nvPicPr>
          <p:cNvPr id="7" name="图片 6">
            <a:extLst>
              <a:ext uri="{FF2B5EF4-FFF2-40B4-BE49-F238E27FC236}">
                <a16:creationId xmlns:a16="http://schemas.microsoft.com/office/drawing/2014/main" id="{FCAC5012-A77A-8BE2-9E1F-563E3AA8B9F5}"/>
              </a:ext>
            </a:extLst>
          </p:cNvPr>
          <p:cNvPicPr>
            <a:picLocks noChangeAspect="1"/>
          </p:cNvPicPr>
          <p:nvPr/>
        </p:nvPicPr>
        <p:blipFill>
          <a:blip r:embed="rId3"/>
          <a:stretch>
            <a:fillRect/>
          </a:stretch>
        </p:blipFill>
        <p:spPr>
          <a:xfrm>
            <a:off x="981997" y="878178"/>
            <a:ext cx="5131064" cy="5486682"/>
          </a:xfrm>
          <a:prstGeom prst="rect">
            <a:avLst/>
          </a:prstGeom>
        </p:spPr>
      </p:pic>
      <p:pic>
        <p:nvPicPr>
          <p:cNvPr id="12" name="图片 11">
            <a:extLst>
              <a:ext uri="{FF2B5EF4-FFF2-40B4-BE49-F238E27FC236}">
                <a16:creationId xmlns:a16="http://schemas.microsoft.com/office/drawing/2014/main" id="{B4F39743-C7CA-D057-7CD8-2D990075E256}"/>
              </a:ext>
            </a:extLst>
          </p:cNvPr>
          <p:cNvPicPr>
            <a:picLocks noChangeAspect="1"/>
          </p:cNvPicPr>
          <p:nvPr/>
        </p:nvPicPr>
        <p:blipFill>
          <a:blip r:embed="rId4"/>
          <a:srcRect t="271"/>
          <a:stretch>
            <a:fillRect/>
          </a:stretch>
        </p:blipFill>
        <p:spPr>
          <a:xfrm>
            <a:off x="6543942" y="908341"/>
            <a:ext cx="5131064" cy="5167860"/>
          </a:xfrm>
          <a:prstGeom prst="rect">
            <a:avLst/>
          </a:prstGeom>
        </p:spPr>
      </p:pic>
    </p:spTree>
    <p:extLst>
      <p:ext uri="{BB962C8B-B14F-4D97-AF65-F5344CB8AC3E}">
        <p14:creationId xmlns:p14="http://schemas.microsoft.com/office/powerpoint/2010/main" val="3002903157"/>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904D0-AA0E-D502-C019-D0BB65604EDE}"/>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39BB885D-5AE2-507A-71B1-D03DE662152B}"/>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1C4C3962-7F46-BFD2-32D0-0701A6CD403C}"/>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a:extLst>
              <a:ext uri="{FF2B5EF4-FFF2-40B4-BE49-F238E27FC236}">
                <a16:creationId xmlns:a16="http://schemas.microsoft.com/office/drawing/2014/main" id="{97978BF5-C3EB-BB3C-79A4-8380651B52D9}"/>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6C524CF9-A116-C273-ABCC-D13221A99031}"/>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1BA1C50B-606D-4520-557D-DD6DBD7AFFFF}"/>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C0079305-B445-512C-70D6-64589DE57BC8}"/>
              </a:ext>
            </a:extLst>
          </p:cNvPr>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78</a:t>
            </a:fld>
            <a:endParaRPr lang="zh-HK" altLang="en-US" sz="1600" dirty="0">
              <a:solidFill>
                <a:schemeClr val="bg1"/>
              </a:solidFill>
            </a:endParaRPr>
          </a:p>
        </p:txBody>
      </p:sp>
      <p:pic>
        <p:nvPicPr>
          <p:cNvPr id="3" name="图片 2">
            <a:extLst>
              <a:ext uri="{FF2B5EF4-FFF2-40B4-BE49-F238E27FC236}">
                <a16:creationId xmlns:a16="http://schemas.microsoft.com/office/drawing/2014/main" id="{7B7A9787-77B2-8F61-145B-F4F532C9E734}"/>
              </a:ext>
            </a:extLst>
          </p:cNvPr>
          <p:cNvPicPr>
            <a:picLocks noChangeAspect="1"/>
          </p:cNvPicPr>
          <p:nvPr/>
        </p:nvPicPr>
        <p:blipFill>
          <a:blip r:embed="rId3"/>
          <a:stretch>
            <a:fillRect/>
          </a:stretch>
        </p:blipFill>
        <p:spPr>
          <a:xfrm>
            <a:off x="1056000" y="1014539"/>
            <a:ext cx="5181866" cy="5315223"/>
          </a:xfrm>
          <a:prstGeom prst="rect">
            <a:avLst/>
          </a:prstGeom>
        </p:spPr>
      </p:pic>
      <p:pic>
        <p:nvPicPr>
          <p:cNvPr id="5" name="图片 4">
            <a:extLst>
              <a:ext uri="{FF2B5EF4-FFF2-40B4-BE49-F238E27FC236}">
                <a16:creationId xmlns:a16="http://schemas.microsoft.com/office/drawing/2014/main" id="{AA542DD9-5B47-8490-2ECD-B4B8531D26A8}"/>
              </a:ext>
            </a:extLst>
          </p:cNvPr>
          <p:cNvPicPr>
            <a:picLocks noChangeAspect="1"/>
          </p:cNvPicPr>
          <p:nvPr/>
        </p:nvPicPr>
        <p:blipFill>
          <a:blip r:embed="rId4"/>
          <a:stretch>
            <a:fillRect/>
          </a:stretch>
        </p:blipFill>
        <p:spPr>
          <a:xfrm>
            <a:off x="6833217" y="1629000"/>
            <a:ext cx="4972508" cy="762616"/>
          </a:xfrm>
          <a:prstGeom prst="rect">
            <a:avLst/>
          </a:prstGeom>
        </p:spPr>
      </p:pic>
      <p:pic>
        <p:nvPicPr>
          <p:cNvPr id="8" name="图片 7">
            <a:extLst>
              <a:ext uri="{FF2B5EF4-FFF2-40B4-BE49-F238E27FC236}">
                <a16:creationId xmlns:a16="http://schemas.microsoft.com/office/drawing/2014/main" id="{F877283E-987A-1612-E9C7-7F4FF59D081E}"/>
              </a:ext>
            </a:extLst>
          </p:cNvPr>
          <p:cNvPicPr>
            <a:picLocks noChangeAspect="1"/>
          </p:cNvPicPr>
          <p:nvPr/>
        </p:nvPicPr>
        <p:blipFill>
          <a:blip r:embed="rId5"/>
          <a:stretch>
            <a:fillRect/>
          </a:stretch>
        </p:blipFill>
        <p:spPr>
          <a:xfrm>
            <a:off x="6790483" y="2349000"/>
            <a:ext cx="5137517" cy="3876893"/>
          </a:xfrm>
          <a:prstGeom prst="rect">
            <a:avLst/>
          </a:prstGeom>
        </p:spPr>
      </p:pic>
    </p:spTree>
    <p:extLst>
      <p:ext uri="{BB962C8B-B14F-4D97-AF65-F5344CB8AC3E}">
        <p14:creationId xmlns:p14="http://schemas.microsoft.com/office/powerpoint/2010/main" val="4173924745"/>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9549C-5C4A-6A1A-7EF9-4366E33EC0F4}"/>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E047B5E6-1E61-4E14-9634-381810781A61}"/>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FB6151D4-1549-B3A4-7148-B758B5E0F820}"/>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a:extLst>
              <a:ext uri="{FF2B5EF4-FFF2-40B4-BE49-F238E27FC236}">
                <a16:creationId xmlns:a16="http://schemas.microsoft.com/office/drawing/2014/main" id="{77602EBB-E637-4493-1466-01FA6800D9F0}"/>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8CC44D1A-2A19-602C-D13F-63E4471BBC24}"/>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3928BB7E-0E98-4F0E-C1CF-01423EC6ECED}"/>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493EF4EF-7C85-EEC9-2F6B-EAD18421525A}"/>
              </a:ext>
            </a:extLst>
          </p:cNvPr>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79</a:t>
            </a:fld>
            <a:endParaRPr lang="zh-HK" altLang="en-US" sz="1600" dirty="0">
              <a:solidFill>
                <a:schemeClr val="bg1"/>
              </a:solidFill>
            </a:endParaRPr>
          </a:p>
        </p:txBody>
      </p:sp>
      <p:pic>
        <p:nvPicPr>
          <p:cNvPr id="4" name="图片 3">
            <a:extLst>
              <a:ext uri="{FF2B5EF4-FFF2-40B4-BE49-F238E27FC236}">
                <a16:creationId xmlns:a16="http://schemas.microsoft.com/office/drawing/2014/main" id="{4341D148-7A10-86C3-0A43-119E0807DF3A}"/>
              </a:ext>
            </a:extLst>
          </p:cNvPr>
          <p:cNvPicPr>
            <a:picLocks noChangeAspect="1"/>
          </p:cNvPicPr>
          <p:nvPr/>
        </p:nvPicPr>
        <p:blipFill>
          <a:blip r:embed="rId3"/>
          <a:stretch>
            <a:fillRect/>
          </a:stretch>
        </p:blipFill>
        <p:spPr>
          <a:xfrm>
            <a:off x="3511417" y="1244487"/>
            <a:ext cx="5169166" cy="4369025"/>
          </a:xfrm>
          <a:prstGeom prst="rect">
            <a:avLst/>
          </a:prstGeom>
        </p:spPr>
      </p:pic>
    </p:spTree>
    <p:extLst>
      <p:ext uri="{BB962C8B-B14F-4D97-AF65-F5344CB8AC3E}">
        <p14:creationId xmlns:p14="http://schemas.microsoft.com/office/powerpoint/2010/main" val="911116921"/>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B4FB0-8BAC-AA3B-D54C-82C538AD1B37}"/>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E84553AC-48CA-C49F-B7CC-EAA966E13A23}"/>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09CE6F85-D68B-D592-F2AF-A0758F70B55B}"/>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a:extLst>
              <a:ext uri="{FF2B5EF4-FFF2-40B4-BE49-F238E27FC236}">
                <a16:creationId xmlns:a16="http://schemas.microsoft.com/office/drawing/2014/main" id="{3F5A1B38-AE1B-52C3-A865-327D5C71BE3E}"/>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781DAE14-0B8A-8129-7750-58A6AE920BA1}"/>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16FF89C7-DB21-41B1-B86A-2599780385DD}"/>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1A73F120-12DB-615F-9C1A-897C7F5EC264}"/>
              </a:ext>
            </a:extLst>
          </p:cNvPr>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80</a:t>
            </a:fld>
            <a:endParaRPr lang="zh-HK" altLang="en-US" sz="1600" dirty="0">
              <a:solidFill>
                <a:schemeClr val="bg1"/>
              </a:solidFill>
            </a:endParaRPr>
          </a:p>
        </p:txBody>
      </p:sp>
      <p:pic>
        <p:nvPicPr>
          <p:cNvPr id="3" name="图片 2">
            <a:extLst>
              <a:ext uri="{FF2B5EF4-FFF2-40B4-BE49-F238E27FC236}">
                <a16:creationId xmlns:a16="http://schemas.microsoft.com/office/drawing/2014/main" id="{1DA7C4E3-AAC2-343E-B2E0-562AAC75619B}"/>
              </a:ext>
            </a:extLst>
          </p:cNvPr>
          <p:cNvPicPr>
            <a:picLocks noChangeAspect="1"/>
          </p:cNvPicPr>
          <p:nvPr/>
        </p:nvPicPr>
        <p:blipFill>
          <a:blip r:embed="rId3"/>
          <a:stretch>
            <a:fillRect/>
          </a:stretch>
        </p:blipFill>
        <p:spPr>
          <a:xfrm>
            <a:off x="3000000" y="795561"/>
            <a:ext cx="5256000" cy="2000714"/>
          </a:xfrm>
          <a:prstGeom prst="rect">
            <a:avLst/>
          </a:prstGeom>
        </p:spPr>
      </p:pic>
      <p:pic>
        <p:nvPicPr>
          <p:cNvPr id="5" name="图片 4">
            <a:extLst>
              <a:ext uri="{FF2B5EF4-FFF2-40B4-BE49-F238E27FC236}">
                <a16:creationId xmlns:a16="http://schemas.microsoft.com/office/drawing/2014/main" id="{FAF66F04-C71D-65BA-FBEB-78B00E878E32}"/>
              </a:ext>
            </a:extLst>
          </p:cNvPr>
          <p:cNvPicPr>
            <a:picLocks noChangeAspect="1"/>
          </p:cNvPicPr>
          <p:nvPr/>
        </p:nvPicPr>
        <p:blipFill>
          <a:blip r:embed="rId4"/>
          <a:stretch>
            <a:fillRect/>
          </a:stretch>
        </p:blipFill>
        <p:spPr>
          <a:xfrm>
            <a:off x="3000000" y="2793069"/>
            <a:ext cx="5304625" cy="3083931"/>
          </a:xfrm>
          <a:prstGeom prst="rect">
            <a:avLst/>
          </a:prstGeom>
        </p:spPr>
      </p:pic>
    </p:spTree>
    <p:extLst>
      <p:ext uri="{BB962C8B-B14F-4D97-AF65-F5344CB8AC3E}">
        <p14:creationId xmlns:p14="http://schemas.microsoft.com/office/powerpoint/2010/main" val="1679443308"/>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CCE00-0778-2D34-F277-5D3B1FE29B00}"/>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BE4CCA2E-7E5A-2862-BB58-2F7925EFAFEB}"/>
              </a:ext>
            </a:extLst>
          </p:cNvPr>
          <p:cNvGrpSpPr/>
          <p:nvPr/>
        </p:nvGrpSpPr>
        <p:grpSpPr>
          <a:xfrm>
            <a:off x="-1" y="6553200"/>
            <a:ext cx="12192001" cy="304800"/>
            <a:chOff x="0" y="6569404"/>
            <a:chExt cx="9144000" cy="288000"/>
          </a:xfrm>
        </p:grpSpPr>
        <p:sp>
          <p:nvSpPr>
            <p:cNvPr id="7" name="矩形 6">
              <a:extLst>
                <a:ext uri="{FF2B5EF4-FFF2-40B4-BE49-F238E27FC236}">
                  <a16:creationId xmlns:a16="http://schemas.microsoft.com/office/drawing/2014/main" id="{C2A359FB-C68A-8DCE-D73F-5F4B20FED2AD}"/>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8" name="矩形 7">
              <a:extLst>
                <a:ext uri="{FF2B5EF4-FFF2-40B4-BE49-F238E27FC236}">
                  <a16:creationId xmlns:a16="http://schemas.microsoft.com/office/drawing/2014/main" id="{B34B4F1C-725D-D0F7-829F-BF5B2C35C64F}"/>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 name="灯片编号占位符 5">
            <a:extLst>
              <a:ext uri="{FF2B5EF4-FFF2-40B4-BE49-F238E27FC236}">
                <a16:creationId xmlns:a16="http://schemas.microsoft.com/office/drawing/2014/main" id="{EAB4D7B2-8FE3-E13F-6D70-0434B5DDB081}"/>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81</a:t>
            </a:fld>
            <a:endParaRPr lang="zh-HK" altLang="en-US" sz="1600" dirty="0">
              <a:solidFill>
                <a:schemeClr val="bg1"/>
              </a:solidFill>
            </a:endParaRPr>
          </a:p>
        </p:txBody>
      </p:sp>
      <p:pic>
        <p:nvPicPr>
          <p:cNvPr id="21" name="图片 20">
            <a:extLst>
              <a:ext uri="{FF2B5EF4-FFF2-40B4-BE49-F238E27FC236}">
                <a16:creationId xmlns:a16="http://schemas.microsoft.com/office/drawing/2014/main" id="{E1166E83-577E-B799-3110-0C8FC00F9E04}"/>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a:extLst>
              <a:ext uri="{FF2B5EF4-FFF2-40B4-BE49-F238E27FC236}">
                <a16:creationId xmlns:a16="http://schemas.microsoft.com/office/drawing/2014/main" id="{94A6FA26-3425-4157-4B62-5A5743F9EA0D}"/>
              </a:ext>
            </a:extLst>
          </p:cNvPr>
          <p:cNvGrpSpPr/>
          <p:nvPr/>
        </p:nvGrpSpPr>
        <p:grpSpPr bwMode="auto">
          <a:xfrm>
            <a:off x="2409457" y="2650330"/>
            <a:ext cx="1505450" cy="1479472"/>
            <a:chOff x="1709739" y="2636838"/>
            <a:chExt cx="1590160" cy="1584325"/>
          </a:xfrm>
          <a:solidFill>
            <a:srgbClr val="044875"/>
          </a:solidFill>
        </p:grpSpPr>
        <p:sp>
          <p:nvSpPr>
            <p:cNvPr id="56" name="Freeform 6">
              <a:extLst>
                <a:ext uri="{FF2B5EF4-FFF2-40B4-BE49-F238E27FC236}">
                  <a16:creationId xmlns:a16="http://schemas.microsoft.com/office/drawing/2014/main" id="{D6E0C123-4A24-9ADB-CE2A-4204C1A6C5A5}"/>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9" name="Freeform 7">
              <a:extLst>
                <a:ext uri="{FF2B5EF4-FFF2-40B4-BE49-F238E27FC236}">
                  <a16:creationId xmlns:a16="http://schemas.microsoft.com/office/drawing/2014/main" id="{F9A9348D-FA3B-B7ED-E484-CFD8D9F93341}"/>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0" name="Freeform 8">
              <a:extLst>
                <a:ext uri="{FF2B5EF4-FFF2-40B4-BE49-F238E27FC236}">
                  <a16:creationId xmlns:a16="http://schemas.microsoft.com/office/drawing/2014/main" id="{117318AA-8B5C-EFA2-FF1C-52CC67E6C87D}"/>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9">
              <a:extLst>
                <a:ext uri="{FF2B5EF4-FFF2-40B4-BE49-F238E27FC236}">
                  <a16:creationId xmlns:a16="http://schemas.microsoft.com/office/drawing/2014/main" id="{607703C8-42CC-D087-BD85-4311712DF0CA}"/>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10">
              <a:extLst>
                <a:ext uri="{FF2B5EF4-FFF2-40B4-BE49-F238E27FC236}">
                  <a16:creationId xmlns:a16="http://schemas.microsoft.com/office/drawing/2014/main" id="{48F27204-2964-74CE-41CC-2431C2A1DBC7}"/>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11">
              <a:extLst>
                <a:ext uri="{FF2B5EF4-FFF2-40B4-BE49-F238E27FC236}">
                  <a16:creationId xmlns:a16="http://schemas.microsoft.com/office/drawing/2014/main" id="{8FBDF56C-8C8F-B713-D819-A7042F8301DA}"/>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2">
              <a:extLst>
                <a:ext uri="{FF2B5EF4-FFF2-40B4-BE49-F238E27FC236}">
                  <a16:creationId xmlns:a16="http://schemas.microsoft.com/office/drawing/2014/main" id="{9A3F12A4-ED59-1321-DA44-9EE20694E0B0}"/>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3">
              <a:extLst>
                <a:ext uri="{FF2B5EF4-FFF2-40B4-BE49-F238E27FC236}">
                  <a16:creationId xmlns:a16="http://schemas.microsoft.com/office/drawing/2014/main" id="{D3B6E8EB-6C04-E977-1F8E-3FBC1056E30F}"/>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4">
              <a:extLst>
                <a:ext uri="{FF2B5EF4-FFF2-40B4-BE49-F238E27FC236}">
                  <a16:creationId xmlns:a16="http://schemas.microsoft.com/office/drawing/2014/main" id="{D6468489-E1A1-2238-0FEE-C9596F1A9F1B}"/>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1" name="文本框 70">
            <a:extLst>
              <a:ext uri="{FF2B5EF4-FFF2-40B4-BE49-F238E27FC236}">
                <a16:creationId xmlns:a16="http://schemas.microsoft.com/office/drawing/2014/main" id="{831C731C-947D-6A17-21BA-FB92CE32F065}"/>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2" name="组合 71">
            <a:extLst>
              <a:ext uri="{FF2B5EF4-FFF2-40B4-BE49-F238E27FC236}">
                <a16:creationId xmlns:a16="http://schemas.microsoft.com/office/drawing/2014/main" id="{6B2FDAB6-049A-717E-A45E-C0A123B26381}"/>
              </a:ext>
            </a:extLst>
          </p:cNvPr>
          <p:cNvGrpSpPr/>
          <p:nvPr>
            <p:custDataLst>
              <p:tags r:id="rId1"/>
            </p:custDataLst>
          </p:nvPr>
        </p:nvGrpSpPr>
        <p:grpSpPr>
          <a:xfrm>
            <a:off x="4523741" y="2047924"/>
            <a:ext cx="5370513" cy="534987"/>
            <a:chOff x="3281952" y="1484784"/>
            <a:chExt cx="5370513" cy="534987"/>
          </a:xfrm>
        </p:grpSpPr>
        <p:grpSp>
          <p:nvGrpSpPr>
            <p:cNvPr id="73" name="组合 72">
              <a:extLst>
                <a:ext uri="{FF2B5EF4-FFF2-40B4-BE49-F238E27FC236}">
                  <a16:creationId xmlns:a16="http://schemas.microsoft.com/office/drawing/2014/main" id="{56647B00-220D-EEFE-7A87-17937C324249}"/>
                </a:ext>
              </a:extLst>
            </p:cNvPr>
            <p:cNvGrpSpPr/>
            <p:nvPr/>
          </p:nvGrpSpPr>
          <p:grpSpPr>
            <a:xfrm>
              <a:off x="3943940" y="1484784"/>
              <a:ext cx="4708525" cy="534987"/>
              <a:chOff x="3943940" y="1626760"/>
              <a:chExt cx="4708525" cy="534987"/>
            </a:xfrm>
          </p:grpSpPr>
          <p:sp>
            <p:nvSpPr>
              <p:cNvPr id="77" name="Freeform 74">
                <a:extLst>
                  <a:ext uri="{FF2B5EF4-FFF2-40B4-BE49-F238E27FC236}">
                    <a16:creationId xmlns:a16="http://schemas.microsoft.com/office/drawing/2014/main" id="{D837F362-BCE3-992C-7B8A-8BB8A84BB8B7}"/>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78" name="文本框 20">
                <a:extLst>
                  <a:ext uri="{FF2B5EF4-FFF2-40B4-BE49-F238E27FC236}">
                    <a16:creationId xmlns:a16="http://schemas.microsoft.com/office/drawing/2014/main" id="{F3469507-CE6C-55AF-5B36-04BE928681CA}"/>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79" name="矩形 78">
                <a:extLst>
                  <a:ext uri="{FF2B5EF4-FFF2-40B4-BE49-F238E27FC236}">
                    <a16:creationId xmlns:a16="http://schemas.microsoft.com/office/drawing/2014/main" id="{E7C3BB3A-A7E4-8887-38C8-B0F29090AA19}"/>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0" name="直接连接符 79">
                <a:extLst>
                  <a:ext uri="{FF2B5EF4-FFF2-40B4-BE49-F238E27FC236}">
                    <a16:creationId xmlns:a16="http://schemas.microsoft.com/office/drawing/2014/main" id="{08628808-8AA1-7656-AA2A-879012F3CCCF}"/>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4" name="组合 73">
              <a:extLst>
                <a:ext uri="{FF2B5EF4-FFF2-40B4-BE49-F238E27FC236}">
                  <a16:creationId xmlns:a16="http://schemas.microsoft.com/office/drawing/2014/main" id="{67A067CC-CE2E-59C6-7220-913F1390F338}"/>
                </a:ext>
              </a:extLst>
            </p:cNvPr>
            <p:cNvGrpSpPr/>
            <p:nvPr/>
          </p:nvGrpSpPr>
          <p:grpSpPr>
            <a:xfrm>
              <a:off x="3281952" y="1484784"/>
              <a:ext cx="689642" cy="534987"/>
              <a:chOff x="3281952" y="1626760"/>
              <a:chExt cx="689642" cy="534987"/>
            </a:xfrm>
          </p:grpSpPr>
          <p:sp>
            <p:nvSpPr>
              <p:cNvPr id="75" name="矩形 74">
                <a:extLst>
                  <a:ext uri="{FF2B5EF4-FFF2-40B4-BE49-F238E27FC236}">
                    <a16:creationId xmlns:a16="http://schemas.microsoft.com/office/drawing/2014/main" id="{63669D66-D3FF-7ADB-E6F7-0BE0D7FE647E}"/>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6" name="文本框 18">
                <a:extLst>
                  <a:ext uri="{FF2B5EF4-FFF2-40B4-BE49-F238E27FC236}">
                    <a16:creationId xmlns:a16="http://schemas.microsoft.com/office/drawing/2014/main" id="{046D502A-CE84-276B-0EA4-FA432E72A8AE}"/>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1" name="组合 80">
            <a:extLst>
              <a:ext uri="{FF2B5EF4-FFF2-40B4-BE49-F238E27FC236}">
                <a16:creationId xmlns:a16="http://schemas.microsoft.com/office/drawing/2014/main" id="{1CD8EA6D-5B2B-5DD3-61C4-4835A4130E98}"/>
              </a:ext>
            </a:extLst>
          </p:cNvPr>
          <p:cNvGrpSpPr/>
          <p:nvPr>
            <p:custDataLst>
              <p:tags r:id="rId2"/>
            </p:custDataLst>
          </p:nvPr>
        </p:nvGrpSpPr>
        <p:grpSpPr>
          <a:xfrm>
            <a:off x="4503593" y="3688642"/>
            <a:ext cx="5372100" cy="534987"/>
            <a:chOff x="3261805" y="3188752"/>
            <a:chExt cx="5372100" cy="534987"/>
          </a:xfrm>
        </p:grpSpPr>
        <p:grpSp>
          <p:nvGrpSpPr>
            <p:cNvPr id="82" name="组合 81">
              <a:extLst>
                <a:ext uri="{FF2B5EF4-FFF2-40B4-BE49-F238E27FC236}">
                  <a16:creationId xmlns:a16="http://schemas.microsoft.com/office/drawing/2014/main" id="{87E64BAD-7981-0289-F0E7-FD6012515FE7}"/>
                </a:ext>
              </a:extLst>
            </p:cNvPr>
            <p:cNvGrpSpPr/>
            <p:nvPr/>
          </p:nvGrpSpPr>
          <p:grpSpPr>
            <a:xfrm>
              <a:off x="3261805" y="3188752"/>
              <a:ext cx="689593" cy="534987"/>
              <a:chOff x="3261805" y="3188752"/>
              <a:chExt cx="689593" cy="534987"/>
            </a:xfrm>
          </p:grpSpPr>
          <p:sp>
            <p:nvSpPr>
              <p:cNvPr id="91" name="矩形 90">
                <a:extLst>
                  <a:ext uri="{FF2B5EF4-FFF2-40B4-BE49-F238E27FC236}">
                    <a16:creationId xmlns:a16="http://schemas.microsoft.com/office/drawing/2014/main" id="{3372D2A3-7FEF-B57A-0D5E-19FA761B9F4D}"/>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5" name="文本框 86">
                <a:extLst>
                  <a:ext uri="{FF2B5EF4-FFF2-40B4-BE49-F238E27FC236}">
                    <a16:creationId xmlns:a16="http://schemas.microsoft.com/office/drawing/2014/main" id="{1632414A-C7F9-1CE5-2682-6ED68931C8EE}"/>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83" name="组合 82">
              <a:extLst>
                <a:ext uri="{FF2B5EF4-FFF2-40B4-BE49-F238E27FC236}">
                  <a16:creationId xmlns:a16="http://schemas.microsoft.com/office/drawing/2014/main" id="{D34C67C7-3506-4B33-5D53-9F1FF1004DC5}"/>
                </a:ext>
              </a:extLst>
            </p:cNvPr>
            <p:cNvGrpSpPr/>
            <p:nvPr/>
          </p:nvGrpSpPr>
          <p:grpSpPr>
            <a:xfrm>
              <a:off x="3923792" y="3188752"/>
              <a:ext cx="4710113" cy="534987"/>
              <a:chOff x="3923792" y="3188752"/>
              <a:chExt cx="4710113" cy="534987"/>
            </a:xfrm>
          </p:grpSpPr>
          <p:sp>
            <p:nvSpPr>
              <p:cNvPr id="84" name="文本框 81">
                <a:extLst>
                  <a:ext uri="{FF2B5EF4-FFF2-40B4-BE49-F238E27FC236}">
                    <a16:creationId xmlns:a16="http://schemas.microsoft.com/office/drawing/2014/main" id="{F079D405-8B7D-8717-53DE-45D9CE15B656}"/>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85" name="矩形 84">
                <a:extLst>
                  <a:ext uri="{FF2B5EF4-FFF2-40B4-BE49-F238E27FC236}">
                    <a16:creationId xmlns:a16="http://schemas.microsoft.com/office/drawing/2014/main" id="{E0125C46-E600-3A31-14A4-DF0945565F43}"/>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a:extLst>
                  <a:ext uri="{FF2B5EF4-FFF2-40B4-BE49-F238E27FC236}">
                    <a16:creationId xmlns:a16="http://schemas.microsoft.com/office/drawing/2014/main" id="{67B2B483-F140-1490-7C01-7CC206A4D14D}"/>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71">
                <a:extLst>
                  <a:ext uri="{FF2B5EF4-FFF2-40B4-BE49-F238E27FC236}">
                    <a16:creationId xmlns:a16="http://schemas.microsoft.com/office/drawing/2014/main" id="{12C5603E-691E-4350-8011-F61D9F826232}"/>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srgbClr val="044875"/>
                  </a:solidFill>
                </a:endParaRPr>
              </a:p>
            </p:txBody>
          </p:sp>
        </p:grpSp>
      </p:grpSp>
      <p:grpSp>
        <p:nvGrpSpPr>
          <p:cNvPr id="99" name="组合 98">
            <a:extLst>
              <a:ext uri="{FF2B5EF4-FFF2-40B4-BE49-F238E27FC236}">
                <a16:creationId xmlns:a16="http://schemas.microsoft.com/office/drawing/2014/main" id="{6D0C2B53-3281-7C5E-4C62-460E7073D9CF}"/>
              </a:ext>
            </a:extLst>
          </p:cNvPr>
          <p:cNvGrpSpPr/>
          <p:nvPr>
            <p:custDataLst>
              <p:tags r:id="rId3"/>
            </p:custDataLst>
          </p:nvPr>
        </p:nvGrpSpPr>
        <p:grpSpPr>
          <a:xfrm>
            <a:off x="4503593" y="4509001"/>
            <a:ext cx="5372100" cy="534987"/>
            <a:chOff x="3261805" y="4046141"/>
            <a:chExt cx="5372100" cy="534987"/>
          </a:xfrm>
        </p:grpSpPr>
        <p:grpSp>
          <p:nvGrpSpPr>
            <p:cNvPr id="100" name="组合 99">
              <a:extLst>
                <a:ext uri="{FF2B5EF4-FFF2-40B4-BE49-F238E27FC236}">
                  <a16:creationId xmlns:a16="http://schemas.microsoft.com/office/drawing/2014/main" id="{7C22CBC6-AFC3-ADED-414C-8131EB23D25C}"/>
                </a:ext>
              </a:extLst>
            </p:cNvPr>
            <p:cNvGrpSpPr/>
            <p:nvPr/>
          </p:nvGrpSpPr>
          <p:grpSpPr>
            <a:xfrm>
              <a:off x="3261805" y="4046141"/>
              <a:ext cx="689447" cy="534987"/>
              <a:chOff x="3261805" y="3969748"/>
              <a:chExt cx="689447" cy="534987"/>
            </a:xfrm>
          </p:grpSpPr>
          <p:sp>
            <p:nvSpPr>
              <p:cNvPr id="106" name="矩形 105">
                <a:extLst>
                  <a:ext uri="{FF2B5EF4-FFF2-40B4-BE49-F238E27FC236}">
                    <a16:creationId xmlns:a16="http://schemas.microsoft.com/office/drawing/2014/main" id="{A1F87608-AB54-EC10-A1E6-4FE14B7B5EE7}"/>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7" name="文本框 131">
                <a:extLst>
                  <a:ext uri="{FF2B5EF4-FFF2-40B4-BE49-F238E27FC236}">
                    <a16:creationId xmlns:a16="http://schemas.microsoft.com/office/drawing/2014/main" id="{90FFAC52-B612-25B7-9248-AE8A1FD44461}"/>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1" name="组合 100">
              <a:extLst>
                <a:ext uri="{FF2B5EF4-FFF2-40B4-BE49-F238E27FC236}">
                  <a16:creationId xmlns:a16="http://schemas.microsoft.com/office/drawing/2014/main" id="{88EB0478-1721-DAD5-6B84-9F9219582F86}"/>
                </a:ext>
              </a:extLst>
            </p:cNvPr>
            <p:cNvGrpSpPr/>
            <p:nvPr/>
          </p:nvGrpSpPr>
          <p:grpSpPr>
            <a:xfrm>
              <a:off x="3923792" y="4046141"/>
              <a:ext cx="4710113" cy="534987"/>
              <a:chOff x="3923792" y="3969748"/>
              <a:chExt cx="4710113" cy="534987"/>
            </a:xfrm>
          </p:grpSpPr>
          <p:sp>
            <p:nvSpPr>
              <p:cNvPr id="102" name="文本框 126">
                <a:extLst>
                  <a:ext uri="{FF2B5EF4-FFF2-40B4-BE49-F238E27FC236}">
                    <a16:creationId xmlns:a16="http://schemas.microsoft.com/office/drawing/2014/main" id="{DA1F6137-7569-67C1-50C5-98C0E74880A9}"/>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3" name="矩形 102">
                <a:extLst>
                  <a:ext uri="{FF2B5EF4-FFF2-40B4-BE49-F238E27FC236}">
                    <a16:creationId xmlns:a16="http://schemas.microsoft.com/office/drawing/2014/main" id="{BFC5EE91-08A4-1047-7B9E-519403E8B246}"/>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4" name="直接连接符 103">
                <a:extLst>
                  <a:ext uri="{FF2B5EF4-FFF2-40B4-BE49-F238E27FC236}">
                    <a16:creationId xmlns:a16="http://schemas.microsoft.com/office/drawing/2014/main" id="{7EBDE26F-3A27-B3C6-4E0C-9DA51457F9E6}"/>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5" name="Freeform 306">
                <a:extLst>
                  <a:ext uri="{FF2B5EF4-FFF2-40B4-BE49-F238E27FC236}">
                    <a16:creationId xmlns:a16="http://schemas.microsoft.com/office/drawing/2014/main" id="{350D2C08-1760-50BA-7F0E-116C7C5C1F5E}"/>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8" name="组合 107">
            <a:extLst>
              <a:ext uri="{FF2B5EF4-FFF2-40B4-BE49-F238E27FC236}">
                <a16:creationId xmlns:a16="http://schemas.microsoft.com/office/drawing/2014/main" id="{105D67AF-9C31-3A46-57B8-01620339EC7B}"/>
              </a:ext>
            </a:extLst>
          </p:cNvPr>
          <p:cNvGrpSpPr/>
          <p:nvPr>
            <p:custDataLst>
              <p:tags r:id="rId4"/>
            </p:custDataLst>
          </p:nvPr>
        </p:nvGrpSpPr>
        <p:grpSpPr>
          <a:xfrm>
            <a:off x="4517645" y="2868283"/>
            <a:ext cx="5370513" cy="534987"/>
            <a:chOff x="3275856" y="2348880"/>
            <a:chExt cx="5370513" cy="534987"/>
          </a:xfrm>
        </p:grpSpPr>
        <p:grpSp>
          <p:nvGrpSpPr>
            <p:cNvPr id="109" name="组合 108">
              <a:extLst>
                <a:ext uri="{FF2B5EF4-FFF2-40B4-BE49-F238E27FC236}">
                  <a16:creationId xmlns:a16="http://schemas.microsoft.com/office/drawing/2014/main" id="{E43D7D2A-4539-7EE6-C111-6928EDFB6F46}"/>
                </a:ext>
              </a:extLst>
            </p:cNvPr>
            <p:cNvGrpSpPr/>
            <p:nvPr/>
          </p:nvGrpSpPr>
          <p:grpSpPr>
            <a:xfrm>
              <a:off x="3275856" y="2348880"/>
              <a:ext cx="689474" cy="534987"/>
              <a:chOff x="3275856" y="2407756"/>
              <a:chExt cx="689474" cy="534987"/>
            </a:xfrm>
          </p:grpSpPr>
          <p:sp>
            <p:nvSpPr>
              <p:cNvPr id="115" name="矩形 114">
                <a:extLst>
                  <a:ext uri="{FF2B5EF4-FFF2-40B4-BE49-F238E27FC236}">
                    <a16:creationId xmlns:a16="http://schemas.microsoft.com/office/drawing/2014/main" id="{C7F492A6-D8E0-D197-FEAA-E397FCBAEC5A}"/>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78">
                <a:extLst>
                  <a:ext uri="{FF2B5EF4-FFF2-40B4-BE49-F238E27FC236}">
                    <a16:creationId xmlns:a16="http://schemas.microsoft.com/office/drawing/2014/main" id="{B2653795-EC85-8ADC-1E80-DFB477078CF8}"/>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0" name="组合 109">
              <a:extLst>
                <a:ext uri="{FF2B5EF4-FFF2-40B4-BE49-F238E27FC236}">
                  <a16:creationId xmlns:a16="http://schemas.microsoft.com/office/drawing/2014/main" id="{9C490570-6BA6-60F7-929F-D7D14BAF14E9}"/>
                </a:ext>
              </a:extLst>
            </p:cNvPr>
            <p:cNvGrpSpPr/>
            <p:nvPr/>
          </p:nvGrpSpPr>
          <p:grpSpPr>
            <a:xfrm>
              <a:off x="3937844" y="2348880"/>
              <a:ext cx="4708525" cy="534987"/>
              <a:chOff x="3937844" y="2407756"/>
              <a:chExt cx="4708525" cy="534987"/>
            </a:xfrm>
          </p:grpSpPr>
          <p:sp>
            <p:nvSpPr>
              <p:cNvPr id="111" name="文本框 73">
                <a:extLst>
                  <a:ext uri="{FF2B5EF4-FFF2-40B4-BE49-F238E27FC236}">
                    <a16:creationId xmlns:a16="http://schemas.microsoft.com/office/drawing/2014/main" id="{95A1A20B-AF72-2AE0-09E3-EAFAA65FD1A2}"/>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12" name="矩形 111">
                <a:extLst>
                  <a:ext uri="{FF2B5EF4-FFF2-40B4-BE49-F238E27FC236}">
                    <a16:creationId xmlns:a16="http://schemas.microsoft.com/office/drawing/2014/main" id="{896532CD-7C3D-0053-6818-D99AD993ADC6}"/>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a:extLst>
                  <a:ext uri="{FF2B5EF4-FFF2-40B4-BE49-F238E27FC236}">
                    <a16:creationId xmlns:a16="http://schemas.microsoft.com/office/drawing/2014/main" id="{DF06F8B1-682A-E27A-4BE9-B73CB49781C4}"/>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
                <a:extLst>
                  <a:ext uri="{FF2B5EF4-FFF2-40B4-BE49-F238E27FC236}">
                    <a16:creationId xmlns:a16="http://schemas.microsoft.com/office/drawing/2014/main" id="{3058A475-5B6A-5D66-A0A0-0EA616D4EDE3}"/>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3060230212"/>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854D1-AF8C-D84B-438B-52506A17EABC}"/>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348EA84A-B76A-DB6B-C856-556320B27B8A}"/>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B08AB7D3-F1DB-576A-8941-9637E1B69943}"/>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a:extLst>
              <a:ext uri="{FF2B5EF4-FFF2-40B4-BE49-F238E27FC236}">
                <a16:creationId xmlns:a16="http://schemas.microsoft.com/office/drawing/2014/main" id="{CAF84075-161F-58C2-A904-005FA5D84E68}"/>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7977976D-48FB-5217-D856-E9C1C7F04A0E}"/>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724B647A-8D14-D3F4-8165-491E9B687C4B}"/>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814D1EA7-B66D-CC85-D509-BB0AD14C8256}"/>
              </a:ext>
            </a:extLst>
          </p:cNvPr>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82</a:t>
            </a:fld>
            <a:endParaRPr lang="zh-HK" altLang="en-US" sz="1600" dirty="0">
              <a:solidFill>
                <a:schemeClr val="bg1"/>
              </a:solidFill>
            </a:endParaRPr>
          </a:p>
        </p:txBody>
      </p:sp>
      <p:pic>
        <p:nvPicPr>
          <p:cNvPr id="3" name="图片 2">
            <a:extLst>
              <a:ext uri="{FF2B5EF4-FFF2-40B4-BE49-F238E27FC236}">
                <a16:creationId xmlns:a16="http://schemas.microsoft.com/office/drawing/2014/main" id="{42192397-2F66-201E-F810-B6FB7BF4D1EE}"/>
              </a:ext>
            </a:extLst>
          </p:cNvPr>
          <p:cNvPicPr>
            <a:picLocks noChangeAspect="1"/>
          </p:cNvPicPr>
          <p:nvPr/>
        </p:nvPicPr>
        <p:blipFill>
          <a:blip r:embed="rId3"/>
          <a:stretch>
            <a:fillRect/>
          </a:stretch>
        </p:blipFill>
        <p:spPr>
          <a:xfrm>
            <a:off x="1776000" y="889230"/>
            <a:ext cx="9438274" cy="5511278"/>
          </a:xfrm>
          <a:prstGeom prst="rect">
            <a:avLst/>
          </a:prstGeom>
        </p:spPr>
      </p:pic>
    </p:spTree>
    <p:extLst>
      <p:ext uri="{BB962C8B-B14F-4D97-AF65-F5344CB8AC3E}">
        <p14:creationId xmlns:p14="http://schemas.microsoft.com/office/powerpoint/2010/main" val="1067970"/>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CD7A8-78AF-67C2-7E8B-6EC696AF540A}"/>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DD75D846-4A42-6AAF-A4FF-60D45381F57E}"/>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8A4E9308-CDA0-8E64-8A9F-EB211530571A}"/>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a:extLst>
              <a:ext uri="{FF2B5EF4-FFF2-40B4-BE49-F238E27FC236}">
                <a16:creationId xmlns:a16="http://schemas.microsoft.com/office/drawing/2014/main" id="{AC89C553-A4BC-336F-8D0C-E887CBD27CC0}"/>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B290F436-B32B-B570-5D25-585BD092D68F}"/>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88AE0323-ADB4-7EDE-182B-EF3535D8D60A}"/>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3E72787F-E95D-B98E-3C4C-9BAE46652649}"/>
              </a:ext>
            </a:extLst>
          </p:cNvPr>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83</a:t>
            </a:fld>
            <a:endParaRPr lang="zh-HK" altLang="en-US" sz="1600" dirty="0">
              <a:solidFill>
                <a:schemeClr val="bg1"/>
              </a:solidFill>
            </a:endParaRPr>
          </a:p>
        </p:txBody>
      </p:sp>
      <p:pic>
        <p:nvPicPr>
          <p:cNvPr id="5" name="图片 4">
            <a:extLst>
              <a:ext uri="{FF2B5EF4-FFF2-40B4-BE49-F238E27FC236}">
                <a16:creationId xmlns:a16="http://schemas.microsoft.com/office/drawing/2014/main" id="{E44C84ED-F512-013F-2696-AA551714FA4E}"/>
              </a:ext>
            </a:extLst>
          </p:cNvPr>
          <p:cNvPicPr>
            <a:picLocks noChangeAspect="1"/>
          </p:cNvPicPr>
          <p:nvPr/>
        </p:nvPicPr>
        <p:blipFill>
          <a:blip r:embed="rId3"/>
          <a:stretch>
            <a:fillRect/>
          </a:stretch>
        </p:blipFill>
        <p:spPr>
          <a:xfrm>
            <a:off x="1560000" y="821661"/>
            <a:ext cx="9509245" cy="5543712"/>
          </a:xfrm>
          <a:prstGeom prst="rect">
            <a:avLst/>
          </a:prstGeom>
        </p:spPr>
      </p:pic>
    </p:spTree>
    <p:extLst>
      <p:ext uri="{BB962C8B-B14F-4D97-AF65-F5344CB8AC3E}">
        <p14:creationId xmlns:p14="http://schemas.microsoft.com/office/powerpoint/2010/main" val="4194294226"/>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6C89D-9F7E-72C8-1DE1-1ED9CC4B22F9}"/>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07642B11-25D7-3AFA-9E84-2CEC6B32B94C}"/>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AFA24691-AB16-14F4-CA3D-82535A9BF351}"/>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a:extLst>
              <a:ext uri="{FF2B5EF4-FFF2-40B4-BE49-F238E27FC236}">
                <a16:creationId xmlns:a16="http://schemas.microsoft.com/office/drawing/2014/main" id="{5BCF2EB1-3F9E-53F2-E521-D986EABD2346}"/>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61238709-78A1-0CED-5F5A-A2158192BC0F}"/>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B00966F6-64DC-FD31-3C2B-2B60A26D9574}"/>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13312368-3E3C-E6C6-0AE7-33738D7AC16F}"/>
              </a:ext>
            </a:extLst>
          </p:cNvPr>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84</a:t>
            </a:fld>
            <a:endParaRPr lang="zh-HK" altLang="en-US" sz="1600" dirty="0">
              <a:solidFill>
                <a:schemeClr val="bg1"/>
              </a:solidFill>
            </a:endParaRPr>
          </a:p>
        </p:txBody>
      </p:sp>
      <p:pic>
        <p:nvPicPr>
          <p:cNvPr id="4" name="图片 3">
            <a:extLst>
              <a:ext uri="{FF2B5EF4-FFF2-40B4-BE49-F238E27FC236}">
                <a16:creationId xmlns:a16="http://schemas.microsoft.com/office/drawing/2014/main" id="{263C0A4E-A420-15A8-1103-1632414D08F3}"/>
              </a:ext>
            </a:extLst>
          </p:cNvPr>
          <p:cNvPicPr>
            <a:picLocks noChangeAspect="1"/>
          </p:cNvPicPr>
          <p:nvPr/>
        </p:nvPicPr>
        <p:blipFill>
          <a:blip r:embed="rId3"/>
          <a:stretch>
            <a:fillRect/>
          </a:stretch>
        </p:blipFill>
        <p:spPr>
          <a:xfrm>
            <a:off x="3920949" y="746663"/>
            <a:ext cx="4350100" cy="5676802"/>
          </a:xfrm>
          <a:prstGeom prst="rect">
            <a:avLst/>
          </a:prstGeom>
        </p:spPr>
      </p:pic>
    </p:spTree>
    <p:extLst>
      <p:ext uri="{BB962C8B-B14F-4D97-AF65-F5344CB8AC3E}">
        <p14:creationId xmlns:p14="http://schemas.microsoft.com/office/powerpoint/2010/main" val="4135443270"/>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Future Work</a:t>
            </a:r>
          </a:p>
        </p:txBody>
      </p:sp>
      <p:sp>
        <p:nvSpPr>
          <p:cNvPr id="2" name="矩形 1"/>
          <p:cNvSpPr/>
          <p:nvPr/>
        </p:nvSpPr>
        <p:spPr>
          <a:xfrm>
            <a:off x="264000" y="980999"/>
            <a:ext cx="11736000" cy="3096001"/>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3" name="矩形 2"/>
          <p:cNvSpPr/>
          <p:nvPr/>
        </p:nvSpPr>
        <p:spPr>
          <a:xfrm>
            <a:off x="631210" y="752888"/>
            <a:ext cx="1864789" cy="51611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Contributions</a:t>
            </a:r>
          </a:p>
        </p:txBody>
      </p:sp>
      <p:sp>
        <p:nvSpPr>
          <p:cNvPr id="14" name="文本框 13"/>
          <p:cNvSpPr txBox="1"/>
          <p:nvPr/>
        </p:nvSpPr>
        <p:spPr>
          <a:xfrm>
            <a:off x="417285" y="1124477"/>
            <a:ext cx="11357425" cy="2809167"/>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zh-CN" altLang="zh-CN" sz="2000">
                <a:latin typeface="Arial Unicode MS" panose="020B0604020202020204" pitchFamily="34" charset="-122"/>
                <a:ea typeface="Arial Unicode MS" panose="020B0604020202020204" pitchFamily="34" charset="-122"/>
                <a:cs typeface="Arial Unicode MS" panose="020B0604020202020204" pitchFamily="34" charset="-122"/>
              </a:rPr>
              <a:t>QMLMs can outperform classical methods, assuming both achieve small training error, only in scenarios in which QMLMs generalize well, but classical ML methods do not. We consider our results a guide in the search for quantum advantage of QML: We need to identify a task in which QMLMs with few trainable gates achieve small training error, but classical models need substantially higher model complexity to achieve the same goal. Then, our bounds guarantee that the QMLM performs well also on unseen data.</a:t>
            </a:r>
            <a:endParaRPr lang="en-US" altLang="zh-CN" sz="20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20" name="组合 19"/>
          <p:cNvGrpSpPr/>
          <p:nvPr/>
        </p:nvGrpSpPr>
        <p:grpSpPr>
          <a:xfrm>
            <a:off x="-1" y="6553200"/>
            <a:ext cx="12192001" cy="304800"/>
            <a:chOff x="0" y="6569404"/>
            <a:chExt cx="9144000" cy="288000"/>
          </a:xfrm>
        </p:grpSpPr>
        <p:sp>
          <p:nvSpPr>
            <p:cNvPr id="21"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2"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85</a:t>
            </a:fld>
            <a:endParaRPr lang="zh-HK" altLang="en-US" sz="1600" dirty="0">
              <a:solidFill>
                <a:schemeClr val="bg1"/>
              </a:solidFill>
            </a:endParaRPr>
          </a:p>
        </p:txBody>
      </p:sp>
      <p:sp>
        <p:nvSpPr>
          <p:cNvPr id="4" name="矩形 3"/>
          <p:cNvSpPr/>
          <p:nvPr/>
        </p:nvSpPr>
        <p:spPr>
          <a:xfrm>
            <a:off x="241320" y="4271670"/>
            <a:ext cx="11736000" cy="1915262"/>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5" name="矩形 4"/>
          <p:cNvSpPr/>
          <p:nvPr/>
        </p:nvSpPr>
        <p:spPr>
          <a:xfrm>
            <a:off x="349808" y="4395309"/>
            <a:ext cx="1864788" cy="2763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Future Work</a:t>
            </a:r>
          </a:p>
        </p:txBody>
      </p:sp>
      <p:sp>
        <p:nvSpPr>
          <p:cNvPr id="12" name="文本框 11"/>
          <p:cNvSpPr txBox="1"/>
          <p:nvPr/>
        </p:nvSpPr>
        <p:spPr>
          <a:xfrm>
            <a:off x="478972" y="4866364"/>
            <a:ext cx="11149127" cy="962508"/>
          </a:xfrm>
          <a:prstGeom prst="rect">
            <a:avLst/>
          </a:prstGeom>
          <a:noFill/>
        </p:spPr>
        <p:txBody>
          <a:bodyPr wrap="square">
            <a:spAutoFit/>
          </a:bodyPr>
          <a:lstStyle/>
          <a:p>
            <a:pPr algn="just">
              <a:lnSpc>
                <a:spcPct val="150000"/>
              </a:lnSpc>
              <a:buNone/>
            </a:pPr>
            <a:r>
              <a:rPr lang="zh-CN" altLang="zh-CN" sz="2000">
                <a:solidFill>
                  <a:srgbClr val="000000"/>
                </a:solidFill>
                <a:effectLst/>
                <a:latin typeface="Arial Unicode MS" panose="020B0604020202020204" pitchFamily="34" charset="-122"/>
                <a:ea typeface="Arial Unicode MS" panose="020B0604020202020204" pitchFamily="34" charset="-122"/>
                <a:cs typeface="Arial Unicode MS" panose="020B0604020202020204" pitchFamily="34" charset="-122"/>
              </a:rPr>
              <a:t>For QMLMs with exponentially many independently trainable gates, our generalization error bounds scale exponentially with </a:t>
            </a:r>
            <a:r>
              <a:rPr lang="zh-CN" altLang="zh-CN" sz="2000" i="1">
                <a:solidFill>
                  <a:srgbClr val="000000"/>
                </a:solidFill>
                <a:effectLst/>
                <a:latin typeface="Arial Unicode MS" panose="020B0604020202020204" pitchFamily="34" charset="-122"/>
                <a:ea typeface="Arial Unicode MS" panose="020B0604020202020204" pitchFamily="34" charset="-122"/>
                <a:cs typeface="Arial Unicode MS" panose="020B0604020202020204" pitchFamily="34" charset="-122"/>
              </a:rPr>
              <a:t>n</a:t>
            </a:r>
            <a:r>
              <a:rPr lang="zh-CN" altLang="zh-CN" sz="2000">
                <a:solidFill>
                  <a:srgbClr val="000000"/>
                </a:solidFill>
                <a:effectLst/>
                <a:latin typeface="Arial Unicode MS" panose="020B0604020202020204" pitchFamily="34" charset="-122"/>
                <a:ea typeface="Arial Unicode MS" panose="020B0604020202020204" pitchFamily="34" charset="-122"/>
                <a:cs typeface="Arial Unicode MS" panose="020B0604020202020204" pitchFamily="34" charset="-122"/>
              </a:rPr>
              <a:t>, and hence we do not make non-trivial claims about this regime.</a:t>
            </a:r>
            <a:endParaRPr lang="zh-CN" altLang="en-US" sz="2000">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8687" y="72603"/>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 Inspiration</a:t>
            </a:r>
          </a:p>
        </p:txBody>
      </p:sp>
      <p:grpSp>
        <p:nvGrpSpPr>
          <p:cNvPr id="20" name="组合 19"/>
          <p:cNvGrpSpPr/>
          <p:nvPr/>
        </p:nvGrpSpPr>
        <p:grpSpPr>
          <a:xfrm>
            <a:off x="-1" y="6553200"/>
            <a:ext cx="12192001" cy="304800"/>
            <a:chOff x="0" y="6569404"/>
            <a:chExt cx="9144000" cy="288000"/>
          </a:xfrm>
        </p:grpSpPr>
        <p:sp>
          <p:nvSpPr>
            <p:cNvPr id="21"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2"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86</a:t>
            </a:fld>
            <a:endParaRPr lang="zh-HK" altLang="en-US" sz="1600" dirty="0">
              <a:solidFill>
                <a:schemeClr val="bg1"/>
              </a:solidFill>
            </a:endParaRPr>
          </a:p>
        </p:txBody>
      </p:sp>
      <p:sp>
        <p:nvSpPr>
          <p:cNvPr id="6" name="文本框 5"/>
          <p:cNvSpPr txBox="1"/>
          <p:nvPr/>
        </p:nvSpPr>
        <p:spPr>
          <a:xfrm>
            <a:off x="408000" y="1413000"/>
            <a:ext cx="11520000" cy="1938020"/>
          </a:xfrm>
          <a:prstGeom prst="rect">
            <a:avLst/>
          </a:prstGeom>
          <a:noFill/>
        </p:spPr>
        <p:txBody>
          <a:bodyPr wrap="square">
            <a:spAutoFit/>
          </a:bodyPr>
          <a:lstStyle/>
          <a:p>
            <a:pPr>
              <a:lnSpc>
                <a:spcPct val="150000"/>
              </a:lnSpc>
            </a:pPr>
            <a:r>
              <a:rPr lang="en-US" altLang="zh-CN" sz="2000">
                <a:latin typeface="Arial" panose="020B0604020202020204" pitchFamily="34" charset="0"/>
                <a:cs typeface="Arial" panose="020B0604020202020204" pitchFamily="34" charset="0"/>
              </a:rPr>
              <a:t>Future work will introduce </a:t>
            </a:r>
            <a:r>
              <a:rPr lang="en-US" altLang="zh-CN" sz="2000" b="1">
                <a:solidFill>
                  <a:srgbClr val="FF0000"/>
                </a:solidFill>
                <a:latin typeface="Arial" panose="020B0604020202020204" pitchFamily="34" charset="0"/>
                <a:cs typeface="Arial" panose="020B0604020202020204" pitchFamily="34" charset="0"/>
              </a:rPr>
              <a:t>quantum spectral encoding methods</a:t>
            </a:r>
            <a:r>
              <a:rPr lang="en-US" altLang="zh-CN" sz="2000">
                <a:latin typeface="Arial" panose="020B0604020202020204" pitchFamily="34" charset="0"/>
                <a:cs typeface="Arial" panose="020B0604020202020204" pitchFamily="34" charset="0"/>
              </a:rPr>
              <a:t>, leveraging the ability to enhance temporal sequence representation, for uncertainty quantification in adaptive state estimation; simultaneously, quantum neural networks (QNNs) will be integrated as optimization modules with Kalman filters to improve state estimation accuracy.</a:t>
            </a:r>
          </a:p>
        </p:txBody>
      </p:sp>
      <p:sp>
        <p:nvSpPr>
          <p:cNvPr id="7" name="矩形 6"/>
          <p:cNvSpPr/>
          <p:nvPr/>
        </p:nvSpPr>
        <p:spPr>
          <a:xfrm>
            <a:off x="264000" y="1125001"/>
            <a:ext cx="11736000" cy="4104000"/>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52196" y="2564905"/>
            <a:ext cx="7887608" cy="1311449"/>
          </a:xfrm>
          <a:prstGeom prst="rect">
            <a:avLst/>
          </a:prstGeom>
        </p:spPr>
        <p:txBody>
          <a:bodyPr wrap="none" anchor="ctr">
            <a:spAutoFit/>
          </a:bodyPr>
          <a:lstStyle/>
          <a:p>
            <a:pPr algn="ctr">
              <a:lnSpc>
                <a:spcPct val="150000"/>
              </a:lnSpc>
              <a:defRPr/>
            </a:pPr>
            <a:r>
              <a:rPr lang="en-US" altLang="zh-CN" sz="6000" b="1" dirty="0">
                <a:solidFill>
                  <a:srgbClr val="0174AB"/>
                </a:solidFill>
                <a:latin typeface="Times New Roman" panose="02020603050405020304" pitchFamily="18" charset="0"/>
                <a:ea typeface="微软雅黑" panose="020B0503020204020204" charset="-122"/>
                <a:cs typeface="Times New Roman" panose="02020603050405020304" pitchFamily="18" charset="0"/>
              </a:rPr>
              <a:t>Thank you for listening</a:t>
            </a:r>
            <a:endParaRPr lang="zh-CN" altLang="en-US" sz="6000" b="1" dirty="0">
              <a:solidFill>
                <a:srgbClr val="0174AB"/>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87</a:t>
            </a:fld>
            <a:endParaRPr lang="zh-HK" altLang="en-US">
              <a:solidFill>
                <a:prstClr val="black">
                  <a:tint val="75000"/>
                </a:prstClr>
              </a:solidFill>
            </a:endParaRPr>
          </a:p>
        </p:txBody>
      </p:sp>
      <p:pic>
        <p:nvPicPr>
          <p:cNvPr id="4" name="图片 3"/>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e35275c8-fa89-42ce-a201-5e038b2f618b"/>
  <p:tag name="COMMONDATA" val="eyJoZGlkIjoiZDBlMDgwNDdjMmVhNjUyMGUxOTg4ODYyM2Q5ZDM4ZWEifQ=="/>
</p:tagLst>
</file>

<file path=ppt/tags/tag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heme/theme1.xml><?xml version="1.0" encoding="utf-8"?>
<a:theme xmlns:a="http://schemas.openxmlformats.org/drawingml/2006/main" name="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1101</TotalTime>
  <Words>10054</Words>
  <Application>Microsoft Office PowerPoint</Application>
  <PresentationFormat>宽屏</PresentationFormat>
  <Paragraphs>783</Paragraphs>
  <Slides>87</Slides>
  <Notes>87</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87</vt:i4>
      </vt:variant>
    </vt:vector>
  </HeadingPairs>
  <TitlesOfParts>
    <vt:vector size="103" baseType="lpstr">
      <vt:lpstr>-apple-system</vt:lpstr>
      <vt:lpstr>Arial Unicode MS</vt:lpstr>
      <vt:lpstr>Helvetica Neue</vt:lpstr>
      <vt:lpstr>inherit</vt:lpstr>
      <vt:lpstr>KaTeX_Main</vt:lpstr>
      <vt:lpstr>KaTeX_Math</vt:lpstr>
      <vt:lpstr>PMingLiU-ExtB</vt:lpstr>
      <vt:lpstr>微软雅黑</vt:lpstr>
      <vt:lpstr>Arial</vt:lpstr>
      <vt:lpstr>Calibri</vt:lpstr>
      <vt:lpstr>Calibri Light</vt:lpstr>
      <vt:lpstr>Cambria Math</vt:lpstr>
      <vt:lpstr>Impact</vt:lpstr>
      <vt:lpstr>Times New Roman</vt:lpstr>
      <vt:lpstr>Office 2013 - 2022 主题</vt:lpstr>
      <vt:lpstr>1_Office 2013 - 2022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journel club</dc:title>
  <dc:creator>刘憬昊</dc:creator>
  <cp:lastModifiedBy>jinghao liu</cp:lastModifiedBy>
  <cp:revision>2405</cp:revision>
  <dcterms:created xsi:type="dcterms:W3CDTF">2019-05-02T06:45:00Z</dcterms:created>
  <dcterms:modified xsi:type="dcterms:W3CDTF">2026-10-04T15:05:38Z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D87C3B92FDC749DEB59DD32930CFB9ED_13</vt:lpwstr>
  </property>
</Properties>
</file>