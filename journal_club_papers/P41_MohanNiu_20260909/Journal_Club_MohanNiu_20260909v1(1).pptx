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1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1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1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15.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gs/tag86.xml" ContentType="application/vnd.openxmlformats-officedocument.presentationml.tags+xml"/>
  <Override PartName="/ppt/notesSlides/notesSlide17.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28.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notesSlides/notesSlide29.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notesSlides/notesSlide30.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31.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notesSlides/notesSlide32.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notesSlides/notesSlide33.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notesSlides/notesSlide34.xml" ContentType="application/vnd.openxmlformats-officedocument.presentationml.notesSlide+xml"/>
  <Override PartName="/ppt/tags/tag163.xml" ContentType="application/vnd.openxmlformats-officedocument.presentationml.tags+xml"/>
  <Override PartName="/ppt/notesSlides/notesSlide35.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226.xml" ContentType="application/vnd.openxmlformats-officedocument.presentationml.tags+xml"/>
  <Override PartName="/ppt/tags/tag227.xml" ContentType="application/vnd.openxmlformats-officedocument.presentationml.tags+xml"/>
  <Override PartName="/ppt/notesSlides/notesSlide45.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notesSlides/notesSlide46.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notesSlides/notesSlide47.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notesSlides/notesSlide48.xml" ContentType="application/vnd.openxmlformats-officedocument.presentationml.notesSlide+xml"/>
  <Override PartName="/ppt/tags/tag234.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notesSlides/notesSlide60.xml" ContentType="application/vnd.openxmlformats-officedocument.presentationml.notesSlide+xml"/>
  <Override PartName="/ppt/tags/tag293.xml" ContentType="application/vnd.openxmlformats-officedocument.presentationml.tags+xml"/>
  <Override PartName="/ppt/tags/tag294.xml" ContentType="application/vnd.openxmlformats-officedocument.presentationml.tags+xml"/>
  <Override PartName="/ppt/notesSlides/notesSlide61.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notesSlides/notesSlide62.xml" ContentType="application/vnd.openxmlformats-officedocument.presentationml.notesSlide+xml"/>
  <Override PartName="/ppt/tags/tag297.xml" ContentType="application/vnd.openxmlformats-officedocument.presentationml.tags+xml"/>
  <Override PartName="/ppt/tags/tag298.xml" ContentType="application/vnd.openxmlformats-officedocument.presentationml.tags+xml"/>
  <Override PartName="/ppt/notesSlides/notesSlide63.xml" ContentType="application/vnd.openxmlformats-officedocument.presentationml.notesSlide+xml"/>
  <Override PartName="/ppt/tags/tag299.xml" ContentType="application/vnd.openxmlformats-officedocument.presentationml.tags+xml"/>
  <Override PartName="/ppt/tags/tag300.xml" ContentType="application/vnd.openxmlformats-officedocument.presentationml.tags+xml"/>
  <Override PartName="/ppt/notesSlides/notesSlide64.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notesSlides/notesSlide65.xml" ContentType="application/vnd.openxmlformats-officedocument.presentationml.notesSlide+xml"/>
  <Override PartName="/ppt/tags/tag303.xml" ContentType="application/vnd.openxmlformats-officedocument.presentationml.tags+xml"/>
  <Override PartName="/ppt/tags/tag304.xml" ContentType="application/vnd.openxmlformats-officedocument.presentationml.tags+xml"/>
  <Override PartName="/ppt/notesSlides/notesSlide66.xml" ContentType="application/vnd.openxmlformats-officedocument.presentationml.notesSlide+xml"/>
  <Override PartName="/ppt/tags/tag305.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tags/tag362.xml" ContentType="application/vnd.openxmlformats-officedocument.presentationml.tags+xml"/>
  <Override PartName="/ppt/tags/tag363.xml" ContentType="application/vnd.openxmlformats-officedocument.presentationml.tags+xml"/>
  <Override PartName="/ppt/notesSlides/notesSlide78.xml" ContentType="application/vnd.openxmlformats-officedocument.presentationml.notesSlide+xml"/>
  <Override PartName="/ppt/tags/tag364.xml" ContentType="application/vnd.openxmlformats-officedocument.presentationml.tags+xml"/>
  <Override PartName="/ppt/tags/tag365.xml" ContentType="application/vnd.openxmlformats-officedocument.presentationml.tags+xml"/>
  <Override PartName="/ppt/notesSlides/notesSlide79.xml" ContentType="application/vnd.openxmlformats-officedocument.presentationml.notesSlide+xml"/>
  <Override PartName="/ppt/tags/tag366.xml" ContentType="application/vnd.openxmlformats-officedocument.presentationml.tags+xml"/>
  <Override PartName="/ppt/tags/tag367.xml" ContentType="application/vnd.openxmlformats-officedocument.presentationml.tags+xml"/>
  <Override PartName="/ppt/notesSlides/notesSlide80.xml" ContentType="application/vnd.openxmlformats-officedocument.presentationml.notesSlide+xml"/>
  <Override PartName="/ppt/tags/tag368.xml" ContentType="application/vnd.openxmlformats-officedocument.presentationml.tags+xml"/>
  <Override PartName="/ppt/tags/tag369.xml" ContentType="application/vnd.openxmlformats-officedocument.presentationml.tags+xml"/>
  <Override PartName="/ppt/notesSlides/notesSlide81.xml" ContentType="application/vnd.openxmlformats-officedocument.presentationml.notesSlide+xml"/>
  <Override PartName="/ppt/tags/tag370.xml" ContentType="application/vnd.openxmlformats-officedocument.presentationml.tags+xml"/>
  <Override PartName="/ppt/tags/tag371.xml" ContentType="application/vnd.openxmlformats-officedocument.presentationml.tags+xml"/>
  <Override PartName="/ppt/notesSlides/notesSlide82.xml" ContentType="application/vnd.openxmlformats-officedocument.presentationml.notesSlide+xml"/>
  <Override PartName="/ppt/tags/tag372.xml" ContentType="application/vnd.openxmlformats-officedocument.presentationml.tags+xml"/>
  <Override PartName="/ppt/tags/tag373.xml" ContentType="application/vnd.openxmlformats-officedocument.presentationml.tags+xml"/>
  <Override PartName="/ppt/notesSlides/notesSlide83.xml" ContentType="application/vnd.openxmlformats-officedocument.presentationml.notesSlide+xml"/>
  <Override PartName="/ppt/tags/tag374.xml" ContentType="application/vnd.openxmlformats-officedocument.presentationml.tags+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375.xml" ContentType="application/vnd.openxmlformats-officedocument.presentationml.tags+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0"/>
  </p:notesMasterIdLst>
  <p:handoutMasterIdLst>
    <p:handoutMasterId r:id="rId91"/>
  </p:handoutMasterIdLst>
  <p:sldIdLst>
    <p:sldId id="1128" r:id="rId3"/>
    <p:sldId id="1181" r:id="rId4"/>
    <p:sldId id="257" r:id="rId5"/>
    <p:sldId id="1378" r:id="rId6"/>
    <p:sldId id="835" r:id="rId7"/>
    <p:sldId id="1444" r:id="rId8"/>
    <p:sldId id="1526" r:id="rId9"/>
    <p:sldId id="707" r:id="rId10"/>
    <p:sldId id="1073" r:id="rId11"/>
    <p:sldId id="1448" r:id="rId12"/>
    <p:sldId id="1489" r:id="rId13"/>
    <p:sldId id="914" r:id="rId14"/>
    <p:sldId id="915" r:id="rId15"/>
    <p:sldId id="1527" r:id="rId16"/>
    <p:sldId id="1528" r:id="rId17"/>
    <p:sldId id="1529" r:id="rId18"/>
    <p:sldId id="926" r:id="rId19"/>
    <p:sldId id="560" r:id="rId20"/>
    <p:sldId id="930" r:id="rId21"/>
    <p:sldId id="1374" r:id="rId22"/>
    <p:sldId id="935" r:id="rId23"/>
    <p:sldId id="1494" r:id="rId24"/>
    <p:sldId id="936" r:id="rId25"/>
    <p:sldId id="1386" r:id="rId26"/>
    <p:sldId id="1387" r:id="rId27"/>
    <p:sldId id="1538" r:id="rId28"/>
    <p:sldId id="1539" r:id="rId29"/>
    <p:sldId id="947" r:id="rId30"/>
    <p:sldId id="948" r:id="rId31"/>
    <p:sldId id="1499" r:id="rId32"/>
    <p:sldId id="1405" r:id="rId33"/>
    <p:sldId id="1540" r:id="rId34"/>
    <p:sldId id="1541" r:id="rId35"/>
    <p:sldId id="1542" r:id="rId36"/>
    <p:sldId id="958" r:id="rId37"/>
    <p:sldId id="1417" r:id="rId38"/>
    <p:sldId id="972" r:id="rId39"/>
    <p:sldId id="1375" r:id="rId40"/>
    <p:sldId id="1453" r:id="rId41"/>
    <p:sldId id="1454" r:id="rId42"/>
    <p:sldId id="976" r:id="rId43"/>
    <p:sldId id="1502" r:id="rId44"/>
    <p:sldId id="1543" r:id="rId45"/>
    <p:sldId id="1544" r:id="rId46"/>
    <p:sldId id="979" r:id="rId47"/>
    <p:sldId id="1412" r:id="rId48"/>
    <p:sldId id="1545" r:id="rId49"/>
    <p:sldId id="1546" r:id="rId50"/>
    <p:sldId id="1179" r:id="rId51"/>
    <p:sldId id="1031" r:id="rId52"/>
    <p:sldId id="1007" r:id="rId53"/>
    <p:sldId id="1376" r:id="rId54"/>
    <p:sldId id="1530" r:id="rId55"/>
    <p:sldId id="1531" r:id="rId56"/>
    <p:sldId id="1011" r:id="rId57"/>
    <p:sldId id="1534" r:id="rId58"/>
    <p:sldId id="1533" r:id="rId59"/>
    <p:sldId id="1382" r:id="rId60"/>
    <p:sldId id="1449" r:id="rId61"/>
    <p:sldId id="1017" r:id="rId62"/>
    <p:sldId id="1414" r:id="rId63"/>
    <p:sldId id="1514" r:id="rId64"/>
    <p:sldId id="1515" r:id="rId65"/>
    <p:sldId id="1535" r:id="rId66"/>
    <p:sldId id="1536" r:id="rId67"/>
    <p:sldId id="1537" r:id="rId68"/>
    <p:sldId id="1032" r:id="rId69"/>
    <p:sldId id="1180" r:id="rId70"/>
    <p:sldId id="1034" r:id="rId71"/>
    <p:sldId id="1377" r:id="rId72"/>
    <p:sldId id="1473" r:id="rId73"/>
    <p:sldId id="1518" r:id="rId74"/>
    <p:sldId id="1547" r:id="rId75"/>
    <p:sldId id="1038" r:id="rId76"/>
    <p:sldId id="1474" r:id="rId77"/>
    <p:sldId id="1549" r:id="rId78"/>
    <p:sldId id="1548" r:id="rId79"/>
    <p:sldId id="1049" r:id="rId80"/>
    <p:sldId id="1475" r:id="rId81"/>
    <p:sldId id="1550" r:id="rId82"/>
    <p:sldId id="1551" r:id="rId83"/>
    <p:sldId id="1552" r:id="rId84"/>
    <p:sldId id="1553" r:id="rId85"/>
    <p:sldId id="1061" r:id="rId86"/>
    <p:sldId id="1062" r:id="rId87"/>
    <p:sldId id="1379" r:id="rId88"/>
    <p:sldId id="296" r:id="rId89"/>
  </p:sldIdLst>
  <p:sldSz cx="12192000" cy="6858000"/>
  <p:notesSz cx="6858000" cy="9144000"/>
  <p:custDataLst>
    <p:tags r:id="rId9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4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 id="3" name="君竹 段" initials="君段" lastIdx="1" clrIdx="2"/>
  <p:cmAuthor id="584777183" name="坚果儿" initials="坚"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4AB"/>
    <a:srgbClr val="D0CECE"/>
    <a:srgbClr val="000000"/>
    <a:srgbClr val="044875"/>
    <a:srgbClr val="7F7F7F"/>
    <a:srgbClr val="C00000"/>
    <a:srgbClr val="5B9BD5"/>
    <a:srgbClr val="0E0EFF"/>
    <a:srgbClr val="0000FF"/>
    <a:srgbClr val="F2F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11" autoAdjust="0"/>
    <p:restoredTop sz="88209" autoAdjust="0"/>
  </p:normalViewPr>
  <p:slideViewPr>
    <p:cSldViewPr showGuides="1">
      <p:cViewPr varScale="1">
        <p:scale>
          <a:sx n="142" d="100"/>
          <a:sy n="142" d="100"/>
        </p:scale>
        <p:origin x="268" y="80"/>
      </p:cViewPr>
      <p:guideLst>
        <p:guide orient="horz" pos="2640"/>
        <p:guide pos="3840"/>
      </p:guideLst>
    </p:cSldViewPr>
  </p:slideViewPr>
  <p:notesTextViewPr>
    <p:cViewPr>
      <p:scale>
        <a:sx n="120" d="100"/>
        <a:sy n="120" d="100"/>
      </p:scale>
      <p:origin x="0" y="0"/>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gs" Target="tags/tag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2026/9/8</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1" i="0" dirty="0">
              <a:solidFill>
                <a:srgbClr val="000000"/>
              </a:solidFill>
              <a:effectLst/>
              <a:latin typeface="Montserrat" panose="020F0502020204030204" pitchFamily="2" charset="0"/>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ECB2A-DF47-8A08-99D6-E38F2290D7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308CE9-4682-4F39-981D-3EDA50783534}"/>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76B002FA-9503-9C4D-A673-282B4A352EB7}"/>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EC83C307-FF75-42E8-C0C7-782F47C35098}"/>
              </a:ext>
            </a:extLst>
          </p:cNvPr>
          <p:cNvSpPr>
            <a:spLocks noGrp="1"/>
          </p:cNvSpPr>
          <p:nvPr>
            <p:ph type="sldNum" sz="quarter" idx="10"/>
          </p:nvPr>
        </p:nvSpPr>
        <p:spPr/>
        <p:txBody>
          <a:bodyPr/>
          <a:lstStyle/>
          <a:p>
            <a:fld id="{677A2CBA-E486-4DC8-8696-C7854B0A28FD}" type="slidenum">
              <a:rPr lang="zh-CN" altLang="en-US" smtClean="0"/>
              <a:t>6</a:t>
            </a:fld>
            <a:endParaRPr lang="zh-CN" altLang="en-US"/>
          </a:p>
        </p:txBody>
      </p:sp>
    </p:spTree>
    <p:extLst>
      <p:ext uri="{BB962C8B-B14F-4D97-AF65-F5344CB8AC3E}">
        <p14:creationId xmlns:p14="http://schemas.microsoft.com/office/powerpoint/2010/main" val="3888112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5BC75-EB56-DF36-3BF2-DC3721E6A4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F9DC9A-245D-F8EB-B0C0-A8C3AB9A58C5}"/>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50B9D895-EED1-0EE2-4E19-E28DC057E3FF}"/>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EC09E0A3-8E46-01CD-C4F3-F499D9B74F37}"/>
              </a:ext>
            </a:extLst>
          </p:cNvPr>
          <p:cNvSpPr>
            <a:spLocks noGrp="1"/>
          </p:cNvSpPr>
          <p:nvPr>
            <p:ph type="sldNum" sz="quarter" idx="10"/>
          </p:nvPr>
        </p:nvSpPr>
        <p:spPr/>
        <p:txBody>
          <a:bodyPr/>
          <a:lstStyle/>
          <a:p>
            <a:fld id="{677A2CBA-E486-4DC8-8696-C7854B0A28FD}" type="slidenum">
              <a:rPr lang="zh-CN" altLang="en-US" smtClean="0"/>
              <a:t>7</a:t>
            </a:fld>
            <a:endParaRPr lang="zh-CN" altLang="en-US"/>
          </a:p>
        </p:txBody>
      </p:sp>
    </p:spTree>
    <p:extLst>
      <p:ext uri="{BB962C8B-B14F-4D97-AF65-F5344CB8AC3E}">
        <p14:creationId xmlns:p14="http://schemas.microsoft.com/office/powerpoint/2010/main" val="3406039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BD96-1F6C-D65D-76F1-016763C134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1EC08-3CCD-8921-3835-179AAB40CD86}"/>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945906AE-91D3-ED7F-1E79-7649D226D44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B00E2F15-E19B-FFC0-C2A0-53504DE580DD}"/>
              </a:ext>
            </a:extLst>
          </p:cNvPr>
          <p:cNvSpPr>
            <a:spLocks noGrp="1"/>
          </p:cNvSpPr>
          <p:nvPr>
            <p:ph type="sldNum" sz="quarter" idx="10"/>
          </p:nvPr>
        </p:nvSpPr>
        <p:spPr/>
        <p:txBody>
          <a:bodyPr/>
          <a:lstStyle/>
          <a:p>
            <a:fld id="{677A2CBA-E486-4DC8-8696-C7854B0A28FD}" type="slidenum">
              <a:rPr lang="zh-CN" altLang="en-US" smtClean="0"/>
              <a:t>10</a:t>
            </a:fld>
            <a:endParaRPr lang="zh-CN" altLang="en-US"/>
          </a:p>
        </p:txBody>
      </p:sp>
    </p:spTree>
    <p:extLst>
      <p:ext uri="{BB962C8B-B14F-4D97-AF65-F5344CB8AC3E}">
        <p14:creationId xmlns:p14="http://schemas.microsoft.com/office/powerpoint/2010/main" val="1989616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614C8-FE7F-95A1-25B7-9851344B6E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333E2C-4E0F-B9FB-5C90-A6F74AD8602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EDC4BBEB-5469-7EBC-3A51-8CEA42C6AD5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1DFCEA16-E76C-CCDE-715C-E048B4DC477C}"/>
              </a:ext>
            </a:extLst>
          </p:cNvPr>
          <p:cNvSpPr>
            <a:spLocks noGrp="1"/>
          </p:cNvSpPr>
          <p:nvPr>
            <p:ph type="sldNum" sz="quarter" idx="10"/>
          </p:nvPr>
        </p:nvSpPr>
        <p:spPr/>
        <p:txBody>
          <a:bodyPr/>
          <a:lstStyle/>
          <a:p>
            <a:fld id="{677A2CBA-E486-4DC8-8696-C7854B0A28FD}" type="slidenum">
              <a:rPr lang="zh-CN" altLang="en-US" smtClean="0"/>
              <a:t>11</a:t>
            </a:fld>
            <a:endParaRPr lang="zh-CN" altLang="en-US"/>
          </a:p>
        </p:txBody>
      </p:sp>
    </p:spTree>
    <p:extLst>
      <p:ext uri="{BB962C8B-B14F-4D97-AF65-F5344CB8AC3E}">
        <p14:creationId xmlns:p14="http://schemas.microsoft.com/office/powerpoint/2010/main" val="3957820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58C9D-F3F0-C28D-44D5-9DD310D5C6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EAA0B4-C194-3961-0BE9-8F7AB31BB7FF}"/>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DB17989C-E5DD-59A9-0BA5-52714420931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EF98A8E3-4A74-A58E-D62B-F8781696FCA7}"/>
              </a:ext>
            </a:extLst>
          </p:cNvPr>
          <p:cNvSpPr>
            <a:spLocks noGrp="1"/>
          </p:cNvSpPr>
          <p:nvPr>
            <p:ph type="sldNum" sz="quarter" idx="10"/>
          </p:nvPr>
        </p:nvSpPr>
        <p:spPr/>
        <p:txBody>
          <a:bodyPr/>
          <a:lstStyle/>
          <a:p>
            <a:fld id="{677A2CBA-E486-4DC8-8696-C7854B0A28FD}" type="slidenum">
              <a:rPr lang="zh-CN" altLang="en-US" smtClean="0"/>
              <a:t>14</a:t>
            </a:fld>
            <a:endParaRPr lang="zh-CN" altLang="en-US"/>
          </a:p>
        </p:txBody>
      </p:sp>
    </p:spTree>
    <p:extLst>
      <p:ext uri="{BB962C8B-B14F-4D97-AF65-F5344CB8AC3E}">
        <p14:creationId xmlns:p14="http://schemas.microsoft.com/office/powerpoint/2010/main" val="927395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FC23D-52AA-94FB-5219-BDFC5E0FC5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DECD7D-31D1-E682-3670-4041F052C346}"/>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A529EF31-9CD1-812E-9A8C-CDEC6CECCA5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7EB7B9AC-3EB1-9AFA-B051-BFBC13C7F653}"/>
              </a:ext>
            </a:extLst>
          </p:cNvPr>
          <p:cNvSpPr>
            <a:spLocks noGrp="1"/>
          </p:cNvSpPr>
          <p:nvPr>
            <p:ph type="sldNum" sz="quarter" idx="10"/>
          </p:nvPr>
        </p:nvSpPr>
        <p:spPr/>
        <p:txBody>
          <a:bodyPr/>
          <a:lstStyle/>
          <a:p>
            <a:fld id="{677A2CBA-E486-4DC8-8696-C7854B0A28FD}" type="slidenum">
              <a:rPr lang="zh-CN" altLang="en-US" smtClean="0"/>
              <a:t>15</a:t>
            </a:fld>
            <a:endParaRPr lang="zh-CN" altLang="en-US"/>
          </a:p>
        </p:txBody>
      </p:sp>
    </p:spTree>
    <p:extLst>
      <p:ext uri="{BB962C8B-B14F-4D97-AF65-F5344CB8AC3E}">
        <p14:creationId xmlns:p14="http://schemas.microsoft.com/office/powerpoint/2010/main" val="1648305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9DAE-4713-C710-548C-8139C68F0E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ECDEA8-9391-2880-CED9-7DCB187CE233}"/>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BC6E7B76-5C33-1593-F114-EDBDD30E3F9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3B2A0A90-839C-13BC-5328-8F777C7F74B7}"/>
              </a:ext>
            </a:extLst>
          </p:cNvPr>
          <p:cNvSpPr>
            <a:spLocks noGrp="1"/>
          </p:cNvSpPr>
          <p:nvPr>
            <p:ph type="sldNum" sz="quarter" idx="10"/>
          </p:nvPr>
        </p:nvSpPr>
        <p:spPr/>
        <p:txBody>
          <a:bodyPr/>
          <a:lstStyle/>
          <a:p>
            <a:fld id="{677A2CBA-E486-4DC8-8696-C7854B0A28FD}" type="slidenum">
              <a:rPr lang="zh-CN" altLang="en-US" smtClean="0"/>
              <a:t>16</a:t>
            </a:fld>
            <a:endParaRPr lang="zh-CN" altLang="en-US"/>
          </a:p>
        </p:txBody>
      </p:sp>
    </p:spTree>
    <p:extLst>
      <p:ext uri="{BB962C8B-B14F-4D97-AF65-F5344CB8AC3E}">
        <p14:creationId xmlns:p14="http://schemas.microsoft.com/office/powerpoint/2010/main" val="4212377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E430D-9918-41B4-19EC-BC4BF0CD7E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4FF3D2-1791-4B1E-37F1-3CC5DFA4722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AC68FBF5-FDC2-DF7A-02D5-DB0B27476617}"/>
              </a:ext>
            </a:extLst>
          </p:cNvPr>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DDB02648-883D-6BF6-863F-EF734BF5E128}"/>
              </a:ext>
            </a:extLst>
          </p:cNvPr>
          <p:cNvSpPr>
            <a:spLocks noGrp="1"/>
          </p:cNvSpPr>
          <p:nvPr>
            <p:ph type="sldNum" sz="quarter" idx="10"/>
          </p:nvPr>
        </p:nvSpPr>
        <p:spPr/>
        <p:txBody>
          <a:bodyPr/>
          <a:lstStyle/>
          <a:p>
            <a:fld id="{677A2CBA-E486-4DC8-8696-C7854B0A28FD}" type="slidenum">
              <a:rPr lang="zh-CN" altLang="en-US" smtClean="0"/>
              <a:t>22</a:t>
            </a:fld>
            <a:endParaRPr lang="zh-CN" altLang="en-US"/>
          </a:p>
        </p:txBody>
      </p:sp>
    </p:spTree>
    <p:extLst>
      <p:ext uri="{BB962C8B-B14F-4D97-AF65-F5344CB8AC3E}">
        <p14:creationId xmlns:p14="http://schemas.microsoft.com/office/powerpoint/2010/main" val="1964606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r>
              <a:rPr lang="zh-CN" altLang="en-US" dirty="0"/>
              <a:t>研究现状</a:t>
            </a: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24</a:t>
            </a:fld>
            <a:endParaRPr lang="zh-CN" altLang="en-US"/>
          </a:p>
        </p:txBody>
      </p:sp>
    </p:spTree>
    <p:extLst>
      <p:ext uri="{BB962C8B-B14F-4D97-AF65-F5344CB8AC3E}">
        <p14:creationId xmlns:p14="http://schemas.microsoft.com/office/powerpoint/2010/main" val="455421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25</a:t>
            </a:fld>
            <a:endParaRPr lang="zh-CN" altLang="en-US"/>
          </a:p>
        </p:txBody>
      </p:sp>
    </p:spTree>
    <p:extLst>
      <p:ext uri="{BB962C8B-B14F-4D97-AF65-F5344CB8AC3E}">
        <p14:creationId xmlns:p14="http://schemas.microsoft.com/office/powerpoint/2010/main" val="1317066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FE96F-AB24-F1FB-D926-6B23337408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A7A21B-D99C-D01D-557E-415480DEA88F}"/>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F402CA55-BC20-1841-32F7-ACE2634E5E0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CBA65202-09BE-1F35-A90D-03EE160EAE40}"/>
              </a:ext>
            </a:extLst>
          </p:cNvPr>
          <p:cNvSpPr>
            <a:spLocks noGrp="1"/>
          </p:cNvSpPr>
          <p:nvPr>
            <p:ph type="sldNum" sz="quarter" idx="10"/>
          </p:nvPr>
        </p:nvSpPr>
        <p:spPr/>
        <p:txBody>
          <a:bodyPr/>
          <a:lstStyle/>
          <a:p>
            <a:fld id="{677A2CBA-E486-4DC8-8696-C7854B0A28FD}" type="slidenum">
              <a:rPr lang="zh-CN" altLang="en-US" smtClean="0"/>
              <a:t>26</a:t>
            </a:fld>
            <a:endParaRPr lang="zh-CN" altLang="en-US"/>
          </a:p>
        </p:txBody>
      </p:sp>
    </p:spTree>
    <p:extLst>
      <p:ext uri="{BB962C8B-B14F-4D97-AF65-F5344CB8AC3E}">
        <p14:creationId xmlns:p14="http://schemas.microsoft.com/office/powerpoint/2010/main" val="659144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20F0C-0C99-9251-450E-C3B7FDEA95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C01C40-5913-06C1-52E7-5DA47732BF2C}"/>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DF6C802B-553B-FE79-6E65-EC4F91DABE3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4ECCFE68-3E04-7D90-685F-94FAB37D1656}"/>
              </a:ext>
            </a:extLst>
          </p:cNvPr>
          <p:cNvSpPr>
            <a:spLocks noGrp="1"/>
          </p:cNvSpPr>
          <p:nvPr>
            <p:ph type="sldNum" sz="quarter" idx="10"/>
          </p:nvPr>
        </p:nvSpPr>
        <p:spPr/>
        <p:txBody>
          <a:bodyPr/>
          <a:lstStyle/>
          <a:p>
            <a:fld id="{677A2CBA-E486-4DC8-8696-C7854B0A28FD}" type="slidenum">
              <a:rPr lang="zh-CN" altLang="en-US" smtClean="0"/>
              <a:t>27</a:t>
            </a:fld>
            <a:endParaRPr lang="zh-CN" altLang="en-US"/>
          </a:p>
        </p:txBody>
      </p:sp>
    </p:spTree>
    <p:extLst>
      <p:ext uri="{BB962C8B-B14F-4D97-AF65-F5344CB8AC3E}">
        <p14:creationId xmlns:p14="http://schemas.microsoft.com/office/powerpoint/2010/main" val="24479070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52207-7032-91F3-1C80-21A4C81505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9B6580-D66B-8215-6EBC-C2DF4597EA6D}"/>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D3BA002A-9862-ABEE-AE17-BF7E966C8EFD}"/>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E0781C07-F1C1-DE8D-BD32-DC03E96B1615}"/>
              </a:ext>
            </a:extLst>
          </p:cNvPr>
          <p:cNvSpPr>
            <a:spLocks noGrp="1"/>
          </p:cNvSpPr>
          <p:nvPr>
            <p:ph type="sldNum" sz="quarter" idx="10"/>
          </p:nvPr>
        </p:nvSpPr>
        <p:spPr/>
        <p:txBody>
          <a:bodyPr/>
          <a:lstStyle/>
          <a:p>
            <a:fld id="{677A2CBA-E486-4DC8-8696-C7854B0A28FD}" type="slidenum">
              <a:rPr lang="zh-CN" altLang="en-US" smtClean="0"/>
              <a:t>30</a:t>
            </a:fld>
            <a:endParaRPr lang="zh-CN" altLang="en-US"/>
          </a:p>
        </p:txBody>
      </p:sp>
    </p:spTree>
    <p:extLst>
      <p:ext uri="{BB962C8B-B14F-4D97-AF65-F5344CB8AC3E}">
        <p14:creationId xmlns:p14="http://schemas.microsoft.com/office/powerpoint/2010/main" val="33908812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extLst>
      <p:ext uri="{BB962C8B-B14F-4D97-AF65-F5344CB8AC3E}">
        <p14:creationId xmlns:p14="http://schemas.microsoft.com/office/powerpoint/2010/main" val="24030895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2BA9A-7248-8702-194F-DC4BB41B5A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3F51F5-A08A-AE0C-8076-28BA40917FA7}"/>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1279F870-D558-B1AE-8367-D7E051403CBD}"/>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05C20854-88CC-1EE0-7792-48822A0695D9}"/>
              </a:ext>
            </a:extLst>
          </p:cNvPr>
          <p:cNvSpPr>
            <a:spLocks noGrp="1"/>
          </p:cNvSpPr>
          <p:nvPr>
            <p:ph type="sldNum" sz="quarter" idx="10"/>
          </p:nvPr>
        </p:nvSpPr>
        <p:spPr/>
        <p:txBody>
          <a:bodyPr/>
          <a:lstStyle/>
          <a:p>
            <a:fld id="{677A2CBA-E486-4DC8-8696-C7854B0A28FD}" type="slidenum">
              <a:rPr lang="zh-CN" altLang="en-US" smtClean="0"/>
              <a:t>32</a:t>
            </a:fld>
            <a:endParaRPr lang="zh-CN" altLang="en-US"/>
          </a:p>
        </p:txBody>
      </p:sp>
    </p:spTree>
    <p:extLst>
      <p:ext uri="{BB962C8B-B14F-4D97-AF65-F5344CB8AC3E}">
        <p14:creationId xmlns:p14="http://schemas.microsoft.com/office/powerpoint/2010/main" val="3807533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9758-C8AB-1C6F-A25D-3710671976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EA5038-E74E-6CE6-F874-A4360D900150}"/>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7B91AB83-9350-8694-0142-769CE74B93C2}"/>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82D2B419-FE39-CFD5-8968-BAC39EBAD467}"/>
              </a:ext>
            </a:extLst>
          </p:cNvPr>
          <p:cNvSpPr>
            <a:spLocks noGrp="1"/>
          </p:cNvSpPr>
          <p:nvPr>
            <p:ph type="sldNum" sz="quarter" idx="10"/>
          </p:nvPr>
        </p:nvSpPr>
        <p:spPr/>
        <p:txBody>
          <a:bodyPr/>
          <a:lstStyle/>
          <a:p>
            <a:fld id="{677A2CBA-E486-4DC8-8696-C7854B0A28FD}" type="slidenum">
              <a:rPr lang="zh-CN" altLang="en-US" smtClean="0"/>
              <a:t>33</a:t>
            </a:fld>
            <a:endParaRPr lang="zh-CN" altLang="en-US"/>
          </a:p>
        </p:txBody>
      </p:sp>
    </p:spTree>
    <p:extLst>
      <p:ext uri="{BB962C8B-B14F-4D97-AF65-F5344CB8AC3E}">
        <p14:creationId xmlns:p14="http://schemas.microsoft.com/office/powerpoint/2010/main" val="3647091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B0B43-9741-0113-7915-F81399EDAE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CDBE7B-FFE4-CE37-668A-7E5D7CC79DFF}"/>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5978A0CD-19E4-29AA-363B-DFD848FFF69B}"/>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3FEBE369-B340-C334-502B-D69DA4661C1A}"/>
              </a:ext>
            </a:extLst>
          </p:cNvPr>
          <p:cNvSpPr>
            <a:spLocks noGrp="1"/>
          </p:cNvSpPr>
          <p:nvPr>
            <p:ph type="sldNum" sz="quarter" idx="10"/>
          </p:nvPr>
        </p:nvSpPr>
        <p:spPr/>
        <p:txBody>
          <a:bodyPr/>
          <a:lstStyle/>
          <a:p>
            <a:fld id="{677A2CBA-E486-4DC8-8696-C7854B0A28FD}" type="slidenum">
              <a:rPr lang="zh-CN" altLang="en-US" smtClean="0"/>
              <a:t>34</a:t>
            </a:fld>
            <a:endParaRPr lang="zh-CN" altLang="en-US"/>
          </a:p>
        </p:txBody>
      </p:sp>
    </p:spTree>
    <p:extLst>
      <p:ext uri="{BB962C8B-B14F-4D97-AF65-F5344CB8AC3E}">
        <p14:creationId xmlns:p14="http://schemas.microsoft.com/office/powerpoint/2010/main" val="724030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36</a:t>
            </a:fld>
            <a:endParaRPr lang="zh-CN" altLang="en-US"/>
          </a:p>
        </p:txBody>
      </p:sp>
    </p:spTree>
    <p:extLst>
      <p:ext uri="{BB962C8B-B14F-4D97-AF65-F5344CB8AC3E}">
        <p14:creationId xmlns:p14="http://schemas.microsoft.com/office/powerpoint/2010/main" val="36240256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1" i="0" dirty="0">
              <a:solidFill>
                <a:srgbClr val="000000"/>
              </a:solidFill>
              <a:effectLst/>
              <a:latin typeface="Montserrat" panose="00000500000000000000" pitchFamily="2" charset="0"/>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FD6D9-C7A8-D5C4-2CC2-B01DBD16E8E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669868-C1E8-4853-5544-CAF4F924D3C5}"/>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73A146C8-8186-E17E-5ADE-295800DF0FA8}"/>
              </a:ext>
            </a:extLst>
          </p:cNvPr>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53F24F80-CB57-CA1F-5D6F-DC5E924A625C}"/>
              </a:ext>
            </a:extLst>
          </p:cNvPr>
          <p:cNvSpPr>
            <a:spLocks noGrp="1"/>
          </p:cNvSpPr>
          <p:nvPr>
            <p:ph type="sldNum" sz="quarter" idx="10"/>
          </p:nvPr>
        </p:nvSpPr>
        <p:spPr/>
        <p:txBody>
          <a:bodyPr/>
          <a:lstStyle/>
          <a:p>
            <a:fld id="{677A2CBA-E486-4DC8-8696-C7854B0A28FD}" type="slidenum">
              <a:rPr lang="zh-CN" altLang="en-US" smtClean="0"/>
              <a:t>39</a:t>
            </a:fld>
            <a:endParaRPr lang="zh-CN" altLang="en-US"/>
          </a:p>
        </p:txBody>
      </p:sp>
    </p:spTree>
    <p:extLst>
      <p:ext uri="{BB962C8B-B14F-4D97-AF65-F5344CB8AC3E}">
        <p14:creationId xmlns:p14="http://schemas.microsoft.com/office/powerpoint/2010/main" val="4206921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42E29-27BB-51AD-6ED5-F8B37F51F0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D14E60-A3F3-94E9-C985-EEFF29880412}"/>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514145F7-42E5-632F-1E65-A56F74F99647}"/>
              </a:ext>
            </a:extLst>
          </p:cNvPr>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76BFFE7C-606D-1BF3-73B2-ED313D53E46A}"/>
              </a:ext>
            </a:extLst>
          </p:cNvPr>
          <p:cNvSpPr>
            <a:spLocks noGrp="1"/>
          </p:cNvSpPr>
          <p:nvPr>
            <p:ph type="sldNum" sz="quarter" idx="10"/>
          </p:nvPr>
        </p:nvSpPr>
        <p:spPr/>
        <p:txBody>
          <a:bodyPr/>
          <a:lstStyle/>
          <a:p>
            <a:fld id="{677A2CBA-E486-4DC8-8696-C7854B0A28FD}" type="slidenum">
              <a:rPr lang="zh-CN" altLang="en-US" smtClean="0"/>
              <a:t>40</a:t>
            </a:fld>
            <a:endParaRPr lang="zh-CN" altLang="en-US"/>
          </a:p>
        </p:txBody>
      </p:sp>
    </p:spTree>
    <p:extLst>
      <p:ext uri="{BB962C8B-B14F-4D97-AF65-F5344CB8AC3E}">
        <p14:creationId xmlns:p14="http://schemas.microsoft.com/office/powerpoint/2010/main" val="3191164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D5CEE-8858-321E-D168-60E50B9343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DE6E7-8FA4-1FE7-61AF-038AF52EA3D1}"/>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B9E675C2-F6F3-08F3-EB62-EAE1F3B9302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E9192C2C-00B4-241A-5828-02E582414C99}"/>
              </a:ext>
            </a:extLst>
          </p:cNvPr>
          <p:cNvSpPr>
            <a:spLocks noGrp="1"/>
          </p:cNvSpPr>
          <p:nvPr>
            <p:ph type="sldNum" sz="quarter" idx="10"/>
          </p:nvPr>
        </p:nvSpPr>
        <p:spPr/>
        <p:txBody>
          <a:bodyPr/>
          <a:lstStyle/>
          <a:p>
            <a:fld id="{677A2CBA-E486-4DC8-8696-C7854B0A28FD}" type="slidenum">
              <a:rPr lang="zh-CN" altLang="en-US" smtClean="0"/>
              <a:t>42</a:t>
            </a:fld>
            <a:endParaRPr lang="zh-CN" altLang="en-US"/>
          </a:p>
        </p:txBody>
      </p:sp>
    </p:spTree>
    <p:extLst>
      <p:ext uri="{BB962C8B-B14F-4D97-AF65-F5344CB8AC3E}">
        <p14:creationId xmlns:p14="http://schemas.microsoft.com/office/powerpoint/2010/main" val="16223091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9C3B4-38A4-27A0-DA6F-5AB5E265F8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90551E-7CF7-A2D9-88CE-F7FADE0FBE4E}"/>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3806173E-4752-82AD-1BAF-8F7A5A6B897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E29D5908-DC11-B5C0-2E71-13FD1763A598}"/>
              </a:ext>
            </a:extLst>
          </p:cNvPr>
          <p:cNvSpPr>
            <a:spLocks noGrp="1"/>
          </p:cNvSpPr>
          <p:nvPr>
            <p:ph type="sldNum" sz="quarter" idx="10"/>
          </p:nvPr>
        </p:nvSpPr>
        <p:spPr/>
        <p:txBody>
          <a:bodyPr/>
          <a:lstStyle/>
          <a:p>
            <a:fld id="{677A2CBA-E486-4DC8-8696-C7854B0A28FD}" type="slidenum">
              <a:rPr lang="zh-CN" altLang="en-US" smtClean="0"/>
              <a:t>43</a:t>
            </a:fld>
            <a:endParaRPr lang="zh-CN" altLang="en-US"/>
          </a:p>
        </p:txBody>
      </p:sp>
    </p:spTree>
    <p:extLst>
      <p:ext uri="{BB962C8B-B14F-4D97-AF65-F5344CB8AC3E}">
        <p14:creationId xmlns:p14="http://schemas.microsoft.com/office/powerpoint/2010/main" val="10230407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3F9B-F955-F03E-093D-34BF783316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014DD4-EE86-039D-385F-DED10713C7B8}"/>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17FE5DF6-B529-6001-2B72-D0825C7ED05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15FF72F7-7952-5FEB-92DB-6889D43E38F9}"/>
              </a:ext>
            </a:extLst>
          </p:cNvPr>
          <p:cNvSpPr>
            <a:spLocks noGrp="1"/>
          </p:cNvSpPr>
          <p:nvPr>
            <p:ph type="sldNum" sz="quarter" idx="10"/>
          </p:nvPr>
        </p:nvSpPr>
        <p:spPr/>
        <p:txBody>
          <a:bodyPr/>
          <a:lstStyle/>
          <a:p>
            <a:fld id="{677A2CBA-E486-4DC8-8696-C7854B0A28FD}" type="slidenum">
              <a:rPr lang="zh-CN" altLang="en-US" smtClean="0"/>
              <a:t>44</a:t>
            </a:fld>
            <a:endParaRPr lang="zh-CN" altLang="en-US"/>
          </a:p>
        </p:txBody>
      </p:sp>
    </p:spTree>
    <p:extLst>
      <p:ext uri="{BB962C8B-B14F-4D97-AF65-F5344CB8AC3E}">
        <p14:creationId xmlns:p14="http://schemas.microsoft.com/office/powerpoint/2010/main" val="2353385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46</a:t>
            </a:fld>
            <a:endParaRPr lang="zh-CN" altLang="en-US"/>
          </a:p>
        </p:txBody>
      </p:sp>
    </p:spTree>
    <p:extLst>
      <p:ext uri="{BB962C8B-B14F-4D97-AF65-F5344CB8AC3E}">
        <p14:creationId xmlns:p14="http://schemas.microsoft.com/office/powerpoint/2010/main" val="10453136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2459-92D0-4C40-2ECA-671B530BB3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E4F013-F630-E924-D6C7-8B09AA7BB219}"/>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4D1F99F8-1D5C-05CB-3AC3-6E0C53A02139}"/>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89013E74-3EE0-D745-D758-D985D1D7E871}"/>
              </a:ext>
            </a:extLst>
          </p:cNvPr>
          <p:cNvSpPr>
            <a:spLocks noGrp="1"/>
          </p:cNvSpPr>
          <p:nvPr>
            <p:ph type="sldNum" sz="quarter" idx="10"/>
          </p:nvPr>
        </p:nvSpPr>
        <p:spPr/>
        <p:txBody>
          <a:bodyPr/>
          <a:lstStyle/>
          <a:p>
            <a:fld id="{677A2CBA-E486-4DC8-8696-C7854B0A28FD}" type="slidenum">
              <a:rPr lang="zh-CN" altLang="en-US" smtClean="0"/>
              <a:t>47</a:t>
            </a:fld>
            <a:endParaRPr lang="zh-CN" altLang="en-US"/>
          </a:p>
        </p:txBody>
      </p:sp>
    </p:spTree>
    <p:extLst>
      <p:ext uri="{BB962C8B-B14F-4D97-AF65-F5344CB8AC3E}">
        <p14:creationId xmlns:p14="http://schemas.microsoft.com/office/powerpoint/2010/main" val="21828760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71A1D-1AFC-5D4E-9386-28803DB1B9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F6B8A2-04BB-9D9E-6150-E2B5D26B8DB5}"/>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8EF22749-B4C6-4D4C-905F-0F3D941E13FB}"/>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D6BBA37F-DB4E-1B8C-62CC-1981FFE9844B}"/>
              </a:ext>
            </a:extLst>
          </p:cNvPr>
          <p:cNvSpPr>
            <a:spLocks noGrp="1"/>
          </p:cNvSpPr>
          <p:nvPr>
            <p:ph type="sldNum" sz="quarter" idx="10"/>
          </p:nvPr>
        </p:nvSpPr>
        <p:spPr/>
        <p:txBody>
          <a:bodyPr/>
          <a:lstStyle/>
          <a:p>
            <a:fld id="{677A2CBA-E486-4DC8-8696-C7854B0A28FD}" type="slidenum">
              <a:rPr lang="zh-CN" altLang="en-US" smtClean="0"/>
              <a:t>48</a:t>
            </a:fld>
            <a:endParaRPr lang="zh-CN" altLang="en-US"/>
          </a:p>
        </p:txBody>
      </p:sp>
    </p:spTree>
    <p:extLst>
      <p:ext uri="{BB962C8B-B14F-4D97-AF65-F5344CB8AC3E}">
        <p14:creationId xmlns:p14="http://schemas.microsoft.com/office/powerpoint/2010/main" val="33476521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ECB2A-DF47-8A08-99D6-E38F2290D7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308CE9-4682-4F39-981D-3EDA50783534}"/>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76B002FA-9503-9C4D-A673-282B4A352EB7}"/>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EC83C307-FF75-42E8-C0C7-782F47C35098}"/>
              </a:ext>
            </a:extLst>
          </p:cNvPr>
          <p:cNvSpPr>
            <a:spLocks noGrp="1"/>
          </p:cNvSpPr>
          <p:nvPr>
            <p:ph type="sldNum" sz="quarter" idx="10"/>
          </p:nvPr>
        </p:nvSpPr>
        <p:spPr/>
        <p:txBody>
          <a:bodyPr/>
          <a:lstStyle/>
          <a:p>
            <a:fld id="{677A2CBA-E486-4DC8-8696-C7854B0A28FD}" type="slidenum">
              <a:rPr lang="zh-CN" altLang="en-US" smtClean="0"/>
              <a:t>54</a:t>
            </a:fld>
            <a:endParaRPr lang="zh-CN" altLang="en-US"/>
          </a:p>
        </p:txBody>
      </p:sp>
    </p:spTree>
    <p:extLst>
      <p:ext uri="{BB962C8B-B14F-4D97-AF65-F5344CB8AC3E}">
        <p14:creationId xmlns:p14="http://schemas.microsoft.com/office/powerpoint/2010/main" val="38881126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BD96-1F6C-D65D-76F1-016763C134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1EC08-3CCD-8921-3835-179AAB40CD86}"/>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945906AE-91D3-ED7F-1E79-7649D226D44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B00E2F15-E19B-FFC0-C2A0-53504DE580DD}"/>
              </a:ext>
            </a:extLst>
          </p:cNvPr>
          <p:cNvSpPr>
            <a:spLocks noGrp="1"/>
          </p:cNvSpPr>
          <p:nvPr>
            <p:ph type="sldNum" sz="quarter" idx="10"/>
          </p:nvPr>
        </p:nvSpPr>
        <p:spPr/>
        <p:txBody>
          <a:bodyPr/>
          <a:lstStyle/>
          <a:p>
            <a:fld id="{677A2CBA-E486-4DC8-8696-C7854B0A28FD}" type="slidenum">
              <a:rPr lang="zh-CN" altLang="en-US" smtClean="0"/>
              <a:t>57</a:t>
            </a:fld>
            <a:endParaRPr lang="zh-CN" altLang="en-US"/>
          </a:p>
        </p:txBody>
      </p:sp>
    </p:spTree>
    <p:extLst>
      <p:ext uri="{BB962C8B-B14F-4D97-AF65-F5344CB8AC3E}">
        <p14:creationId xmlns:p14="http://schemas.microsoft.com/office/powerpoint/2010/main" val="19896167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extLst>
      <p:ext uri="{BB962C8B-B14F-4D97-AF65-F5344CB8AC3E}">
        <p14:creationId xmlns:p14="http://schemas.microsoft.com/office/powerpoint/2010/main" val="18432777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D654F-A6AE-126F-EFA2-B9BE7C4262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CBCF6-9D60-0CD5-A40E-C1F4EC36629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06246244-3309-551B-4450-7B74ADE47B6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CCB251CA-8D3E-8AD0-D212-B9E814DBD530}"/>
              </a:ext>
            </a:extLst>
          </p:cNvPr>
          <p:cNvSpPr>
            <a:spLocks noGrp="1"/>
          </p:cNvSpPr>
          <p:nvPr>
            <p:ph type="sldNum" sz="quarter" idx="10"/>
          </p:nvPr>
        </p:nvSpPr>
        <p:spPr/>
        <p:txBody>
          <a:bodyPr/>
          <a:lstStyle/>
          <a:p>
            <a:fld id="{677A2CBA-E486-4DC8-8696-C7854B0A28FD}" type="slidenum">
              <a:rPr lang="zh-CN" altLang="en-US" smtClean="0"/>
              <a:t>59</a:t>
            </a:fld>
            <a:endParaRPr lang="zh-CN" altLang="en-US"/>
          </a:p>
        </p:txBody>
      </p:sp>
    </p:spTree>
    <p:extLst>
      <p:ext uri="{BB962C8B-B14F-4D97-AF65-F5344CB8AC3E}">
        <p14:creationId xmlns:p14="http://schemas.microsoft.com/office/powerpoint/2010/main" val="2264769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61</a:t>
            </a:fld>
            <a:endParaRPr lang="zh-CN" altLang="en-US"/>
          </a:p>
        </p:txBody>
      </p:sp>
    </p:spTree>
    <p:extLst>
      <p:ext uri="{BB962C8B-B14F-4D97-AF65-F5344CB8AC3E}">
        <p14:creationId xmlns:p14="http://schemas.microsoft.com/office/powerpoint/2010/main" val="32269795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E7638-59A7-17E3-B30D-5321DED0B0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67EFE3-984C-F396-D678-4B668EABFBD6}"/>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FC92D07E-619C-05D0-BDAB-2DCD58EE6B46}"/>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3D486E63-9133-E777-0061-E7A379AC2529}"/>
              </a:ext>
            </a:extLst>
          </p:cNvPr>
          <p:cNvSpPr>
            <a:spLocks noGrp="1"/>
          </p:cNvSpPr>
          <p:nvPr>
            <p:ph type="sldNum" sz="quarter" idx="10"/>
          </p:nvPr>
        </p:nvSpPr>
        <p:spPr/>
        <p:txBody>
          <a:bodyPr/>
          <a:lstStyle/>
          <a:p>
            <a:fld id="{677A2CBA-E486-4DC8-8696-C7854B0A28FD}" type="slidenum">
              <a:rPr lang="zh-CN" altLang="en-US" smtClean="0"/>
              <a:t>62</a:t>
            </a:fld>
            <a:endParaRPr lang="zh-CN" altLang="en-US"/>
          </a:p>
        </p:txBody>
      </p:sp>
    </p:spTree>
    <p:extLst>
      <p:ext uri="{BB962C8B-B14F-4D97-AF65-F5344CB8AC3E}">
        <p14:creationId xmlns:p14="http://schemas.microsoft.com/office/powerpoint/2010/main" val="32106378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29B82-93F1-0F4A-5DD6-1731F2E414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6FDF5-1FFA-C50B-7E1F-76B7ECBFDD97}"/>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605CA941-E69A-320B-3FEE-23F31E33ECE5}"/>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65360B6B-2A3C-A266-54B4-CF84431F6D9D}"/>
              </a:ext>
            </a:extLst>
          </p:cNvPr>
          <p:cNvSpPr>
            <a:spLocks noGrp="1"/>
          </p:cNvSpPr>
          <p:nvPr>
            <p:ph type="sldNum" sz="quarter" idx="10"/>
          </p:nvPr>
        </p:nvSpPr>
        <p:spPr/>
        <p:txBody>
          <a:bodyPr/>
          <a:lstStyle/>
          <a:p>
            <a:fld id="{677A2CBA-E486-4DC8-8696-C7854B0A28FD}" type="slidenum">
              <a:rPr lang="zh-CN" altLang="en-US" smtClean="0"/>
              <a:t>63</a:t>
            </a:fld>
            <a:endParaRPr lang="zh-CN" altLang="en-US"/>
          </a:p>
        </p:txBody>
      </p:sp>
    </p:spTree>
    <p:extLst>
      <p:ext uri="{BB962C8B-B14F-4D97-AF65-F5344CB8AC3E}">
        <p14:creationId xmlns:p14="http://schemas.microsoft.com/office/powerpoint/2010/main" val="2803005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007CE-BB10-80FD-4056-E2D8536435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DBF677-860A-7A4F-806E-1DB705DE459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638F3DDA-B3F8-21DB-26C6-F877895B1714}"/>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31C7FCB8-5BCF-7736-62EF-BC73A15C5DFC}"/>
              </a:ext>
            </a:extLst>
          </p:cNvPr>
          <p:cNvSpPr>
            <a:spLocks noGrp="1"/>
          </p:cNvSpPr>
          <p:nvPr>
            <p:ph type="sldNum" sz="quarter" idx="10"/>
          </p:nvPr>
        </p:nvSpPr>
        <p:spPr/>
        <p:txBody>
          <a:bodyPr/>
          <a:lstStyle/>
          <a:p>
            <a:fld id="{677A2CBA-E486-4DC8-8696-C7854B0A28FD}" type="slidenum">
              <a:rPr lang="zh-CN" altLang="en-US" smtClean="0"/>
              <a:t>64</a:t>
            </a:fld>
            <a:endParaRPr lang="zh-CN" altLang="en-US"/>
          </a:p>
        </p:txBody>
      </p:sp>
    </p:spTree>
    <p:extLst>
      <p:ext uri="{BB962C8B-B14F-4D97-AF65-F5344CB8AC3E}">
        <p14:creationId xmlns:p14="http://schemas.microsoft.com/office/powerpoint/2010/main" val="11679271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5B9B6-E129-5975-2A4B-9C981C4349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B68766-132D-08B0-0862-6C76F0774500}"/>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2C68020F-E1BD-B3DE-5E22-468E3BB3A257}"/>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B67664AD-2DCA-1C8B-AF5A-AB91B8A42129}"/>
              </a:ext>
            </a:extLst>
          </p:cNvPr>
          <p:cNvSpPr>
            <a:spLocks noGrp="1"/>
          </p:cNvSpPr>
          <p:nvPr>
            <p:ph type="sldNum" sz="quarter" idx="10"/>
          </p:nvPr>
        </p:nvSpPr>
        <p:spPr/>
        <p:txBody>
          <a:bodyPr/>
          <a:lstStyle/>
          <a:p>
            <a:fld id="{677A2CBA-E486-4DC8-8696-C7854B0A28FD}" type="slidenum">
              <a:rPr lang="zh-CN" altLang="en-US" smtClean="0"/>
              <a:t>65</a:t>
            </a:fld>
            <a:endParaRPr lang="zh-CN" altLang="en-US"/>
          </a:p>
        </p:txBody>
      </p:sp>
    </p:spTree>
    <p:extLst>
      <p:ext uri="{BB962C8B-B14F-4D97-AF65-F5344CB8AC3E}">
        <p14:creationId xmlns:p14="http://schemas.microsoft.com/office/powerpoint/2010/main" val="34103307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921ED-B9DF-E188-AF7E-C645D023B2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1092D3-EB38-FB7C-3D26-E29C4CF597A3}"/>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924062C7-87EA-F976-760B-90304E4C3A46}"/>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DD4ED39D-3EBB-68E6-9ADF-C67ADD4096FC}"/>
              </a:ext>
            </a:extLst>
          </p:cNvPr>
          <p:cNvSpPr>
            <a:spLocks noGrp="1"/>
          </p:cNvSpPr>
          <p:nvPr>
            <p:ph type="sldNum" sz="quarter" idx="10"/>
          </p:nvPr>
        </p:nvSpPr>
        <p:spPr/>
        <p:txBody>
          <a:bodyPr/>
          <a:lstStyle/>
          <a:p>
            <a:fld id="{677A2CBA-E486-4DC8-8696-C7854B0A28FD}" type="slidenum">
              <a:rPr lang="zh-CN" altLang="en-US" smtClean="0"/>
              <a:t>66</a:t>
            </a:fld>
            <a:endParaRPr lang="zh-CN" altLang="en-US"/>
          </a:p>
        </p:txBody>
      </p:sp>
    </p:spTree>
    <p:extLst>
      <p:ext uri="{BB962C8B-B14F-4D97-AF65-F5344CB8AC3E}">
        <p14:creationId xmlns:p14="http://schemas.microsoft.com/office/powerpoint/2010/main" val="4841883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l"/>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7C215-E670-EC4F-866A-E3F2F79061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85BE2E-29E3-C4CC-BD74-384D50F9D359}"/>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6D597E46-F515-1A98-D8FF-F2B2D88688DD}"/>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050A26D5-C1D3-601A-C6D2-7F04705E085A}"/>
              </a:ext>
            </a:extLst>
          </p:cNvPr>
          <p:cNvSpPr>
            <a:spLocks noGrp="1"/>
          </p:cNvSpPr>
          <p:nvPr>
            <p:ph type="sldNum" sz="quarter" idx="10"/>
          </p:nvPr>
        </p:nvSpPr>
        <p:spPr/>
        <p:txBody>
          <a:bodyPr/>
          <a:lstStyle/>
          <a:p>
            <a:fld id="{677A2CBA-E486-4DC8-8696-C7854B0A28FD}" type="slidenum">
              <a:rPr lang="zh-CN" altLang="en-US" smtClean="0"/>
              <a:t>71</a:t>
            </a:fld>
            <a:endParaRPr lang="zh-CN" altLang="en-US"/>
          </a:p>
        </p:txBody>
      </p:sp>
    </p:spTree>
    <p:extLst>
      <p:ext uri="{BB962C8B-B14F-4D97-AF65-F5344CB8AC3E}">
        <p14:creationId xmlns:p14="http://schemas.microsoft.com/office/powerpoint/2010/main" val="18563136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BC504-B23E-F201-3358-22168D9E1C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63471E-DF74-E94F-9ACC-2E79D1F04294}"/>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D124646B-8AF4-0265-8E87-3CC3AC600A7F}"/>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9BF4B2DE-8998-7DC0-3AF3-A57719AB2587}"/>
              </a:ext>
            </a:extLst>
          </p:cNvPr>
          <p:cNvSpPr>
            <a:spLocks noGrp="1"/>
          </p:cNvSpPr>
          <p:nvPr>
            <p:ph type="sldNum" sz="quarter" idx="10"/>
          </p:nvPr>
        </p:nvSpPr>
        <p:spPr/>
        <p:txBody>
          <a:bodyPr/>
          <a:lstStyle/>
          <a:p>
            <a:fld id="{677A2CBA-E486-4DC8-8696-C7854B0A28FD}" type="slidenum">
              <a:rPr lang="zh-CN" altLang="en-US" smtClean="0"/>
              <a:t>72</a:t>
            </a:fld>
            <a:endParaRPr lang="zh-CN" altLang="en-US"/>
          </a:p>
        </p:txBody>
      </p:sp>
    </p:spTree>
    <p:extLst>
      <p:ext uri="{BB962C8B-B14F-4D97-AF65-F5344CB8AC3E}">
        <p14:creationId xmlns:p14="http://schemas.microsoft.com/office/powerpoint/2010/main" val="23190582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D35CC-18CF-2FCD-8FB9-7F51977B44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5AC923-C856-1CA6-5DB1-E0E11ED32CD5}"/>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B708294D-5399-60EF-E53B-A7A477E1A832}"/>
              </a:ext>
            </a:extLst>
          </p:cNvPr>
          <p:cNvSpPr>
            <a:spLocks noGrp="1"/>
          </p:cNvSpPr>
          <p:nvPr>
            <p:ph type="body" idx="1"/>
          </p:nvPr>
        </p:nvSpPr>
        <p:spPr/>
        <p:txBody>
          <a:bodyPr/>
          <a:lstStyle/>
          <a:p>
            <a:pPr algn="l"/>
            <a:endParaRPr lang="zh-CN" altLang="en-US" b="0" i="0" dirty="0">
              <a:solidFill>
                <a:srgbClr val="000000"/>
              </a:solidFill>
              <a:effectLst/>
              <a:latin typeface="Inter"/>
            </a:endParaRPr>
          </a:p>
        </p:txBody>
      </p:sp>
      <p:sp>
        <p:nvSpPr>
          <p:cNvPr id="4" name="灯片编号占位符 3">
            <a:extLst>
              <a:ext uri="{FF2B5EF4-FFF2-40B4-BE49-F238E27FC236}">
                <a16:creationId xmlns:a16="http://schemas.microsoft.com/office/drawing/2014/main" id="{D5E40DCC-8B2D-783F-687B-7EAEF83A3DF4}"/>
              </a:ext>
            </a:extLst>
          </p:cNvPr>
          <p:cNvSpPr>
            <a:spLocks noGrp="1"/>
          </p:cNvSpPr>
          <p:nvPr>
            <p:ph type="sldNum" sz="quarter" idx="10"/>
          </p:nvPr>
        </p:nvSpPr>
        <p:spPr/>
        <p:txBody>
          <a:bodyPr/>
          <a:lstStyle/>
          <a:p>
            <a:fld id="{677A2CBA-E486-4DC8-8696-C7854B0A28FD}" type="slidenum">
              <a:rPr lang="zh-CN" altLang="en-US" smtClean="0"/>
              <a:t>73</a:t>
            </a:fld>
            <a:endParaRPr lang="zh-CN" altLang="en-US"/>
          </a:p>
        </p:txBody>
      </p:sp>
    </p:spTree>
    <p:extLst>
      <p:ext uri="{BB962C8B-B14F-4D97-AF65-F5344CB8AC3E}">
        <p14:creationId xmlns:p14="http://schemas.microsoft.com/office/powerpoint/2010/main" val="1495776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7F5C-99DA-9F6B-09A9-C33DE4830E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CA990D-09EC-C485-37F1-80E0D85C99C7}"/>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B194BD85-1D3D-BC22-21A7-578BFEA63A9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B19BE876-5FB4-9A5E-0722-78B6257DF3FA}"/>
              </a:ext>
            </a:extLst>
          </p:cNvPr>
          <p:cNvSpPr>
            <a:spLocks noGrp="1"/>
          </p:cNvSpPr>
          <p:nvPr>
            <p:ph type="sldNum" sz="quarter" idx="10"/>
          </p:nvPr>
        </p:nvSpPr>
        <p:spPr/>
        <p:txBody>
          <a:bodyPr/>
          <a:lstStyle/>
          <a:p>
            <a:fld id="{677A2CBA-E486-4DC8-8696-C7854B0A28FD}" type="slidenum">
              <a:rPr lang="zh-CN" altLang="en-US" smtClean="0"/>
              <a:t>75</a:t>
            </a:fld>
            <a:endParaRPr lang="zh-CN" altLang="en-US"/>
          </a:p>
        </p:txBody>
      </p:sp>
    </p:spTree>
    <p:extLst>
      <p:ext uri="{BB962C8B-B14F-4D97-AF65-F5344CB8AC3E}">
        <p14:creationId xmlns:p14="http://schemas.microsoft.com/office/powerpoint/2010/main" val="1832736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48CF-B41F-A010-F459-CD794834AF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38B8FA-EE12-60A2-37FC-3868559F7DC8}"/>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6AE7DF02-447B-EBA5-7C3D-9E02594A058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FBBB731A-13F1-D50D-C8B1-6648F6CD35B9}"/>
              </a:ext>
            </a:extLst>
          </p:cNvPr>
          <p:cNvSpPr>
            <a:spLocks noGrp="1"/>
          </p:cNvSpPr>
          <p:nvPr>
            <p:ph type="sldNum" sz="quarter" idx="10"/>
          </p:nvPr>
        </p:nvSpPr>
        <p:spPr/>
        <p:txBody>
          <a:bodyPr/>
          <a:lstStyle/>
          <a:p>
            <a:fld id="{677A2CBA-E486-4DC8-8696-C7854B0A28FD}" type="slidenum">
              <a:rPr lang="zh-CN" altLang="en-US" smtClean="0"/>
              <a:t>76</a:t>
            </a:fld>
            <a:endParaRPr lang="zh-CN" altLang="en-US"/>
          </a:p>
        </p:txBody>
      </p:sp>
    </p:spTree>
    <p:extLst>
      <p:ext uri="{BB962C8B-B14F-4D97-AF65-F5344CB8AC3E}">
        <p14:creationId xmlns:p14="http://schemas.microsoft.com/office/powerpoint/2010/main" val="31599238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596EC-0112-DA8C-5A12-A2A1888C9F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5EF878-1E19-CA4D-B911-3140F4B8DF5C}"/>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360CEF54-D0D3-285F-3C4E-589B8008E1A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a:extLst>
              <a:ext uri="{FF2B5EF4-FFF2-40B4-BE49-F238E27FC236}">
                <a16:creationId xmlns:a16="http://schemas.microsoft.com/office/drawing/2014/main" id="{94132B05-3D3D-7F6D-BF43-CDCEB43B3853}"/>
              </a:ext>
            </a:extLst>
          </p:cNvPr>
          <p:cNvSpPr>
            <a:spLocks noGrp="1"/>
          </p:cNvSpPr>
          <p:nvPr>
            <p:ph type="sldNum" sz="quarter" idx="10"/>
          </p:nvPr>
        </p:nvSpPr>
        <p:spPr/>
        <p:txBody>
          <a:bodyPr/>
          <a:lstStyle/>
          <a:p>
            <a:fld id="{677A2CBA-E486-4DC8-8696-C7854B0A28FD}" type="slidenum">
              <a:rPr lang="zh-CN" altLang="en-US" smtClean="0"/>
              <a:t>77</a:t>
            </a:fld>
            <a:endParaRPr lang="zh-CN" altLang="en-US"/>
          </a:p>
        </p:txBody>
      </p:sp>
    </p:spTree>
    <p:extLst>
      <p:ext uri="{BB962C8B-B14F-4D97-AF65-F5344CB8AC3E}">
        <p14:creationId xmlns:p14="http://schemas.microsoft.com/office/powerpoint/2010/main" val="15538199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2932F-86A8-BE86-9D49-FE310FF522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1DAE29-943D-47BF-DF5E-FBD5D8BBDFCB}"/>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7D88559E-61BD-CDBB-0570-D12224DB5389}"/>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1BB1A38B-F972-D76B-8A56-0F77BC3673B6}"/>
              </a:ext>
            </a:extLst>
          </p:cNvPr>
          <p:cNvSpPr>
            <a:spLocks noGrp="1"/>
          </p:cNvSpPr>
          <p:nvPr>
            <p:ph type="sldNum" sz="quarter" idx="10"/>
          </p:nvPr>
        </p:nvSpPr>
        <p:spPr/>
        <p:txBody>
          <a:bodyPr/>
          <a:lstStyle/>
          <a:p>
            <a:fld id="{677A2CBA-E486-4DC8-8696-C7854B0A28FD}" type="slidenum">
              <a:rPr lang="zh-CN" altLang="en-US" smtClean="0"/>
              <a:t>79</a:t>
            </a:fld>
            <a:endParaRPr lang="zh-CN" altLang="en-US"/>
          </a:p>
        </p:txBody>
      </p:sp>
    </p:spTree>
    <p:extLst>
      <p:ext uri="{BB962C8B-B14F-4D97-AF65-F5344CB8AC3E}">
        <p14:creationId xmlns:p14="http://schemas.microsoft.com/office/powerpoint/2010/main" val="54238352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B9B67-8B42-C7F1-6CFE-87C0A15339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1B47E8-A8DC-5984-585D-CE53F7425EE0}"/>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BC609B0E-12D2-287F-5BED-1C39ACB75279}"/>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AA204F33-FEAD-B95D-A7DD-3F8F66D9CAC7}"/>
              </a:ext>
            </a:extLst>
          </p:cNvPr>
          <p:cNvSpPr>
            <a:spLocks noGrp="1"/>
          </p:cNvSpPr>
          <p:nvPr>
            <p:ph type="sldNum" sz="quarter" idx="10"/>
          </p:nvPr>
        </p:nvSpPr>
        <p:spPr/>
        <p:txBody>
          <a:bodyPr/>
          <a:lstStyle/>
          <a:p>
            <a:fld id="{677A2CBA-E486-4DC8-8696-C7854B0A28FD}" type="slidenum">
              <a:rPr lang="zh-CN" altLang="en-US" smtClean="0"/>
              <a:t>80</a:t>
            </a:fld>
            <a:endParaRPr lang="zh-CN" altLang="en-US"/>
          </a:p>
        </p:txBody>
      </p:sp>
    </p:spTree>
    <p:extLst>
      <p:ext uri="{BB962C8B-B14F-4D97-AF65-F5344CB8AC3E}">
        <p14:creationId xmlns:p14="http://schemas.microsoft.com/office/powerpoint/2010/main" val="138946668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8F32-5DD6-E92D-3396-CD0A9D91D3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1B0D68-0E5D-27D8-D7E9-C8D0B331EDA0}"/>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4B222238-460E-F3CA-08B2-10FF29A10168}"/>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2AEF724C-04B8-62B9-7240-BFCF7FF6A500}"/>
              </a:ext>
            </a:extLst>
          </p:cNvPr>
          <p:cNvSpPr>
            <a:spLocks noGrp="1"/>
          </p:cNvSpPr>
          <p:nvPr>
            <p:ph type="sldNum" sz="quarter" idx="10"/>
          </p:nvPr>
        </p:nvSpPr>
        <p:spPr/>
        <p:txBody>
          <a:bodyPr/>
          <a:lstStyle/>
          <a:p>
            <a:fld id="{677A2CBA-E486-4DC8-8696-C7854B0A28FD}" type="slidenum">
              <a:rPr lang="zh-CN" altLang="en-US" smtClean="0"/>
              <a:t>81</a:t>
            </a:fld>
            <a:endParaRPr lang="zh-CN" altLang="en-US"/>
          </a:p>
        </p:txBody>
      </p:sp>
    </p:spTree>
    <p:extLst>
      <p:ext uri="{BB962C8B-B14F-4D97-AF65-F5344CB8AC3E}">
        <p14:creationId xmlns:p14="http://schemas.microsoft.com/office/powerpoint/2010/main" val="18094181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96CAC-F8C3-A2AD-A1C3-02F9B8E526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E0C5A4-92F5-C1B6-53EE-8445ABE7963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3E44A7DF-85BB-3685-621E-249F696BDC64}"/>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7482B0C1-BE62-400D-7509-223705979271}"/>
              </a:ext>
            </a:extLst>
          </p:cNvPr>
          <p:cNvSpPr>
            <a:spLocks noGrp="1"/>
          </p:cNvSpPr>
          <p:nvPr>
            <p:ph type="sldNum" sz="quarter" idx="10"/>
          </p:nvPr>
        </p:nvSpPr>
        <p:spPr/>
        <p:txBody>
          <a:bodyPr/>
          <a:lstStyle/>
          <a:p>
            <a:fld id="{677A2CBA-E486-4DC8-8696-C7854B0A28FD}" type="slidenum">
              <a:rPr lang="zh-CN" altLang="en-US" smtClean="0"/>
              <a:t>82</a:t>
            </a:fld>
            <a:endParaRPr lang="zh-CN" altLang="en-US"/>
          </a:p>
        </p:txBody>
      </p:sp>
    </p:spTree>
    <p:extLst>
      <p:ext uri="{BB962C8B-B14F-4D97-AF65-F5344CB8AC3E}">
        <p14:creationId xmlns:p14="http://schemas.microsoft.com/office/powerpoint/2010/main" val="218423159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F8C0C-F3C5-C365-7EA8-5A0FEEC722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13B247-6C5C-452B-2B45-65E9766D3D0A}"/>
              </a:ext>
            </a:extLst>
          </p:cNvPr>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a:extLst>
              <a:ext uri="{FF2B5EF4-FFF2-40B4-BE49-F238E27FC236}">
                <a16:creationId xmlns:a16="http://schemas.microsoft.com/office/drawing/2014/main" id="{E515E4CE-A443-314F-3914-6C4F3A405B69}"/>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4" name="灯片编号占位符 3">
            <a:extLst>
              <a:ext uri="{FF2B5EF4-FFF2-40B4-BE49-F238E27FC236}">
                <a16:creationId xmlns:a16="http://schemas.microsoft.com/office/drawing/2014/main" id="{916250AB-C141-030A-A62B-BE70E387E151}"/>
              </a:ext>
            </a:extLst>
          </p:cNvPr>
          <p:cNvSpPr>
            <a:spLocks noGrp="1"/>
          </p:cNvSpPr>
          <p:nvPr>
            <p:ph type="sldNum" sz="quarter" idx="10"/>
          </p:nvPr>
        </p:nvSpPr>
        <p:spPr/>
        <p:txBody>
          <a:bodyPr/>
          <a:lstStyle/>
          <a:p>
            <a:fld id="{677A2CBA-E486-4DC8-8696-C7854B0A28FD}" type="slidenum">
              <a:rPr lang="zh-CN" altLang="en-US" smtClean="0"/>
              <a:t>83</a:t>
            </a:fld>
            <a:endParaRPr lang="zh-CN" altLang="en-US"/>
          </a:p>
        </p:txBody>
      </p:sp>
    </p:spTree>
    <p:extLst>
      <p:ext uri="{BB962C8B-B14F-4D97-AF65-F5344CB8AC3E}">
        <p14:creationId xmlns:p14="http://schemas.microsoft.com/office/powerpoint/2010/main" val="28872423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4" name="灯片编号占位符 3"/>
          <p:cNvSpPr>
            <a:spLocks noGrp="1"/>
          </p:cNvSpPr>
          <p:nvPr>
            <p:ph type="sldNum" sz="quarter" idx="10"/>
          </p:nvPr>
        </p:nvSpPr>
        <p:spPr/>
        <p:txBody>
          <a:bodyPr/>
          <a:lstStyle/>
          <a:p>
            <a:fld id="{677A2CBA-E486-4DC8-8696-C7854B0A28FD}"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algn="just" rtl="0" eaLnBrk="1" latinLnBrk="0" hangingPunct="1">
              <a:spcBef>
                <a:spcPts val="0"/>
              </a:spcBef>
              <a:spcAft>
                <a:spcPts val="0"/>
              </a:spcAft>
            </a:pPr>
            <a:endParaRPr lang="zh-CN" altLang="zh-CN" dirty="0">
              <a:effectLst/>
            </a:endParaRPr>
          </a:p>
        </p:txBody>
      </p:sp>
      <p:sp>
        <p:nvSpPr>
          <p:cNvPr id="4" name="灯片编号占位符 3"/>
          <p:cNvSpPr>
            <a:spLocks noGrp="1"/>
          </p:cNvSpPr>
          <p:nvPr>
            <p:ph type="sldNum" sz="quarter" idx="5"/>
          </p:nvPr>
        </p:nvSpPr>
        <p:spPr/>
        <p:txBody>
          <a:bodyPr/>
          <a:lstStyle/>
          <a:p>
            <a:fld id="{5849F42C-2DAE-424C-A4B8-3140182C3E9F}"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77A2CBA-E486-4DC8-8696-C7854B0A28FD}" type="slidenum">
              <a:rPr lang="zh-CN" altLang="en-US" smtClean="0"/>
              <a:t>87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2A02352-FA78-424A-9237-D0BA87671771}" type="datetime1">
              <a:rPr lang="zh-HK" altLang="en-US" smtClean="0"/>
              <a:t>8/9/2026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0E3A2EB-5A54-4E3F-BC8E-FD0371C54240}" type="datetime1">
              <a:rPr lang="zh-HK" altLang="en-US" smtClean="0"/>
              <a:t>8/9/2026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3FA986A-FE73-4398-9AE5-9B401A3A8672}" type="datetime1">
              <a:rPr lang="zh-HK" altLang="en-US" smtClean="0"/>
              <a:t>8/9/2026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2CEBE9A-D6CF-409F-8B35-536E38E32E00}" type="datetime1">
              <a:rPr lang="zh-HK" altLang="en-US" smtClean="0"/>
              <a:t>8/9/2026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860B113-B6BB-456A-948C-909854A2CE25}" type="datetime1">
              <a:rPr lang="zh-HK" altLang="en-US" smtClean="0"/>
              <a:t>8/9/2026</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AF73846-97E0-4FFF-B076-3986A5617372}" type="datetime1">
              <a:rPr lang="zh-HK" altLang="en-US" smtClean="0"/>
              <a:t>8/9/2026</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3798C-AF67-42D6-828B-2970DD555736}" type="datetime1">
              <a:rPr lang="zh-HK" altLang="en-US" smtClean="0"/>
              <a:t>8/9/2026</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21BB204-8DBB-4C44-9B30-9DD9D703E0DA}" type="datetime1">
              <a:rPr lang="zh-HK" altLang="en-US" smtClean="0"/>
              <a:t>8/9/2026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0DC8259E-C15E-44C8-BC29-FA4578202D53}" type="datetime1">
              <a:rPr lang="zh-HK" altLang="en-US" smtClean="0"/>
              <a:t>8/9/2026</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9C0749D-2F59-4EC7-BBFF-A9307FBB7504}" type="datetime1">
              <a:rPr lang="zh-HK" altLang="en-US" smtClean="0"/>
              <a:t>8/9/2026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D9A26AC-1923-4427-B4CD-19CD4F07AC4B}" type="datetime1">
              <a:rPr lang="zh-HK" altLang="en-US" smtClean="0"/>
              <a:t>8/9/2026</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60539F5-6FE0-462E-8801-6C439ED55DD0}"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C47E231-8E48-434B-9644-8EFCA1F3D642}"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C38EA1-C396-483E-8A5E-9E425BDFD51A}"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00D9915-9474-4789-A728-2794EAF01914}"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3671A44-F950-4B7A-AC4F-B97F35CA1D88}"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9F8A491-66AD-4349-90C4-46A92855ED2C}"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201FAA-338E-485B-B115-2C62AD2A5A1C}"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4" name="Slide Number Placeholder 3"/>
          <p:cNvSpPr>
            <a:spLocks noGrp="1"/>
          </p:cNvSpPr>
          <p:nvPr>
            <p:ph type="sldNum" sz="quarter" idx="12"/>
          </p:nvPr>
        </p:nvSpPr>
        <p:spPr>
          <a:xfrm>
            <a:off x="11784000" y="6478905"/>
            <a:ext cx="408000" cy="365125"/>
          </a:xfrm>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8592E714-8771-4256-B120-A1444CD7D5F3}" type="slidenum">
              <a:rPr lang="zh-HK" altLang="en-US" smtClean="0"/>
              <a:t>‹#›</a:t>
            </a:fld>
            <a:endParaRPr lang="zh-HK"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7A5B1DE-47B3-429F-89C9-1DFC8A28EB62}"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FC4DCC9-7DC2-4FFC-8CFA-8A291754AFD9}"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C26E2CC-B67F-44F4-8E63-3D2110F32D98}"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7FBA692-3A9E-4ECC-B70F-39A38E6FDC85}"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6E15B4-9985-4E8A-9444-B97F683DF1B3}" type="datetime1">
              <a:rPr lang="zh-HK" altLang="en-US" smtClean="0"/>
              <a:t>8/9/2026</a:t>
            </a:fld>
            <a:endParaRPr lang="zh-HK"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45C72C-05F9-42DA-A32C-E89F323A6F21}" type="slidenum">
              <a:rPr lang="zh-HK" altLang="en-US" smtClean="0"/>
              <a:t>‹#›</a:t>
            </a:fld>
            <a:endParaRPr lang="zh-HK"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0BDA6-FB1E-4C60-AF08-640F56201863}" type="datetime1">
              <a:rPr lang="zh-HK" altLang="en-US" smtClean="0">
                <a:solidFill>
                  <a:prstClr val="black">
                    <a:tint val="75000"/>
                  </a:prstClr>
                </a:solidFill>
              </a:rPr>
              <a:t>8/9/2026</a:t>
            </a:fld>
            <a:endParaRPr lang="zh-HK"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11712000" y="6421664"/>
            <a:ext cx="367200" cy="365125"/>
          </a:xfrm>
          <a:prstGeom prst="rect">
            <a:avLst/>
          </a:prstGeom>
        </p:spPr>
        <p:txBody>
          <a:bodyPr vert="horz" lIns="91440" tIns="45720" rIns="91440" bIns="45720" rtlCol="0" anchor="ctr"/>
          <a:lstStyle>
            <a:lvl1pPr algn="r">
              <a:defRPr sz="1200">
                <a:solidFill>
                  <a:schemeClr val="bg1"/>
                </a:solidFill>
              </a:defRPr>
            </a:lvl1pPr>
          </a:lstStyle>
          <a:p>
            <a:fld id="{8592E714-8771-4256-B120-A1444CD7D5F3}" type="slidenum">
              <a:rPr lang="zh-HK" altLang="en-US" smtClean="0"/>
              <a:t>‹#›</a:t>
            </a:fld>
            <a:endParaRPr lang="zh-HK"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1.xml"/><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2.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notesSlide" Target="../notesSlides/notesSlide2.xml"/><Relationship Id="rId5" Type="http://schemas.openxmlformats.org/officeDocument/2006/relationships/tags" Target="../tags/tag15.xml"/><Relationship Id="rId10" Type="http://schemas.openxmlformats.org/officeDocument/2006/relationships/slideLayout" Target="../slideLayouts/slideLayout1.xml"/><Relationship Id="rId4" Type="http://schemas.openxmlformats.org/officeDocument/2006/relationships/tags" Target="../tags/tag14.xml"/><Relationship Id="rId9"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26" Type="http://schemas.openxmlformats.org/officeDocument/2006/relationships/tags" Target="../tags/tag45.xml"/><Relationship Id="rId3" Type="http://schemas.openxmlformats.org/officeDocument/2006/relationships/tags" Target="../tags/tag22.xml"/><Relationship Id="rId21" Type="http://schemas.openxmlformats.org/officeDocument/2006/relationships/tags" Target="../tags/tag40.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5" Type="http://schemas.openxmlformats.org/officeDocument/2006/relationships/tags" Target="../tags/tag44.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tags" Target="../tags/tag39.xml"/><Relationship Id="rId29" Type="http://schemas.openxmlformats.org/officeDocument/2006/relationships/slideLayout" Target="../slideLayouts/slideLayout18.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24" Type="http://schemas.openxmlformats.org/officeDocument/2006/relationships/tags" Target="../tags/tag43.xml"/><Relationship Id="rId32" Type="http://schemas.microsoft.com/office/2007/relationships/hdphoto" Target="../media/hdphoto1.wdp"/><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tags" Target="../tags/tag42.xml"/><Relationship Id="rId28" Type="http://schemas.openxmlformats.org/officeDocument/2006/relationships/tags" Target="../tags/tag47.xml"/><Relationship Id="rId10" Type="http://schemas.openxmlformats.org/officeDocument/2006/relationships/tags" Target="../tags/tag29.xml"/><Relationship Id="rId19" Type="http://schemas.openxmlformats.org/officeDocument/2006/relationships/tags" Target="../tags/tag38.xml"/><Relationship Id="rId31" Type="http://schemas.openxmlformats.org/officeDocument/2006/relationships/image" Target="../media/image1.png"/><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tags" Target="../tags/tag41.xml"/><Relationship Id="rId27" Type="http://schemas.openxmlformats.org/officeDocument/2006/relationships/tags" Target="../tags/tag46.xml"/><Relationship Id="rId3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tags" Target="../tags/tag73.xml"/><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72.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29" Type="http://schemas.openxmlformats.org/officeDocument/2006/relationships/slideLayout" Target="../slideLayouts/slideLayout18.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tags" Target="../tags/tag71.xml"/><Relationship Id="rId32" Type="http://schemas.microsoft.com/office/2007/relationships/hdphoto" Target="../media/hdphoto1.wdp"/><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28" Type="http://schemas.openxmlformats.org/officeDocument/2006/relationships/tags" Target="../tags/tag75.xml"/><Relationship Id="rId10" Type="http://schemas.openxmlformats.org/officeDocument/2006/relationships/tags" Target="../tags/tag57.xml"/><Relationship Id="rId19" Type="http://schemas.openxmlformats.org/officeDocument/2006/relationships/tags" Target="../tags/tag66.xml"/><Relationship Id="rId31" Type="http://schemas.openxmlformats.org/officeDocument/2006/relationships/image" Target="../media/image1.png"/><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tags" Target="../tags/tag74.xml"/><Relationship Id="rId3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7.xml"/><Relationship Id="rId1" Type="http://schemas.openxmlformats.org/officeDocument/2006/relationships/tags" Target="../tags/tag7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10.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1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8.xml"/><Relationship Id="rId1" Type="http://schemas.openxmlformats.org/officeDocument/2006/relationships/tags" Target="../tags/tag86.xml"/><Relationship Id="rId5" Type="http://schemas.microsoft.com/office/2007/relationships/hdphoto" Target="../media/hdphoto1.wdp"/><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openxmlformats.org/officeDocument/2006/relationships/tags" Target="../tags/tag89.xml"/><Relationship Id="rId7" Type="http://schemas.openxmlformats.org/officeDocument/2006/relationships/slideLayout" Target="../slideLayouts/slideLayout18.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26" Type="http://schemas.openxmlformats.org/officeDocument/2006/relationships/tags" Target="../tags/tag118.xml"/><Relationship Id="rId3" Type="http://schemas.openxmlformats.org/officeDocument/2006/relationships/tags" Target="../tags/tag95.xml"/><Relationship Id="rId21" Type="http://schemas.openxmlformats.org/officeDocument/2006/relationships/tags" Target="../tags/tag113.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5" Type="http://schemas.openxmlformats.org/officeDocument/2006/relationships/tags" Target="../tags/tag117.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tags" Target="../tags/tag112.xml"/><Relationship Id="rId29" Type="http://schemas.openxmlformats.org/officeDocument/2006/relationships/slideLayout" Target="../slideLayouts/slideLayout18.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24" Type="http://schemas.openxmlformats.org/officeDocument/2006/relationships/tags" Target="../tags/tag116.xml"/><Relationship Id="rId32" Type="http://schemas.microsoft.com/office/2007/relationships/hdphoto" Target="../media/hdphoto1.wdp"/><Relationship Id="rId5" Type="http://schemas.openxmlformats.org/officeDocument/2006/relationships/tags" Target="../tags/tag97.xml"/><Relationship Id="rId15" Type="http://schemas.openxmlformats.org/officeDocument/2006/relationships/tags" Target="../tags/tag107.xml"/><Relationship Id="rId23" Type="http://schemas.openxmlformats.org/officeDocument/2006/relationships/tags" Target="../tags/tag115.xml"/><Relationship Id="rId28" Type="http://schemas.openxmlformats.org/officeDocument/2006/relationships/tags" Target="../tags/tag120.xml"/><Relationship Id="rId10" Type="http://schemas.openxmlformats.org/officeDocument/2006/relationships/tags" Target="../tags/tag102.xml"/><Relationship Id="rId19" Type="http://schemas.openxmlformats.org/officeDocument/2006/relationships/tags" Target="../tags/tag111.xml"/><Relationship Id="rId31" Type="http://schemas.openxmlformats.org/officeDocument/2006/relationships/image" Target="../media/image1.png"/><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 Id="rId22" Type="http://schemas.openxmlformats.org/officeDocument/2006/relationships/tags" Target="../tags/tag114.xml"/><Relationship Id="rId27" Type="http://schemas.openxmlformats.org/officeDocument/2006/relationships/tags" Target="../tags/tag119.xml"/><Relationship Id="rId3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18" Type="http://schemas.openxmlformats.org/officeDocument/2006/relationships/tags" Target="../tags/tag138.xml"/><Relationship Id="rId26" Type="http://schemas.openxmlformats.org/officeDocument/2006/relationships/tags" Target="../tags/tag146.xml"/><Relationship Id="rId3" Type="http://schemas.openxmlformats.org/officeDocument/2006/relationships/tags" Target="../tags/tag123.xml"/><Relationship Id="rId21" Type="http://schemas.openxmlformats.org/officeDocument/2006/relationships/tags" Target="../tags/tag141.xml"/><Relationship Id="rId7" Type="http://schemas.openxmlformats.org/officeDocument/2006/relationships/tags" Target="../tags/tag127.xml"/><Relationship Id="rId12" Type="http://schemas.openxmlformats.org/officeDocument/2006/relationships/tags" Target="../tags/tag132.xml"/><Relationship Id="rId17" Type="http://schemas.openxmlformats.org/officeDocument/2006/relationships/tags" Target="../tags/tag137.xml"/><Relationship Id="rId25" Type="http://schemas.openxmlformats.org/officeDocument/2006/relationships/tags" Target="../tags/tag145.xml"/><Relationship Id="rId2" Type="http://schemas.openxmlformats.org/officeDocument/2006/relationships/tags" Target="../tags/tag122.xml"/><Relationship Id="rId16" Type="http://schemas.openxmlformats.org/officeDocument/2006/relationships/tags" Target="../tags/tag136.xml"/><Relationship Id="rId20" Type="http://schemas.openxmlformats.org/officeDocument/2006/relationships/tags" Target="../tags/tag140.xml"/><Relationship Id="rId29" Type="http://schemas.openxmlformats.org/officeDocument/2006/relationships/slideLayout" Target="../slideLayouts/slideLayout18.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24" Type="http://schemas.openxmlformats.org/officeDocument/2006/relationships/tags" Target="../tags/tag144.xml"/><Relationship Id="rId32" Type="http://schemas.microsoft.com/office/2007/relationships/hdphoto" Target="../media/hdphoto1.wdp"/><Relationship Id="rId5" Type="http://schemas.openxmlformats.org/officeDocument/2006/relationships/tags" Target="../tags/tag125.xml"/><Relationship Id="rId15" Type="http://schemas.openxmlformats.org/officeDocument/2006/relationships/tags" Target="../tags/tag135.xml"/><Relationship Id="rId23" Type="http://schemas.openxmlformats.org/officeDocument/2006/relationships/tags" Target="../tags/tag143.xml"/><Relationship Id="rId28" Type="http://schemas.openxmlformats.org/officeDocument/2006/relationships/tags" Target="../tags/tag148.xml"/><Relationship Id="rId10" Type="http://schemas.openxmlformats.org/officeDocument/2006/relationships/tags" Target="../tags/tag130.xml"/><Relationship Id="rId19" Type="http://schemas.openxmlformats.org/officeDocument/2006/relationships/tags" Target="../tags/tag139.xml"/><Relationship Id="rId31" Type="http://schemas.openxmlformats.org/officeDocument/2006/relationships/image" Target="../media/image1.png"/><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 Id="rId22" Type="http://schemas.openxmlformats.org/officeDocument/2006/relationships/tags" Target="../tags/tag142.xml"/><Relationship Id="rId27" Type="http://schemas.openxmlformats.org/officeDocument/2006/relationships/tags" Target="../tags/tag147.xml"/><Relationship Id="rId3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0.xml"/><Relationship Id="rId1" Type="http://schemas.openxmlformats.org/officeDocument/2006/relationships/tags" Target="../tags/tag149.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2.xml"/><Relationship Id="rId1" Type="http://schemas.openxmlformats.org/officeDocument/2006/relationships/tags" Target="../tags/tag151.xml"/><Relationship Id="rId5" Type="http://schemas.openxmlformats.org/officeDocument/2006/relationships/image" Target="../media/image2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image" Target="../media/image2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58.xml"/><Relationship Id="rId1" Type="http://schemas.openxmlformats.org/officeDocument/2006/relationships/tags" Target="../tags/tag157.xml"/><Relationship Id="rId5" Type="http://schemas.openxmlformats.org/officeDocument/2006/relationships/image" Target="../media/image2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1.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8.xml"/><Relationship Id="rId1" Type="http://schemas.openxmlformats.org/officeDocument/2006/relationships/tags" Target="../tags/tag163.xml"/><Relationship Id="rId5" Type="http://schemas.microsoft.com/office/2007/relationships/hdphoto" Target="../media/hdphoto1.wdp"/><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3" Type="http://schemas.openxmlformats.org/officeDocument/2006/relationships/tags" Target="../tags/tag166.xml"/><Relationship Id="rId7" Type="http://schemas.openxmlformats.org/officeDocument/2006/relationships/slideLayout" Target="../slideLayouts/slideLayout18.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tags" Target="../tags/tag182.xml"/><Relationship Id="rId18" Type="http://schemas.openxmlformats.org/officeDocument/2006/relationships/tags" Target="../tags/tag187.xml"/><Relationship Id="rId26" Type="http://schemas.openxmlformats.org/officeDocument/2006/relationships/tags" Target="../tags/tag195.xml"/><Relationship Id="rId3" Type="http://schemas.openxmlformats.org/officeDocument/2006/relationships/tags" Target="../tags/tag172.xml"/><Relationship Id="rId21" Type="http://schemas.openxmlformats.org/officeDocument/2006/relationships/tags" Target="../tags/tag190.xml"/><Relationship Id="rId7" Type="http://schemas.openxmlformats.org/officeDocument/2006/relationships/tags" Target="../tags/tag176.xml"/><Relationship Id="rId12" Type="http://schemas.openxmlformats.org/officeDocument/2006/relationships/tags" Target="../tags/tag181.xml"/><Relationship Id="rId17" Type="http://schemas.openxmlformats.org/officeDocument/2006/relationships/tags" Target="../tags/tag186.xml"/><Relationship Id="rId25" Type="http://schemas.openxmlformats.org/officeDocument/2006/relationships/tags" Target="../tags/tag194.xml"/><Relationship Id="rId2" Type="http://schemas.openxmlformats.org/officeDocument/2006/relationships/tags" Target="../tags/tag171.xml"/><Relationship Id="rId16" Type="http://schemas.openxmlformats.org/officeDocument/2006/relationships/tags" Target="../tags/tag185.xml"/><Relationship Id="rId20" Type="http://schemas.openxmlformats.org/officeDocument/2006/relationships/tags" Target="../tags/tag189.xml"/><Relationship Id="rId29" Type="http://schemas.openxmlformats.org/officeDocument/2006/relationships/slideLayout" Target="../slideLayouts/slideLayout18.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tags" Target="../tags/tag180.xml"/><Relationship Id="rId24" Type="http://schemas.openxmlformats.org/officeDocument/2006/relationships/tags" Target="../tags/tag193.xml"/><Relationship Id="rId32" Type="http://schemas.microsoft.com/office/2007/relationships/hdphoto" Target="../media/hdphoto1.wdp"/><Relationship Id="rId5" Type="http://schemas.openxmlformats.org/officeDocument/2006/relationships/tags" Target="../tags/tag174.xml"/><Relationship Id="rId15" Type="http://schemas.openxmlformats.org/officeDocument/2006/relationships/tags" Target="../tags/tag184.xml"/><Relationship Id="rId23" Type="http://schemas.openxmlformats.org/officeDocument/2006/relationships/tags" Target="../tags/tag192.xml"/><Relationship Id="rId28" Type="http://schemas.openxmlformats.org/officeDocument/2006/relationships/tags" Target="../tags/tag197.xml"/><Relationship Id="rId10" Type="http://schemas.openxmlformats.org/officeDocument/2006/relationships/tags" Target="../tags/tag179.xml"/><Relationship Id="rId19" Type="http://schemas.openxmlformats.org/officeDocument/2006/relationships/tags" Target="../tags/tag188.xml"/><Relationship Id="rId31" Type="http://schemas.openxmlformats.org/officeDocument/2006/relationships/image" Target="../media/image1.png"/><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tags" Target="../tags/tag183.xml"/><Relationship Id="rId22" Type="http://schemas.openxmlformats.org/officeDocument/2006/relationships/tags" Target="../tags/tag191.xml"/><Relationship Id="rId27" Type="http://schemas.openxmlformats.org/officeDocument/2006/relationships/tags" Target="../tags/tag196.xml"/><Relationship Id="rId3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18" Type="http://schemas.openxmlformats.org/officeDocument/2006/relationships/tags" Target="../tags/tag215.xml"/><Relationship Id="rId26" Type="http://schemas.openxmlformats.org/officeDocument/2006/relationships/tags" Target="../tags/tag223.xml"/><Relationship Id="rId3" Type="http://schemas.openxmlformats.org/officeDocument/2006/relationships/tags" Target="../tags/tag200.xml"/><Relationship Id="rId21" Type="http://schemas.openxmlformats.org/officeDocument/2006/relationships/tags" Target="../tags/tag218.xml"/><Relationship Id="rId7" Type="http://schemas.openxmlformats.org/officeDocument/2006/relationships/tags" Target="../tags/tag204.xml"/><Relationship Id="rId12" Type="http://schemas.openxmlformats.org/officeDocument/2006/relationships/tags" Target="../tags/tag209.xml"/><Relationship Id="rId17" Type="http://schemas.openxmlformats.org/officeDocument/2006/relationships/tags" Target="../tags/tag214.xml"/><Relationship Id="rId25" Type="http://schemas.openxmlformats.org/officeDocument/2006/relationships/tags" Target="../tags/tag222.xml"/><Relationship Id="rId2" Type="http://schemas.openxmlformats.org/officeDocument/2006/relationships/tags" Target="../tags/tag199.xml"/><Relationship Id="rId16" Type="http://schemas.openxmlformats.org/officeDocument/2006/relationships/tags" Target="../tags/tag213.xml"/><Relationship Id="rId20" Type="http://schemas.openxmlformats.org/officeDocument/2006/relationships/tags" Target="../tags/tag217.xml"/><Relationship Id="rId29" Type="http://schemas.openxmlformats.org/officeDocument/2006/relationships/slideLayout" Target="../slideLayouts/slideLayout18.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24" Type="http://schemas.openxmlformats.org/officeDocument/2006/relationships/tags" Target="../tags/tag221.xml"/><Relationship Id="rId32" Type="http://schemas.microsoft.com/office/2007/relationships/hdphoto" Target="../media/hdphoto1.wdp"/><Relationship Id="rId5" Type="http://schemas.openxmlformats.org/officeDocument/2006/relationships/tags" Target="../tags/tag202.xml"/><Relationship Id="rId15" Type="http://schemas.openxmlformats.org/officeDocument/2006/relationships/tags" Target="../tags/tag212.xml"/><Relationship Id="rId23" Type="http://schemas.openxmlformats.org/officeDocument/2006/relationships/tags" Target="../tags/tag220.xml"/><Relationship Id="rId28" Type="http://schemas.openxmlformats.org/officeDocument/2006/relationships/tags" Target="../tags/tag225.xml"/><Relationship Id="rId10" Type="http://schemas.openxmlformats.org/officeDocument/2006/relationships/tags" Target="../tags/tag207.xml"/><Relationship Id="rId19" Type="http://schemas.openxmlformats.org/officeDocument/2006/relationships/tags" Target="../tags/tag216.xml"/><Relationship Id="rId31" Type="http://schemas.openxmlformats.org/officeDocument/2006/relationships/image" Target="../media/image1.png"/><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tags" Target="../tags/tag211.xml"/><Relationship Id="rId22" Type="http://schemas.openxmlformats.org/officeDocument/2006/relationships/tags" Target="../tags/tag219.xml"/><Relationship Id="rId27" Type="http://schemas.openxmlformats.org/officeDocument/2006/relationships/tags" Target="../tags/tag224.xml"/><Relationship Id="rId3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27.xml"/><Relationship Id="rId1" Type="http://schemas.openxmlformats.org/officeDocument/2006/relationships/tags" Target="../tags/tag22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8.png"/><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41.png"/><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33.xml"/><Relationship Id="rId1" Type="http://schemas.openxmlformats.org/officeDocument/2006/relationships/tags" Target="../tags/tag232.xml"/><Relationship Id="rId5" Type="http://schemas.openxmlformats.org/officeDocument/2006/relationships/image" Target="../media/image4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8.xml"/><Relationship Id="rId1" Type="http://schemas.openxmlformats.org/officeDocument/2006/relationships/tags" Target="../tags/tag234.xml"/><Relationship Id="rId5" Type="http://schemas.microsoft.com/office/2007/relationships/hdphoto" Target="../media/hdphoto1.wdp"/><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8" Type="http://schemas.openxmlformats.org/officeDocument/2006/relationships/tags" Target="../tags/tag242.xml"/><Relationship Id="rId13" Type="http://schemas.openxmlformats.org/officeDocument/2006/relationships/tags" Target="../tags/tag247.xml"/><Relationship Id="rId18" Type="http://schemas.openxmlformats.org/officeDocument/2006/relationships/tags" Target="../tags/tag252.xml"/><Relationship Id="rId26" Type="http://schemas.openxmlformats.org/officeDocument/2006/relationships/tags" Target="../tags/tag260.xml"/><Relationship Id="rId3" Type="http://schemas.openxmlformats.org/officeDocument/2006/relationships/tags" Target="../tags/tag237.xml"/><Relationship Id="rId21" Type="http://schemas.openxmlformats.org/officeDocument/2006/relationships/tags" Target="../tags/tag255.xml"/><Relationship Id="rId7" Type="http://schemas.openxmlformats.org/officeDocument/2006/relationships/tags" Target="../tags/tag241.xml"/><Relationship Id="rId12" Type="http://schemas.openxmlformats.org/officeDocument/2006/relationships/tags" Target="../tags/tag246.xml"/><Relationship Id="rId17" Type="http://schemas.openxmlformats.org/officeDocument/2006/relationships/tags" Target="../tags/tag251.xml"/><Relationship Id="rId25" Type="http://schemas.openxmlformats.org/officeDocument/2006/relationships/tags" Target="../tags/tag259.xml"/><Relationship Id="rId2" Type="http://schemas.openxmlformats.org/officeDocument/2006/relationships/tags" Target="../tags/tag236.xml"/><Relationship Id="rId16" Type="http://schemas.openxmlformats.org/officeDocument/2006/relationships/tags" Target="../tags/tag250.xml"/><Relationship Id="rId20" Type="http://schemas.openxmlformats.org/officeDocument/2006/relationships/tags" Target="../tags/tag254.xml"/><Relationship Id="rId29" Type="http://schemas.openxmlformats.org/officeDocument/2006/relationships/slideLayout" Target="../slideLayouts/slideLayout18.xml"/><Relationship Id="rId1" Type="http://schemas.openxmlformats.org/officeDocument/2006/relationships/tags" Target="../tags/tag235.xml"/><Relationship Id="rId6" Type="http://schemas.openxmlformats.org/officeDocument/2006/relationships/tags" Target="../tags/tag240.xml"/><Relationship Id="rId11" Type="http://schemas.openxmlformats.org/officeDocument/2006/relationships/tags" Target="../tags/tag245.xml"/><Relationship Id="rId24" Type="http://schemas.openxmlformats.org/officeDocument/2006/relationships/tags" Target="../tags/tag258.xml"/><Relationship Id="rId32" Type="http://schemas.microsoft.com/office/2007/relationships/hdphoto" Target="../media/hdphoto1.wdp"/><Relationship Id="rId5" Type="http://schemas.openxmlformats.org/officeDocument/2006/relationships/tags" Target="../tags/tag239.xml"/><Relationship Id="rId15" Type="http://schemas.openxmlformats.org/officeDocument/2006/relationships/tags" Target="../tags/tag249.xml"/><Relationship Id="rId23" Type="http://schemas.openxmlformats.org/officeDocument/2006/relationships/tags" Target="../tags/tag257.xml"/><Relationship Id="rId28" Type="http://schemas.openxmlformats.org/officeDocument/2006/relationships/tags" Target="../tags/tag262.xml"/><Relationship Id="rId10" Type="http://schemas.openxmlformats.org/officeDocument/2006/relationships/tags" Target="../tags/tag244.xml"/><Relationship Id="rId19" Type="http://schemas.openxmlformats.org/officeDocument/2006/relationships/tags" Target="../tags/tag253.xml"/><Relationship Id="rId31" Type="http://schemas.openxmlformats.org/officeDocument/2006/relationships/image" Target="../media/image1.png"/><Relationship Id="rId4" Type="http://schemas.openxmlformats.org/officeDocument/2006/relationships/tags" Target="../tags/tag238.xml"/><Relationship Id="rId9" Type="http://schemas.openxmlformats.org/officeDocument/2006/relationships/tags" Target="../tags/tag243.xml"/><Relationship Id="rId14" Type="http://schemas.openxmlformats.org/officeDocument/2006/relationships/tags" Target="../tags/tag248.xml"/><Relationship Id="rId22" Type="http://schemas.openxmlformats.org/officeDocument/2006/relationships/tags" Target="../tags/tag256.xml"/><Relationship Id="rId27" Type="http://schemas.openxmlformats.org/officeDocument/2006/relationships/tags" Target="../tags/tag261.xml"/><Relationship Id="rId3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8.xml"/><Relationship Id="rId6" Type="http://schemas.openxmlformats.org/officeDocument/2006/relationships/image" Target="../media/image45.png"/><Relationship Id="rId5" Type="http://schemas.openxmlformats.org/officeDocument/2006/relationships/image" Target="../media/image410.png"/><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tags" Target="../tags/tag275.xml"/><Relationship Id="rId18" Type="http://schemas.openxmlformats.org/officeDocument/2006/relationships/tags" Target="../tags/tag280.xml"/><Relationship Id="rId26" Type="http://schemas.openxmlformats.org/officeDocument/2006/relationships/tags" Target="../tags/tag288.xml"/><Relationship Id="rId3" Type="http://schemas.openxmlformats.org/officeDocument/2006/relationships/tags" Target="../tags/tag265.xml"/><Relationship Id="rId21" Type="http://schemas.openxmlformats.org/officeDocument/2006/relationships/tags" Target="../tags/tag283.xml"/><Relationship Id="rId7" Type="http://schemas.openxmlformats.org/officeDocument/2006/relationships/tags" Target="../tags/tag269.xml"/><Relationship Id="rId12" Type="http://schemas.openxmlformats.org/officeDocument/2006/relationships/tags" Target="../tags/tag274.xml"/><Relationship Id="rId17" Type="http://schemas.openxmlformats.org/officeDocument/2006/relationships/tags" Target="../tags/tag279.xml"/><Relationship Id="rId25" Type="http://schemas.openxmlformats.org/officeDocument/2006/relationships/tags" Target="../tags/tag287.xml"/><Relationship Id="rId2" Type="http://schemas.openxmlformats.org/officeDocument/2006/relationships/tags" Target="../tags/tag264.xml"/><Relationship Id="rId16" Type="http://schemas.openxmlformats.org/officeDocument/2006/relationships/tags" Target="../tags/tag278.xml"/><Relationship Id="rId20" Type="http://schemas.openxmlformats.org/officeDocument/2006/relationships/tags" Target="../tags/tag282.xml"/><Relationship Id="rId29" Type="http://schemas.openxmlformats.org/officeDocument/2006/relationships/slideLayout" Target="../slideLayouts/slideLayout18.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24" Type="http://schemas.openxmlformats.org/officeDocument/2006/relationships/tags" Target="../tags/tag286.xml"/><Relationship Id="rId32" Type="http://schemas.microsoft.com/office/2007/relationships/hdphoto" Target="../media/hdphoto1.wdp"/><Relationship Id="rId5" Type="http://schemas.openxmlformats.org/officeDocument/2006/relationships/tags" Target="../tags/tag267.xml"/><Relationship Id="rId15" Type="http://schemas.openxmlformats.org/officeDocument/2006/relationships/tags" Target="../tags/tag277.xml"/><Relationship Id="rId23" Type="http://schemas.openxmlformats.org/officeDocument/2006/relationships/tags" Target="../tags/tag285.xml"/><Relationship Id="rId28" Type="http://schemas.openxmlformats.org/officeDocument/2006/relationships/tags" Target="../tags/tag290.xml"/><Relationship Id="rId10" Type="http://schemas.openxmlformats.org/officeDocument/2006/relationships/tags" Target="../tags/tag272.xml"/><Relationship Id="rId19" Type="http://schemas.openxmlformats.org/officeDocument/2006/relationships/tags" Target="../tags/tag281.xml"/><Relationship Id="rId31" Type="http://schemas.openxmlformats.org/officeDocument/2006/relationships/image" Target="../media/image1.png"/><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tags" Target="../tags/tag276.xml"/><Relationship Id="rId22" Type="http://schemas.openxmlformats.org/officeDocument/2006/relationships/tags" Target="../tags/tag284.xml"/><Relationship Id="rId27" Type="http://schemas.openxmlformats.org/officeDocument/2006/relationships/tags" Target="../tags/tag289.xml"/><Relationship Id="rId30"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6.xml"/><Relationship Id="rId1" Type="http://schemas.openxmlformats.org/officeDocument/2006/relationships/slideLayout" Target="../slideLayouts/slideLayout18.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7.xml"/><Relationship Id="rId1" Type="http://schemas.openxmlformats.org/officeDocument/2006/relationships/slideLayout" Target="../slideLayouts/slideLayout18.xml"/><Relationship Id="rId4" Type="http://schemas.openxmlformats.org/officeDocument/2006/relationships/image" Target="../media/image50.png"/></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8.xml"/><Relationship Id="rId1" Type="http://schemas.openxmlformats.org/officeDocument/2006/relationships/slideLayout" Target="../slideLayouts/slideLayout18.xml"/><Relationship Id="rId5" Type="http://schemas.openxmlformats.org/officeDocument/2006/relationships/image" Target="../media/image53.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92.xml"/><Relationship Id="rId1" Type="http://schemas.openxmlformats.org/officeDocument/2006/relationships/tags" Target="../tags/tag291.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57.png"/><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96.xml"/><Relationship Id="rId1" Type="http://schemas.openxmlformats.org/officeDocument/2006/relationships/tags" Target="../tags/tag295.xml"/><Relationship Id="rId5" Type="http://schemas.openxmlformats.org/officeDocument/2006/relationships/image" Target="../media/image58.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98.xml"/><Relationship Id="rId1" Type="http://schemas.openxmlformats.org/officeDocument/2006/relationships/tags" Target="../tags/tag297.xml"/><Relationship Id="rId5" Type="http://schemas.openxmlformats.org/officeDocument/2006/relationships/image" Target="../media/image59.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62.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02.xml"/><Relationship Id="rId1" Type="http://schemas.openxmlformats.org/officeDocument/2006/relationships/tags" Target="../tags/tag30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04.xml"/><Relationship Id="rId1" Type="http://schemas.openxmlformats.org/officeDocument/2006/relationships/tags" Target="../tags/tag303.xml"/><Relationship Id="rId5" Type="http://schemas.openxmlformats.org/officeDocument/2006/relationships/image" Target="../media/image65.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8.xml"/><Relationship Id="rId1" Type="http://schemas.openxmlformats.org/officeDocument/2006/relationships/tags" Target="../tags/tag305.xml"/><Relationship Id="rId5" Type="http://schemas.microsoft.com/office/2007/relationships/hdphoto" Target="../media/hdphoto1.wdp"/><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microsoft.com/office/2007/relationships/hdphoto" Target="../media/hdphoto1.wdp"/></Relationships>
</file>

<file path=ppt/slides/_rels/slide70.xml.rels><?xml version="1.0" encoding="UTF-8" standalone="yes"?>
<Relationships xmlns="http://schemas.openxmlformats.org/package/2006/relationships"><Relationship Id="rId8" Type="http://schemas.openxmlformats.org/officeDocument/2006/relationships/tags" Target="../tags/tag313.xml"/><Relationship Id="rId13" Type="http://schemas.openxmlformats.org/officeDocument/2006/relationships/tags" Target="../tags/tag318.xml"/><Relationship Id="rId18" Type="http://schemas.openxmlformats.org/officeDocument/2006/relationships/tags" Target="../tags/tag323.xml"/><Relationship Id="rId26" Type="http://schemas.openxmlformats.org/officeDocument/2006/relationships/tags" Target="../tags/tag331.xml"/><Relationship Id="rId3" Type="http://schemas.openxmlformats.org/officeDocument/2006/relationships/tags" Target="../tags/tag308.xml"/><Relationship Id="rId21" Type="http://schemas.openxmlformats.org/officeDocument/2006/relationships/tags" Target="../tags/tag326.xml"/><Relationship Id="rId7" Type="http://schemas.openxmlformats.org/officeDocument/2006/relationships/tags" Target="../tags/tag312.xml"/><Relationship Id="rId12" Type="http://schemas.openxmlformats.org/officeDocument/2006/relationships/tags" Target="../tags/tag317.xml"/><Relationship Id="rId17" Type="http://schemas.openxmlformats.org/officeDocument/2006/relationships/tags" Target="../tags/tag322.xml"/><Relationship Id="rId25" Type="http://schemas.openxmlformats.org/officeDocument/2006/relationships/tags" Target="../tags/tag330.xml"/><Relationship Id="rId2" Type="http://schemas.openxmlformats.org/officeDocument/2006/relationships/tags" Target="../tags/tag307.xml"/><Relationship Id="rId16" Type="http://schemas.openxmlformats.org/officeDocument/2006/relationships/tags" Target="../tags/tag321.xml"/><Relationship Id="rId20" Type="http://schemas.openxmlformats.org/officeDocument/2006/relationships/tags" Target="../tags/tag325.xml"/><Relationship Id="rId29" Type="http://schemas.openxmlformats.org/officeDocument/2006/relationships/slideLayout" Target="../slideLayouts/slideLayout18.xml"/><Relationship Id="rId1" Type="http://schemas.openxmlformats.org/officeDocument/2006/relationships/tags" Target="../tags/tag306.xml"/><Relationship Id="rId6" Type="http://schemas.openxmlformats.org/officeDocument/2006/relationships/tags" Target="../tags/tag311.xml"/><Relationship Id="rId11" Type="http://schemas.openxmlformats.org/officeDocument/2006/relationships/tags" Target="../tags/tag316.xml"/><Relationship Id="rId24" Type="http://schemas.openxmlformats.org/officeDocument/2006/relationships/tags" Target="../tags/tag329.xml"/><Relationship Id="rId32" Type="http://schemas.microsoft.com/office/2007/relationships/hdphoto" Target="../media/hdphoto1.wdp"/><Relationship Id="rId5" Type="http://schemas.openxmlformats.org/officeDocument/2006/relationships/tags" Target="../tags/tag310.xml"/><Relationship Id="rId15" Type="http://schemas.openxmlformats.org/officeDocument/2006/relationships/tags" Target="../tags/tag320.xml"/><Relationship Id="rId23" Type="http://schemas.openxmlformats.org/officeDocument/2006/relationships/tags" Target="../tags/tag328.xml"/><Relationship Id="rId28" Type="http://schemas.openxmlformats.org/officeDocument/2006/relationships/tags" Target="../tags/tag333.xml"/><Relationship Id="rId10" Type="http://schemas.openxmlformats.org/officeDocument/2006/relationships/tags" Target="../tags/tag315.xml"/><Relationship Id="rId19" Type="http://schemas.openxmlformats.org/officeDocument/2006/relationships/tags" Target="../tags/tag324.xml"/><Relationship Id="rId31" Type="http://schemas.openxmlformats.org/officeDocument/2006/relationships/image" Target="../media/image1.png"/><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tags" Target="../tags/tag319.xml"/><Relationship Id="rId22" Type="http://schemas.openxmlformats.org/officeDocument/2006/relationships/tags" Target="../tags/tag327.xml"/><Relationship Id="rId27" Type="http://schemas.openxmlformats.org/officeDocument/2006/relationships/tags" Target="../tags/tag332.xml"/><Relationship Id="rId3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2.xml"/><Relationship Id="rId1" Type="http://schemas.openxmlformats.org/officeDocument/2006/relationships/slideLayout" Target="../slideLayouts/slideLayout18.xml"/><Relationship Id="rId4" Type="http://schemas.openxmlformats.org/officeDocument/2006/relationships/image" Target="../media/image67.png"/></Relationships>
</file>

<file path=ppt/slides/_rels/slide7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3.xml"/><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8" Type="http://schemas.openxmlformats.org/officeDocument/2006/relationships/tags" Target="../tags/tag341.xml"/><Relationship Id="rId13" Type="http://schemas.openxmlformats.org/officeDocument/2006/relationships/tags" Target="../tags/tag346.xml"/><Relationship Id="rId18" Type="http://schemas.openxmlformats.org/officeDocument/2006/relationships/tags" Target="../tags/tag351.xml"/><Relationship Id="rId26" Type="http://schemas.openxmlformats.org/officeDocument/2006/relationships/tags" Target="../tags/tag359.xml"/><Relationship Id="rId3" Type="http://schemas.openxmlformats.org/officeDocument/2006/relationships/tags" Target="../tags/tag336.xml"/><Relationship Id="rId21" Type="http://schemas.openxmlformats.org/officeDocument/2006/relationships/tags" Target="../tags/tag354.xml"/><Relationship Id="rId7" Type="http://schemas.openxmlformats.org/officeDocument/2006/relationships/tags" Target="../tags/tag340.xml"/><Relationship Id="rId12" Type="http://schemas.openxmlformats.org/officeDocument/2006/relationships/tags" Target="../tags/tag345.xml"/><Relationship Id="rId17" Type="http://schemas.openxmlformats.org/officeDocument/2006/relationships/tags" Target="../tags/tag350.xml"/><Relationship Id="rId25" Type="http://schemas.openxmlformats.org/officeDocument/2006/relationships/tags" Target="../tags/tag358.xml"/><Relationship Id="rId2" Type="http://schemas.openxmlformats.org/officeDocument/2006/relationships/tags" Target="../tags/tag335.xml"/><Relationship Id="rId16" Type="http://schemas.openxmlformats.org/officeDocument/2006/relationships/tags" Target="../tags/tag349.xml"/><Relationship Id="rId20" Type="http://schemas.openxmlformats.org/officeDocument/2006/relationships/tags" Target="../tags/tag353.xml"/><Relationship Id="rId29" Type="http://schemas.openxmlformats.org/officeDocument/2006/relationships/slideLayout" Target="../slideLayouts/slideLayout18.xml"/><Relationship Id="rId1" Type="http://schemas.openxmlformats.org/officeDocument/2006/relationships/tags" Target="../tags/tag334.xml"/><Relationship Id="rId6" Type="http://schemas.openxmlformats.org/officeDocument/2006/relationships/tags" Target="../tags/tag339.xml"/><Relationship Id="rId11" Type="http://schemas.openxmlformats.org/officeDocument/2006/relationships/tags" Target="../tags/tag344.xml"/><Relationship Id="rId24" Type="http://schemas.openxmlformats.org/officeDocument/2006/relationships/tags" Target="../tags/tag357.xml"/><Relationship Id="rId32" Type="http://schemas.microsoft.com/office/2007/relationships/hdphoto" Target="../media/hdphoto1.wdp"/><Relationship Id="rId5" Type="http://schemas.openxmlformats.org/officeDocument/2006/relationships/tags" Target="../tags/tag338.xml"/><Relationship Id="rId15" Type="http://schemas.openxmlformats.org/officeDocument/2006/relationships/tags" Target="../tags/tag348.xml"/><Relationship Id="rId23" Type="http://schemas.openxmlformats.org/officeDocument/2006/relationships/tags" Target="../tags/tag356.xml"/><Relationship Id="rId28" Type="http://schemas.openxmlformats.org/officeDocument/2006/relationships/tags" Target="../tags/tag361.xml"/><Relationship Id="rId10" Type="http://schemas.openxmlformats.org/officeDocument/2006/relationships/tags" Target="../tags/tag343.xml"/><Relationship Id="rId19" Type="http://schemas.openxmlformats.org/officeDocument/2006/relationships/tags" Target="../tags/tag352.xml"/><Relationship Id="rId31" Type="http://schemas.openxmlformats.org/officeDocument/2006/relationships/image" Target="../media/image1.png"/><Relationship Id="rId4" Type="http://schemas.openxmlformats.org/officeDocument/2006/relationships/tags" Target="../tags/tag337.xml"/><Relationship Id="rId9" Type="http://schemas.openxmlformats.org/officeDocument/2006/relationships/tags" Target="../tags/tag342.xml"/><Relationship Id="rId14" Type="http://schemas.openxmlformats.org/officeDocument/2006/relationships/tags" Target="../tags/tag347.xml"/><Relationship Id="rId22" Type="http://schemas.openxmlformats.org/officeDocument/2006/relationships/tags" Target="../tags/tag355.xml"/><Relationship Id="rId27" Type="http://schemas.openxmlformats.org/officeDocument/2006/relationships/tags" Target="../tags/tag360.xml"/><Relationship Id="rId30"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5.xml"/><Relationship Id="rId1" Type="http://schemas.openxmlformats.org/officeDocument/2006/relationships/slideLayout" Target="../slideLayouts/slideLayout18.xml"/><Relationship Id="rId4" Type="http://schemas.openxmlformats.org/officeDocument/2006/relationships/image" Target="../media/image70.png"/></Relationships>
</file>

<file path=ppt/slides/_rels/slide7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6.xml"/><Relationship Id="rId1" Type="http://schemas.openxmlformats.org/officeDocument/2006/relationships/slideLayout" Target="../slideLayouts/slideLayout18.xml"/><Relationship Id="rId4" Type="http://schemas.openxmlformats.org/officeDocument/2006/relationships/image" Target="../media/image72.png"/></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7.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63.xml"/><Relationship Id="rId1" Type="http://schemas.openxmlformats.org/officeDocument/2006/relationships/tags" Target="../tags/tag36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65.xml"/><Relationship Id="rId1" Type="http://schemas.openxmlformats.org/officeDocument/2006/relationships/tags" Target="../tags/tag364.xml"/><Relationship Id="rId5" Type="http://schemas.openxmlformats.org/officeDocument/2006/relationships/image" Target="../media/image74.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67.xml"/><Relationship Id="rId1" Type="http://schemas.openxmlformats.org/officeDocument/2006/relationships/tags" Target="../tags/tag366.xml"/><Relationship Id="rId5" Type="http://schemas.openxmlformats.org/officeDocument/2006/relationships/image" Target="../media/image75.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78.png"/><Relationship Id="rId2" Type="http://schemas.openxmlformats.org/officeDocument/2006/relationships/tags" Target="../tags/tag369.xml"/><Relationship Id="rId1" Type="http://schemas.openxmlformats.org/officeDocument/2006/relationships/tags" Target="../tags/tag368.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81.png"/><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8.xml"/><Relationship Id="rId1" Type="http://schemas.openxmlformats.org/officeDocument/2006/relationships/tags" Target="../tags/tag374.xml"/><Relationship Id="rId5" Type="http://schemas.microsoft.com/office/2007/relationships/hdphoto" Target="../media/hdphoto1.wdp"/><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xml"/><Relationship Id="rId1" Type="http://schemas.openxmlformats.org/officeDocument/2006/relationships/tags" Target="../tags/tag375.xml"/><Relationship Id="rId4" Type="http://schemas.openxmlformats.org/officeDocument/2006/relationships/image" Target="../media/image84.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18.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0" y="577"/>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4" name="圆角矩形 3"/>
          <p:cNvSpPr/>
          <p:nvPr>
            <p:custDataLst>
              <p:tags r:id="rId2"/>
            </p:custDataLst>
          </p:nvPr>
        </p:nvSpPr>
        <p:spPr>
          <a:xfrm>
            <a:off x="48000" y="3841007"/>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State Abstraction via Deep Supervised Hash Learning</a:t>
            </a:r>
          </a:p>
        </p:txBody>
      </p:sp>
      <p:sp>
        <p:nvSpPr>
          <p:cNvPr id="5" name="圆角矩形 4"/>
          <p:cNvSpPr/>
          <p:nvPr>
            <p:custDataLst>
              <p:tags r:id="rId3"/>
            </p:custDataLst>
          </p:nvPr>
        </p:nvSpPr>
        <p:spPr>
          <a:xfrm>
            <a:off x="4031945" y="2324813"/>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latin typeface="Times New Roman" panose="02020603050405020304" pitchFamily="18" charset="0"/>
                <a:cs typeface="Times New Roman" panose="02020603050405020304" pitchFamily="18" charset="0"/>
              </a:rPr>
              <a:t>Sample Efficient Deep RL With Online State Abstraction and Causal Transformer Model Prediction</a:t>
            </a:r>
          </a:p>
        </p:txBody>
      </p:sp>
      <p:sp>
        <p:nvSpPr>
          <p:cNvPr id="6" name="圆角矩形 5"/>
          <p:cNvSpPr/>
          <p:nvPr>
            <p:custDataLst>
              <p:tags r:id="rId4"/>
            </p:custDataLst>
          </p:nvPr>
        </p:nvSpPr>
        <p:spPr>
          <a:xfrm>
            <a:off x="7948895" y="3841007"/>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latin typeface="Times New Roman" panose="02020603050405020304" pitchFamily="18" charset="0"/>
                <a:cs typeface="Times New Roman" panose="02020603050405020304" pitchFamily="18" charset="0"/>
              </a:rPr>
              <a:t>Cooperative Multi-Agent Learning for Navigation via Structured State Abstraction</a:t>
            </a:r>
          </a:p>
        </p:txBody>
      </p:sp>
      <p:sp>
        <p:nvSpPr>
          <p:cNvPr id="7" name="圆角矩形 6"/>
          <p:cNvSpPr/>
          <p:nvPr>
            <p:custDataLst>
              <p:tags r:id="rId5"/>
            </p:custDataLst>
          </p:nvPr>
        </p:nvSpPr>
        <p:spPr>
          <a:xfrm>
            <a:off x="7148170" y="5512618"/>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Robust Multi-Agent Reinforcement Learning by Mutual Information Regularization</a:t>
            </a:r>
          </a:p>
        </p:txBody>
      </p:sp>
      <p:sp>
        <p:nvSpPr>
          <p:cNvPr id="8" name="圆角矩形 7"/>
          <p:cNvSpPr/>
          <p:nvPr>
            <p:custDataLst>
              <p:tags r:id="rId6"/>
            </p:custDataLst>
          </p:nvPr>
        </p:nvSpPr>
        <p:spPr>
          <a:xfrm>
            <a:off x="867832" y="5512618"/>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Compact Goal Representation Learning via Information Bottleneck in Goal-Conditioned RL</a:t>
            </a:r>
          </a:p>
        </p:txBody>
      </p:sp>
      <p:sp>
        <p:nvSpPr>
          <p:cNvPr id="17" name="文本框 16"/>
          <p:cNvSpPr txBox="1"/>
          <p:nvPr/>
        </p:nvSpPr>
        <p:spPr>
          <a:xfrm>
            <a:off x="619449" y="493925"/>
            <a:ext cx="11186276" cy="823752"/>
          </a:xfrm>
          <a:prstGeom prst="rect">
            <a:avLst/>
          </a:prstGeom>
          <a:noFill/>
        </p:spPr>
        <p:txBody>
          <a:bodyPr wrap="square" rtlCol="0" anchor="t">
            <a:spAutoFit/>
          </a:bodyPr>
          <a:lstStyle/>
          <a:p>
            <a:pPr algn="ctr">
              <a:lnSpc>
                <a:spcPct val="150000"/>
              </a:lnSpc>
            </a:pPr>
            <a:r>
              <a:rPr lang="en-US" altLang="zh-CN" sz="3600" dirty="0">
                <a:solidFill>
                  <a:schemeClr val="bg1"/>
                </a:solidFill>
                <a:latin typeface="Times New Roman" panose="02020603050405020304" pitchFamily="18" charset="0"/>
                <a:cs typeface="Times New Roman" panose="02020603050405020304" pitchFamily="18" charset="0"/>
              </a:rPr>
              <a:t>State Abstraction for Efficient Reinforcement Learning</a:t>
            </a:r>
          </a:p>
        </p:txBody>
      </p:sp>
      <p:sp>
        <p:nvSpPr>
          <p:cNvPr id="2" name="文本框 1"/>
          <p:cNvSpPr txBox="1"/>
          <p:nvPr>
            <p:custDataLst>
              <p:tags r:id="rId7"/>
            </p:custDataLst>
          </p:nvPr>
        </p:nvSpPr>
        <p:spPr>
          <a:xfrm>
            <a:off x="1925021" y="3501000"/>
            <a:ext cx="421958" cy="330518"/>
          </a:xfrm>
          <a:prstGeom prst="rect">
            <a:avLst/>
          </a:prstGeom>
          <a:noFill/>
        </p:spPr>
        <p:txBody>
          <a:bodyPr wrap="none" rtlCol="0" anchor="t">
            <a:noAutofit/>
          </a:bodyPr>
          <a:lstStyle/>
          <a:p>
            <a:r>
              <a:rPr lang="zh-CN" altLang="en-US" b="1" dirty="0">
                <a:latin typeface="Times New Roman" panose="02020603050405020304" pitchFamily="18" charset="0"/>
                <a:cs typeface="Times New Roman" panose="02020603050405020304" pitchFamily="18" charset="0"/>
              </a:rPr>
              <a:t>①</a:t>
            </a:r>
          </a:p>
        </p:txBody>
      </p:sp>
      <p:sp>
        <p:nvSpPr>
          <p:cNvPr id="3" name="文本框 2"/>
          <p:cNvSpPr txBox="1"/>
          <p:nvPr>
            <p:custDataLst>
              <p:tags r:id="rId8"/>
            </p:custDataLst>
          </p:nvPr>
        </p:nvSpPr>
        <p:spPr>
          <a:xfrm>
            <a:off x="5912196" y="1989000"/>
            <a:ext cx="415498" cy="369332"/>
          </a:xfrm>
          <a:prstGeom prst="rect">
            <a:avLst/>
          </a:prstGeom>
          <a:noFill/>
        </p:spPr>
        <p:txBody>
          <a:bodyPr wrap="none" rtlCol="0" anchor="t">
            <a:spAutoFit/>
          </a:bodyPr>
          <a:lstStyle/>
          <a:p>
            <a:r>
              <a:rPr lang="zh-CN" altLang="en-US" b="1" dirty="0">
                <a:latin typeface="Times New Roman" panose="02020603050405020304" pitchFamily="18" charset="0"/>
                <a:cs typeface="Times New Roman" panose="02020603050405020304" pitchFamily="18" charset="0"/>
              </a:rPr>
              <a:t>②</a:t>
            </a:r>
          </a:p>
        </p:txBody>
      </p:sp>
      <p:sp>
        <p:nvSpPr>
          <p:cNvPr id="18" name="文本框 17"/>
          <p:cNvSpPr txBox="1"/>
          <p:nvPr>
            <p:custDataLst>
              <p:tags r:id="rId9"/>
            </p:custDataLst>
          </p:nvPr>
        </p:nvSpPr>
        <p:spPr>
          <a:xfrm>
            <a:off x="9829146" y="3490149"/>
            <a:ext cx="415498" cy="369332"/>
          </a:xfrm>
          <a:prstGeom prst="rect">
            <a:avLst/>
          </a:prstGeom>
          <a:noFill/>
        </p:spPr>
        <p:txBody>
          <a:bodyPr wrap="none" rtlCol="0" anchor="t">
            <a:spAutoFit/>
          </a:bodyPr>
          <a:lstStyle/>
          <a:p>
            <a:r>
              <a:rPr lang="zh-CN" altLang="en-US" b="1" dirty="0">
                <a:latin typeface="Times New Roman" panose="02020603050405020304" pitchFamily="18" charset="0"/>
                <a:cs typeface="Times New Roman" panose="02020603050405020304" pitchFamily="18" charset="0"/>
              </a:rPr>
              <a:t>③</a:t>
            </a:r>
          </a:p>
        </p:txBody>
      </p:sp>
      <p:grpSp>
        <p:nvGrpSpPr>
          <p:cNvPr id="22" name="组合 21"/>
          <p:cNvGrpSpPr/>
          <p:nvPr/>
        </p:nvGrpSpPr>
        <p:grpSpPr>
          <a:xfrm>
            <a:off x="-1" y="6567088"/>
            <a:ext cx="12192001" cy="277630"/>
            <a:chOff x="0" y="6582538"/>
            <a:chExt cx="9144000" cy="262328"/>
          </a:xfrm>
        </p:grpSpPr>
        <p:sp>
          <p:nvSpPr>
            <p:cNvPr id="23" name="矩形 22"/>
            <p:cNvSpPr/>
            <p:nvPr/>
          </p:nvSpPr>
          <p:spPr>
            <a:xfrm>
              <a:off x="8856000" y="6583135"/>
              <a:ext cx="288000" cy="261731"/>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82538"/>
              <a:ext cx="8854294" cy="26173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0EA3EDF8-A31B-4C11-23F6-C930F3038FB7}"/>
              </a:ext>
            </a:extLst>
          </p:cNvPr>
          <p:cNvSpPr txBox="1"/>
          <p:nvPr/>
        </p:nvSpPr>
        <p:spPr>
          <a:xfrm>
            <a:off x="2748083" y="5157000"/>
            <a:ext cx="415498"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④</a:t>
            </a:r>
          </a:p>
        </p:txBody>
      </p:sp>
      <p:sp>
        <p:nvSpPr>
          <p:cNvPr id="10" name="文本框 9">
            <a:extLst>
              <a:ext uri="{FF2B5EF4-FFF2-40B4-BE49-F238E27FC236}">
                <a16:creationId xmlns:a16="http://schemas.microsoft.com/office/drawing/2014/main" id="{826A15C5-3A5A-A457-4CF0-160A1FBF9BC1}"/>
              </a:ext>
            </a:extLst>
          </p:cNvPr>
          <p:cNvSpPr txBox="1"/>
          <p:nvPr/>
        </p:nvSpPr>
        <p:spPr>
          <a:xfrm>
            <a:off x="9028421" y="5165402"/>
            <a:ext cx="415498" cy="369332"/>
          </a:xfrm>
          <a:prstGeom prst="rect">
            <a:avLst/>
          </a:prstGeom>
          <a:noFill/>
        </p:spPr>
        <p:txBody>
          <a:bodyPr wrap="none" rtlCol="0">
            <a:spAutoFit/>
          </a:bodyPr>
          <a:lstStyle/>
          <a:p>
            <a:r>
              <a:rPr lang="zh-CN" altLang="en-US" b="1" dirty="0"/>
              <a:t>⑤</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 y="6553200"/>
            <a:ext cx="12192001" cy="304800"/>
            <a:chOff x="0" y="6569404"/>
            <a:chExt cx="9144000" cy="288000"/>
          </a:xfrm>
        </p:grpSpPr>
        <p:sp>
          <p:nvSpPr>
            <p:cNvPr id="23"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grpSp>
        <p:nvGrpSpPr>
          <p:cNvPr id="17" name="组合 16">
            <a:extLst>
              <a:ext uri="{FF2B5EF4-FFF2-40B4-BE49-F238E27FC236}">
                <a16:creationId xmlns:a16="http://schemas.microsoft.com/office/drawing/2014/main" id="{15A8150D-1F1F-5930-2D22-1A80722F24BA}"/>
              </a:ext>
            </a:extLst>
          </p:cNvPr>
          <p:cNvGrpSpPr/>
          <p:nvPr/>
        </p:nvGrpSpPr>
        <p:grpSpPr>
          <a:xfrm>
            <a:off x="48000" y="-9294"/>
            <a:ext cx="4176000" cy="1276007"/>
            <a:chOff x="48000" y="-9294"/>
            <a:chExt cx="4176000" cy="1276007"/>
          </a:xfrm>
        </p:grpSpPr>
        <p:sp>
          <p:nvSpPr>
            <p:cNvPr id="3" name="圆角矩形 3">
              <a:extLst>
                <a:ext uri="{FF2B5EF4-FFF2-40B4-BE49-F238E27FC236}">
                  <a16:creationId xmlns:a16="http://schemas.microsoft.com/office/drawing/2014/main" id="{8BBEA28C-BDD9-18AC-FE4F-31B715E2C335}"/>
                </a:ext>
              </a:extLst>
            </p:cNvPr>
            <p:cNvSpPr/>
            <p:nvPr>
              <p:custDataLst>
                <p:tags r:id="rId8"/>
              </p:custDataLst>
            </p:nvPr>
          </p:nvSpPr>
          <p:spPr>
            <a:xfrm>
              <a:off x="48000" y="330713"/>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State Abstraction via Deep Supervised Hash Learning</a:t>
              </a:r>
            </a:p>
          </p:txBody>
        </p:sp>
        <p:sp>
          <p:nvSpPr>
            <p:cNvPr id="8" name="文本框 7">
              <a:extLst>
                <a:ext uri="{FF2B5EF4-FFF2-40B4-BE49-F238E27FC236}">
                  <a16:creationId xmlns:a16="http://schemas.microsoft.com/office/drawing/2014/main" id="{4429BA12-2EF3-C435-04B1-1ABD54A279D2}"/>
                </a:ext>
              </a:extLst>
            </p:cNvPr>
            <p:cNvSpPr txBox="1"/>
            <p:nvPr>
              <p:custDataLst>
                <p:tags r:id="rId9"/>
              </p:custDataLst>
            </p:nvPr>
          </p:nvSpPr>
          <p:spPr>
            <a:xfrm>
              <a:off x="1925021" y="-9294"/>
              <a:ext cx="421958" cy="330518"/>
            </a:xfrm>
            <a:prstGeom prst="rect">
              <a:avLst/>
            </a:prstGeom>
            <a:noFill/>
          </p:spPr>
          <p:txBody>
            <a:bodyPr wrap="none" rtlCol="0" anchor="t">
              <a:noAutofit/>
            </a:bodyPr>
            <a:lstStyle/>
            <a:p>
              <a:r>
                <a:rPr lang="zh-CN" altLang="en-US" b="1" dirty="0">
                  <a:latin typeface="Times New Roman" panose="02020603050405020304" pitchFamily="18" charset="0"/>
                  <a:cs typeface="Times New Roman" panose="02020603050405020304" pitchFamily="18" charset="0"/>
                </a:rPr>
                <a:t>①</a:t>
              </a:r>
            </a:p>
          </p:txBody>
        </p:sp>
      </p:grpSp>
      <p:grpSp>
        <p:nvGrpSpPr>
          <p:cNvPr id="16" name="组合 15">
            <a:extLst>
              <a:ext uri="{FF2B5EF4-FFF2-40B4-BE49-F238E27FC236}">
                <a16:creationId xmlns:a16="http://schemas.microsoft.com/office/drawing/2014/main" id="{CF3B8A4A-164A-BC1E-82BE-CF3FF92D696E}"/>
              </a:ext>
            </a:extLst>
          </p:cNvPr>
          <p:cNvGrpSpPr/>
          <p:nvPr/>
        </p:nvGrpSpPr>
        <p:grpSpPr>
          <a:xfrm>
            <a:off x="2028069" y="1299479"/>
            <a:ext cx="4176000" cy="1271813"/>
            <a:chOff x="2136000" y="1304137"/>
            <a:chExt cx="4176000" cy="1271813"/>
          </a:xfrm>
        </p:grpSpPr>
        <p:sp>
          <p:nvSpPr>
            <p:cNvPr id="4" name="圆角矩形 4">
              <a:extLst>
                <a:ext uri="{FF2B5EF4-FFF2-40B4-BE49-F238E27FC236}">
                  <a16:creationId xmlns:a16="http://schemas.microsoft.com/office/drawing/2014/main" id="{07CAE94B-6EDA-B374-E8B2-03D7EFC8FF13}"/>
                </a:ext>
              </a:extLst>
            </p:cNvPr>
            <p:cNvSpPr/>
            <p:nvPr>
              <p:custDataLst>
                <p:tags r:id="rId6"/>
              </p:custDataLst>
            </p:nvPr>
          </p:nvSpPr>
          <p:spPr>
            <a:xfrm>
              <a:off x="2136000" y="1639950"/>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latin typeface="Times New Roman" panose="02020603050405020304" pitchFamily="18" charset="0"/>
                  <a:cs typeface="Times New Roman" panose="02020603050405020304" pitchFamily="18" charset="0"/>
                </a:rPr>
                <a:t>Sample Efficient Deep RL With Online State Abstraction and Causal Transformer Model Prediction</a:t>
              </a:r>
            </a:p>
          </p:txBody>
        </p:sp>
        <p:sp>
          <p:nvSpPr>
            <p:cNvPr id="9" name="文本框 8">
              <a:extLst>
                <a:ext uri="{FF2B5EF4-FFF2-40B4-BE49-F238E27FC236}">
                  <a16:creationId xmlns:a16="http://schemas.microsoft.com/office/drawing/2014/main" id="{56B83D85-9F77-A630-81CC-DE0710A83E9F}"/>
                </a:ext>
              </a:extLst>
            </p:cNvPr>
            <p:cNvSpPr txBox="1"/>
            <p:nvPr>
              <p:custDataLst>
                <p:tags r:id="rId7"/>
              </p:custDataLst>
            </p:nvPr>
          </p:nvSpPr>
          <p:spPr>
            <a:xfrm>
              <a:off x="4016251" y="1304137"/>
              <a:ext cx="415498" cy="369332"/>
            </a:xfrm>
            <a:prstGeom prst="rect">
              <a:avLst/>
            </a:prstGeom>
            <a:noFill/>
          </p:spPr>
          <p:txBody>
            <a:bodyPr wrap="none" rtlCol="0" anchor="t">
              <a:spAutoFit/>
            </a:bodyPr>
            <a:lstStyle/>
            <a:p>
              <a:r>
                <a:rPr lang="zh-CN" altLang="en-US" b="1" dirty="0">
                  <a:latin typeface="Times New Roman" panose="02020603050405020304" pitchFamily="18" charset="0"/>
                  <a:cs typeface="Times New Roman" panose="02020603050405020304" pitchFamily="18" charset="0"/>
                </a:rPr>
                <a:t>②</a:t>
              </a:r>
            </a:p>
          </p:txBody>
        </p:sp>
      </p:grpSp>
      <p:grpSp>
        <p:nvGrpSpPr>
          <p:cNvPr id="15" name="组合 14">
            <a:extLst>
              <a:ext uri="{FF2B5EF4-FFF2-40B4-BE49-F238E27FC236}">
                <a16:creationId xmlns:a16="http://schemas.microsoft.com/office/drawing/2014/main" id="{401A85B8-6BEB-9C56-8340-42207127F946}"/>
              </a:ext>
            </a:extLst>
          </p:cNvPr>
          <p:cNvGrpSpPr/>
          <p:nvPr/>
        </p:nvGrpSpPr>
        <p:grpSpPr>
          <a:xfrm>
            <a:off x="4008138" y="2604058"/>
            <a:ext cx="4176000" cy="1286858"/>
            <a:chOff x="4224000" y="2510053"/>
            <a:chExt cx="4176000" cy="1286858"/>
          </a:xfrm>
        </p:grpSpPr>
        <p:sp>
          <p:nvSpPr>
            <p:cNvPr id="5" name="圆角矩形 5">
              <a:extLst>
                <a:ext uri="{FF2B5EF4-FFF2-40B4-BE49-F238E27FC236}">
                  <a16:creationId xmlns:a16="http://schemas.microsoft.com/office/drawing/2014/main" id="{4C1FAB4B-AB90-2F43-9E51-F06AF0726037}"/>
                </a:ext>
              </a:extLst>
            </p:cNvPr>
            <p:cNvSpPr/>
            <p:nvPr>
              <p:custDataLst>
                <p:tags r:id="rId4"/>
              </p:custDataLst>
            </p:nvPr>
          </p:nvSpPr>
          <p:spPr>
            <a:xfrm>
              <a:off x="4224000" y="2860911"/>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latin typeface="Times New Roman" panose="02020603050405020304" pitchFamily="18" charset="0"/>
                  <a:cs typeface="Times New Roman" panose="02020603050405020304" pitchFamily="18" charset="0"/>
                </a:rPr>
                <a:t>Cooperative Multi-Agent Learning for Navigation via Structured State Abstraction</a:t>
              </a:r>
            </a:p>
          </p:txBody>
        </p:sp>
        <p:sp>
          <p:nvSpPr>
            <p:cNvPr id="10" name="文本框 9">
              <a:extLst>
                <a:ext uri="{FF2B5EF4-FFF2-40B4-BE49-F238E27FC236}">
                  <a16:creationId xmlns:a16="http://schemas.microsoft.com/office/drawing/2014/main" id="{4F1317DC-6E12-A2C5-3667-7D3A108772BD}"/>
                </a:ext>
              </a:extLst>
            </p:cNvPr>
            <p:cNvSpPr txBox="1"/>
            <p:nvPr>
              <p:custDataLst>
                <p:tags r:id="rId5"/>
              </p:custDataLst>
            </p:nvPr>
          </p:nvSpPr>
          <p:spPr>
            <a:xfrm>
              <a:off x="6104251" y="2510053"/>
              <a:ext cx="415498" cy="369332"/>
            </a:xfrm>
            <a:prstGeom prst="rect">
              <a:avLst/>
            </a:prstGeom>
            <a:noFill/>
          </p:spPr>
          <p:txBody>
            <a:bodyPr wrap="none" rtlCol="0" anchor="t">
              <a:spAutoFit/>
            </a:bodyPr>
            <a:lstStyle/>
            <a:p>
              <a:r>
                <a:rPr lang="zh-CN" altLang="en-US" b="1" dirty="0">
                  <a:latin typeface="Times New Roman" panose="02020603050405020304" pitchFamily="18" charset="0"/>
                  <a:cs typeface="Times New Roman" panose="02020603050405020304" pitchFamily="18" charset="0"/>
                </a:rPr>
                <a:t>③</a:t>
              </a:r>
            </a:p>
          </p:txBody>
        </p:sp>
      </p:grpSp>
      <p:grpSp>
        <p:nvGrpSpPr>
          <p:cNvPr id="14" name="组合 13">
            <a:extLst>
              <a:ext uri="{FF2B5EF4-FFF2-40B4-BE49-F238E27FC236}">
                <a16:creationId xmlns:a16="http://schemas.microsoft.com/office/drawing/2014/main" id="{11E035CB-C76C-45D5-D032-DFF358EDE16C}"/>
              </a:ext>
            </a:extLst>
          </p:cNvPr>
          <p:cNvGrpSpPr/>
          <p:nvPr/>
        </p:nvGrpSpPr>
        <p:grpSpPr>
          <a:xfrm>
            <a:off x="5988207" y="3923682"/>
            <a:ext cx="4176000" cy="1291618"/>
            <a:chOff x="6312000" y="3494912"/>
            <a:chExt cx="4176000" cy="1291618"/>
          </a:xfrm>
        </p:grpSpPr>
        <p:sp>
          <p:nvSpPr>
            <p:cNvPr id="7" name="圆角矩形 7">
              <a:extLst>
                <a:ext uri="{FF2B5EF4-FFF2-40B4-BE49-F238E27FC236}">
                  <a16:creationId xmlns:a16="http://schemas.microsoft.com/office/drawing/2014/main" id="{D1A53AB9-A0FA-69D4-813B-70A337FB181D}"/>
                </a:ext>
              </a:extLst>
            </p:cNvPr>
            <p:cNvSpPr/>
            <p:nvPr>
              <p:custDataLst>
                <p:tags r:id="rId3"/>
              </p:custDataLst>
            </p:nvPr>
          </p:nvSpPr>
          <p:spPr>
            <a:xfrm>
              <a:off x="6312000" y="3850530"/>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Compact Goal Representation Learning via Information Bottleneck in Goal-Conditioned RL</a:t>
              </a:r>
            </a:p>
          </p:txBody>
        </p:sp>
        <p:sp>
          <p:nvSpPr>
            <p:cNvPr id="11" name="文本框 10">
              <a:extLst>
                <a:ext uri="{FF2B5EF4-FFF2-40B4-BE49-F238E27FC236}">
                  <a16:creationId xmlns:a16="http://schemas.microsoft.com/office/drawing/2014/main" id="{CB0E617A-9538-0BCE-0702-5F8F551A3215}"/>
                </a:ext>
              </a:extLst>
            </p:cNvPr>
            <p:cNvSpPr txBox="1"/>
            <p:nvPr/>
          </p:nvSpPr>
          <p:spPr>
            <a:xfrm>
              <a:off x="8192251" y="3494912"/>
              <a:ext cx="415498" cy="369332"/>
            </a:xfrm>
            <a:prstGeom prst="rect">
              <a:avLst/>
            </a:prstGeom>
            <a:noFill/>
          </p:spPr>
          <p:txBody>
            <a:bodyPr wrap="none" rtlCol="0">
              <a:spAutoFit/>
            </a:bodyPr>
            <a:lstStyle/>
            <a:p>
              <a:r>
                <a:rPr lang="zh-CN" altLang="en-US" b="1" dirty="0">
                  <a:latin typeface="Times New Roman" panose="02020603050405020304" pitchFamily="18" charset="0"/>
                  <a:cs typeface="Times New Roman" panose="02020603050405020304" pitchFamily="18" charset="0"/>
                </a:rPr>
                <a:t>④</a:t>
              </a:r>
            </a:p>
          </p:txBody>
        </p:sp>
      </p:grpSp>
      <p:grpSp>
        <p:nvGrpSpPr>
          <p:cNvPr id="13" name="组合 12">
            <a:extLst>
              <a:ext uri="{FF2B5EF4-FFF2-40B4-BE49-F238E27FC236}">
                <a16:creationId xmlns:a16="http://schemas.microsoft.com/office/drawing/2014/main" id="{C7CE8AFD-C465-E032-706A-F985483BE1D4}"/>
              </a:ext>
            </a:extLst>
          </p:cNvPr>
          <p:cNvGrpSpPr/>
          <p:nvPr/>
        </p:nvGrpSpPr>
        <p:grpSpPr>
          <a:xfrm>
            <a:off x="7968277" y="5248065"/>
            <a:ext cx="4176000" cy="1283216"/>
            <a:chOff x="8038165" y="4927863"/>
            <a:chExt cx="4176000" cy="1283216"/>
          </a:xfrm>
        </p:grpSpPr>
        <p:sp>
          <p:nvSpPr>
            <p:cNvPr id="6" name="圆角矩形 6">
              <a:extLst>
                <a:ext uri="{FF2B5EF4-FFF2-40B4-BE49-F238E27FC236}">
                  <a16:creationId xmlns:a16="http://schemas.microsoft.com/office/drawing/2014/main" id="{DE8EF564-BBC0-D7C4-CA28-997999FB18DC}"/>
                </a:ext>
              </a:extLst>
            </p:cNvPr>
            <p:cNvSpPr/>
            <p:nvPr>
              <p:custDataLst>
                <p:tags r:id="rId2"/>
              </p:custDataLst>
            </p:nvPr>
          </p:nvSpPr>
          <p:spPr>
            <a:xfrm>
              <a:off x="8038165" y="5275079"/>
              <a:ext cx="4176000" cy="936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Robust Multi-Agent Reinforcement Learning by Mutual Information Regularization</a:t>
              </a:r>
            </a:p>
          </p:txBody>
        </p:sp>
        <p:sp>
          <p:nvSpPr>
            <p:cNvPr id="12" name="文本框 11">
              <a:extLst>
                <a:ext uri="{FF2B5EF4-FFF2-40B4-BE49-F238E27FC236}">
                  <a16:creationId xmlns:a16="http://schemas.microsoft.com/office/drawing/2014/main" id="{ABAAB436-C95E-6ECE-99DC-C867D4991401}"/>
                </a:ext>
              </a:extLst>
            </p:cNvPr>
            <p:cNvSpPr txBox="1"/>
            <p:nvPr/>
          </p:nvSpPr>
          <p:spPr>
            <a:xfrm>
              <a:off x="9918416" y="4927863"/>
              <a:ext cx="415498" cy="369332"/>
            </a:xfrm>
            <a:prstGeom prst="rect">
              <a:avLst/>
            </a:prstGeom>
            <a:noFill/>
          </p:spPr>
          <p:txBody>
            <a:bodyPr wrap="none" rtlCol="0">
              <a:spAutoFit/>
            </a:bodyPr>
            <a:lstStyle/>
            <a:p>
              <a:r>
                <a:rPr lang="zh-CN" altLang="en-US" b="1" dirty="0"/>
                <a:t>⑤</a:t>
              </a:r>
            </a:p>
          </p:txBody>
        </p:sp>
      </p:grpSp>
      <p:sp>
        <p:nvSpPr>
          <p:cNvPr id="21" name="箭头: 下 20">
            <a:extLst>
              <a:ext uri="{FF2B5EF4-FFF2-40B4-BE49-F238E27FC236}">
                <a16:creationId xmlns:a16="http://schemas.microsoft.com/office/drawing/2014/main" id="{F47F4EBC-AB1A-5FD3-96CD-CEF5E07F1C4D}"/>
              </a:ext>
            </a:extLst>
          </p:cNvPr>
          <p:cNvSpPr/>
          <p:nvPr/>
        </p:nvSpPr>
        <p:spPr>
          <a:xfrm rot="18259333">
            <a:off x="7849806" y="-1456749"/>
            <a:ext cx="648000" cy="8300257"/>
          </a:xfrm>
          <a:prstGeom prst="downArrow">
            <a:avLst>
              <a:gd name="adj1" fmla="val 44758"/>
              <a:gd name="adj2" fmla="val 86252"/>
            </a:avLst>
          </a:prstGeom>
          <a:gradFill flip="none" rotWithShape="1">
            <a:gsLst>
              <a:gs pos="0">
                <a:srgbClr val="0174AB">
                  <a:shade val="30000"/>
                  <a:satMod val="115000"/>
                </a:srgbClr>
              </a:gs>
              <a:gs pos="50000">
                <a:srgbClr val="0174AB">
                  <a:shade val="67500"/>
                  <a:satMod val="115000"/>
                </a:srgbClr>
              </a:gs>
              <a:gs pos="100000">
                <a:srgbClr val="0174AB">
                  <a:shade val="100000"/>
                  <a:satMod val="115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36DE75E2-BF55-47EB-E55F-AE53E11669E3}"/>
              </a:ext>
            </a:extLst>
          </p:cNvPr>
          <p:cNvSpPr txBox="1"/>
          <p:nvPr/>
        </p:nvSpPr>
        <p:spPr>
          <a:xfrm>
            <a:off x="254362" y="3645000"/>
            <a:ext cx="5193638" cy="2585323"/>
          </a:xfrm>
          <a:prstGeom prst="rect">
            <a:avLst/>
          </a:prstGeom>
          <a:noFill/>
        </p:spPr>
        <p:txBody>
          <a:bodyPr wrap="square" rtlCol="0">
            <a:spAutoFit/>
          </a:bodyPr>
          <a:lstStyle/>
          <a:p>
            <a:pPr marL="171450" indent="-171450" algn="just">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State Abstraction.</a:t>
            </a:r>
          </a:p>
          <a:p>
            <a:pPr algn="just"/>
            <a:endParaRPr lang="en-US" altLang="zh-CN"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State Abstraction + World Model.</a:t>
            </a:r>
          </a:p>
          <a:p>
            <a:pPr marL="171450" indent="-171450" algn="just">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State Abstraction + Multi-Agent Communication.</a:t>
            </a:r>
          </a:p>
          <a:p>
            <a:pPr marL="171450" indent="-171450" algn="just">
              <a:buFont typeface="Wingdings" panose="05000000000000000000" pitchFamily="2" charset="2"/>
              <a:buChar char="Ø"/>
            </a:pPr>
            <a:endParaRPr lang="en-US" altLang="zh-CN"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Information Bottleneck for Goal Representation.</a:t>
            </a:r>
          </a:p>
          <a:p>
            <a:pPr algn="just"/>
            <a:endParaRPr lang="en-US" altLang="zh-CN"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Mutual Information  for Robust MARL.</a:t>
            </a:r>
            <a:endParaRPr lang="zh-CN" altLang="en-US"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4" name="组合 3"/>
          <p:cNvGrpSpPr/>
          <p:nvPr/>
        </p:nvGrpSpPr>
        <p:grpSpPr>
          <a:xfrm>
            <a:off x="-23999" y="1960245"/>
            <a:ext cx="12239891" cy="2045019"/>
            <a:chOff x="1522095" y="1960245"/>
            <a:chExt cx="914781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9" name="文本框 8"/>
            <p:cNvSpPr txBox="1"/>
            <p:nvPr/>
          </p:nvSpPr>
          <p:spPr>
            <a:xfrm>
              <a:off x="2114017" y="2410559"/>
              <a:ext cx="8465634" cy="661207"/>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State Abstraction via Deep Supervised Hash Learning</a:t>
              </a:r>
            </a:p>
          </p:txBody>
        </p:sp>
        <p:sp>
          <p:nvSpPr>
            <p:cNvPr id="3" name="文本框 2"/>
            <p:cNvSpPr txBox="1"/>
            <p:nvPr/>
          </p:nvSpPr>
          <p:spPr>
            <a:xfrm>
              <a:off x="1683454" y="3629660"/>
              <a:ext cx="8074576" cy="338554"/>
            </a:xfrm>
            <a:prstGeom prst="rect">
              <a:avLst/>
            </a:prstGeom>
            <a:noFill/>
          </p:spPr>
          <p:txBody>
            <a:bodyPr wrap="square" rtlCol="0">
              <a:spAutoFit/>
            </a:bodyPr>
            <a:lstStyle/>
            <a:p>
              <a:r>
                <a:rPr lang="en-US" altLang="zh-CN" sz="1600" dirty="0">
                  <a:solidFill>
                    <a:schemeClr val="bg1"/>
                  </a:solidFill>
                  <a:latin typeface="Times New Roman" panose="02020603050405020304" pitchFamily="18" charset="0"/>
                  <a:cs typeface="Times New Roman" panose="02020603050405020304" pitchFamily="18" charset="0"/>
                </a:rPr>
                <a:t>Guang Yang, Zheng Xu, Jing Huo, </a:t>
              </a:r>
              <a:r>
                <a:rPr lang="en-US" altLang="zh-CN" sz="1600" dirty="0" err="1">
                  <a:solidFill>
                    <a:schemeClr val="bg1"/>
                  </a:solidFill>
                  <a:latin typeface="Times New Roman" panose="02020603050405020304" pitchFamily="18" charset="0"/>
                  <a:cs typeface="Times New Roman" panose="02020603050405020304" pitchFamily="18" charset="0"/>
                </a:rPr>
                <a:t>Shangdong</a:t>
              </a:r>
              <a:r>
                <a:rPr lang="en-US" altLang="zh-CN" sz="1600" dirty="0">
                  <a:solidFill>
                    <a:schemeClr val="bg1"/>
                  </a:solidFill>
                  <a:latin typeface="Times New Roman" panose="02020603050405020304" pitchFamily="18" charset="0"/>
                  <a:cs typeface="Times New Roman" panose="02020603050405020304" pitchFamily="18" charset="0"/>
                </a:rPr>
                <a:t> Yang, Tianyu Ding, </a:t>
              </a:r>
              <a:r>
                <a:rPr lang="en-US" altLang="zh-CN" sz="1600" dirty="0" err="1">
                  <a:solidFill>
                    <a:schemeClr val="bg1"/>
                  </a:solidFill>
                  <a:latin typeface="Times New Roman" panose="02020603050405020304" pitchFamily="18" charset="0"/>
                  <a:cs typeface="Times New Roman" panose="02020603050405020304" pitchFamily="18" charset="0"/>
                </a:rPr>
                <a:t>Xingguo</a:t>
              </a:r>
              <a:r>
                <a:rPr lang="en-US" altLang="zh-CN" sz="1600" dirty="0">
                  <a:solidFill>
                    <a:schemeClr val="bg1"/>
                  </a:solidFill>
                  <a:latin typeface="Times New Roman" panose="02020603050405020304" pitchFamily="18" charset="0"/>
                  <a:cs typeface="Times New Roman" panose="02020603050405020304" pitchFamily="18" charset="0"/>
                </a:rPr>
                <a:t> Chen, and Yang Gao, Senior Member, IEEE</a:t>
              </a:r>
            </a:p>
          </p:txBody>
        </p:sp>
      </p:grpSp>
      <p:sp>
        <p:nvSpPr>
          <p:cNvPr id="5" name="文本框 4"/>
          <p:cNvSpPr txBox="1"/>
          <p:nvPr/>
        </p:nvSpPr>
        <p:spPr>
          <a:xfrm>
            <a:off x="387985" y="4549775"/>
            <a:ext cx="11214735" cy="1631216"/>
          </a:xfrm>
          <a:prstGeom prst="rect">
            <a:avLst/>
          </a:prstGeom>
          <a:noFill/>
        </p:spPr>
        <p:txBody>
          <a:bodyPr wrap="square" rtlCol="0">
            <a:spAutoFit/>
          </a:bodyPr>
          <a:lstStyle/>
          <a:p>
            <a:pPr indent="0" algn="just" fontAlgn="auto">
              <a:spcAft>
                <a:spcPts val="600"/>
              </a:spcAft>
            </a:pPr>
            <a:r>
              <a:rPr lang="en-US" altLang="zh-CN" b="1" dirty="0">
                <a:latin typeface="Times New Roman" panose="02020603050405020304" pitchFamily="18" charset="0"/>
                <a:cs typeface="Times New Roman" panose="02020603050405020304" pitchFamily="18" charset="0"/>
              </a:rPr>
              <a:t>This paper was published in:</a:t>
            </a:r>
            <a:r>
              <a:rPr lang="en-US" altLang="zh-CN" dirty="0">
                <a:latin typeface="Times New Roman" panose="02020603050405020304" pitchFamily="18" charset="0"/>
                <a:cs typeface="Times New Roman" panose="02020603050405020304" pitchFamily="18" charset="0"/>
              </a:rPr>
              <a:t> IEEE Transactions on Neural Networks and Learning Systems (IF: 9.7) </a:t>
            </a:r>
          </a:p>
          <a:p>
            <a:pPr indent="0" algn="just" fontAlgn="auto">
              <a:spcAft>
                <a:spcPts val="600"/>
              </a:spcAft>
            </a:pPr>
            <a:r>
              <a:rPr lang="en-US" altLang="zh-CN" b="1" dirty="0">
                <a:latin typeface="Times New Roman" panose="02020603050405020304" pitchFamily="18" charset="0"/>
                <a:cs typeface="Times New Roman" panose="02020603050405020304" pitchFamily="18" charset="0"/>
              </a:rPr>
              <a:t>Published Time:</a:t>
            </a:r>
            <a:r>
              <a:rPr lang="en-US" altLang="zh-CN" dirty="0">
                <a:latin typeface="Times New Roman" panose="02020603050405020304" pitchFamily="18" charset="0"/>
                <a:cs typeface="Times New Roman" panose="02020603050405020304" pitchFamily="18" charset="0"/>
              </a:rPr>
              <a:t> 2025</a:t>
            </a:r>
          </a:p>
          <a:p>
            <a:pPr indent="0" algn="just" fontAlgn="auto">
              <a:spcAft>
                <a:spcPts val="600"/>
              </a:spcAft>
            </a:pPr>
            <a:r>
              <a:rPr lang="en-US" altLang="zh-CN" b="1" dirty="0">
                <a:latin typeface="Times New Roman" panose="02020603050405020304" pitchFamily="18" charset="0"/>
                <a:cs typeface="Times New Roman" panose="02020603050405020304" pitchFamily="18" charset="0"/>
                <a:sym typeface="+mn-ea"/>
              </a:rPr>
              <a:t>Reference:</a:t>
            </a:r>
            <a:r>
              <a:rPr lang="en-US" altLang="zh-CN"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rPr>
              <a:t>G. Yang, Z. Xu, J. Huo, S. Yang, T. Ding, X. Chen, and Y. Gao, “State Abstraction via Deep Supervised Hash Learning,” IEEE Transactions on Neural Networks and Learning Systems, vol. 36, no. 7, pp. 13608–13614, Jul. 2025, </a:t>
            </a:r>
            <a:r>
              <a:rPr lang="en-US" altLang="zh-CN" dirty="0" err="1">
                <a:latin typeface="Times New Roman" panose="02020603050405020304" pitchFamily="18" charset="0"/>
                <a:cs typeface="Times New Roman" panose="02020603050405020304" pitchFamily="18" charset="0"/>
              </a:rPr>
              <a:t>doi</a:t>
            </a:r>
            <a:r>
              <a:rPr lang="en-US" altLang="zh-CN" dirty="0">
                <a:latin typeface="Times New Roman" panose="02020603050405020304" pitchFamily="18" charset="0"/>
                <a:cs typeface="Times New Roman" panose="02020603050405020304" pitchFamily="18" charset="0"/>
              </a:rPr>
              <a:t>: 10.1109/TNNLS.2024.3467338.</a:t>
            </a:r>
          </a:p>
        </p:txBody>
      </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1</a:t>
            </a: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42537" y="3273524"/>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45395" y="4042286"/>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5" name="图片 24"/>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97205" y="847090"/>
            <a:ext cx="11060430" cy="1791324"/>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Challenge: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Large or high-dimensional state spaces make policy learning expensive and sample inefficient.</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Model-based abstraction requires learning transition/reward models, while existing model-free similarity metrics can be unstable or biased.</a:t>
            </a:r>
          </a:p>
        </p:txBody>
      </p:sp>
      <p:sp>
        <p:nvSpPr>
          <p:cNvPr id="2" name="文本框 1"/>
          <p:cNvSpPr txBox="1"/>
          <p:nvPr/>
        </p:nvSpPr>
        <p:spPr>
          <a:xfrm>
            <a:off x="473140" y="3227668"/>
            <a:ext cx="11060430" cy="225298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Method: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Use deep supervised hash learning (DSH) to map states into compact binary-like codes.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Construct pairwise supervision directly from target-network Q values, avoiding an explicit environment model or expert policy.</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Optimize DSH as an auxiliary loss for DQN and SAC, with a theoretical near-optimality bound.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456D0-4780-500C-6213-F6EBE444661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415F9AB-EE41-DA92-4CDE-D15A31A8E439}"/>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A1C1E33-4DD1-C317-803A-86C2A95C5B9B}"/>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496124BA-06E8-3C88-9C2D-99D7B1D793CB}"/>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A8117CE1-81DD-87DC-583A-1F147B96EE0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07AB16F0-8BE8-276E-17E8-902C45E4539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EA695F05-49C8-3D09-53DE-B11D0E0E4297}"/>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31AB7578-0960-0766-08A0-FEB9B11FEAEA}"/>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dirty="0">
                <a:solidFill>
                  <a:srgbClr val="0174AB"/>
                </a:solidFill>
                <a:latin typeface="Times New Roman"/>
              </a:rPr>
              <a:t>State Abstraction in Markov Decision Processes</a:t>
            </a:r>
          </a:p>
        </p:txBody>
      </p:sp>
      <p:sp>
        <p:nvSpPr>
          <p:cNvPr id="9" name="Rectangle 73">
            <a:extLst>
              <a:ext uri="{FF2B5EF4-FFF2-40B4-BE49-F238E27FC236}">
                <a16:creationId xmlns:a16="http://schemas.microsoft.com/office/drawing/2014/main" id="{ECA4BFC9-50E1-3A59-EF20-B22AFE2B1DAF}"/>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Rounded Rectangle 74">
                <a:extLst>
                  <a:ext uri="{FF2B5EF4-FFF2-40B4-BE49-F238E27FC236}">
                    <a16:creationId xmlns:a16="http://schemas.microsoft.com/office/drawing/2014/main" id="{6C13BC72-252A-EF5C-4C78-78311C97415F}"/>
                  </a:ext>
                </a:extLst>
              </p:cNvPr>
              <p:cNvSpPr/>
              <p:nvPr/>
            </p:nvSpPr>
            <p:spPr>
              <a:xfrm>
                <a:off x="502920" y="1481328"/>
                <a:ext cx="5486400" cy="4434840"/>
              </a:xfrm>
              <a:prstGeom prst="roundRect">
                <a:avLst>
                  <a:gd name="adj" fmla="val 6156"/>
                </a:avLst>
              </a:prstGeom>
              <a:solidFill>
                <a:srgbClr val="F5F5F5"/>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just">
                  <a:lnSpc>
                    <a:spcPct val="105000"/>
                  </a:lnSpc>
                  <a:spcAft>
                    <a:spcPts val="700"/>
                  </a:spcAft>
                </a:pPr>
                <a:r>
                  <a:rPr sz="1800" b="1" dirty="0">
                    <a:solidFill>
                      <a:srgbClr val="0174AB"/>
                    </a:solidFill>
                    <a:latin typeface="Times New Roman"/>
                  </a:rPr>
                  <a:t>• </a:t>
                </a:r>
                <a:r>
                  <a:rPr sz="1800" b="1" dirty="0">
                    <a:solidFill>
                      <a:srgbClr val="111111"/>
                    </a:solidFill>
                    <a:latin typeface="Times New Roman"/>
                  </a:rPr>
                  <a:t>Mapping: </a:t>
                </a:r>
                <a14:m>
                  <m:oMath xmlns:m="http://schemas.openxmlformats.org/officeDocument/2006/math">
                    <m:r>
                      <a:rPr lang="zh-CN" altLang="en-US" sz="1800" i="1" dirty="0" smtClean="0">
                        <a:solidFill>
                          <a:srgbClr val="111111"/>
                        </a:solidFill>
                        <a:latin typeface="Cambria Math" panose="02040503050406030204" pitchFamily="18" charset="0"/>
                      </a:rPr>
                      <m:t>𝜙</m:t>
                    </m:r>
                    <m:r>
                      <a:rPr lang="zh-CN" altLang="en-US" sz="1800" i="0" dirty="0">
                        <a:solidFill>
                          <a:srgbClr val="111111"/>
                        </a:solidFill>
                        <a:latin typeface="Cambria Math" panose="02040503050406030204" pitchFamily="18" charset="0"/>
                      </a:rPr>
                      <m:t>:</m:t>
                    </m:r>
                    <m:r>
                      <a:rPr lang="zh-CN" altLang="en-US" sz="1800" i="1" dirty="0">
                        <a:solidFill>
                          <a:srgbClr val="111111"/>
                        </a:solidFill>
                        <a:latin typeface="Cambria Math" panose="02040503050406030204" pitchFamily="18" charset="0"/>
                      </a:rPr>
                      <m:t>𝑆</m:t>
                    </m:r>
                    <m:r>
                      <a:rPr lang="zh-CN" altLang="en-US" sz="1800" i="0" dirty="0">
                        <a:solidFill>
                          <a:srgbClr val="111111"/>
                        </a:solidFill>
                        <a:latin typeface="Cambria Math" panose="02040503050406030204" pitchFamily="18" charset="0"/>
                      </a:rPr>
                      <m:t>→</m:t>
                    </m:r>
                    <m:sSub>
                      <m:sSubPr>
                        <m:ctrlPr>
                          <a:rPr lang="zh-CN" altLang="en-US" sz="1800" i="1" dirty="0">
                            <a:solidFill>
                              <a:srgbClr val="111111"/>
                            </a:solidFill>
                            <a:latin typeface="Cambria Math" panose="02040503050406030204" pitchFamily="18" charset="0"/>
                          </a:rPr>
                        </m:ctrlPr>
                      </m:sSubPr>
                      <m:e>
                        <m:r>
                          <a:rPr lang="zh-CN" altLang="en-US" sz="1800" i="1" dirty="0">
                            <a:solidFill>
                              <a:srgbClr val="111111"/>
                            </a:solidFill>
                            <a:latin typeface="Cambria Math" panose="02040503050406030204" pitchFamily="18" charset="0"/>
                          </a:rPr>
                          <m:t>𝑆</m:t>
                        </m:r>
                      </m:e>
                      <m:sub>
                        <m:r>
                          <a:rPr lang="zh-CN" altLang="en-US" sz="1800" i="1" dirty="0">
                            <a:solidFill>
                              <a:srgbClr val="111111"/>
                            </a:solidFill>
                            <a:latin typeface="Cambria Math" panose="02040503050406030204" pitchFamily="18" charset="0"/>
                          </a:rPr>
                          <m:t>𝜙</m:t>
                        </m:r>
                      </m:sub>
                    </m:sSub>
                  </m:oMath>
                </a14:m>
                <a:r>
                  <a:rPr sz="1800" dirty="0">
                    <a:solidFill>
                      <a:srgbClr val="111111"/>
                    </a:solidFill>
                    <a:latin typeface="Times New Roman"/>
                  </a:rPr>
                  <a:t>groups ground states into a smaller abstract state space.</a:t>
                </a:r>
              </a:p>
              <a:p>
                <a:pPr algn="just">
                  <a:lnSpc>
                    <a:spcPct val="105000"/>
                  </a:lnSpc>
                  <a:spcAft>
                    <a:spcPts val="700"/>
                  </a:spcAft>
                </a:pPr>
                <a:r>
                  <a:rPr sz="1800" b="1" dirty="0">
                    <a:solidFill>
                      <a:srgbClr val="0174AB"/>
                    </a:solidFill>
                    <a:latin typeface="Times New Roman"/>
                  </a:rPr>
                  <a:t>• </a:t>
                </a:r>
                <a:r>
                  <a:rPr sz="1800" b="1" dirty="0">
                    <a:solidFill>
                      <a:srgbClr val="111111"/>
                    </a:solidFill>
                    <a:latin typeface="Times New Roman"/>
                  </a:rPr>
                  <a:t>Abstract MDP: </a:t>
                </a:r>
                <a:r>
                  <a:rPr sz="1800" dirty="0">
                    <a:solidFill>
                      <a:srgbClr val="111111"/>
                    </a:solidFill>
                    <a:latin typeface="Times New Roman"/>
                  </a:rPr>
                  <a:t>Rewards and transitions are aggregated over states assigned to the same abstract class.</a:t>
                </a:r>
              </a:p>
              <a:p>
                <a:pPr algn="just">
                  <a:lnSpc>
                    <a:spcPct val="105000"/>
                  </a:lnSpc>
                  <a:spcAft>
                    <a:spcPts val="700"/>
                  </a:spcAft>
                </a:pPr>
                <a:r>
                  <a:rPr sz="1800" b="1" dirty="0">
                    <a:solidFill>
                      <a:srgbClr val="0174AB"/>
                    </a:solidFill>
                    <a:latin typeface="Times New Roman"/>
                  </a:rPr>
                  <a:t>• </a:t>
                </a:r>
                <a:r>
                  <a:rPr sz="1800" b="1" dirty="0">
                    <a:solidFill>
                      <a:srgbClr val="111111"/>
                    </a:solidFill>
                    <a:latin typeface="Times New Roman"/>
                  </a:rPr>
                  <a:t>Two objectives: </a:t>
                </a:r>
                <a:r>
                  <a:rPr sz="1800" dirty="0">
                    <a:solidFill>
                      <a:srgbClr val="111111"/>
                    </a:solidFill>
                    <a:latin typeface="Times New Roman"/>
                  </a:rPr>
                  <a:t>learn an optimal policy in the abstract MDP and preserve near-optimal performance in the ground MDP.</a:t>
                </a:r>
              </a:p>
              <a:p>
                <a:pPr algn="just">
                  <a:lnSpc>
                    <a:spcPct val="105000"/>
                  </a:lnSpc>
                  <a:spcAft>
                    <a:spcPts val="700"/>
                  </a:spcAft>
                </a:pPr>
                <a:r>
                  <a:rPr sz="1800" b="1" dirty="0">
                    <a:solidFill>
                      <a:srgbClr val="0174AB"/>
                    </a:solidFill>
                    <a:latin typeface="Times New Roman"/>
                  </a:rPr>
                  <a:t>• </a:t>
                </a:r>
                <a:r>
                  <a:rPr sz="1800" b="1" dirty="0">
                    <a:solidFill>
                      <a:srgbClr val="111111"/>
                    </a:solidFill>
                    <a:latin typeface="Times New Roman"/>
                  </a:rPr>
                  <a:t>Key criterion: </a:t>
                </a:r>
                <a:r>
                  <a:rPr sz="1800" dirty="0">
                    <a:solidFill>
                      <a:srgbClr val="111111"/>
                    </a:solidFill>
                    <a:latin typeface="Times New Roman"/>
                  </a:rPr>
                  <a:t>states should be merged only when their optimal action values are sufficiently close.</a:t>
                </a:r>
              </a:p>
            </p:txBody>
          </p:sp>
        </mc:Choice>
        <mc:Fallback xmlns="">
          <p:sp>
            <p:nvSpPr>
              <p:cNvPr id="11" name="Rounded Rectangle 74">
                <a:extLst>
                  <a:ext uri="{FF2B5EF4-FFF2-40B4-BE49-F238E27FC236}">
                    <a16:creationId xmlns:a16="http://schemas.microsoft.com/office/drawing/2014/main" id="{6C13BC72-252A-EF5C-4C78-78311C97415F}"/>
                  </a:ext>
                </a:extLst>
              </p:cNvPr>
              <p:cNvSpPr>
                <a:spLocks noRot="1" noChangeAspect="1" noMove="1" noResize="1" noEditPoints="1" noAdjustHandles="1" noChangeArrowheads="1" noChangeShapeType="1" noTextEdit="1"/>
              </p:cNvSpPr>
              <p:nvPr/>
            </p:nvSpPr>
            <p:spPr>
              <a:xfrm>
                <a:off x="502920" y="1481328"/>
                <a:ext cx="5486400" cy="4434840"/>
              </a:xfrm>
              <a:prstGeom prst="roundRect">
                <a:avLst>
                  <a:gd name="adj" fmla="val 6156"/>
                </a:avLst>
              </a:prstGeom>
              <a:blipFill>
                <a:blip r:embed="rId3"/>
                <a:stretch>
                  <a:fillRect/>
                </a:stretch>
              </a:blipFill>
              <a:ln w="12700">
                <a:solidFill>
                  <a:srgbClr val="B8B8B8"/>
                </a:solidFill>
              </a:ln>
            </p:spPr>
            <p:txBody>
              <a:bodyPr/>
              <a:lstStyle/>
              <a:p>
                <a:r>
                  <a:rPr lang="zh-CN" altLang="en-US">
                    <a:noFill/>
                  </a:rPr>
                  <a:t> </a:t>
                </a:r>
              </a:p>
            </p:txBody>
          </p:sp>
        </mc:Fallback>
      </mc:AlternateContent>
      <p:sp>
        <p:nvSpPr>
          <p:cNvPr id="17" name="Rounded Rectangle 75">
            <a:extLst>
              <a:ext uri="{FF2B5EF4-FFF2-40B4-BE49-F238E27FC236}">
                <a16:creationId xmlns:a16="http://schemas.microsoft.com/office/drawing/2014/main" id="{D9A746DF-3B39-FBDE-0E15-90291BF01BC0}"/>
              </a:ext>
            </a:extLst>
          </p:cNvPr>
          <p:cNvSpPr/>
          <p:nvPr/>
        </p:nvSpPr>
        <p:spPr>
          <a:xfrm>
            <a:off x="6510528" y="2089368"/>
            <a:ext cx="1965960" cy="676656"/>
          </a:xfrm>
          <a:prstGeom prst="roundRect">
            <a:avLst/>
          </a:prstGeom>
          <a:solidFill>
            <a:srgbClr val="EAF3F8"/>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i="0">
                <a:solidFill>
                  <a:srgbClr val="044875"/>
                </a:solidFill>
                <a:latin typeface="Times New Roman"/>
              </a:rPr>
              <a:t>Ground State Space</a:t>
            </a:r>
          </a:p>
        </p:txBody>
      </p:sp>
      <p:sp>
        <p:nvSpPr>
          <p:cNvPr id="20" name="Rounded Rectangle 76">
            <a:extLst>
              <a:ext uri="{FF2B5EF4-FFF2-40B4-BE49-F238E27FC236}">
                <a16:creationId xmlns:a16="http://schemas.microsoft.com/office/drawing/2014/main" id="{B99C3921-E53F-033E-C915-94D0148F62B8}"/>
              </a:ext>
            </a:extLst>
          </p:cNvPr>
          <p:cNvSpPr/>
          <p:nvPr/>
        </p:nvSpPr>
        <p:spPr>
          <a:xfrm>
            <a:off x="6510528" y="2988648"/>
            <a:ext cx="1965960" cy="713232"/>
          </a:xfrm>
          <a:prstGeom prst="round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sz="2100" b="0" i="0" dirty="0">
              <a:solidFill>
                <a:srgbClr val="111111"/>
              </a:solidFill>
              <a:latin typeface="Times New Roman"/>
            </a:endParaRPr>
          </a:p>
        </p:txBody>
      </p:sp>
      <p:sp>
        <p:nvSpPr>
          <p:cNvPr id="22" name="Chevron 77">
            <a:extLst>
              <a:ext uri="{FF2B5EF4-FFF2-40B4-BE49-F238E27FC236}">
                <a16:creationId xmlns:a16="http://schemas.microsoft.com/office/drawing/2014/main" id="{FA7FB0A4-3F23-FF45-0BDB-571720129081}"/>
              </a:ext>
            </a:extLst>
          </p:cNvPr>
          <p:cNvSpPr/>
          <p:nvPr/>
        </p:nvSpPr>
        <p:spPr>
          <a:xfrm>
            <a:off x="8641080" y="2961216"/>
            <a:ext cx="960120" cy="777240"/>
          </a:xfrm>
          <a:prstGeom prst="chevron">
            <a:avLst/>
          </a:prstGeom>
          <a:solidFill>
            <a:srgbClr val="0174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79">
            <a:extLst>
              <a:ext uri="{FF2B5EF4-FFF2-40B4-BE49-F238E27FC236}">
                <a16:creationId xmlns:a16="http://schemas.microsoft.com/office/drawing/2014/main" id="{90D16379-F2D2-0052-45EE-26C4CAE807D3}"/>
              </a:ext>
            </a:extLst>
          </p:cNvPr>
          <p:cNvSpPr/>
          <p:nvPr/>
        </p:nvSpPr>
        <p:spPr>
          <a:xfrm>
            <a:off x="9646920" y="2089368"/>
            <a:ext cx="1965960" cy="676656"/>
          </a:xfrm>
          <a:prstGeom prst="roundRect">
            <a:avLst/>
          </a:prstGeom>
          <a:solidFill>
            <a:srgbClr val="EAF3F8"/>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i="0" dirty="0">
                <a:solidFill>
                  <a:srgbClr val="044875"/>
                </a:solidFill>
                <a:latin typeface="Times New Roman"/>
              </a:rPr>
              <a:t>Abstract State Space</a:t>
            </a:r>
          </a:p>
        </p:txBody>
      </p:sp>
      <p:sp>
        <p:nvSpPr>
          <p:cNvPr id="28" name="Rounded Rectangle 80">
            <a:extLst>
              <a:ext uri="{FF2B5EF4-FFF2-40B4-BE49-F238E27FC236}">
                <a16:creationId xmlns:a16="http://schemas.microsoft.com/office/drawing/2014/main" id="{A434E6A3-CC2D-30BD-EDC0-859AC0999C75}"/>
              </a:ext>
            </a:extLst>
          </p:cNvPr>
          <p:cNvSpPr/>
          <p:nvPr/>
        </p:nvSpPr>
        <p:spPr>
          <a:xfrm>
            <a:off x="9646920" y="2988648"/>
            <a:ext cx="1965960" cy="713232"/>
          </a:xfrm>
          <a:prstGeom prst="round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sz="2100" b="0" i="0" dirty="0">
              <a:solidFill>
                <a:srgbClr val="111111"/>
              </a:solidFill>
              <a:latin typeface="Times New Roman"/>
            </a:endParaRPr>
          </a:p>
        </p:txBody>
      </p:sp>
      <p:sp>
        <p:nvSpPr>
          <p:cNvPr id="30" name="Rounded Rectangle 81">
            <a:extLst>
              <a:ext uri="{FF2B5EF4-FFF2-40B4-BE49-F238E27FC236}">
                <a16:creationId xmlns:a16="http://schemas.microsoft.com/office/drawing/2014/main" id="{858EFC71-84E4-0EBD-81B6-511FBF631AAD}"/>
              </a:ext>
            </a:extLst>
          </p:cNvPr>
          <p:cNvSpPr/>
          <p:nvPr/>
        </p:nvSpPr>
        <p:spPr>
          <a:xfrm>
            <a:off x="6775704" y="4257494"/>
            <a:ext cx="4690872" cy="594360"/>
          </a:xfrm>
          <a:prstGeom prst="roundRect">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1" i="0" dirty="0">
                <a:solidFill>
                  <a:srgbClr val="0174AB"/>
                </a:solidFill>
                <a:latin typeface="Times New Roman"/>
              </a:rPr>
              <a:t>Near-optimality requires Q*-consistent aggregation</a:t>
            </a:r>
          </a:p>
        </p:txBody>
      </p:sp>
      <p:sp>
        <p:nvSpPr>
          <p:cNvPr id="32" name="Rounded Rectangle 82">
            <a:extLst>
              <a:ext uri="{FF2B5EF4-FFF2-40B4-BE49-F238E27FC236}">
                <a16:creationId xmlns:a16="http://schemas.microsoft.com/office/drawing/2014/main" id="{70642D6A-5545-A867-4E7F-D23CD3564ED1}"/>
              </a:ext>
            </a:extLst>
          </p:cNvPr>
          <p:cNvSpPr/>
          <p:nvPr/>
        </p:nvSpPr>
        <p:spPr>
          <a:xfrm>
            <a:off x="6492240" y="5000328"/>
            <a:ext cx="5074920" cy="804672"/>
          </a:xfrm>
          <a:prstGeom prst="round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0" i="0" dirty="0">
                <a:solidFill>
                  <a:srgbClr val="111111"/>
                </a:solidFill>
                <a:latin typeface="Times New Roman"/>
              </a:rPr>
              <a:t>φ(sᵢ)=φ(sⱼ)  ⇒  |Q*(</a:t>
            </a:r>
            <a:r>
              <a:rPr sz="2000" b="0" i="0" dirty="0" err="1">
                <a:solidFill>
                  <a:srgbClr val="111111"/>
                </a:solidFill>
                <a:latin typeface="Times New Roman"/>
              </a:rPr>
              <a:t>sᵢ,a</a:t>
            </a:r>
            <a:r>
              <a:rPr sz="2000" b="0" i="0" dirty="0">
                <a:solidFill>
                  <a:srgbClr val="111111"/>
                </a:solidFill>
                <a:latin typeface="Times New Roman"/>
              </a:rPr>
              <a:t>)−Q*(</a:t>
            </a:r>
            <a:r>
              <a:rPr sz="2000" b="0" i="0" dirty="0" err="1">
                <a:solidFill>
                  <a:srgbClr val="111111"/>
                </a:solidFill>
                <a:latin typeface="Times New Roman"/>
              </a:rPr>
              <a:t>sⱼ,a</a:t>
            </a:r>
            <a:r>
              <a:rPr sz="2000" b="0" i="0" dirty="0">
                <a:solidFill>
                  <a:srgbClr val="111111"/>
                </a:solidFill>
                <a:latin typeface="Times New Roman"/>
              </a:rPr>
              <a:t>)| ≤ ε</a:t>
            </a:r>
            <a:r>
              <a:rPr lang="en-US" altLang="zh-CN" sz="2000" b="0" i="0" dirty="0">
                <a:solidFill>
                  <a:srgbClr val="111111"/>
                </a:solidFill>
                <a:latin typeface="Times New Roman"/>
              </a:rPr>
              <a:t>,</a:t>
            </a:r>
            <a:r>
              <a:rPr lang="zh-CN" altLang="en-US" sz="2000" b="0" i="0" dirty="0">
                <a:solidFill>
                  <a:srgbClr val="111111"/>
                </a:solidFill>
                <a:latin typeface="Times New Roman"/>
              </a:rPr>
              <a:t>  ∀</a:t>
            </a:r>
            <a:r>
              <a:rPr lang="en-US" sz="2000" b="0" i="0" dirty="0">
                <a:solidFill>
                  <a:srgbClr val="111111"/>
                </a:solidFill>
                <a:latin typeface="Times New Roman"/>
              </a:rPr>
              <a:t>a</a:t>
            </a:r>
            <a:endParaRPr sz="2000" b="0" i="0" dirty="0">
              <a:solidFill>
                <a:srgbClr val="111111"/>
              </a:solidFill>
              <a:latin typeface="Times New Roman"/>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4F733601-C7F1-6D0B-4CB7-75979E47426D}"/>
                  </a:ext>
                </a:extLst>
              </p:cNvPr>
              <p:cNvSpPr txBox="1"/>
              <p:nvPr/>
            </p:nvSpPr>
            <p:spPr>
              <a:xfrm>
                <a:off x="8845060" y="3158812"/>
                <a:ext cx="786300" cy="369332"/>
              </a:xfrm>
              <a:prstGeom prst="rect">
                <a:avLst/>
              </a:prstGeom>
              <a:noFill/>
            </p:spPr>
            <p:txBody>
              <a:bodyPr wrap="square">
                <a:spAutoFit/>
              </a:bodyPr>
              <a:lstStyle/>
              <a:p>
                <a:pPr/>
                <a14:m>
                  <m:oMathPara xmlns:m="http://schemas.openxmlformats.org/officeDocument/2006/math">
                    <m:oMath>
                      <m:r>
                        <a:rPr lang="zh-CN" altLang="en-US" sz="1800" i="1" dirty="0" smtClean="0">
                          <a:solidFill>
                            <a:srgbClr val="111111"/>
                          </a:solidFill>
                          <a:latin typeface="Cambria Math" panose="02040503050406030204" pitchFamily="18" charset="0"/>
                        </a:rPr>
                        <m:t>𝜙</m:t>
                      </m:r>
                    </m:oMath>
                  </m:oMathPara>
                </a14:m>
                <a:endParaRPr lang="zh-CN" altLang="en-US" dirty="0"/>
              </a:p>
            </p:txBody>
          </p:sp>
        </mc:Choice>
        <mc:Fallback xmlns="">
          <p:sp>
            <p:nvSpPr>
              <p:cNvPr id="34" name="文本框 33">
                <a:extLst>
                  <a:ext uri="{FF2B5EF4-FFF2-40B4-BE49-F238E27FC236}">
                    <a16:creationId xmlns:a16="http://schemas.microsoft.com/office/drawing/2014/main" id="{4F733601-C7F1-6D0B-4CB7-75979E47426D}"/>
                  </a:ext>
                </a:extLst>
              </p:cNvPr>
              <p:cNvSpPr txBox="1">
                <a:spLocks noRot="1" noChangeAspect="1" noMove="1" noResize="1" noEditPoints="1" noAdjustHandles="1" noChangeArrowheads="1" noChangeShapeType="1" noTextEdit="1"/>
              </p:cNvSpPr>
              <p:nvPr/>
            </p:nvSpPr>
            <p:spPr>
              <a:xfrm>
                <a:off x="8845060" y="3158812"/>
                <a:ext cx="786300" cy="369332"/>
              </a:xfrm>
              <a:prstGeom prst="rect">
                <a:avLst/>
              </a:prstGeom>
              <a:blipFill>
                <a:blip r:embed="rId4"/>
                <a:stretch>
                  <a:fillRect b="-11475"/>
                </a:stretch>
              </a:blipFill>
            </p:spPr>
            <p:txBody>
              <a:bodyPr/>
              <a:lstStyle/>
              <a:p>
                <a:r>
                  <a:rPr lang="zh-CN" altLang="en-US">
                    <a:noFill/>
                  </a:rPr>
                  <a:t> </a:t>
                </a:r>
              </a:p>
            </p:txBody>
          </p:sp>
        </mc:Fallback>
      </mc:AlternateContent>
      <p:pic>
        <p:nvPicPr>
          <p:cNvPr id="36" name="图片 35">
            <a:extLst>
              <a:ext uri="{FF2B5EF4-FFF2-40B4-BE49-F238E27FC236}">
                <a16:creationId xmlns:a16="http://schemas.microsoft.com/office/drawing/2014/main" id="{FEC3C399-EA66-B646-E9A1-D5C08AC39C78}"/>
              </a:ext>
            </a:extLst>
          </p:cNvPr>
          <p:cNvPicPr>
            <a:picLocks noChangeAspect="1"/>
          </p:cNvPicPr>
          <p:nvPr/>
        </p:nvPicPr>
        <p:blipFill>
          <a:blip r:embed="rId5"/>
          <a:stretch>
            <a:fillRect/>
          </a:stretch>
        </p:blipFill>
        <p:spPr>
          <a:xfrm>
            <a:off x="7013372" y="3133204"/>
            <a:ext cx="990651" cy="381020"/>
          </a:xfrm>
          <a:prstGeom prst="rect">
            <a:avLst/>
          </a:prstGeom>
        </p:spPr>
      </p:pic>
      <p:pic>
        <p:nvPicPr>
          <p:cNvPr id="38" name="图片 37">
            <a:extLst>
              <a:ext uri="{FF2B5EF4-FFF2-40B4-BE49-F238E27FC236}">
                <a16:creationId xmlns:a16="http://schemas.microsoft.com/office/drawing/2014/main" id="{B5BD191C-6D9B-684A-3380-285E31BE0D11}"/>
              </a:ext>
            </a:extLst>
          </p:cNvPr>
          <p:cNvPicPr>
            <a:picLocks noChangeAspect="1"/>
          </p:cNvPicPr>
          <p:nvPr/>
        </p:nvPicPr>
        <p:blipFill>
          <a:blip r:embed="rId6"/>
          <a:stretch>
            <a:fillRect/>
          </a:stretch>
        </p:blipFill>
        <p:spPr>
          <a:xfrm>
            <a:off x="10062027" y="3133204"/>
            <a:ext cx="1187511" cy="406421"/>
          </a:xfrm>
          <a:prstGeom prst="rect">
            <a:avLst/>
          </a:prstGeom>
        </p:spPr>
      </p:pic>
    </p:spTree>
    <p:extLst>
      <p:ext uri="{BB962C8B-B14F-4D97-AF65-F5344CB8AC3E}">
        <p14:creationId xmlns:p14="http://schemas.microsoft.com/office/powerpoint/2010/main" val="33521257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E6663-59C7-A995-954F-8C5E90EA7FA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90F46AA-3E98-EE0D-AB91-BD922AD5679E}"/>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954E27C1-A7B8-3CFC-3235-9F56E35FB866}"/>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B2721DF4-552D-82CA-2CFE-5693AB0B6AE9}"/>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D4B11C60-5A4A-BFB3-541A-59908D8B425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34FA4822-6877-65D4-E8DB-1770174D75D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BECF5B91-F7AC-B5E0-5902-7C25D80C46D7}"/>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1B54048F-3265-51F4-D158-E33F07E6236D}"/>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Deep Supervised Hashing as State Aggregation</a:t>
            </a:r>
          </a:p>
        </p:txBody>
      </p:sp>
      <p:sp>
        <p:nvSpPr>
          <p:cNvPr id="6" name="Rectangle 73">
            <a:extLst>
              <a:ext uri="{FF2B5EF4-FFF2-40B4-BE49-F238E27FC236}">
                <a16:creationId xmlns:a16="http://schemas.microsoft.com/office/drawing/2014/main" id="{E451D4D8-6DD9-E573-D301-FF0410BABE67}"/>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4" descr="p1_dsh_eq.png">
            <a:extLst>
              <a:ext uri="{FF2B5EF4-FFF2-40B4-BE49-F238E27FC236}">
                <a16:creationId xmlns:a16="http://schemas.microsoft.com/office/drawing/2014/main" id="{63C5854A-FF58-5F21-179F-4DDBAB5075D1}"/>
              </a:ext>
            </a:extLst>
          </p:cNvPr>
          <p:cNvPicPr>
            <a:picLocks noChangeAspect="1"/>
          </p:cNvPicPr>
          <p:nvPr/>
        </p:nvPicPr>
        <p:blipFill>
          <a:blip r:embed="rId3"/>
          <a:srcRect b="25354"/>
          <a:stretch>
            <a:fillRect/>
          </a:stretch>
        </p:blipFill>
        <p:spPr>
          <a:xfrm>
            <a:off x="264000" y="2175744"/>
            <a:ext cx="5303520" cy="2981999"/>
          </a:xfrm>
          <a:prstGeom prst="rect">
            <a:avLst/>
          </a:prstGeom>
          <a:ln w="9525">
            <a:solidFill>
              <a:srgbClr val="C9D2D8"/>
            </a:solidFill>
          </a:ln>
        </p:spPr>
      </p:pic>
      <p:sp>
        <p:nvSpPr>
          <p:cNvPr id="16" name="Rounded Rectangle 75">
            <a:extLst>
              <a:ext uri="{FF2B5EF4-FFF2-40B4-BE49-F238E27FC236}">
                <a16:creationId xmlns:a16="http://schemas.microsoft.com/office/drawing/2014/main" id="{5FD55783-B059-7C08-A425-4CEA2FD2DFEE}"/>
              </a:ext>
            </a:extLst>
          </p:cNvPr>
          <p:cNvSpPr/>
          <p:nvPr/>
        </p:nvSpPr>
        <p:spPr>
          <a:xfrm>
            <a:off x="5806440" y="1417320"/>
            <a:ext cx="5925312" cy="4498848"/>
          </a:xfrm>
          <a:prstGeom prst="roundRect">
            <a:avLst>
              <a:gd name="adj" fmla="val 10682"/>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Binary-like code: </a:t>
            </a:r>
            <a:r>
              <a:rPr sz="1750" dirty="0">
                <a:solidFill>
                  <a:srgbClr val="111111"/>
                </a:solidFill>
                <a:latin typeface="Times New Roman"/>
              </a:rPr>
              <a:t>a K-bit hash vector defines up to 2ᴷ abstract states and enables efficient state clustering.</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Pairwise similarity: </a:t>
            </a:r>
            <a:r>
              <a:rPr sz="1750" dirty="0">
                <a:solidFill>
                  <a:srgbClr val="111111"/>
                </a:solidFill>
                <a:latin typeface="Times New Roman"/>
              </a:rPr>
              <a:t>similar samples are pulled together in Hamming space; dissimilar samples are pushed apart.</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RL-specific supervision: </a:t>
            </a:r>
            <a:r>
              <a:rPr sz="1750" dirty="0">
                <a:solidFill>
                  <a:srgbClr val="111111"/>
                </a:solidFill>
                <a:latin typeface="Times New Roman"/>
              </a:rPr>
              <a:t>semantic labels are unavailable, so the paper derives state-pair labels from target Q-value similarity.</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Smooth optimization: </a:t>
            </a:r>
            <a:r>
              <a:rPr sz="1750" dirty="0">
                <a:solidFill>
                  <a:srgbClr val="111111"/>
                </a:solidFill>
                <a:latin typeface="Times New Roman"/>
              </a:rPr>
              <a:t>continuous representations are trained toward their sign-discretized codes rather than enforcing hard quantization from the start.</a:t>
            </a:r>
          </a:p>
        </p:txBody>
      </p:sp>
    </p:spTree>
    <p:extLst>
      <p:ext uri="{BB962C8B-B14F-4D97-AF65-F5344CB8AC3E}">
        <p14:creationId xmlns:p14="http://schemas.microsoft.com/office/powerpoint/2010/main" val="64762183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1D9281B6-B6A2-C6AE-6DCE-FCA09BA430E9}"/>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DSH-Based State Abstraction Network</a:t>
            </a:r>
          </a:p>
        </p:txBody>
      </p:sp>
      <p:sp>
        <p:nvSpPr>
          <p:cNvPr id="12" name="Rectangle 73">
            <a:extLst>
              <a:ext uri="{FF2B5EF4-FFF2-40B4-BE49-F238E27FC236}">
                <a16:creationId xmlns:a16="http://schemas.microsoft.com/office/drawing/2014/main" id="{97EFBDB2-04B6-3115-2F84-0BA242716F89}"/>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74" descr="p1_fig1.png">
            <a:extLst>
              <a:ext uri="{FF2B5EF4-FFF2-40B4-BE49-F238E27FC236}">
                <a16:creationId xmlns:a16="http://schemas.microsoft.com/office/drawing/2014/main" id="{0BD98561-FE99-3EA9-3BF3-8AE8810EC927}"/>
              </a:ext>
            </a:extLst>
          </p:cNvPr>
          <p:cNvPicPr>
            <a:picLocks noChangeAspect="1"/>
          </p:cNvPicPr>
          <p:nvPr/>
        </p:nvPicPr>
        <p:blipFill>
          <a:blip r:embed="rId3"/>
          <a:stretch>
            <a:fillRect/>
          </a:stretch>
        </p:blipFill>
        <p:spPr>
          <a:xfrm>
            <a:off x="761900" y="1417320"/>
            <a:ext cx="5928558" cy="4297680"/>
          </a:xfrm>
          <a:prstGeom prst="rect">
            <a:avLst/>
          </a:prstGeom>
          <a:ln w="9525">
            <a:solidFill>
              <a:srgbClr val="C9D2D8"/>
            </a:solidFill>
          </a:ln>
        </p:spPr>
      </p:pic>
      <p:sp>
        <p:nvSpPr>
          <p:cNvPr id="18" name="Rounded Rectangle 75">
            <a:extLst>
              <a:ext uri="{FF2B5EF4-FFF2-40B4-BE49-F238E27FC236}">
                <a16:creationId xmlns:a16="http://schemas.microsoft.com/office/drawing/2014/main" id="{E2A5B9FA-AC99-7F1F-FEFD-B3441426B661}"/>
              </a:ext>
            </a:extLst>
          </p:cNvPr>
          <p:cNvSpPr/>
          <p:nvPr/>
        </p:nvSpPr>
        <p:spPr>
          <a:xfrm>
            <a:off x="7178040" y="1508760"/>
            <a:ext cx="4462272" cy="3977639"/>
          </a:xfrm>
          <a:prstGeom prst="roundRect">
            <a:avLst>
              <a:gd name="adj" fmla="val 6322"/>
            </a:avLst>
          </a:prstGeom>
          <a:solidFill>
            <a:srgbClr val="F5F5F5"/>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Q-network decomposition: </a:t>
            </a:r>
            <a:r>
              <a:rPr sz="1750" dirty="0">
                <a:solidFill>
                  <a:srgbClr val="111111"/>
                </a:solidFill>
                <a:latin typeface="Times New Roman"/>
              </a:rPr>
              <a:t>the representation layer outputs </a:t>
            </a:r>
            <a:r>
              <a:rPr sz="1750" dirty="0" err="1">
                <a:solidFill>
                  <a:srgbClr val="111111"/>
                </a:solidFill>
                <a:latin typeface="Times New Roman"/>
              </a:rPr>
              <a:t>ψW</a:t>
            </a:r>
            <a:r>
              <a:rPr sz="1750" dirty="0">
                <a:solidFill>
                  <a:srgbClr val="111111"/>
                </a:solidFill>
                <a:latin typeface="Times New Roman"/>
              </a:rPr>
              <a:t>(s), while a linear layer maps it to action values.</a:t>
            </a:r>
          </a:p>
          <a:p>
            <a:pPr algn="l">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Abstract code: </a:t>
            </a:r>
            <a:r>
              <a:rPr sz="1750" dirty="0">
                <a:solidFill>
                  <a:srgbClr val="111111"/>
                </a:solidFill>
                <a:latin typeface="Times New Roman"/>
              </a:rPr>
              <a:t>sign(</a:t>
            </a:r>
            <a:r>
              <a:rPr sz="1750" dirty="0" err="1">
                <a:solidFill>
                  <a:srgbClr val="111111"/>
                </a:solidFill>
                <a:latin typeface="Times New Roman"/>
              </a:rPr>
              <a:t>ψW</a:t>
            </a:r>
            <a:r>
              <a:rPr sz="1750" dirty="0">
                <a:solidFill>
                  <a:srgbClr val="111111"/>
                </a:solidFill>
                <a:latin typeface="Times New Roman"/>
              </a:rPr>
              <a:t>(s)) produces a binary state representation; the hash dimension controls abstraction granularity.</a:t>
            </a:r>
          </a:p>
          <a:p>
            <a:pPr algn="l">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Modularity: </a:t>
            </a:r>
            <a:r>
              <a:rPr sz="1750" dirty="0">
                <a:solidFill>
                  <a:srgbClr val="111111"/>
                </a:solidFill>
                <a:latin typeface="Times New Roman"/>
              </a:rPr>
              <a:t>the abstraction loss is attached to the value network and can be optimized jointly with standard RL losses.</a:t>
            </a:r>
          </a:p>
        </p:txBody>
      </p:sp>
      <p:sp>
        <p:nvSpPr>
          <p:cNvPr id="21" name="Rounded Rectangle 76">
            <a:extLst>
              <a:ext uri="{FF2B5EF4-FFF2-40B4-BE49-F238E27FC236}">
                <a16:creationId xmlns:a16="http://schemas.microsoft.com/office/drawing/2014/main" id="{76BF80BF-DBDA-53D4-12E4-B385E95504CC}"/>
              </a:ext>
            </a:extLst>
          </p:cNvPr>
          <p:cNvSpPr/>
          <p:nvPr/>
        </p:nvSpPr>
        <p:spPr>
          <a:xfrm>
            <a:off x="502920" y="5742432"/>
            <a:ext cx="11155680" cy="502920"/>
          </a:xfrm>
          <a:prstGeom prst="roundRect">
            <a:avLst/>
          </a:prstGeom>
          <a:solidFill>
            <a:srgbClr val="EDF6FA"/>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r>
              <a:rPr sz="1500" b="0" i="0">
                <a:solidFill>
                  <a:srgbClr val="044875"/>
                </a:solidFill>
                <a:latin typeface="Times New Roman"/>
              </a:rPr>
              <a:t>Q(s,·;W,θ)=ψW(s)ᵀθ makes the representation directly responsible for value-preserving abstraction.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53150-3307-05D5-E387-8F1FB77BF17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9F2E86F-71D5-F71B-23C6-15645A97FDD3}"/>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8B808BF-B789-F78F-BBA3-65E9D7462E7F}"/>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C2D9AF43-6219-8AA5-BD5B-F853F946D4EB}"/>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E51B25D5-2D37-1790-0BBB-2DD40033034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BB4CE7E5-EBFF-A128-5674-911F9AC3B2D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B02F41CC-AB95-0FFE-0B2E-391D17BE2DD0}"/>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2" name="TextBox 72">
            <a:extLst>
              <a:ext uri="{FF2B5EF4-FFF2-40B4-BE49-F238E27FC236}">
                <a16:creationId xmlns:a16="http://schemas.microsoft.com/office/drawing/2014/main" id="{F6D3D02D-C1DD-5F0A-F762-8C6A69F5B971}"/>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2 Target-Q Supervision and the DSH Objective</a:t>
            </a:r>
          </a:p>
        </p:txBody>
      </p:sp>
      <p:sp>
        <p:nvSpPr>
          <p:cNvPr id="24" name="Rectangle 73">
            <a:extLst>
              <a:ext uri="{FF2B5EF4-FFF2-40B4-BE49-F238E27FC236}">
                <a16:creationId xmlns:a16="http://schemas.microsoft.com/office/drawing/2014/main" id="{952F1104-E6D4-A6D5-CB62-0B6D31CFED45}"/>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74" descr="p1_target_td.png">
            <a:extLst>
              <a:ext uri="{FF2B5EF4-FFF2-40B4-BE49-F238E27FC236}">
                <a16:creationId xmlns:a16="http://schemas.microsoft.com/office/drawing/2014/main" id="{2F84B1AA-0722-103D-B0E0-244961B3047B}"/>
              </a:ext>
            </a:extLst>
          </p:cNvPr>
          <p:cNvPicPr>
            <a:picLocks noChangeAspect="1"/>
          </p:cNvPicPr>
          <p:nvPr/>
        </p:nvPicPr>
        <p:blipFill>
          <a:blip r:embed="rId3"/>
          <a:srcRect b="3176"/>
          <a:stretch>
            <a:fillRect/>
          </a:stretch>
        </p:blipFill>
        <p:spPr>
          <a:xfrm>
            <a:off x="1221974" y="1417320"/>
            <a:ext cx="3737395" cy="4364820"/>
          </a:xfrm>
          <a:prstGeom prst="rect">
            <a:avLst/>
          </a:prstGeom>
          <a:ln w="9525">
            <a:solidFill>
              <a:srgbClr val="C9D2D8"/>
            </a:solidFill>
          </a:ln>
        </p:spPr>
      </p:pic>
      <p:sp>
        <p:nvSpPr>
          <p:cNvPr id="28" name="Rounded Rectangle 75">
            <a:extLst>
              <a:ext uri="{FF2B5EF4-FFF2-40B4-BE49-F238E27FC236}">
                <a16:creationId xmlns:a16="http://schemas.microsoft.com/office/drawing/2014/main" id="{B2B139CB-13FE-097A-E9E0-82B6BD3F483C}"/>
              </a:ext>
            </a:extLst>
          </p:cNvPr>
          <p:cNvSpPr/>
          <p:nvPr/>
        </p:nvSpPr>
        <p:spPr>
          <a:xfrm>
            <a:off x="6016752" y="1417320"/>
            <a:ext cx="5742432" cy="4507992"/>
          </a:xfrm>
          <a:prstGeom prst="roundRect">
            <a:avLst>
              <a:gd name="adj" fmla="val 5398"/>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00" b="1" dirty="0">
                <a:solidFill>
                  <a:srgbClr val="0174AB"/>
                </a:solidFill>
                <a:latin typeface="Times New Roman"/>
              </a:rPr>
              <a:t>• </a:t>
            </a:r>
            <a:r>
              <a:rPr sz="1700" b="1" dirty="0">
                <a:solidFill>
                  <a:srgbClr val="111111"/>
                </a:solidFill>
                <a:latin typeface="Times New Roman"/>
              </a:rPr>
              <a:t>Similarity label dᵢⱼ: </a:t>
            </a:r>
            <a:r>
              <a:rPr sz="1700" dirty="0">
                <a:solidFill>
                  <a:srgbClr val="111111"/>
                </a:solidFill>
                <a:latin typeface="Times New Roman"/>
              </a:rPr>
              <a:t>two states are positive pairs when all target-network Q values differ by no more than threshold η.</a:t>
            </a:r>
          </a:p>
          <a:p>
            <a:pPr algn="l">
              <a:lnSpc>
                <a:spcPct val="105000"/>
              </a:lnSpc>
              <a:spcAft>
                <a:spcPts val="700"/>
              </a:spcAft>
            </a:pPr>
            <a:r>
              <a:rPr sz="1700" b="1" dirty="0">
                <a:solidFill>
                  <a:srgbClr val="0174AB"/>
                </a:solidFill>
                <a:latin typeface="Times New Roman"/>
              </a:rPr>
              <a:t>• </a:t>
            </a:r>
            <a:r>
              <a:rPr sz="1700" b="1" dirty="0">
                <a:solidFill>
                  <a:srgbClr val="111111"/>
                </a:solidFill>
                <a:latin typeface="Times New Roman"/>
              </a:rPr>
              <a:t>Pairwise likelihood: </a:t>
            </a:r>
            <a:r>
              <a:rPr sz="1700" dirty="0">
                <a:solidFill>
                  <a:srgbClr val="111111"/>
                </a:solidFill>
                <a:latin typeface="Times New Roman"/>
              </a:rPr>
              <a:t>the DSH term minimizes Hamming distance for positive pairs and enlarges it for negative pairs.</a:t>
            </a:r>
          </a:p>
          <a:p>
            <a:pPr algn="l">
              <a:lnSpc>
                <a:spcPct val="105000"/>
              </a:lnSpc>
              <a:spcAft>
                <a:spcPts val="700"/>
              </a:spcAft>
            </a:pPr>
            <a:r>
              <a:rPr sz="1700" b="1" dirty="0">
                <a:solidFill>
                  <a:srgbClr val="0174AB"/>
                </a:solidFill>
                <a:latin typeface="Times New Roman"/>
              </a:rPr>
              <a:t>• </a:t>
            </a:r>
            <a:r>
              <a:rPr sz="1700" b="1" dirty="0">
                <a:solidFill>
                  <a:srgbClr val="111111"/>
                </a:solidFill>
                <a:latin typeface="Times New Roman"/>
              </a:rPr>
              <a:t>Quantization term: </a:t>
            </a:r>
            <a:r>
              <a:rPr sz="1700" dirty="0">
                <a:solidFill>
                  <a:srgbClr val="111111"/>
                </a:solidFill>
                <a:latin typeface="Times New Roman"/>
              </a:rPr>
              <a:t>penalizes the gap between </a:t>
            </a:r>
            <a:r>
              <a:rPr sz="1700" dirty="0" err="1">
                <a:solidFill>
                  <a:srgbClr val="111111"/>
                </a:solidFill>
                <a:latin typeface="Times New Roman"/>
              </a:rPr>
              <a:t>ψW</a:t>
            </a:r>
            <a:r>
              <a:rPr sz="1700" dirty="0">
                <a:solidFill>
                  <a:srgbClr val="111111"/>
                </a:solidFill>
                <a:latin typeface="Times New Roman"/>
              </a:rPr>
              <a:t>(s) and sign(</a:t>
            </a:r>
            <a:r>
              <a:rPr sz="1700" dirty="0" err="1">
                <a:solidFill>
                  <a:srgbClr val="111111"/>
                </a:solidFill>
                <a:latin typeface="Times New Roman"/>
              </a:rPr>
              <a:t>ψW</a:t>
            </a:r>
            <a:r>
              <a:rPr sz="1700" dirty="0">
                <a:solidFill>
                  <a:srgbClr val="111111"/>
                </a:solidFill>
                <a:latin typeface="Times New Roman"/>
              </a:rPr>
              <a:t>(s)), yielding binary-like but differentiable representations.</a:t>
            </a:r>
          </a:p>
          <a:p>
            <a:pPr algn="l">
              <a:lnSpc>
                <a:spcPct val="105000"/>
              </a:lnSpc>
              <a:spcAft>
                <a:spcPts val="700"/>
              </a:spcAft>
            </a:pPr>
            <a:r>
              <a:rPr sz="1700" b="1" dirty="0">
                <a:solidFill>
                  <a:srgbClr val="0174AB"/>
                </a:solidFill>
                <a:latin typeface="Times New Roman"/>
              </a:rPr>
              <a:t>• </a:t>
            </a:r>
            <a:r>
              <a:rPr sz="1700" b="1" dirty="0">
                <a:solidFill>
                  <a:srgbClr val="111111"/>
                </a:solidFill>
                <a:latin typeface="Times New Roman"/>
              </a:rPr>
              <a:t>Stable labels: </a:t>
            </a:r>
            <a:r>
              <a:rPr sz="1700" dirty="0">
                <a:solidFill>
                  <a:srgbClr val="111111"/>
                </a:solidFill>
                <a:latin typeface="Times New Roman"/>
              </a:rPr>
              <a:t>a delayed target network is used to reduce supervision drift during policy learning.</a:t>
            </a:r>
          </a:p>
        </p:txBody>
      </p:sp>
    </p:spTree>
    <p:extLst>
      <p:ext uri="{BB962C8B-B14F-4D97-AF65-F5344CB8AC3E}">
        <p14:creationId xmlns:p14="http://schemas.microsoft.com/office/powerpoint/2010/main" val="185137489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C6A08-99E9-03FE-C2B7-25180B348B75}"/>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20D295C7-E550-FADE-FEEA-5B7A71B7F97A}"/>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8958C03-59BE-1EAE-81BD-765AFBDB93E2}"/>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91DCF589-3A91-CD5F-9669-D1A3CA2B104E}"/>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458A39D4-9233-B504-6160-3FBD72A37350}"/>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2885B49D-3E52-3C71-5BBD-61D942A33A8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3B6F6121-76A6-F0B5-912B-CF4ECD92B39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222E962A-AE6B-3A16-CB51-8A5C20FFDB57}"/>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4 Near-Optimality Analysis</a:t>
            </a:r>
          </a:p>
        </p:txBody>
      </p:sp>
      <p:sp>
        <p:nvSpPr>
          <p:cNvPr id="13" name="Rectangle 73">
            <a:extLst>
              <a:ext uri="{FF2B5EF4-FFF2-40B4-BE49-F238E27FC236}">
                <a16:creationId xmlns:a16="http://schemas.microsoft.com/office/drawing/2014/main" id="{5F1BFA7F-6BA9-A4D1-D387-5717A46D33C4}"/>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74" descr="p1_nearopt.png">
            <a:extLst>
              <a:ext uri="{FF2B5EF4-FFF2-40B4-BE49-F238E27FC236}">
                <a16:creationId xmlns:a16="http://schemas.microsoft.com/office/drawing/2014/main" id="{FE66028B-54FC-5921-E015-FDE064B159FE}"/>
              </a:ext>
            </a:extLst>
          </p:cNvPr>
          <p:cNvPicPr>
            <a:picLocks noChangeAspect="1"/>
          </p:cNvPicPr>
          <p:nvPr/>
        </p:nvPicPr>
        <p:blipFill>
          <a:blip r:embed="rId3"/>
          <a:srcRect b="13075"/>
          <a:stretch>
            <a:fillRect/>
          </a:stretch>
        </p:blipFill>
        <p:spPr>
          <a:xfrm>
            <a:off x="264000" y="1940052"/>
            <a:ext cx="5029200" cy="3341435"/>
          </a:xfrm>
          <a:prstGeom prst="rect">
            <a:avLst/>
          </a:prstGeom>
          <a:ln w="9525">
            <a:solidFill>
              <a:srgbClr val="C9D2D8"/>
            </a:solidFill>
          </a:ln>
        </p:spPr>
      </p:pic>
      <p:sp>
        <p:nvSpPr>
          <p:cNvPr id="17" name="Rounded Rectangle 75">
            <a:extLst>
              <a:ext uri="{FF2B5EF4-FFF2-40B4-BE49-F238E27FC236}">
                <a16:creationId xmlns:a16="http://schemas.microsoft.com/office/drawing/2014/main" id="{09CAA38E-4F86-8993-668E-A183F355E61E}"/>
              </a:ext>
            </a:extLst>
          </p:cNvPr>
          <p:cNvSpPr/>
          <p:nvPr/>
        </p:nvSpPr>
        <p:spPr>
          <a:xfrm>
            <a:off x="5577840" y="1417320"/>
            <a:ext cx="6126480" cy="4407408"/>
          </a:xfrm>
          <a:prstGeom prst="roundRect">
            <a:avLst>
              <a:gd name="adj" fmla="val 8253"/>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30" b="1">
                <a:solidFill>
                  <a:srgbClr val="0174AB"/>
                </a:solidFill>
                <a:latin typeface="Times New Roman"/>
              </a:rPr>
              <a:t>• </a:t>
            </a:r>
            <a:r>
              <a:rPr sz="1730" b="1">
                <a:solidFill>
                  <a:srgbClr val="111111"/>
                </a:solidFill>
                <a:latin typeface="Times New Roman"/>
              </a:rPr>
              <a:t>Q-value irrelevance: </a:t>
            </a:r>
            <a:r>
              <a:rPr sz="1730">
                <a:solidFill>
                  <a:srgbClr val="111111"/>
                </a:solidFill>
                <a:latin typeface="Times New Roman"/>
              </a:rPr>
              <a:t>if two states share the same optimal hash code, their optimal Q values differ by a bounded amount.</a:t>
            </a:r>
          </a:p>
          <a:p>
            <a:pPr algn="l">
              <a:lnSpc>
                <a:spcPct val="105000"/>
              </a:lnSpc>
              <a:spcAft>
                <a:spcPts val="700"/>
              </a:spcAft>
            </a:pPr>
            <a:r>
              <a:rPr sz="1730" b="1">
                <a:solidFill>
                  <a:srgbClr val="0174AB"/>
                </a:solidFill>
                <a:latin typeface="Times New Roman"/>
              </a:rPr>
              <a:t>• </a:t>
            </a:r>
            <a:r>
              <a:rPr sz="1730" b="1">
                <a:solidFill>
                  <a:srgbClr val="111111"/>
                </a:solidFill>
                <a:latin typeface="Times New Roman"/>
              </a:rPr>
              <a:t>Suboptimality bound: </a:t>
            </a:r>
            <a:r>
              <a:rPr sz="1730">
                <a:solidFill>
                  <a:srgbClr val="111111"/>
                </a:solidFill>
                <a:latin typeface="Times New Roman"/>
              </a:rPr>
              <a:t>the policy learned in the abstract MDP has a value loss bounded by the hash quantization error, the linear-layer norm, and (1−γ)⁻².</a:t>
            </a:r>
          </a:p>
          <a:p>
            <a:pPr algn="l">
              <a:lnSpc>
                <a:spcPct val="105000"/>
              </a:lnSpc>
              <a:spcAft>
                <a:spcPts val="700"/>
              </a:spcAft>
            </a:pPr>
            <a:r>
              <a:rPr sz="1730" b="1">
                <a:solidFill>
                  <a:srgbClr val="0174AB"/>
                </a:solidFill>
                <a:latin typeface="Times New Roman"/>
              </a:rPr>
              <a:t>• </a:t>
            </a:r>
            <a:r>
              <a:rPr sz="1730" b="1">
                <a:solidFill>
                  <a:srgbClr val="111111"/>
                </a:solidFill>
                <a:latin typeface="Times New Roman"/>
              </a:rPr>
              <a:t>Interpretation: </a:t>
            </a:r>
            <a:r>
              <a:rPr sz="1730">
                <a:solidFill>
                  <a:srgbClr val="111111"/>
                </a:solidFill>
                <a:latin typeface="Times New Roman"/>
              </a:rPr>
              <a:t>smaller discretization error yields a tighter guarantee; the code is therefore both compact and policy-aware.</a:t>
            </a:r>
          </a:p>
          <a:p>
            <a:pPr algn="l">
              <a:lnSpc>
                <a:spcPct val="105000"/>
              </a:lnSpc>
              <a:spcAft>
                <a:spcPts val="700"/>
              </a:spcAft>
            </a:pPr>
            <a:r>
              <a:rPr sz="1730" b="1">
                <a:solidFill>
                  <a:srgbClr val="0174AB"/>
                </a:solidFill>
                <a:latin typeface="Times New Roman"/>
              </a:rPr>
              <a:t>• </a:t>
            </a:r>
            <a:r>
              <a:rPr sz="1730" b="1">
                <a:solidFill>
                  <a:srgbClr val="111111"/>
                </a:solidFill>
                <a:latin typeface="Times New Roman"/>
              </a:rPr>
              <a:t>Scope: </a:t>
            </a:r>
            <a:r>
              <a:rPr sz="1730">
                <a:solidFill>
                  <a:srgbClr val="111111"/>
                </a:solidFill>
                <a:latin typeface="Times New Roman"/>
              </a:rPr>
              <a:t>the guarantee is derived under the optimal representation/value parameters and mainly motivates the auxiliary learning design.</a:t>
            </a:r>
          </a:p>
        </p:txBody>
      </p:sp>
    </p:spTree>
    <p:extLst>
      <p:ext uri="{BB962C8B-B14F-4D97-AF65-F5344CB8AC3E}">
        <p14:creationId xmlns:p14="http://schemas.microsoft.com/office/powerpoint/2010/main" val="25805726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4F51EDB2-2CDD-DFE3-C0BD-B7DDBB284862}"/>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Integration With DQN and SAC</a:t>
            </a:r>
          </a:p>
        </p:txBody>
      </p:sp>
      <p:sp>
        <p:nvSpPr>
          <p:cNvPr id="6" name="Rectangle 73">
            <a:extLst>
              <a:ext uri="{FF2B5EF4-FFF2-40B4-BE49-F238E27FC236}">
                <a16:creationId xmlns:a16="http://schemas.microsoft.com/office/drawing/2014/main" id="{AD47D191-AB85-A6C6-20A7-3D9AC24576A9}"/>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74" descr="p1_dqn_sac.png">
            <a:extLst>
              <a:ext uri="{FF2B5EF4-FFF2-40B4-BE49-F238E27FC236}">
                <a16:creationId xmlns:a16="http://schemas.microsoft.com/office/drawing/2014/main" id="{598BAE6E-F7D0-4203-9AB0-49020BFF7A01}"/>
              </a:ext>
            </a:extLst>
          </p:cNvPr>
          <p:cNvPicPr>
            <a:picLocks noChangeAspect="1"/>
          </p:cNvPicPr>
          <p:nvPr/>
        </p:nvPicPr>
        <p:blipFill>
          <a:blip r:embed="rId5"/>
          <a:srcRect b="58131"/>
          <a:stretch>
            <a:fillRect/>
          </a:stretch>
        </p:blipFill>
        <p:spPr>
          <a:xfrm>
            <a:off x="1992000" y="1587584"/>
            <a:ext cx="8280000" cy="4404475"/>
          </a:xfrm>
          <a:prstGeom prst="rect">
            <a:avLst/>
          </a:prstGeom>
          <a:ln w="9525">
            <a:solidFill>
              <a:srgbClr val="C9D2D8"/>
            </a:solid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7AD7-30FC-A405-E343-E3D58C402E6B}"/>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C980FB1-E166-433D-4171-5E7F3928320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D980CFB1-0D39-C274-9058-2ACE80867729}"/>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B7CD4677-1D1A-010D-5E99-F4BB0BC02563}"/>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75B46D50-A207-0532-F791-2DB9F2421A80}"/>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CC613F61-EA64-1FE3-22B1-D2E04C56FFC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2F98A9F3-65B5-D829-6A4D-75F935D76A5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488ABBEA-A284-E3BE-7BCE-30A580BCAEF9}"/>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Integration With DQN and SAC</a:t>
            </a:r>
          </a:p>
        </p:txBody>
      </p:sp>
      <p:sp>
        <p:nvSpPr>
          <p:cNvPr id="6" name="Rectangle 73">
            <a:extLst>
              <a:ext uri="{FF2B5EF4-FFF2-40B4-BE49-F238E27FC236}">
                <a16:creationId xmlns:a16="http://schemas.microsoft.com/office/drawing/2014/main" id="{527F840D-C6CE-9036-479D-DC245479ABD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74" descr="p1_dqn_sac.png">
            <a:extLst>
              <a:ext uri="{FF2B5EF4-FFF2-40B4-BE49-F238E27FC236}">
                <a16:creationId xmlns:a16="http://schemas.microsoft.com/office/drawing/2014/main" id="{22128B6D-F741-286D-DF97-F828FE095176}"/>
              </a:ext>
            </a:extLst>
          </p:cNvPr>
          <p:cNvPicPr>
            <a:picLocks noChangeAspect="1"/>
          </p:cNvPicPr>
          <p:nvPr/>
        </p:nvPicPr>
        <p:blipFill>
          <a:blip r:embed="rId5"/>
          <a:srcRect t="42436" b="18985"/>
          <a:stretch>
            <a:fillRect/>
          </a:stretch>
        </p:blipFill>
        <p:spPr>
          <a:xfrm>
            <a:off x="1380000" y="1579860"/>
            <a:ext cx="9432000" cy="4622911"/>
          </a:xfrm>
          <a:prstGeom prst="rect">
            <a:avLst/>
          </a:prstGeom>
          <a:ln w="9525">
            <a:solidFill>
              <a:srgbClr val="C9D2D8"/>
            </a:solidFill>
          </a:ln>
        </p:spPr>
      </p:pic>
    </p:spTree>
    <p:extLst>
      <p:ext uri="{BB962C8B-B14F-4D97-AF65-F5344CB8AC3E}">
        <p14:creationId xmlns:p14="http://schemas.microsoft.com/office/powerpoint/2010/main" val="191827678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39DB1-EFEB-92DB-3F74-D1FEA359C4A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4AEC538-E1A4-633E-E902-CCB26660CCCE}"/>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C1D7AED4-3F38-F56F-79D7-4585D982BFF0}"/>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BB21E5CD-23F1-548D-9312-19B32176F8BF}"/>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889352F3-5DD1-1CEA-3CF4-C0013A7DD6E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7397A9B-3ECA-EF8E-83F6-3C5F4CA529D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6BAEA6BC-8EB1-5433-FD87-0455444950E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667520E6-F1C2-D357-660C-5C4118AF0FE0}"/>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dirty="0">
                <a:solidFill>
                  <a:srgbClr val="0174AB"/>
                </a:solidFill>
                <a:latin typeface="Times New Roman"/>
              </a:rPr>
              <a:t>2 Comparison With Deep State-Abstraction Baselines</a:t>
            </a:r>
          </a:p>
        </p:txBody>
      </p:sp>
      <p:sp>
        <p:nvSpPr>
          <p:cNvPr id="7" name="Rectangle 73">
            <a:extLst>
              <a:ext uri="{FF2B5EF4-FFF2-40B4-BE49-F238E27FC236}">
                <a16:creationId xmlns:a16="http://schemas.microsoft.com/office/drawing/2014/main" id="{1EB3C23B-2F51-4642-8ADB-D0F043C9B73D}"/>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74" descr="p1_baselines.png">
            <a:extLst>
              <a:ext uri="{FF2B5EF4-FFF2-40B4-BE49-F238E27FC236}">
                <a16:creationId xmlns:a16="http://schemas.microsoft.com/office/drawing/2014/main" id="{F4A8C46B-705F-D0F5-8DF6-2E9006C02795}"/>
              </a:ext>
            </a:extLst>
          </p:cNvPr>
          <p:cNvPicPr>
            <a:picLocks noChangeAspect="1"/>
          </p:cNvPicPr>
          <p:nvPr/>
        </p:nvPicPr>
        <p:blipFill>
          <a:blip r:embed="rId5"/>
          <a:srcRect b="21809"/>
          <a:stretch>
            <a:fillRect/>
          </a:stretch>
        </p:blipFill>
        <p:spPr>
          <a:xfrm>
            <a:off x="1776000" y="1425916"/>
            <a:ext cx="8424000" cy="4650385"/>
          </a:xfrm>
          <a:prstGeom prst="rect">
            <a:avLst/>
          </a:prstGeom>
          <a:ln w="9525">
            <a:solidFill>
              <a:srgbClr val="C9D2D8"/>
            </a:solidFill>
          </a:ln>
        </p:spPr>
      </p:pic>
    </p:spTree>
    <p:extLst>
      <p:ext uri="{BB962C8B-B14F-4D97-AF65-F5344CB8AC3E}">
        <p14:creationId xmlns:p14="http://schemas.microsoft.com/office/powerpoint/2010/main" val="39601529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7593-B383-99D3-2EA2-49BE824186A1}"/>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45DC7838-9FFF-A48D-27DC-27038AA4CB53}"/>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E7BF2905-8E74-FC28-DD89-DBA1E5792120}"/>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57BB332D-BA24-6CED-74D1-9599853F19D8}"/>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A358CA9E-ECE7-62D5-68ED-3D2AF0C114C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B86AE825-42D3-35B9-CA93-23EC33E82C1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8ABA781-467E-99CA-D360-3E05DD0C05B8}"/>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06A84024-5393-31B2-A6A1-29981542984E}"/>
              </a:ext>
            </a:extLst>
          </p:cNvPr>
          <p:cNvPicPr>
            <a:picLocks noChangeAspect="1"/>
          </p:cNvPicPr>
          <p:nvPr/>
        </p:nvPicPr>
        <p:blipFill>
          <a:blip r:embed="rId5"/>
          <a:stretch>
            <a:fillRect/>
          </a:stretch>
        </p:blipFill>
        <p:spPr>
          <a:xfrm>
            <a:off x="799828" y="1958899"/>
            <a:ext cx="10592344" cy="2940201"/>
          </a:xfrm>
          <a:prstGeom prst="rect">
            <a:avLst/>
          </a:prstGeom>
        </p:spPr>
      </p:pic>
      <p:sp>
        <p:nvSpPr>
          <p:cNvPr id="6" name="TextBox 72">
            <a:extLst>
              <a:ext uri="{FF2B5EF4-FFF2-40B4-BE49-F238E27FC236}">
                <a16:creationId xmlns:a16="http://schemas.microsoft.com/office/drawing/2014/main" id="{3FB1FF89-634B-975D-B29D-CA6739D9EEBE}"/>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3 Sensitivity to Abstraction Granularity</a:t>
            </a:r>
          </a:p>
        </p:txBody>
      </p:sp>
      <p:sp>
        <p:nvSpPr>
          <p:cNvPr id="10" name="Rectangle 73">
            <a:extLst>
              <a:ext uri="{FF2B5EF4-FFF2-40B4-BE49-F238E27FC236}">
                <a16:creationId xmlns:a16="http://schemas.microsoft.com/office/drawing/2014/main" id="{85524B6C-E641-6D0A-B9AB-A83F42F9B54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54632335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17</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p:cNvSpPr/>
          <p:nvPr>
            <p:custDataLst>
              <p:tags r:id="rId1"/>
            </p:custDataLst>
          </p:nvPr>
        </p:nvSpPr>
        <p:spPr>
          <a:xfrm>
            <a:off x="1889760" y="1370330"/>
            <a:ext cx="8863330" cy="141067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矩形 2"/>
          <p:cNvSpPr/>
          <p:nvPr>
            <p:custDataLst>
              <p:tags r:id="rId2"/>
            </p:custDataLst>
          </p:nvPr>
        </p:nvSpPr>
        <p:spPr>
          <a:xfrm>
            <a:off x="1976111" y="1110481"/>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①</a:t>
            </a:r>
          </a:p>
        </p:txBody>
      </p:sp>
      <p:sp>
        <p:nvSpPr>
          <p:cNvPr id="10" name="矩形 9"/>
          <p:cNvSpPr/>
          <p:nvPr>
            <p:custDataLst>
              <p:tags r:id="rId3"/>
            </p:custDataLst>
          </p:nvPr>
        </p:nvSpPr>
        <p:spPr>
          <a:xfrm>
            <a:off x="1889760" y="4043680"/>
            <a:ext cx="8863330" cy="144399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p:cNvSpPr/>
          <p:nvPr>
            <p:custDataLst>
              <p:tags r:id="rId4"/>
            </p:custDataLst>
          </p:nvPr>
        </p:nvSpPr>
        <p:spPr>
          <a:xfrm>
            <a:off x="2075257" y="3833427"/>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②</a:t>
            </a:r>
          </a:p>
        </p:txBody>
      </p:sp>
      <p:sp>
        <p:nvSpPr>
          <p:cNvPr id="12" name="文本框 11"/>
          <p:cNvSpPr txBox="1"/>
          <p:nvPr>
            <p:custDataLst>
              <p:tags r:id="rId5"/>
            </p:custDataLst>
          </p:nvPr>
        </p:nvSpPr>
        <p:spPr>
          <a:xfrm>
            <a:off x="1826830" y="4154886"/>
            <a:ext cx="8952865" cy="1156086"/>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r>
              <a:rPr lang="en-US" altLang="zh-CN" sz="1600" dirty="0">
                <a:latin typeface="Times New Roman" panose="02020603050405020304" pitchFamily="18" charset="0"/>
                <a:cs typeface="Times New Roman" panose="02020603050405020304" pitchFamily="18" charset="0"/>
              </a:rPr>
              <a:t>Theory links the learned hash representation to optimal Q-value-irrelevant abstraction and bounds the policy loss. Experiments show faster learning than several deep abstraction baselines; future work includes continuous-action and multi-agent state abstraction.</a:t>
            </a:r>
          </a:p>
        </p:txBody>
      </p:sp>
      <p:sp>
        <p:nvSpPr>
          <p:cNvPr id="14" name="文本框 13"/>
          <p:cNvSpPr txBox="1"/>
          <p:nvPr>
            <p:custDataLst>
              <p:tags r:id="rId6"/>
            </p:custDataLst>
          </p:nvPr>
        </p:nvSpPr>
        <p:spPr>
          <a:xfrm>
            <a:off x="1890395" y="1453515"/>
            <a:ext cx="8862060" cy="2197806"/>
          </a:xfrm>
          <a:prstGeom prst="rect">
            <a:avLst/>
          </a:prstGeom>
          <a:noFill/>
        </p:spPr>
        <p:txBody>
          <a:bodyPr wrap="square">
            <a:no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1600" dirty="0">
                <a:latin typeface="Times New Roman" panose="02020603050405020304" pitchFamily="18" charset="0"/>
                <a:cs typeface="Times New Roman" panose="02020603050405020304" pitchFamily="18" charset="0"/>
              </a:rPr>
              <a:t>The paper formulates state abstraction as Q-value-consistent deep hashing. Target-network Q values generate pairwise supervision, while the DSH loss learns compact binary-like codes that can be optimized jointly with DQN or SAC.</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5" y="1960245"/>
            <a:ext cx="12679045" cy="2045335"/>
            <a:chOff x="1522095" y="1960245"/>
            <a:chExt cx="9527981"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9" name="文本框 8"/>
            <p:cNvSpPr txBox="1"/>
            <p:nvPr/>
          </p:nvSpPr>
          <p:spPr>
            <a:xfrm>
              <a:off x="1572864" y="2103061"/>
              <a:ext cx="9097464" cy="130733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Sample Efficient Deep Reinforcement Learning With Online State Abstraction and Causal Transformer Model Prediction</a:t>
              </a:r>
            </a:p>
          </p:txBody>
        </p:sp>
        <p:sp>
          <p:nvSpPr>
            <p:cNvPr id="3" name="文本框 2"/>
            <p:cNvSpPr txBox="1"/>
            <p:nvPr/>
          </p:nvSpPr>
          <p:spPr>
            <a:xfrm>
              <a:off x="1687636" y="3654699"/>
              <a:ext cx="9362440" cy="337133"/>
            </a:xfrm>
            <a:prstGeom prst="rect">
              <a:avLst/>
            </a:prstGeom>
            <a:noFill/>
          </p:spPr>
          <p:txBody>
            <a:bodyPr wrap="square" rtlCol="0">
              <a:spAutoFit/>
            </a:bodyPr>
            <a:lstStyle/>
            <a:p>
              <a:r>
                <a:rPr lang="en-US" altLang="zh-CN" sz="1600" dirty="0">
                  <a:solidFill>
                    <a:schemeClr val="bg1"/>
                  </a:solidFill>
                  <a:latin typeface="Times New Roman" panose="02020603050405020304" pitchFamily="18" charset="0"/>
                  <a:cs typeface="Times New Roman" panose="02020603050405020304" pitchFamily="18" charset="0"/>
                </a:rPr>
                <a:t>Yixing Lan, Xin Xu, Senior Member, IEEE, Qiang Fang, and Jianye Hao, Member, IEEE</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2</a:t>
            </a: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19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351876" y="4596014"/>
            <a:ext cx="9920124" cy="1754326"/>
          </a:xfrm>
          <a:prstGeom prst="rect">
            <a:avLst/>
          </a:prstGeom>
          <a:noFill/>
        </p:spPr>
        <p:txBody>
          <a:bodyPr wrap="square" rtlCol="0">
            <a:spAutoFit/>
          </a:bodyPr>
          <a:lstStyle/>
          <a:p>
            <a:pPr algn="just"/>
            <a:r>
              <a:rPr lang="en-US" altLang="zh-CN" b="1" dirty="0">
                <a:latin typeface="Times New Roman" panose="02020603050405020304" pitchFamily="18" charset="0"/>
                <a:cs typeface="Times New Roman" panose="02020603050405020304" pitchFamily="18" charset="0"/>
                <a:sym typeface="+mn-ea"/>
              </a:rPr>
              <a:t>This paper was published in:</a:t>
            </a:r>
            <a:r>
              <a:rPr lang="en-US" altLang="zh-CN" b="1" dirty="0">
                <a:latin typeface="Times New Roman" panose="02020603050405020304" pitchFamily="18" charset="0"/>
                <a:cs typeface="Times New Roman" panose="02020603050405020304" pitchFamily="18" charset="0"/>
              </a:rPr>
              <a:t> </a:t>
            </a:r>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IEEE Transactions on Neural Networks and Learning Systems (IF: </a:t>
            </a:r>
            <a:r>
              <a:rPr lang="en-US" altLang="zh-CN"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9.7</a:t>
            </a:r>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just"/>
            <a:r>
              <a:rPr lang="en-US" altLang="zh-CN" b="1" dirty="0">
                <a:latin typeface="Times New Roman" panose="02020603050405020304" pitchFamily="18" charset="0"/>
                <a:cs typeface="Times New Roman" panose="02020603050405020304" pitchFamily="18" charset="0"/>
                <a:sym typeface="+mn-ea"/>
              </a:rPr>
              <a:t>Published Time:</a:t>
            </a:r>
            <a:r>
              <a:rPr lang="en-US" altLang="zh-CN" dirty="0">
                <a:latin typeface="Times New Roman" panose="02020603050405020304" pitchFamily="18" charset="0"/>
                <a:cs typeface="Times New Roman" panose="02020603050405020304" pitchFamily="18" charset="0"/>
                <a:sym typeface="+mn-ea"/>
              </a:rPr>
              <a:t> 2024</a:t>
            </a:r>
            <a:endParaRPr lang="en-US" altLang="zh-CN" dirty="0">
              <a:latin typeface="Times New Roman" panose="02020603050405020304" pitchFamily="18" charset="0"/>
              <a:cs typeface="Times New Roman" panose="02020603050405020304" pitchFamily="18" charset="0"/>
            </a:endParaRPr>
          </a:p>
          <a:p>
            <a:pPr algn="just"/>
            <a:r>
              <a:rPr lang="en-US" altLang="zh-CN" b="1" dirty="0">
                <a:latin typeface="Times New Roman" panose="02020603050405020304" pitchFamily="18" charset="0"/>
                <a:cs typeface="Times New Roman" panose="02020603050405020304" pitchFamily="18" charset="0"/>
                <a:sym typeface="+mn-ea"/>
              </a:rPr>
              <a:t>Reference:</a:t>
            </a:r>
            <a:r>
              <a:rPr lang="en-US" altLang="zh-CN"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rPr>
              <a:t>Y. Lan, X. Xu, Q. Fang, and J. Hao, “Sample Efficient Deep Reinforcement Learning With Online State Abstraction and Causal Transformer Model Prediction,” IEEE Transactions on Neural Networks and Learning Systems, vol. 35, no. 11, pp. 16574–16588, Nov. 2024, </a:t>
            </a:r>
            <a:r>
              <a:rPr lang="en-US" altLang="zh-CN" dirty="0" err="1">
                <a:latin typeface="Times New Roman" panose="02020603050405020304" pitchFamily="18" charset="0"/>
                <a:cs typeface="Times New Roman" panose="02020603050405020304" pitchFamily="18" charset="0"/>
              </a:rPr>
              <a:t>doi</a:t>
            </a:r>
            <a:r>
              <a:rPr lang="en-US" altLang="zh-CN" dirty="0">
                <a:latin typeface="Times New Roman" panose="02020603050405020304" pitchFamily="18" charset="0"/>
                <a:cs typeface="Times New Roman" panose="02020603050405020304" pitchFamily="18" charset="0"/>
              </a:rPr>
              <a:t>: 10.1109/TNNLS.2023.3296642.</a:t>
            </a: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91DEDB0D-6B07-4871-58ED-D2E0339D2E30}"/>
              </a:ext>
            </a:extLst>
          </p:cNvPr>
          <p:cNvSpPr txBox="1"/>
          <p:nvPr/>
        </p:nvSpPr>
        <p:spPr>
          <a:xfrm>
            <a:off x="497205" y="847090"/>
            <a:ext cx="11060430" cy="225298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Challenge: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State abstraction can remove task-relevant information, while learned world models introduce transition/reward approximation errors.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One-step prediction errors compound over long rollouts, so model-generated data may degrade rather than improve policy learning.</a:t>
            </a:r>
          </a:p>
        </p:txBody>
      </p:sp>
      <p:sp>
        <p:nvSpPr>
          <p:cNvPr id="4" name="文本框 3">
            <a:extLst>
              <a:ext uri="{FF2B5EF4-FFF2-40B4-BE49-F238E27FC236}">
                <a16:creationId xmlns:a16="http://schemas.microsoft.com/office/drawing/2014/main" id="{1E0B05EA-A957-7E6F-F291-F0A085A94CED}"/>
              </a:ext>
            </a:extLst>
          </p:cNvPr>
          <p:cNvSpPr txBox="1"/>
          <p:nvPr/>
        </p:nvSpPr>
        <p:spPr>
          <a:xfrm>
            <a:off x="497205" y="3558025"/>
            <a:ext cx="11060430" cy="225298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Method: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Use state abstraction via multistep </a:t>
            </a:r>
            <a:r>
              <a:rPr lang="en-US" altLang="zh-CN" sz="2000" dirty="0" err="1">
                <a:latin typeface="Times New Roman" panose="02020603050405020304" pitchFamily="18" charset="0"/>
                <a:cs typeface="Times New Roman" panose="02020603050405020304" pitchFamily="18" charset="0"/>
              </a:rPr>
              <a:t>bisimulation</a:t>
            </a:r>
            <a:r>
              <a:rPr lang="en-US" altLang="zh-CN" sz="2000" dirty="0">
                <a:latin typeface="Times New Roman" panose="02020603050405020304" pitchFamily="18" charset="0"/>
                <a:cs typeface="Times New Roman" panose="02020603050405020304" pitchFamily="18" charset="0"/>
              </a:rPr>
              <a:t> (SAMB) to obtain task-related latent MDPs with adaptive coarseness.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Use a causal transformer model predictor (CTMP) and a multistep SAC </a:t>
            </a:r>
            <a:r>
              <a:rPr lang="el-GR" altLang="zh-CN" sz="2000" dirty="0">
                <a:latin typeface="Times New Roman" panose="02020603050405020304" pitchFamily="18" charset="0"/>
                <a:cs typeface="Times New Roman" panose="02020603050405020304" pitchFamily="18" charset="0"/>
              </a:rPr>
              <a:t>λ-</a:t>
            </a:r>
            <a:r>
              <a:rPr lang="en-US" altLang="zh-CN" sz="2000" dirty="0">
                <a:latin typeface="Times New Roman" panose="02020603050405020304" pitchFamily="18" charset="0"/>
                <a:cs typeface="Times New Roman" panose="02020603050405020304" pitchFamily="18" charset="0"/>
              </a:rPr>
              <a:t>target to exploit long-horizon model rollouts efficiently.</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4BACE-62C4-10D5-D238-C7DAD796171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FD2342C-0D79-E103-0867-5743485A3D62}"/>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11325BB-C408-BE3B-14E1-BD4C26AEFB6D}"/>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DE42E6CD-DF6B-6D37-7825-2175924CF357}"/>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08642096-7855-6564-CE62-F9ADD15D592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61ED63ED-4FFC-BD46-DD9B-3E85279B0F7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CC2FF73F-D7B8-57BB-8CC8-652702A7E24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4194FB2B-37E8-51BE-6CBA-E0A119DBFDBF}"/>
              </a:ext>
            </a:extLst>
          </p:cNvPr>
          <p:cNvPicPr>
            <a:picLocks noChangeAspect="1"/>
          </p:cNvPicPr>
          <p:nvPr/>
        </p:nvPicPr>
        <p:blipFill>
          <a:blip r:embed="rId3"/>
          <a:srcRect b="49109"/>
          <a:stretch>
            <a:fillRect/>
          </a:stretch>
        </p:blipFill>
        <p:spPr>
          <a:xfrm>
            <a:off x="552000" y="1881000"/>
            <a:ext cx="4616687" cy="3096000"/>
          </a:xfrm>
          <a:prstGeom prst="rect">
            <a:avLst/>
          </a:prstGeom>
        </p:spPr>
      </p:pic>
      <p:pic>
        <p:nvPicPr>
          <p:cNvPr id="7" name="图片 6">
            <a:extLst>
              <a:ext uri="{FF2B5EF4-FFF2-40B4-BE49-F238E27FC236}">
                <a16:creationId xmlns:a16="http://schemas.microsoft.com/office/drawing/2014/main" id="{92938A53-2C14-B8B5-F8A4-5173A4109422}"/>
              </a:ext>
            </a:extLst>
          </p:cNvPr>
          <p:cNvPicPr>
            <a:picLocks noChangeAspect="1"/>
          </p:cNvPicPr>
          <p:nvPr/>
        </p:nvPicPr>
        <p:blipFill>
          <a:blip r:embed="rId3"/>
          <a:srcRect t="50891"/>
          <a:stretch>
            <a:fillRect/>
          </a:stretch>
        </p:blipFill>
        <p:spPr>
          <a:xfrm>
            <a:off x="6456000" y="1935193"/>
            <a:ext cx="4616687" cy="2987613"/>
          </a:xfrm>
          <a:prstGeom prst="rect">
            <a:avLst/>
          </a:prstGeom>
        </p:spPr>
      </p:pic>
    </p:spTree>
    <p:extLst>
      <p:ext uri="{BB962C8B-B14F-4D97-AF65-F5344CB8AC3E}">
        <p14:creationId xmlns:p14="http://schemas.microsoft.com/office/powerpoint/2010/main" val="176366890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408E21F2-E4AF-BAC3-FD1C-CDAC2E417C85}"/>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Overall AMPL Architecture</a:t>
            </a:r>
          </a:p>
        </p:txBody>
      </p:sp>
      <p:sp>
        <p:nvSpPr>
          <p:cNvPr id="6" name="Rectangle 73">
            <a:extLst>
              <a:ext uri="{FF2B5EF4-FFF2-40B4-BE49-F238E27FC236}">
                <a16:creationId xmlns:a16="http://schemas.microsoft.com/office/drawing/2014/main" id="{7C821F5B-1841-BB42-8051-22DB5F73DB49}"/>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74" descr="p2_fig1.png">
            <a:extLst>
              <a:ext uri="{FF2B5EF4-FFF2-40B4-BE49-F238E27FC236}">
                <a16:creationId xmlns:a16="http://schemas.microsoft.com/office/drawing/2014/main" id="{9F9A953D-F151-1A1D-CB94-E81CE93FE28E}"/>
              </a:ext>
            </a:extLst>
          </p:cNvPr>
          <p:cNvPicPr>
            <a:picLocks noChangeAspect="1"/>
          </p:cNvPicPr>
          <p:nvPr/>
        </p:nvPicPr>
        <p:blipFill>
          <a:blip r:embed="rId3"/>
          <a:srcRect t="9233"/>
          <a:stretch>
            <a:fillRect/>
          </a:stretch>
        </p:blipFill>
        <p:spPr>
          <a:xfrm>
            <a:off x="768000" y="1542923"/>
            <a:ext cx="5112000" cy="4930666"/>
          </a:xfrm>
          <a:prstGeom prst="rect">
            <a:avLst/>
          </a:prstGeom>
          <a:ln w="9525">
            <a:solidFill>
              <a:srgbClr val="C9D2D8"/>
            </a:solidFill>
          </a:ln>
        </p:spPr>
      </p:pic>
      <p:sp>
        <p:nvSpPr>
          <p:cNvPr id="14" name="Rounded Rectangle 75">
            <a:extLst>
              <a:ext uri="{FF2B5EF4-FFF2-40B4-BE49-F238E27FC236}">
                <a16:creationId xmlns:a16="http://schemas.microsoft.com/office/drawing/2014/main" id="{3D38B753-00A3-7D5F-D615-43FEA85302E8}"/>
              </a:ext>
            </a:extLst>
          </p:cNvPr>
          <p:cNvSpPr/>
          <p:nvPr/>
        </p:nvSpPr>
        <p:spPr>
          <a:xfrm>
            <a:off x="6561385" y="1832102"/>
            <a:ext cx="4983480" cy="2880298"/>
          </a:xfrm>
          <a:prstGeom prst="roundRect">
            <a:avLst>
              <a:gd name="adj" fmla="val 6764"/>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β-VAE: </a:t>
            </a:r>
            <a:r>
              <a:rPr sz="1750" dirty="0">
                <a:solidFill>
                  <a:srgbClr val="111111"/>
                </a:solidFill>
                <a:latin typeface="Times New Roman"/>
              </a:rPr>
              <a:t>rapidly obtains disentangled low-dimensional image features.</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SAMB: </a:t>
            </a:r>
            <a:r>
              <a:rPr sz="1750" dirty="0">
                <a:solidFill>
                  <a:srgbClr val="111111"/>
                </a:solidFill>
                <a:latin typeface="Times New Roman"/>
              </a:rPr>
              <a:t>extracts task-related abstract states using multistep </a:t>
            </a:r>
            <a:r>
              <a:rPr sz="1750" dirty="0" err="1">
                <a:solidFill>
                  <a:srgbClr val="111111"/>
                </a:solidFill>
                <a:latin typeface="Times New Roman"/>
              </a:rPr>
              <a:t>bisimulation</a:t>
            </a:r>
            <a:r>
              <a:rPr sz="1750" dirty="0">
                <a:solidFill>
                  <a:srgbClr val="111111"/>
                </a:solidFill>
                <a:latin typeface="Times New Roman"/>
              </a:rPr>
              <a:t> losses.</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CTMP: </a:t>
            </a:r>
            <a:r>
              <a:rPr sz="1750" dirty="0">
                <a:solidFill>
                  <a:srgbClr val="111111"/>
                </a:solidFill>
                <a:latin typeface="Times New Roman"/>
              </a:rPr>
              <a:t>predicts abstract latent states and rewards over long horizons.</a:t>
            </a:r>
          </a:p>
          <a:p>
            <a:pPr algn="just">
              <a:lnSpc>
                <a:spcPct val="105000"/>
              </a:lnSpc>
              <a:spcAft>
                <a:spcPts val="700"/>
              </a:spcAft>
            </a:pPr>
            <a:r>
              <a:rPr sz="1750" b="1" dirty="0">
                <a:solidFill>
                  <a:srgbClr val="0174AB"/>
                </a:solidFill>
                <a:latin typeface="Times New Roman"/>
              </a:rPr>
              <a:t>• </a:t>
            </a:r>
            <a:r>
              <a:rPr sz="1750" b="1" dirty="0">
                <a:solidFill>
                  <a:srgbClr val="111111"/>
                </a:solidFill>
                <a:latin typeface="Times New Roman"/>
              </a:rPr>
              <a:t>Actor–critic: </a:t>
            </a:r>
            <a:r>
              <a:rPr sz="1750" dirty="0">
                <a:solidFill>
                  <a:srgbClr val="111111"/>
                </a:solidFill>
                <a:latin typeface="Times New Roman"/>
              </a:rPr>
              <a:t>learns from real and imagined trajectories using a soft multistep λ-target.</a:t>
            </a:r>
          </a:p>
        </p:txBody>
      </p:sp>
      <p:pic>
        <p:nvPicPr>
          <p:cNvPr id="3" name="图片 2">
            <a:extLst>
              <a:ext uri="{FF2B5EF4-FFF2-40B4-BE49-F238E27FC236}">
                <a16:creationId xmlns:a16="http://schemas.microsoft.com/office/drawing/2014/main" id="{9BE611E1-2DC6-21DA-9D6B-52A4352E4CB0}"/>
              </a:ext>
            </a:extLst>
          </p:cNvPr>
          <p:cNvPicPr>
            <a:picLocks noChangeAspect="1"/>
          </p:cNvPicPr>
          <p:nvPr/>
        </p:nvPicPr>
        <p:blipFill>
          <a:blip r:embed="rId4"/>
          <a:stretch>
            <a:fillRect/>
          </a:stretch>
        </p:blipFill>
        <p:spPr>
          <a:xfrm>
            <a:off x="6617854" y="5157000"/>
            <a:ext cx="5270137" cy="690234"/>
          </a:xfrm>
          <a:prstGeom prst="rect">
            <a:avLst/>
          </a:prstGeom>
        </p:spPr>
      </p:pic>
    </p:spTree>
    <p:extLst>
      <p:ext uri="{BB962C8B-B14F-4D97-AF65-F5344CB8AC3E}">
        <p14:creationId xmlns:p14="http://schemas.microsoft.com/office/powerpoint/2010/main" val="79370381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27965C7A-9848-E2E0-122F-45DB05BF6DD2}"/>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dirty="0">
                <a:solidFill>
                  <a:srgbClr val="0174AB"/>
                </a:solidFill>
                <a:latin typeface="Times New Roman"/>
              </a:rPr>
              <a:t>2 State Abstraction via Multistep </a:t>
            </a:r>
            <a:r>
              <a:rPr sz="2400" b="1" i="0" dirty="0" err="1">
                <a:solidFill>
                  <a:srgbClr val="0174AB"/>
                </a:solidFill>
                <a:latin typeface="Times New Roman"/>
              </a:rPr>
              <a:t>Bisimulation</a:t>
            </a:r>
            <a:r>
              <a:rPr sz="2400" b="1" i="0" dirty="0">
                <a:solidFill>
                  <a:srgbClr val="0174AB"/>
                </a:solidFill>
                <a:latin typeface="Times New Roman"/>
              </a:rPr>
              <a:t> (SAMB)</a:t>
            </a:r>
          </a:p>
        </p:txBody>
      </p:sp>
      <p:sp>
        <p:nvSpPr>
          <p:cNvPr id="14" name="Rectangle 73">
            <a:extLst>
              <a:ext uri="{FF2B5EF4-FFF2-40B4-BE49-F238E27FC236}">
                <a16:creationId xmlns:a16="http://schemas.microsoft.com/office/drawing/2014/main" id="{95A03632-1233-2D23-2796-4D435BC4E18A}"/>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图片 3">
            <a:extLst>
              <a:ext uri="{FF2B5EF4-FFF2-40B4-BE49-F238E27FC236}">
                <a16:creationId xmlns:a16="http://schemas.microsoft.com/office/drawing/2014/main" id="{B02F4335-02A5-95FD-D061-3992A0AD15ED}"/>
              </a:ext>
            </a:extLst>
          </p:cNvPr>
          <p:cNvPicPr>
            <a:picLocks noChangeAspect="1"/>
          </p:cNvPicPr>
          <p:nvPr/>
        </p:nvPicPr>
        <p:blipFill>
          <a:blip r:embed="rId3"/>
          <a:stretch>
            <a:fillRect/>
          </a:stretch>
        </p:blipFill>
        <p:spPr>
          <a:xfrm>
            <a:off x="336000" y="1971052"/>
            <a:ext cx="3928140" cy="3758667"/>
          </a:xfrm>
          <a:prstGeom prst="rect">
            <a:avLst/>
          </a:prstGeom>
        </p:spPr>
      </p:pic>
      <p:pic>
        <p:nvPicPr>
          <p:cNvPr id="6" name="图片 5">
            <a:extLst>
              <a:ext uri="{FF2B5EF4-FFF2-40B4-BE49-F238E27FC236}">
                <a16:creationId xmlns:a16="http://schemas.microsoft.com/office/drawing/2014/main" id="{0B3CD0A8-15EE-1D0E-D239-771781627611}"/>
              </a:ext>
            </a:extLst>
          </p:cNvPr>
          <p:cNvPicPr>
            <a:picLocks noChangeAspect="1"/>
          </p:cNvPicPr>
          <p:nvPr/>
        </p:nvPicPr>
        <p:blipFill>
          <a:blip r:embed="rId4"/>
          <a:stretch>
            <a:fillRect/>
          </a:stretch>
        </p:blipFill>
        <p:spPr>
          <a:xfrm>
            <a:off x="4656000" y="1529788"/>
            <a:ext cx="3096000" cy="4923068"/>
          </a:xfrm>
          <a:prstGeom prst="rect">
            <a:avLst/>
          </a:prstGeom>
        </p:spPr>
      </p:pic>
      <p:pic>
        <p:nvPicPr>
          <p:cNvPr id="12" name="图片 11">
            <a:extLst>
              <a:ext uri="{FF2B5EF4-FFF2-40B4-BE49-F238E27FC236}">
                <a16:creationId xmlns:a16="http://schemas.microsoft.com/office/drawing/2014/main" id="{960225D3-F655-7E74-BCD0-5BE586C89E4B}"/>
              </a:ext>
            </a:extLst>
          </p:cNvPr>
          <p:cNvPicPr>
            <a:picLocks noChangeAspect="1"/>
          </p:cNvPicPr>
          <p:nvPr/>
        </p:nvPicPr>
        <p:blipFill>
          <a:blip r:embed="rId5"/>
          <a:stretch>
            <a:fillRect/>
          </a:stretch>
        </p:blipFill>
        <p:spPr>
          <a:xfrm>
            <a:off x="8005855" y="1863158"/>
            <a:ext cx="3958710" cy="4071075"/>
          </a:xfrm>
          <a:prstGeom prst="rect">
            <a:avLst/>
          </a:prstGeom>
        </p:spPr>
      </p:pic>
    </p:spTree>
    <p:extLst>
      <p:ext uri="{BB962C8B-B14F-4D97-AF65-F5344CB8AC3E}">
        <p14:creationId xmlns:p14="http://schemas.microsoft.com/office/powerpoint/2010/main" val="53164065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E1834-13FF-0E9E-AE2A-34CD9223A5B3}"/>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8CDB7D5-B0AB-6C5B-7D9D-0F3EC17882E7}"/>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1D812ACD-09F2-4B24-C277-5D17A9091D86}"/>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E34B82C8-AC4F-B943-9DE0-0B3966C301AF}"/>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FC19C468-4F51-1D67-1B0C-9F997AB9DD78}"/>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FCAC5DAC-6B80-6BB7-99C4-380BF844528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61B0E090-66C0-0890-8E82-ACD96B8A6754}"/>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D89F121E-E048-7AD1-9BCF-94669F2B25F5}"/>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dirty="0">
                <a:solidFill>
                  <a:srgbClr val="0174AB"/>
                </a:solidFill>
                <a:latin typeface="Times New Roman"/>
              </a:rPr>
              <a:t>2 State Abstraction via Multistep </a:t>
            </a:r>
            <a:r>
              <a:rPr sz="2400" b="1" i="0" dirty="0" err="1">
                <a:solidFill>
                  <a:srgbClr val="0174AB"/>
                </a:solidFill>
                <a:latin typeface="Times New Roman"/>
              </a:rPr>
              <a:t>Bisimulation</a:t>
            </a:r>
            <a:r>
              <a:rPr sz="2400" b="1" i="0" dirty="0">
                <a:solidFill>
                  <a:srgbClr val="0174AB"/>
                </a:solidFill>
                <a:latin typeface="Times New Roman"/>
              </a:rPr>
              <a:t> (SAMB)</a:t>
            </a:r>
          </a:p>
        </p:txBody>
      </p:sp>
      <p:sp>
        <p:nvSpPr>
          <p:cNvPr id="14" name="Rectangle 73">
            <a:extLst>
              <a:ext uri="{FF2B5EF4-FFF2-40B4-BE49-F238E27FC236}">
                <a16:creationId xmlns:a16="http://schemas.microsoft.com/office/drawing/2014/main" id="{1B0F25B5-81CB-F7D8-82E6-F836DAC722BB}"/>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图片 11">
            <a:extLst>
              <a:ext uri="{FF2B5EF4-FFF2-40B4-BE49-F238E27FC236}">
                <a16:creationId xmlns:a16="http://schemas.microsoft.com/office/drawing/2014/main" id="{0AD21720-2D20-34E9-2F52-C778BBEBE21F}"/>
              </a:ext>
            </a:extLst>
          </p:cNvPr>
          <p:cNvPicPr>
            <a:picLocks noChangeAspect="1"/>
          </p:cNvPicPr>
          <p:nvPr/>
        </p:nvPicPr>
        <p:blipFill>
          <a:blip r:embed="rId3"/>
          <a:stretch>
            <a:fillRect/>
          </a:stretch>
        </p:blipFill>
        <p:spPr>
          <a:xfrm>
            <a:off x="336000" y="1952553"/>
            <a:ext cx="4102311" cy="3314870"/>
          </a:xfrm>
          <a:prstGeom prst="rect">
            <a:avLst/>
          </a:prstGeom>
        </p:spPr>
      </p:pic>
      <p:pic>
        <p:nvPicPr>
          <p:cNvPr id="15" name="图片 14">
            <a:extLst>
              <a:ext uri="{FF2B5EF4-FFF2-40B4-BE49-F238E27FC236}">
                <a16:creationId xmlns:a16="http://schemas.microsoft.com/office/drawing/2014/main" id="{3148BE6C-1F93-EB2F-CEB5-CFA73154A232}"/>
              </a:ext>
            </a:extLst>
          </p:cNvPr>
          <p:cNvPicPr>
            <a:picLocks noChangeAspect="1"/>
          </p:cNvPicPr>
          <p:nvPr/>
        </p:nvPicPr>
        <p:blipFill>
          <a:blip r:embed="rId4"/>
          <a:stretch>
            <a:fillRect/>
          </a:stretch>
        </p:blipFill>
        <p:spPr>
          <a:xfrm>
            <a:off x="6456000" y="1585556"/>
            <a:ext cx="4134062" cy="4635738"/>
          </a:xfrm>
          <a:prstGeom prst="rect">
            <a:avLst/>
          </a:prstGeom>
        </p:spPr>
      </p:pic>
    </p:spTree>
    <p:extLst>
      <p:ext uri="{BB962C8B-B14F-4D97-AF65-F5344CB8AC3E}">
        <p14:creationId xmlns:p14="http://schemas.microsoft.com/office/powerpoint/2010/main" val="97407191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6C5AE-4809-7AF3-5F0C-1BDE2C8F8E77}"/>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F186592D-9198-E31F-F933-934E348CBE84}"/>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0BEDBC59-5954-A530-E2E0-D297A992B657}"/>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FF7FE4BD-5F75-1E54-32E1-A77778D4124D}"/>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CB68640C-ECAC-E398-649E-83BDA69A9452}"/>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C1A89690-474D-05EE-115F-0660BEDC30A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8C45E20D-FF4B-5167-CC77-392BEAA6C3F2}"/>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BCB38B8E-AC9B-DB9C-A9FE-C0A58DB09EF8}"/>
              </a:ext>
            </a:extLst>
          </p:cNvPr>
          <p:cNvSpPr txBox="1"/>
          <p:nvPr/>
        </p:nvSpPr>
        <p:spPr>
          <a:xfrm>
            <a:off x="0" y="789170"/>
            <a:ext cx="11384280" cy="369332"/>
          </a:xfrm>
          <a:prstGeom prst="rect">
            <a:avLst/>
          </a:prstGeom>
          <a:noFill/>
        </p:spPr>
        <p:txBody>
          <a:bodyPr wrap="square" lIns="27432" tIns="0" rIns="27432" bIns="0" anchor="ctr">
            <a:spAutoFit/>
          </a:bodyPr>
          <a:lstStyle/>
          <a:p>
            <a:pPr algn="l"/>
            <a:r>
              <a:rPr lang="en-US" sz="2400" b="1" dirty="0">
                <a:solidFill>
                  <a:srgbClr val="0174AB"/>
                </a:solidFill>
                <a:latin typeface="Times New Roman"/>
              </a:rPr>
              <a:t>3</a:t>
            </a:r>
            <a:r>
              <a:rPr sz="2400" b="1" i="0" dirty="0">
                <a:solidFill>
                  <a:srgbClr val="0174AB"/>
                </a:solidFill>
                <a:latin typeface="Times New Roman"/>
              </a:rPr>
              <a:t> Causal Transformer Model Prediction and Policy Learning</a:t>
            </a:r>
          </a:p>
        </p:txBody>
      </p:sp>
      <p:sp>
        <p:nvSpPr>
          <p:cNvPr id="6" name="Rectangle 73">
            <a:extLst>
              <a:ext uri="{FF2B5EF4-FFF2-40B4-BE49-F238E27FC236}">
                <a16:creationId xmlns:a16="http://schemas.microsoft.com/office/drawing/2014/main" id="{B367C955-0BDD-DE81-BFD3-1C3216CB6A2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图片 12">
            <a:extLst>
              <a:ext uri="{FF2B5EF4-FFF2-40B4-BE49-F238E27FC236}">
                <a16:creationId xmlns:a16="http://schemas.microsoft.com/office/drawing/2014/main" id="{CCE57B73-1D5D-8271-57D3-18070DA24E60}"/>
              </a:ext>
            </a:extLst>
          </p:cNvPr>
          <p:cNvPicPr>
            <a:picLocks noChangeAspect="1"/>
          </p:cNvPicPr>
          <p:nvPr/>
        </p:nvPicPr>
        <p:blipFill>
          <a:blip r:embed="rId3"/>
          <a:stretch>
            <a:fillRect/>
          </a:stretch>
        </p:blipFill>
        <p:spPr>
          <a:xfrm>
            <a:off x="192000" y="2133000"/>
            <a:ext cx="4824000" cy="3083836"/>
          </a:xfrm>
          <a:prstGeom prst="rect">
            <a:avLst/>
          </a:prstGeom>
        </p:spPr>
      </p:pic>
      <p:pic>
        <p:nvPicPr>
          <p:cNvPr id="17" name="图片 16">
            <a:extLst>
              <a:ext uri="{FF2B5EF4-FFF2-40B4-BE49-F238E27FC236}">
                <a16:creationId xmlns:a16="http://schemas.microsoft.com/office/drawing/2014/main" id="{BA33C61F-3F8A-E0AF-A19A-1D83BD86B835}"/>
              </a:ext>
            </a:extLst>
          </p:cNvPr>
          <p:cNvPicPr>
            <a:picLocks noChangeAspect="1"/>
          </p:cNvPicPr>
          <p:nvPr/>
        </p:nvPicPr>
        <p:blipFill>
          <a:blip r:embed="rId4"/>
          <a:stretch>
            <a:fillRect/>
          </a:stretch>
        </p:blipFill>
        <p:spPr>
          <a:xfrm>
            <a:off x="6744000" y="1774081"/>
            <a:ext cx="4064209" cy="4216617"/>
          </a:xfrm>
          <a:prstGeom prst="rect">
            <a:avLst/>
          </a:prstGeom>
        </p:spPr>
      </p:pic>
    </p:spTree>
    <p:extLst>
      <p:ext uri="{BB962C8B-B14F-4D97-AF65-F5344CB8AC3E}">
        <p14:creationId xmlns:p14="http://schemas.microsoft.com/office/powerpoint/2010/main" val="104315930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29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5CE556A5-4DE4-631F-0577-D39DC1C94F8B}"/>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dirty="0">
                <a:solidFill>
                  <a:srgbClr val="0174AB"/>
                </a:solidFill>
                <a:latin typeface="Times New Roman"/>
              </a:rPr>
              <a:t>1 Atari 100K Results</a:t>
            </a:r>
          </a:p>
        </p:txBody>
      </p:sp>
      <p:sp>
        <p:nvSpPr>
          <p:cNvPr id="6" name="Rectangle 73">
            <a:extLst>
              <a:ext uri="{FF2B5EF4-FFF2-40B4-BE49-F238E27FC236}">
                <a16:creationId xmlns:a16="http://schemas.microsoft.com/office/drawing/2014/main" id="{EB5C79F8-6E32-BD83-F5D8-F8CAE7CAD5C6}"/>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图片 9">
            <a:extLst>
              <a:ext uri="{FF2B5EF4-FFF2-40B4-BE49-F238E27FC236}">
                <a16:creationId xmlns:a16="http://schemas.microsoft.com/office/drawing/2014/main" id="{4D8A2BDA-7FDC-88C5-CD3B-0E7D16EB263D}"/>
              </a:ext>
            </a:extLst>
          </p:cNvPr>
          <p:cNvPicPr>
            <a:picLocks noChangeAspect="1"/>
          </p:cNvPicPr>
          <p:nvPr/>
        </p:nvPicPr>
        <p:blipFill>
          <a:blip r:embed="rId5"/>
          <a:stretch>
            <a:fillRect/>
          </a:stretch>
        </p:blipFill>
        <p:spPr>
          <a:xfrm>
            <a:off x="2064000" y="1599195"/>
            <a:ext cx="8312577" cy="4502381"/>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6982F-8DBB-0951-A411-DB31772793A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8179EE3-4549-9906-B7CF-1553D5C1AD07}"/>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BB2ADF5-1BA7-6680-5CD4-03A634C50BA4}"/>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27C55132-8AE5-1D24-DDD7-7830E36FB91B}"/>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58D89BB4-E48A-7811-602A-3A6F757BA5E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120796C0-396A-7933-E962-B2E8ED4AFAF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993C02BF-D02B-2D27-86D6-7999DB5D276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AF100818-6FD6-1189-721F-DC246A0BA238}"/>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2 DMControl With 500K Environment Steps</a:t>
            </a:r>
          </a:p>
        </p:txBody>
      </p:sp>
      <p:sp>
        <p:nvSpPr>
          <p:cNvPr id="6" name="Rectangle 73">
            <a:extLst>
              <a:ext uri="{FF2B5EF4-FFF2-40B4-BE49-F238E27FC236}">
                <a16:creationId xmlns:a16="http://schemas.microsoft.com/office/drawing/2014/main" id="{C1CA7B16-0946-5554-5A88-83FF7B5B0A1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图片 9">
            <a:extLst>
              <a:ext uri="{FF2B5EF4-FFF2-40B4-BE49-F238E27FC236}">
                <a16:creationId xmlns:a16="http://schemas.microsoft.com/office/drawing/2014/main" id="{62447987-387D-E655-95D9-7715D3DBF443}"/>
              </a:ext>
            </a:extLst>
          </p:cNvPr>
          <p:cNvPicPr>
            <a:picLocks noChangeAspect="1"/>
          </p:cNvPicPr>
          <p:nvPr/>
        </p:nvPicPr>
        <p:blipFill>
          <a:blip r:embed="rId5"/>
          <a:stretch>
            <a:fillRect/>
          </a:stretch>
        </p:blipFill>
        <p:spPr>
          <a:xfrm>
            <a:off x="54864" y="1798371"/>
            <a:ext cx="7608000" cy="3676460"/>
          </a:xfrm>
          <a:prstGeom prst="rect">
            <a:avLst/>
          </a:prstGeom>
        </p:spPr>
      </p:pic>
      <p:pic>
        <p:nvPicPr>
          <p:cNvPr id="12" name="图片 11">
            <a:extLst>
              <a:ext uri="{FF2B5EF4-FFF2-40B4-BE49-F238E27FC236}">
                <a16:creationId xmlns:a16="http://schemas.microsoft.com/office/drawing/2014/main" id="{0CED2C73-BC76-2DA9-A73E-694BED302C33}"/>
              </a:ext>
            </a:extLst>
          </p:cNvPr>
          <p:cNvPicPr>
            <a:picLocks noChangeAspect="1"/>
          </p:cNvPicPr>
          <p:nvPr/>
        </p:nvPicPr>
        <p:blipFill>
          <a:blip r:embed="rId6"/>
          <a:stretch>
            <a:fillRect/>
          </a:stretch>
        </p:blipFill>
        <p:spPr>
          <a:xfrm>
            <a:off x="7752000" y="2298532"/>
            <a:ext cx="4178515" cy="2635385"/>
          </a:xfrm>
          <a:prstGeom prst="rect">
            <a:avLst/>
          </a:prstGeom>
        </p:spPr>
      </p:pic>
    </p:spTree>
    <p:extLst>
      <p:ext uri="{BB962C8B-B14F-4D97-AF65-F5344CB8AC3E}">
        <p14:creationId xmlns:p14="http://schemas.microsoft.com/office/powerpoint/2010/main" val="31381612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CB50D73-498C-C839-E885-3731F99BE521}"/>
              </a:ext>
            </a:extLst>
          </p:cNvPr>
          <p:cNvPicPr>
            <a:picLocks noChangeAspect="1"/>
          </p:cNvPicPr>
          <p:nvPr/>
        </p:nvPicPr>
        <p:blipFill>
          <a:blip r:embed="rId5"/>
          <a:stretch>
            <a:fillRect/>
          </a:stretch>
        </p:blipFill>
        <p:spPr>
          <a:xfrm>
            <a:off x="1952412" y="1899910"/>
            <a:ext cx="8287176" cy="4045158"/>
          </a:xfrm>
          <a:prstGeom prst="rect">
            <a:avLst/>
          </a:prstGeom>
        </p:spPr>
      </p:pic>
      <p:sp>
        <p:nvSpPr>
          <p:cNvPr id="7" name="TextBox 72">
            <a:extLst>
              <a:ext uri="{FF2B5EF4-FFF2-40B4-BE49-F238E27FC236}">
                <a16:creationId xmlns:a16="http://schemas.microsoft.com/office/drawing/2014/main" id="{1066F3BF-DF02-A226-2D9E-459733D3D576}"/>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2 DMControl With 500K Environment Steps</a:t>
            </a:r>
          </a:p>
        </p:txBody>
      </p:sp>
      <p:sp>
        <p:nvSpPr>
          <p:cNvPr id="9" name="Rectangle 73">
            <a:extLst>
              <a:ext uri="{FF2B5EF4-FFF2-40B4-BE49-F238E27FC236}">
                <a16:creationId xmlns:a16="http://schemas.microsoft.com/office/drawing/2014/main" id="{8E551BE5-4C31-B691-D794-5B794FCC4C2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82617734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34CE1-1D1C-5FA3-ABC8-A6D292F5D95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4E97BCA-7F95-C1E4-C968-C92BA2DBE736}"/>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C1EC1A7-8317-FC2D-F25B-91285D5FA638}"/>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DC92298D-8889-CDD8-76DA-5DB8F165BCED}"/>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953064B8-8CEA-BBC8-79F1-E48C1CC54C7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CDB29039-AB9B-74CB-2827-C29D305BD93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D1717283-74C1-C294-CD45-93206CC78795}"/>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05AA7986-816A-B563-59BC-60236E1EACAD}"/>
              </a:ext>
            </a:extLst>
          </p:cNvPr>
          <p:cNvPicPr>
            <a:picLocks noChangeAspect="1"/>
          </p:cNvPicPr>
          <p:nvPr/>
        </p:nvPicPr>
        <p:blipFill>
          <a:blip r:embed="rId5"/>
          <a:stretch>
            <a:fillRect/>
          </a:stretch>
        </p:blipFill>
        <p:spPr>
          <a:xfrm>
            <a:off x="1952412" y="1899910"/>
            <a:ext cx="8287176" cy="4045158"/>
          </a:xfrm>
          <a:prstGeom prst="rect">
            <a:avLst/>
          </a:prstGeom>
        </p:spPr>
      </p:pic>
      <p:sp>
        <p:nvSpPr>
          <p:cNvPr id="7" name="TextBox 72">
            <a:extLst>
              <a:ext uri="{FF2B5EF4-FFF2-40B4-BE49-F238E27FC236}">
                <a16:creationId xmlns:a16="http://schemas.microsoft.com/office/drawing/2014/main" id="{241B4CEF-B6E2-5691-FE26-A2A33233AA2E}"/>
              </a:ext>
            </a:extLst>
          </p:cNvPr>
          <p:cNvSpPr txBox="1"/>
          <p:nvPr/>
        </p:nvSpPr>
        <p:spPr>
          <a:xfrm>
            <a:off x="0" y="789170"/>
            <a:ext cx="11384280" cy="369332"/>
          </a:xfrm>
          <a:prstGeom prst="rect">
            <a:avLst/>
          </a:prstGeom>
          <a:noFill/>
        </p:spPr>
        <p:txBody>
          <a:bodyPr wrap="square" lIns="27432" tIns="0" rIns="27432" bIns="0" anchor="ctr">
            <a:spAutoFit/>
          </a:bodyPr>
          <a:lstStyle/>
          <a:p>
            <a:pPr algn="l"/>
            <a:r>
              <a:rPr lang="en-US" sz="2400" b="1" dirty="0">
                <a:solidFill>
                  <a:srgbClr val="0174AB"/>
                </a:solidFill>
                <a:latin typeface="Times New Roman"/>
              </a:rPr>
              <a:t>3</a:t>
            </a:r>
            <a:r>
              <a:rPr sz="2400" b="1" i="0" dirty="0">
                <a:solidFill>
                  <a:srgbClr val="0174AB"/>
                </a:solidFill>
                <a:latin typeface="Times New Roman"/>
              </a:rPr>
              <a:t> </a:t>
            </a:r>
            <a:r>
              <a:rPr lang="en-US" sz="2400" b="1" i="0" dirty="0">
                <a:solidFill>
                  <a:srgbClr val="0174AB"/>
                </a:solidFill>
                <a:latin typeface="Times New Roman"/>
              </a:rPr>
              <a:t>Evaluation on </a:t>
            </a:r>
            <a:r>
              <a:rPr lang="en-US" sz="2400" b="1" i="0" dirty="0" err="1">
                <a:solidFill>
                  <a:srgbClr val="0174AB"/>
                </a:solidFill>
                <a:latin typeface="Times New Roman"/>
              </a:rPr>
              <a:t>DMControl</a:t>
            </a:r>
            <a:r>
              <a:rPr lang="en-US" sz="2400" b="1" i="0" dirty="0">
                <a:solidFill>
                  <a:srgbClr val="0174AB"/>
                </a:solidFill>
                <a:latin typeface="Times New Roman"/>
              </a:rPr>
              <a:t> Tasks With Dynamic Distractors</a:t>
            </a:r>
            <a:endParaRPr sz="2400" b="1" i="0" dirty="0">
              <a:solidFill>
                <a:srgbClr val="0174AB"/>
              </a:solidFill>
              <a:latin typeface="Times New Roman"/>
            </a:endParaRPr>
          </a:p>
        </p:txBody>
      </p:sp>
      <p:sp>
        <p:nvSpPr>
          <p:cNvPr id="9" name="Rectangle 73">
            <a:extLst>
              <a:ext uri="{FF2B5EF4-FFF2-40B4-BE49-F238E27FC236}">
                <a16:creationId xmlns:a16="http://schemas.microsoft.com/office/drawing/2014/main" id="{DF7DDB0B-9938-7EDA-C31F-3DF0BF9EB929}"/>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0359582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BD37-13AB-2A06-35EF-8915BCF7C5E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CB0F4DE-4E1C-AA49-09B8-C4B0DB45009E}"/>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D5512CB-C8AB-71B9-1A5A-AAAF23293AAB}"/>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7779BF61-C1C3-6665-7B47-4C5F4DEA3D14}"/>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D9CC0A45-2D33-911D-4000-8F493137DA2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C4305945-1AA3-93E9-88D8-C3F3927F40A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5F32CAA1-962B-6F37-2BBC-22D67F01C3D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Box 72">
            <a:extLst>
              <a:ext uri="{FF2B5EF4-FFF2-40B4-BE49-F238E27FC236}">
                <a16:creationId xmlns:a16="http://schemas.microsoft.com/office/drawing/2014/main" id="{F06CBD3F-608F-3ACF-E439-91455D199EBD}"/>
              </a:ext>
            </a:extLst>
          </p:cNvPr>
          <p:cNvSpPr txBox="1"/>
          <p:nvPr/>
        </p:nvSpPr>
        <p:spPr>
          <a:xfrm>
            <a:off x="0" y="789170"/>
            <a:ext cx="11384280" cy="369332"/>
          </a:xfrm>
          <a:prstGeom prst="rect">
            <a:avLst/>
          </a:prstGeom>
          <a:noFill/>
        </p:spPr>
        <p:txBody>
          <a:bodyPr wrap="square" lIns="27432" tIns="0" rIns="27432" bIns="0" anchor="ctr">
            <a:spAutoFit/>
          </a:bodyPr>
          <a:lstStyle/>
          <a:p>
            <a:pPr algn="l"/>
            <a:r>
              <a:rPr lang="en-US" sz="2400" b="1" dirty="0">
                <a:solidFill>
                  <a:srgbClr val="0174AB"/>
                </a:solidFill>
                <a:latin typeface="Times New Roman"/>
              </a:rPr>
              <a:t>3</a:t>
            </a:r>
            <a:r>
              <a:rPr sz="2400" b="1" i="0" dirty="0">
                <a:solidFill>
                  <a:srgbClr val="0174AB"/>
                </a:solidFill>
                <a:latin typeface="Times New Roman"/>
              </a:rPr>
              <a:t> </a:t>
            </a:r>
            <a:r>
              <a:rPr lang="en-US" sz="2400" b="1" i="0" dirty="0">
                <a:solidFill>
                  <a:srgbClr val="0174AB"/>
                </a:solidFill>
                <a:latin typeface="Times New Roman"/>
              </a:rPr>
              <a:t>Evaluation on </a:t>
            </a:r>
            <a:r>
              <a:rPr lang="en-US" sz="2400" b="1" i="0" dirty="0" err="1">
                <a:solidFill>
                  <a:srgbClr val="0174AB"/>
                </a:solidFill>
                <a:latin typeface="Times New Roman"/>
              </a:rPr>
              <a:t>DMControl</a:t>
            </a:r>
            <a:r>
              <a:rPr lang="en-US" sz="2400" b="1" i="0" dirty="0">
                <a:solidFill>
                  <a:srgbClr val="0174AB"/>
                </a:solidFill>
                <a:latin typeface="Times New Roman"/>
              </a:rPr>
              <a:t> Tasks With Dynamic Distractors</a:t>
            </a:r>
            <a:endParaRPr sz="2400" b="1" i="0" dirty="0">
              <a:solidFill>
                <a:srgbClr val="0174AB"/>
              </a:solidFill>
              <a:latin typeface="Times New Roman"/>
            </a:endParaRPr>
          </a:p>
        </p:txBody>
      </p:sp>
      <p:sp>
        <p:nvSpPr>
          <p:cNvPr id="9" name="Rectangle 73">
            <a:extLst>
              <a:ext uri="{FF2B5EF4-FFF2-40B4-BE49-F238E27FC236}">
                <a16:creationId xmlns:a16="http://schemas.microsoft.com/office/drawing/2014/main" id="{B4B2F335-A86A-29A1-4FAF-EDA9FCE17B11}"/>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图片 3">
            <a:extLst>
              <a:ext uri="{FF2B5EF4-FFF2-40B4-BE49-F238E27FC236}">
                <a16:creationId xmlns:a16="http://schemas.microsoft.com/office/drawing/2014/main" id="{C45296A0-1BBA-3468-2E53-1C44BCC1E868}"/>
              </a:ext>
            </a:extLst>
          </p:cNvPr>
          <p:cNvPicPr>
            <a:picLocks noChangeAspect="1"/>
          </p:cNvPicPr>
          <p:nvPr/>
        </p:nvPicPr>
        <p:blipFill>
          <a:blip r:embed="rId5"/>
          <a:stretch>
            <a:fillRect/>
          </a:stretch>
        </p:blipFill>
        <p:spPr>
          <a:xfrm>
            <a:off x="552000" y="2709000"/>
            <a:ext cx="4869422" cy="2497140"/>
          </a:xfrm>
          <a:prstGeom prst="rect">
            <a:avLst/>
          </a:prstGeom>
        </p:spPr>
      </p:pic>
      <p:pic>
        <p:nvPicPr>
          <p:cNvPr id="6" name="图片 5">
            <a:extLst>
              <a:ext uri="{FF2B5EF4-FFF2-40B4-BE49-F238E27FC236}">
                <a16:creationId xmlns:a16="http://schemas.microsoft.com/office/drawing/2014/main" id="{9A59F729-E0DF-E30D-5543-760D97B1728F}"/>
              </a:ext>
            </a:extLst>
          </p:cNvPr>
          <p:cNvPicPr>
            <a:picLocks noChangeAspect="1"/>
          </p:cNvPicPr>
          <p:nvPr/>
        </p:nvPicPr>
        <p:blipFill>
          <a:blip r:embed="rId6"/>
          <a:stretch>
            <a:fillRect/>
          </a:stretch>
        </p:blipFill>
        <p:spPr>
          <a:xfrm>
            <a:off x="6626641" y="1550865"/>
            <a:ext cx="4653359" cy="4229695"/>
          </a:xfrm>
          <a:prstGeom prst="rect">
            <a:avLst/>
          </a:prstGeom>
        </p:spPr>
      </p:pic>
    </p:spTree>
    <p:extLst>
      <p:ext uri="{BB962C8B-B14F-4D97-AF65-F5344CB8AC3E}">
        <p14:creationId xmlns:p14="http://schemas.microsoft.com/office/powerpoint/2010/main" val="282667136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31FF-34E9-B696-4D28-63E6D03C196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FE45308D-1014-D6F5-4941-3C6B5A3219FC}"/>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5645D0FB-8EE2-1FD2-F255-53E0A49A30D7}"/>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98B0625D-EFE7-A244-C887-FD90BDFC3BF0}"/>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50897AD4-1DA9-AA10-E9E8-80783B04604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01F942B-2EB0-0955-8C76-51FE0D95875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F53697E4-176B-50BE-8179-646559ECDE6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Box 72">
            <a:extLst>
              <a:ext uri="{FF2B5EF4-FFF2-40B4-BE49-F238E27FC236}">
                <a16:creationId xmlns:a16="http://schemas.microsoft.com/office/drawing/2014/main" id="{264F84E6-3B28-99DD-1F52-C6EEE13CFB70}"/>
              </a:ext>
            </a:extLst>
          </p:cNvPr>
          <p:cNvSpPr txBox="1"/>
          <p:nvPr/>
        </p:nvSpPr>
        <p:spPr>
          <a:xfrm>
            <a:off x="0" y="789170"/>
            <a:ext cx="11384280" cy="369332"/>
          </a:xfrm>
          <a:prstGeom prst="rect">
            <a:avLst/>
          </a:prstGeom>
          <a:noFill/>
        </p:spPr>
        <p:txBody>
          <a:bodyPr wrap="square" lIns="27432" tIns="0" rIns="27432" bIns="0" anchor="ctr">
            <a:spAutoFit/>
          </a:bodyPr>
          <a:lstStyle/>
          <a:p>
            <a:pPr algn="l"/>
            <a:r>
              <a:rPr lang="en-US" sz="2400" b="1" i="0" dirty="0">
                <a:solidFill>
                  <a:srgbClr val="0174AB"/>
                </a:solidFill>
                <a:latin typeface="Times New Roman"/>
              </a:rPr>
              <a:t>4</a:t>
            </a:r>
            <a:r>
              <a:rPr sz="2400" b="1" i="0" dirty="0">
                <a:solidFill>
                  <a:srgbClr val="0174AB"/>
                </a:solidFill>
                <a:latin typeface="Times New Roman"/>
              </a:rPr>
              <a:t> </a:t>
            </a:r>
            <a:r>
              <a:rPr lang="en-US" sz="2400" b="1" i="0" dirty="0">
                <a:solidFill>
                  <a:srgbClr val="0174AB"/>
                </a:solidFill>
                <a:latin typeface="Times New Roman"/>
              </a:rPr>
              <a:t>Ablation Study &amp; Hyperparameter Study</a:t>
            </a:r>
            <a:endParaRPr sz="2400" b="1" i="0" dirty="0">
              <a:solidFill>
                <a:srgbClr val="0174AB"/>
              </a:solidFill>
              <a:latin typeface="Times New Roman"/>
            </a:endParaRPr>
          </a:p>
        </p:txBody>
      </p:sp>
      <p:sp>
        <p:nvSpPr>
          <p:cNvPr id="9" name="Rectangle 73">
            <a:extLst>
              <a:ext uri="{FF2B5EF4-FFF2-40B4-BE49-F238E27FC236}">
                <a16:creationId xmlns:a16="http://schemas.microsoft.com/office/drawing/2014/main" id="{3AD18856-5DF0-8060-6316-8DF60C5F0B75}"/>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图片 2">
            <a:extLst>
              <a:ext uri="{FF2B5EF4-FFF2-40B4-BE49-F238E27FC236}">
                <a16:creationId xmlns:a16="http://schemas.microsoft.com/office/drawing/2014/main" id="{E0941FFA-5CE8-A9C7-BBF4-F869BB01454A}"/>
              </a:ext>
            </a:extLst>
          </p:cNvPr>
          <p:cNvPicPr>
            <a:picLocks noChangeAspect="1"/>
          </p:cNvPicPr>
          <p:nvPr/>
        </p:nvPicPr>
        <p:blipFill>
          <a:blip r:embed="rId5"/>
          <a:stretch>
            <a:fillRect/>
          </a:stretch>
        </p:blipFill>
        <p:spPr>
          <a:xfrm>
            <a:off x="1200000" y="1432525"/>
            <a:ext cx="4045158" cy="4559534"/>
          </a:xfrm>
          <a:prstGeom prst="rect">
            <a:avLst/>
          </a:prstGeom>
        </p:spPr>
      </p:pic>
      <p:pic>
        <p:nvPicPr>
          <p:cNvPr id="8" name="图片 7">
            <a:extLst>
              <a:ext uri="{FF2B5EF4-FFF2-40B4-BE49-F238E27FC236}">
                <a16:creationId xmlns:a16="http://schemas.microsoft.com/office/drawing/2014/main" id="{318180C8-A22A-6ECB-C504-9EC61038E137}"/>
              </a:ext>
            </a:extLst>
          </p:cNvPr>
          <p:cNvPicPr>
            <a:picLocks noChangeAspect="1"/>
          </p:cNvPicPr>
          <p:nvPr/>
        </p:nvPicPr>
        <p:blipFill>
          <a:blip r:embed="rId6"/>
          <a:stretch>
            <a:fillRect/>
          </a:stretch>
        </p:blipFill>
        <p:spPr>
          <a:xfrm>
            <a:off x="6528000" y="1701000"/>
            <a:ext cx="4121362" cy="1511378"/>
          </a:xfrm>
          <a:prstGeom prst="rect">
            <a:avLst/>
          </a:prstGeom>
        </p:spPr>
      </p:pic>
      <p:pic>
        <p:nvPicPr>
          <p:cNvPr id="11" name="图片 10">
            <a:extLst>
              <a:ext uri="{FF2B5EF4-FFF2-40B4-BE49-F238E27FC236}">
                <a16:creationId xmlns:a16="http://schemas.microsoft.com/office/drawing/2014/main" id="{4D41A35C-8E37-D3AE-4C49-81D4D3CC93AF}"/>
              </a:ext>
            </a:extLst>
          </p:cNvPr>
          <p:cNvPicPr>
            <a:picLocks noChangeAspect="1"/>
          </p:cNvPicPr>
          <p:nvPr/>
        </p:nvPicPr>
        <p:blipFill>
          <a:blip r:embed="rId7"/>
          <a:stretch>
            <a:fillRect/>
          </a:stretch>
        </p:blipFill>
        <p:spPr>
          <a:xfrm>
            <a:off x="6602077" y="3350235"/>
            <a:ext cx="3960000" cy="3030736"/>
          </a:xfrm>
          <a:prstGeom prst="rect">
            <a:avLst/>
          </a:prstGeom>
        </p:spPr>
      </p:pic>
    </p:spTree>
    <p:extLst>
      <p:ext uri="{BB962C8B-B14F-4D97-AF65-F5344CB8AC3E}">
        <p14:creationId xmlns:p14="http://schemas.microsoft.com/office/powerpoint/2010/main" val="284245059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35</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2" name="矩形 1"/>
          <p:cNvSpPr/>
          <p:nvPr>
            <p:custDataLst>
              <p:tags r:id="rId1"/>
            </p:custDataLst>
          </p:nvPr>
        </p:nvSpPr>
        <p:spPr>
          <a:xfrm>
            <a:off x="1889760" y="1044362"/>
            <a:ext cx="8863330" cy="2789355"/>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矩形 2"/>
          <p:cNvSpPr/>
          <p:nvPr>
            <p:custDataLst>
              <p:tags r:id="rId2"/>
            </p:custDataLst>
          </p:nvPr>
        </p:nvSpPr>
        <p:spPr>
          <a:xfrm>
            <a:off x="1976111" y="784514"/>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①</a:t>
            </a:r>
          </a:p>
        </p:txBody>
      </p:sp>
      <p:sp>
        <p:nvSpPr>
          <p:cNvPr id="10" name="矩形 9"/>
          <p:cNvSpPr/>
          <p:nvPr>
            <p:custDataLst>
              <p:tags r:id="rId3"/>
            </p:custDataLst>
          </p:nvPr>
        </p:nvSpPr>
        <p:spPr>
          <a:xfrm>
            <a:off x="1889760" y="4293713"/>
            <a:ext cx="8863330" cy="1727287"/>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p:cNvSpPr/>
          <p:nvPr>
            <p:custDataLst>
              <p:tags r:id="rId4"/>
            </p:custDataLst>
          </p:nvPr>
        </p:nvSpPr>
        <p:spPr>
          <a:xfrm>
            <a:off x="2075257" y="4083460"/>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②</a:t>
            </a:r>
          </a:p>
        </p:txBody>
      </p:sp>
      <p:sp>
        <p:nvSpPr>
          <p:cNvPr id="12" name="文本框 11"/>
          <p:cNvSpPr txBox="1"/>
          <p:nvPr>
            <p:custDataLst>
              <p:tags r:id="rId5"/>
            </p:custDataLst>
          </p:nvPr>
        </p:nvSpPr>
        <p:spPr>
          <a:xfrm>
            <a:off x="1826830" y="4404919"/>
            <a:ext cx="8952865" cy="1156086"/>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r>
              <a:rPr lang="en-US" altLang="zh-CN" sz="1600" dirty="0">
                <a:latin typeface="Times New Roman" panose="02020603050405020304" pitchFamily="18" charset="0"/>
                <a:cs typeface="Times New Roman" panose="02020603050405020304" pitchFamily="18" charset="0"/>
              </a:rPr>
              <a:t>The results further show that dynamically balancing abstraction granularity and model estimation accuracy can reduce both abstraction-induced performance loss and long-horizon model prediction errors, providing an effective framework for sample-efficient reinforcement learning from high-dimensional observations.</a:t>
            </a:r>
          </a:p>
        </p:txBody>
      </p:sp>
      <p:sp>
        <p:nvSpPr>
          <p:cNvPr id="14" name="文本框 13"/>
          <p:cNvSpPr txBox="1"/>
          <p:nvPr>
            <p:custDataLst>
              <p:tags r:id="rId6"/>
            </p:custDataLst>
          </p:nvPr>
        </p:nvSpPr>
        <p:spPr>
          <a:xfrm>
            <a:off x="1890395" y="1127547"/>
            <a:ext cx="8862060" cy="2289249"/>
          </a:xfrm>
          <a:prstGeom prst="rect">
            <a:avLst/>
          </a:prstGeom>
          <a:noFill/>
        </p:spPr>
        <p:txBody>
          <a:bodyPr wrap="square">
            <a:no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1600" dirty="0">
                <a:latin typeface="Times New Roman" panose="02020603050405020304" pitchFamily="18" charset="0"/>
                <a:cs typeface="Times New Roman" panose="02020603050405020304" pitchFamily="18" charset="0"/>
              </a:rPr>
              <a:t>The proposed AMPL framework improves the sample efficiency of deep reinforcement learning by jointly integrating online state abstraction and model-based policy learning. It introduces State Abstraction via Multistep </a:t>
            </a:r>
            <a:r>
              <a:rPr lang="en-US" altLang="zh-CN" sz="1600" dirty="0" err="1">
                <a:latin typeface="Times New Roman" panose="02020603050405020304" pitchFamily="18" charset="0"/>
                <a:cs typeface="Times New Roman" panose="02020603050405020304" pitchFamily="18" charset="0"/>
              </a:rPr>
              <a:t>Bisimulation</a:t>
            </a:r>
            <a:r>
              <a:rPr lang="en-US" altLang="zh-CN" sz="1600" dirty="0">
                <a:latin typeface="Times New Roman" panose="02020603050405020304" pitchFamily="18" charset="0"/>
                <a:cs typeface="Times New Roman" panose="02020603050405020304" pitchFamily="18" charset="0"/>
              </a:rPr>
              <a:t> (SAMB) to learn task-relevant latent state spaces whose abstraction degree gradually changes from coarse to fine during training.  </a:t>
            </a:r>
          </a:p>
          <a:p>
            <a:pPr algn="just">
              <a:lnSpc>
                <a:spcPct val="150000"/>
              </a:lnSpc>
            </a:pPr>
            <a:r>
              <a:rPr lang="en-US" altLang="zh-CN" sz="1600" dirty="0">
                <a:latin typeface="Times New Roman" panose="02020603050405020304" pitchFamily="18" charset="0"/>
                <a:cs typeface="Times New Roman" panose="02020603050405020304" pitchFamily="18" charset="0"/>
              </a:rPr>
              <a:t>Within the abstract state space, a Causal Transformer Model Predictor (CTMP) performs multistep state and reward prediction, while a modified SAC with multistep λ-targets utilizes model-generated trajectories for efficient long-horizon policy optimization.</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281723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578" y="1960245"/>
            <a:ext cx="12182846" cy="2064325"/>
            <a:chOff x="1535503" y="1960245"/>
            <a:chExt cx="9147810" cy="2064006"/>
          </a:xfrm>
        </p:grpSpPr>
        <p:sp>
          <p:nvSpPr>
            <p:cNvPr id="8" name="矩形 7"/>
            <p:cNvSpPr/>
            <p:nvPr/>
          </p:nvSpPr>
          <p:spPr>
            <a:xfrm>
              <a:off x="1535503"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9" name="文本框 8"/>
            <p:cNvSpPr txBox="1"/>
            <p:nvPr/>
          </p:nvSpPr>
          <p:spPr>
            <a:xfrm>
              <a:off x="1717138" y="2466913"/>
              <a:ext cx="8830115" cy="579877"/>
            </a:xfrm>
            <a:prstGeom prst="rect">
              <a:avLst/>
            </a:prstGeom>
            <a:noFill/>
          </p:spPr>
          <p:txBody>
            <a:bodyPr wrap="square" rtlCol="0" anchor="ctr">
              <a:spAutoFit/>
            </a:bodyPr>
            <a:lstStyle/>
            <a:p>
              <a:pPr algn="ctr">
                <a:lnSpc>
                  <a:spcPct val="150000"/>
                </a:lnSpc>
              </a:pPr>
              <a:r>
                <a:rPr lang="en-US" altLang="zh-CN" sz="24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Cooperative Multi-Agent Learning for Navigation via Structured State Abstraction</a:t>
              </a:r>
            </a:p>
          </p:txBody>
        </p:sp>
        <p:sp>
          <p:nvSpPr>
            <p:cNvPr id="3" name="文本框 2"/>
            <p:cNvSpPr txBox="1"/>
            <p:nvPr/>
          </p:nvSpPr>
          <p:spPr>
            <a:xfrm>
              <a:off x="1687604" y="3439566"/>
              <a:ext cx="8897208" cy="584685"/>
            </a:xfrm>
            <a:prstGeom prst="rect">
              <a:avLst/>
            </a:prstGeom>
            <a:noFill/>
          </p:spPr>
          <p:txBody>
            <a:bodyPr wrap="square" rtlCol="0">
              <a:spAutoFit/>
            </a:bodyPr>
            <a:lstStyle/>
            <a:p>
              <a:r>
                <a:rPr lang="en-US" altLang="zh-CN" sz="1600" dirty="0">
                  <a:solidFill>
                    <a:schemeClr val="bg1"/>
                  </a:solidFill>
                  <a:latin typeface="Times New Roman" panose="02020603050405020304" pitchFamily="18" charset="0"/>
                  <a:cs typeface="Times New Roman" panose="02020603050405020304" pitchFamily="18" charset="0"/>
                </a:rPr>
                <a:t>Mohamed K. Abdel-Aziz, Member, IEEE, Mohammed S. </a:t>
              </a:r>
              <a:r>
                <a:rPr lang="en-US" altLang="zh-CN" sz="1600" dirty="0" err="1">
                  <a:solidFill>
                    <a:schemeClr val="bg1"/>
                  </a:solidFill>
                  <a:latin typeface="Times New Roman" panose="02020603050405020304" pitchFamily="18" charset="0"/>
                  <a:cs typeface="Times New Roman" panose="02020603050405020304" pitchFamily="18" charset="0"/>
                </a:rPr>
                <a:t>Elbamby</a:t>
              </a:r>
              <a:r>
                <a:rPr lang="en-US" altLang="zh-CN" sz="1600" dirty="0">
                  <a:solidFill>
                    <a:schemeClr val="bg1"/>
                  </a:solidFill>
                  <a:latin typeface="Times New Roman" panose="02020603050405020304" pitchFamily="18" charset="0"/>
                  <a:cs typeface="Times New Roman" panose="02020603050405020304" pitchFamily="18" charset="0"/>
                </a:rPr>
                <a:t>, Member, IEEE, Sumudu Samarakoon, Member, IEEE, and Mehdi Bennis, Fellow, IEEE</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3</a:t>
            </a: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351876" y="4596014"/>
            <a:ext cx="10352124" cy="1631216"/>
          </a:xfrm>
          <a:prstGeom prst="rect">
            <a:avLst/>
          </a:prstGeom>
          <a:noFill/>
        </p:spPr>
        <p:txBody>
          <a:bodyPr wrap="square" rtlCol="0">
            <a:spAutoFit/>
          </a:bodyPr>
          <a:lstStyle/>
          <a:p>
            <a:pPr indent="0" algn="just" fontAlgn="auto">
              <a:spcAft>
                <a:spcPts val="600"/>
              </a:spcAft>
            </a:pPr>
            <a:r>
              <a:rPr lang="en-US" altLang="zh-CN" b="1" dirty="0">
                <a:latin typeface="Times New Roman" panose="02020603050405020304" pitchFamily="18" charset="0"/>
                <a:cs typeface="Times New Roman" panose="02020603050405020304" pitchFamily="18" charset="0"/>
                <a:sym typeface="+mn-ea"/>
              </a:rPr>
              <a:t>This paper was published in</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IEEE Transactions on Communications (IF: 8.4)</a:t>
            </a:r>
          </a:p>
          <a:p>
            <a:pPr indent="0" algn="just" fontAlgn="auto">
              <a:spcAft>
                <a:spcPts val="600"/>
              </a:spcAft>
            </a:pPr>
            <a:r>
              <a:rPr lang="en-US" altLang="zh-CN" b="1" dirty="0">
                <a:latin typeface="Times New Roman" panose="02020603050405020304" pitchFamily="18" charset="0"/>
                <a:cs typeface="Times New Roman" panose="02020603050405020304" pitchFamily="18" charset="0"/>
                <a:sym typeface="+mn-ea"/>
              </a:rPr>
              <a:t>Published Time:</a:t>
            </a:r>
            <a:r>
              <a:rPr lang="en-US" altLang="zh-CN" dirty="0">
                <a:latin typeface="Times New Roman" panose="02020603050405020304" pitchFamily="18" charset="0"/>
                <a:cs typeface="Times New Roman" panose="02020603050405020304" pitchFamily="18" charset="0"/>
                <a:sym typeface="+mn-ea"/>
              </a:rPr>
              <a:t> 2024</a:t>
            </a:r>
          </a:p>
          <a:p>
            <a:pPr algn="just"/>
            <a:r>
              <a:rPr lang="en-US" altLang="zh-CN" b="1" dirty="0">
                <a:latin typeface="Times New Roman" panose="02020603050405020304" pitchFamily="18" charset="0"/>
                <a:cs typeface="Times New Roman" panose="02020603050405020304" pitchFamily="18" charset="0"/>
                <a:sym typeface="+mn-ea"/>
              </a:rPr>
              <a:t>Reference:</a:t>
            </a:r>
            <a:r>
              <a:rPr lang="en-US" altLang="zh-CN"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rPr>
              <a:t>M. K. Abdel-Aziz, M. S. </a:t>
            </a:r>
            <a:r>
              <a:rPr lang="en-US" altLang="zh-CN" dirty="0" err="1">
                <a:latin typeface="Times New Roman" panose="02020603050405020304" pitchFamily="18" charset="0"/>
                <a:cs typeface="Times New Roman" panose="02020603050405020304" pitchFamily="18" charset="0"/>
              </a:rPr>
              <a:t>Elbamby</a:t>
            </a:r>
            <a:r>
              <a:rPr lang="en-US" altLang="zh-CN" dirty="0">
                <a:latin typeface="Times New Roman" panose="02020603050405020304" pitchFamily="18" charset="0"/>
                <a:cs typeface="Times New Roman" panose="02020603050405020304" pitchFamily="18" charset="0"/>
              </a:rPr>
              <a:t>, S. Samarakoon, and M. Bennis, “Cooperative Multi-Agent Learning for Navigation via Structured State Abstraction,” IEEE Transactions on Communications, vol. 72, no. 6, pp. 3454–3462, Jun. 2024, </a:t>
            </a:r>
            <a:r>
              <a:rPr lang="en-US" altLang="zh-CN" dirty="0" err="1">
                <a:latin typeface="Times New Roman" panose="02020603050405020304" pitchFamily="18" charset="0"/>
                <a:cs typeface="Times New Roman" panose="02020603050405020304" pitchFamily="18" charset="0"/>
              </a:rPr>
              <a:t>doi</a:t>
            </a:r>
            <a:r>
              <a:rPr lang="en-US" altLang="zh-CN" dirty="0">
                <a:latin typeface="Times New Roman" panose="02020603050405020304" pitchFamily="18" charset="0"/>
                <a:cs typeface="Times New Roman" panose="02020603050405020304" pitchFamily="18" charset="0"/>
              </a:rPr>
              <a:t>: 10.1109/TCOMM.2024.3365520.</a:t>
            </a: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55F6-2735-251D-AB3D-2FFA51938BE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0109E41-DBA3-4703-4C94-C8161FFEBCDA}"/>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2CF35C42-8901-71F6-E00A-461F373E466E}"/>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02F45646-CCBB-B3DF-847E-D1A4FB698216}"/>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0BDC8AF4-C2C1-5333-8149-3F23D9C86020}"/>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27292820-BBB5-8C11-1F71-EB84DCC9B1E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6887BF04-08DF-3BA4-4A65-C40626F59A82}"/>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39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4EAB3C21-A27C-5717-E859-E99F7566340B}"/>
              </a:ext>
            </a:extLst>
          </p:cNvPr>
          <p:cNvSpPr txBox="1"/>
          <p:nvPr/>
        </p:nvSpPr>
        <p:spPr>
          <a:xfrm>
            <a:off x="497205" y="847090"/>
            <a:ext cx="11060430" cy="2714654"/>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Challenge: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Cooperative field-of-view navigation is partially observable: each agent sees only a small local region and must rely on messages from teammates.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Jointly exploring raw observations, navigation actions, and communication symbols creates a very large learning space.</a:t>
            </a:r>
          </a:p>
          <a:p>
            <a:pPr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947B3DE4-8CA3-D76D-0955-482CB6C637C6}"/>
              </a:ext>
            </a:extLst>
          </p:cNvPr>
          <p:cNvSpPr txBox="1"/>
          <p:nvPr/>
        </p:nvSpPr>
        <p:spPr>
          <a:xfrm>
            <a:off x="487525" y="3774783"/>
            <a:ext cx="11060430" cy="1791324"/>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Method: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Represent each local observation as a structured quadtree rather than unstructured pixels.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Learn an adaptive branch-pruning abstractor conditioned on the observation, agent position, and received communication symbols.</a:t>
            </a:r>
          </a:p>
        </p:txBody>
      </p:sp>
    </p:spTree>
    <p:extLst>
      <p:ext uri="{BB962C8B-B14F-4D97-AF65-F5344CB8AC3E}">
        <p14:creationId xmlns:p14="http://schemas.microsoft.com/office/powerpoint/2010/main" val="73854446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624E3-5BF6-931E-0CB6-38CAA627CB71}"/>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E612C40D-19B8-8EA2-FDCE-442994E2FC73}"/>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567DA653-F349-BC43-5C88-2F12979EA091}"/>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0E71CD90-6B1D-1249-2092-59B819D49BBD}"/>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B0CE57ED-F112-2FEC-94DA-04A1A8D70FA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8EA6FFDB-33C2-BA27-E597-6B0EFA39175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AD14844F-02F9-D04D-AA1C-E0B117363682}"/>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5" name="TextBox 72">
            <a:extLst>
              <a:ext uri="{FF2B5EF4-FFF2-40B4-BE49-F238E27FC236}">
                <a16:creationId xmlns:a16="http://schemas.microsoft.com/office/drawing/2014/main" id="{CF550266-EAE9-00E2-3AC7-F5071719CE5D}"/>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Cooperative FoV Navigation as a Dec-POMDP</a:t>
            </a:r>
          </a:p>
        </p:txBody>
      </p:sp>
      <p:sp>
        <p:nvSpPr>
          <p:cNvPr id="7" name="Rectangle 73">
            <a:extLst>
              <a:ext uri="{FF2B5EF4-FFF2-40B4-BE49-F238E27FC236}">
                <a16:creationId xmlns:a16="http://schemas.microsoft.com/office/drawing/2014/main" id="{6584C267-16A7-8552-1E04-252A770A4494}"/>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74" descr="p3_grid.png">
            <a:extLst>
              <a:ext uri="{FF2B5EF4-FFF2-40B4-BE49-F238E27FC236}">
                <a16:creationId xmlns:a16="http://schemas.microsoft.com/office/drawing/2014/main" id="{94095F59-1A9C-3A1B-F6E0-EE0388C7EFA7}"/>
              </a:ext>
            </a:extLst>
          </p:cNvPr>
          <p:cNvPicPr>
            <a:picLocks noChangeAspect="1"/>
          </p:cNvPicPr>
          <p:nvPr/>
        </p:nvPicPr>
        <p:blipFill>
          <a:blip r:embed="rId3"/>
          <a:srcRect t="8869" b="10434"/>
          <a:stretch>
            <a:fillRect/>
          </a:stretch>
        </p:blipFill>
        <p:spPr>
          <a:xfrm>
            <a:off x="360045" y="1773000"/>
            <a:ext cx="4903470" cy="3652560"/>
          </a:xfrm>
          <a:prstGeom prst="rect">
            <a:avLst/>
          </a:prstGeom>
          <a:ln w="9525">
            <a:solidFill>
              <a:srgbClr val="C9D2D8"/>
            </a:solidFill>
          </a:ln>
        </p:spPr>
      </p:pic>
      <p:sp>
        <p:nvSpPr>
          <p:cNvPr id="11" name="Rounded Rectangle 75">
            <a:extLst>
              <a:ext uri="{FF2B5EF4-FFF2-40B4-BE49-F238E27FC236}">
                <a16:creationId xmlns:a16="http://schemas.microsoft.com/office/drawing/2014/main" id="{1C20ECDB-224F-E84F-4A32-4D0FEFE4AD44}"/>
              </a:ext>
            </a:extLst>
          </p:cNvPr>
          <p:cNvSpPr/>
          <p:nvPr/>
        </p:nvSpPr>
        <p:spPr>
          <a:xfrm>
            <a:off x="5532120" y="1389888"/>
            <a:ext cx="6172200" cy="4462272"/>
          </a:xfrm>
          <a:prstGeom prst="roundRect">
            <a:avLst>
              <a:gd name="adj" fmla="val 8932"/>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39" b="1">
                <a:solidFill>
                  <a:srgbClr val="0174AB"/>
                </a:solidFill>
                <a:latin typeface="Times New Roman"/>
              </a:rPr>
              <a:t>• </a:t>
            </a:r>
            <a:r>
              <a:rPr sz="1739" b="1">
                <a:solidFill>
                  <a:srgbClr val="111111"/>
                </a:solidFill>
                <a:latin typeface="Times New Roman"/>
              </a:rPr>
              <a:t>Environment: </a:t>
            </a:r>
            <a:r>
              <a:rPr sz="1739">
                <a:solidFill>
                  <a:srgbClr val="111111"/>
                </a:solidFill>
                <a:latin typeface="Times New Roman"/>
              </a:rPr>
              <a:t>15×15 grid, randomly placed destination and obstacles, and two agents with 8×8 local fields of view.</a:t>
            </a:r>
          </a:p>
          <a:p>
            <a:pPr algn="l">
              <a:lnSpc>
                <a:spcPct val="105000"/>
              </a:lnSpc>
              <a:spcAft>
                <a:spcPts val="700"/>
              </a:spcAft>
            </a:pPr>
            <a:r>
              <a:rPr sz="1739" b="1">
                <a:solidFill>
                  <a:srgbClr val="0174AB"/>
                </a:solidFill>
                <a:latin typeface="Times New Roman"/>
              </a:rPr>
              <a:t>• </a:t>
            </a:r>
            <a:r>
              <a:rPr sz="1739" b="1">
                <a:solidFill>
                  <a:srgbClr val="111111"/>
                </a:solidFill>
                <a:latin typeface="Times New Roman"/>
              </a:rPr>
              <a:t>Local cell states: </a:t>
            </a:r>
            <a:r>
              <a:rPr sz="1739">
                <a:solidFill>
                  <a:srgbClr val="111111"/>
                </a:solidFill>
                <a:latin typeface="Times New Roman"/>
              </a:rPr>
              <a:t>occupied, unoccupied, destination, or unknown behind an obstacle.</a:t>
            </a:r>
          </a:p>
          <a:p>
            <a:pPr algn="l">
              <a:lnSpc>
                <a:spcPct val="105000"/>
              </a:lnSpc>
              <a:spcAft>
                <a:spcPts val="700"/>
              </a:spcAft>
            </a:pPr>
            <a:r>
              <a:rPr sz="1739" b="1">
                <a:solidFill>
                  <a:srgbClr val="0174AB"/>
                </a:solidFill>
                <a:latin typeface="Times New Roman"/>
              </a:rPr>
              <a:t>• </a:t>
            </a:r>
            <a:r>
              <a:rPr sz="1739" b="1">
                <a:solidFill>
                  <a:srgbClr val="111111"/>
                </a:solidFill>
                <a:latin typeface="Times New Roman"/>
              </a:rPr>
              <a:t>Agent output: </a:t>
            </a:r>
            <a:r>
              <a:rPr sz="1739">
                <a:solidFill>
                  <a:srgbClr val="111111"/>
                </a:solidFill>
                <a:latin typeface="Times New Roman"/>
              </a:rPr>
              <a:t>one navigation action and one communication symbol at every time step.</a:t>
            </a:r>
          </a:p>
          <a:p>
            <a:pPr algn="l">
              <a:lnSpc>
                <a:spcPct val="105000"/>
              </a:lnSpc>
              <a:spcAft>
                <a:spcPts val="700"/>
              </a:spcAft>
            </a:pPr>
            <a:r>
              <a:rPr sz="1739" b="1">
                <a:solidFill>
                  <a:srgbClr val="0174AB"/>
                </a:solidFill>
                <a:latin typeface="Times New Roman"/>
              </a:rPr>
              <a:t>• </a:t>
            </a:r>
            <a:r>
              <a:rPr sz="1739" b="1">
                <a:solidFill>
                  <a:srgbClr val="111111"/>
                </a:solidFill>
                <a:latin typeface="Times New Roman"/>
              </a:rPr>
              <a:t>Cooperative objective: </a:t>
            </a:r>
            <a:r>
              <a:rPr sz="1739">
                <a:solidFill>
                  <a:srgbClr val="111111"/>
                </a:solidFill>
                <a:latin typeface="Times New Roman"/>
              </a:rPr>
              <a:t>both agents must reach the unknown goal using only local observations and exchanged symbols.</a:t>
            </a:r>
          </a:p>
        </p:txBody>
      </p:sp>
    </p:spTree>
    <p:extLst>
      <p:ext uri="{BB962C8B-B14F-4D97-AF65-F5344CB8AC3E}">
        <p14:creationId xmlns:p14="http://schemas.microsoft.com/office/powerpoint/2010/main" val="118753775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856A-B8C9-D4EA-6AB8-BA33E2D7CC6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6B4997AE-8F09-D3BB-0BF3-7FA126485512}"/>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7070E9AF-4E27-63A7-11C7-1A76B68EBFF9}"/>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E16EBE2A-1E0F-860D-F4B5-49DC8182405F}"/>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54839F9A-431D-0EDE-9F24-031B0DF8A13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F2285ED5-AE93-9D4D-7D55-90E23876382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8A0B3C4D-DC3A-B2CF-8758-012702EA7AD6}"/>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C9B5C809-EC2D-9608-95D7-4BAF637080E7}"/>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Structured State Representation With Quadtrees</a:t>
            </a:r>
          </a:p>
        </p:txBody>
      </p:sp>
      <p:sp>
        <p:nvSpPr>
          <p:cNvPr id="7" name="Rectangle 73">
            <a:extLst>
              <a:ext uri="{FF2B5EF4-FFF2-40B4-BE49-F238E27FC236}">
                <a16:creationId xmlns:a16="http://schemas.microsoft.com/office/drawing/2014/main" id="{AB9BD391-78D6-E1D0-8A15-AF7D86F88993}"/>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74" descr="p3_quadtree.png">
            <a:extLst>
              <a:ext uri="{FF2B5EF4-FFF2-40B4-BE49-F238E27FC236}">
                <a16:creationId xmlns:a16="http://schemas.microsoft.com/office/drawing/2014/main" id="{558ACFED-F4A7-8614-0C59-49404A1C97E4}"/>
              </a:ext>
            </a:extLst>
          </p:cNvPr>
          <p:cNvPicPr>
            <a:picLocks noChangeAspect="1"/>
          </p:cNvPicPr>
          <p:nvPr/>
        </p:nvPicPr>
        <p:blipFill>
          <a:blip r:embed="rId3"/>
          <a:srcRect b="20733"/>
          <a:stretch>
            <a:fillRect/>
          </a:stretch>
        </p:blipFill>
        <p:spPr>
          <a:xfrm>
            <a:off x="336000" y="1844892"/>
            <a:ext cx="5484798" cy="3479112"/>
          </a:xfrm>
          <a:prstGeom prst="rect">
            <a:avLst/>
          </a:prstGeom>
          <a:ln w="9525">
            <a:solidFill>
              <a:srgbClr val="C9D2D8"/>
            </a:solidFill>
          </a:ln>
        </p:spPr>
      </p:pic>
      <p:sp>
        <p:nvSpPr>
          <p:cNvPr id="17" name="Rounded Rectangle 75">
            <a:extLst>
              <a:ext uri="{FF2B5EF4-FFF2-40B4-BE49-F238E27FC236}">
                <a16:creationId xmlns:a16="http://schemas.microsoft.com/office/drawing/2014/main" id="{BDC6FBE3-0949-0DC8-C1DE-442C132768CF}"/>
              </a:ext>
            </a:extLst>
          </p:cNvPr>
          <p:cNvSpPr/>
          <p:nvPr/>
        </p:nvSpPr>
        <p:spPr>
          <a:xfrm>
            <a:off x="6053328" y="1389888"/>
            <a:ext cx="5650992" cy="4389120"/>
          </a:xfrm>
          <a:prstGeom prst="roundRect">
            <a:avLst>
              <a:gd name="adj" fmla="val 6455"/>
            </a:avLst>
          </a:prstGeom>
          <a:solidFill>
            <a:srgbClr val="F5F5F5"/>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20" b="1">
                <a:solidFill>
                  <a:srgbClr val="0174AB"/>
                </a:solidFill>
                <a:latin typeface="Times New Roman"/>
              </a:rPr>
              <a:t>• </a:t>
            </a:r>
            <a:r>
              <a:rPr sz="1720" b="1">
                <a:solidFill>
                  <a:srgbClr val="111111"/>
                </a:solidFill>
                <a:latin typeface="Times New Roman"/>
              </a:rPr>
              <a:t>Structure: </a:t>
            </a:r>
            <a:r>
              <a:rPr sz="1720">
                <a:solidFill>
                  <a:srgbClr val="111111"/>
                </a:solidFill>
                <a:latin typeface="Times New Roman"/>
              </a:rPr>
              <a:t>an M×M observation is recursively partitioned into four regions until cells are homogeneous or the maximum depth is reached.</a:t>
            </a:r>
          </a:p>
          <a:p>
            <a:pPr algn="l">
              <a:lnSpc>
                <a:spcPct val="105000"/>
              </a:lnSpc>
              <a:spcAft>
                <a:spcPts val="700"/>
              </a:spcAft>
            </a:pPr>
            <a:r>
              <a:rPr sz="1720" b="1">
                <a:solidFill>
                  <a:srgbClr val="0174AB"/>
                </a:solidFill>
                <a:latin typeface="Times New Roman"/>
              </a:rPr>
              <a:t>• </a:t>
            </a:r>
            <a:r>
              <a:rPr sz="1720" b="1">
                <a:solidFill>
                  <a:srgbClr val="111111"/>
                </a:solidFill>
                <a:latin typeface="Times New Roman"/>
              </a:rPr>
              <a:t>Graph view: </a:t>
            </a:r>
            <a:r>
              <a:rPr sz="1720">
                <a:solidFill>
                  <a:srgbClr val="111111"/>
                </a:solidFill>
                <a:latin typeface="Times New Roman"/>
              </a:rPr>
              <a:t>quadtree nodes carry region/state features and branches form the adjacency structure.</a:t>
            </a:r>
          </a:p>
          <a:p>
            <a:pPr algn="l">
              <a:lnSpc>
                <a:spcPct val="105000"/>
              </a:lnSpc>
              <a:spcAft>
                <a:spcPts val="700"/>
              </a:spcAft>
            </a:pPr>
            <a:r>
              <a:rPr sz="1720" b="1">
                <a:solidFill>
                  <a:srgbClr val="0174AB"/>
                </a:solidFill>
                <a:latin typeface="Times New Roman"/>
              </a:rPr>
              <a:t>• </a:t>
            </a:r>
            <a:r>
              <a:rPr sz="1720" b="1">
                <a:solidFill>
                  <a:srgbClr val="111111"/>
                </a:solidFill>
                <a:latin typeface="Times New Roman"/>
              </a:rPr>
              <a:t>Abstraction: </a:t>
            </a:r>
            <a:r>
              <a:rPr sz="1720">
                <a:solidFill>
                  <a:srgbClr val="111111"/>
                </a:solidFill>
                <a:latin typeface="Times New Roman"/>
              </a:rPr>
              <a:t>trimming a branch replaces its descendants with a coarser regional representation.</a:t>
            </a:r>
          </a:p>
          <a:p>
            <a:pPr algn="l">
              <a:lnSpc>
                <a:spcPct val="105000"/>
              </a:lnSpc>
              <a:spcAft>
                <a:spcPts val="700"/>
              </a:spcAft>
            </a:pPr>
            <a:r>
              <a:rPr sz="1720" b="1">
                <a:solidFill>
                  <a:srgbClr val="0174AB"/>
                </a:solidFill>
                <a:latin typeface="Times New Roman"/>
              </a:rPr>
              <a:t>• </a:t>
            </a:r>
            <a:r>
              <a:rPr sz="1720" b="1">
                <a:solidFill>
                  <a:srgbClr val="111111"/>
                </a:solidFill>
                <a:latin typeface="Times New Roman"/>
              </a:rPr>
              <a:t>Adaptive requirement: </a:t>
            </a:r>
            <a:r>
              <a:rPr sz="1720">
                <a:solidFill>
                  <a:srgbClr val="111111"/>
                </a:solidFill>
                <a:latin typeface="Times New Roman"/>
              </a:rPr>
              <a:t>the useful level of detail depends on the current view and the meaning of received messages.</a:t>
            </a:r>
          </a:p>
        </p:txBody>
      </p:sp>
    </p:spTree>
    <p:extLst>
      <p:ext uri="{BB962C8B-B14F-4D97-AF65-F5344CB8AC3E}">
        <p14:creationId xmlns:p14="http://schemas.microsoft.com/office/powerpoint/2010/main" val="255271695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B3D95-0D6B-F326-687F-255A304D7AC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AB75EFB-D97F-8CE1-C316-1B0B9195550C}"/>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D62EED42-C8EF-3D32-7702-7D1229CA3E89}"/>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72B1549E-C085-32D7-874C-E015187CBC02}"/>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3E966BAB-72BA-3637-5582-A2E342F6643E}"/>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BDDCA71C-B8FC-2237-32CB-70097DD092F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C51F296B-F9BA-7529-4767-CA7BB539C247}"/>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72">
            <a:extLst>
              <a:ext uri="{FF2B5EF4-FFF2-40B4-BE49-F238E27FC236}">
                <a16:creationId xmlns:a16="http://schemas.microsoft.com/office/drawing/2014/main" id="{05F3DAF6-0533-58CE-D1CB-B123BAAA722E}"/>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2 Graph Encoding and Differentiable Branch Merging</a:t>
            </a:r>
          </a:p>
        </p:txBody>
      </p:sp>
      <p:sp>
        <p:nvSpPr>
          <p:cNvPr id="6" name="Rectangle 73">
            <a:extLst>
              <a:ext uri="{FF2B5EF4-FFF2-40B4-BE49-F238E27FC236}">
                <a16:creationId xmlns:a16="http://schemas.microsoft.com/office/drawing/2014/main" id="{7AFE3187-955F-6456-5AEC-29A1EE3B0CA8}"/>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74" descr="p3_gnn.png">
            <a:extLst>
              <a:ext uri="{FF2B5EF4-FFF2-40B4-BE49-F238E27FC236}">
                <a16:creationId xmlns:a16="http://schemas.microsoft.com/office/drawing/2014/main" id="{FFF6C9AE-D042-86CC-6ED6-38D5D0A7D16F}"/>
              </a:ext>
            </a:extLst>
          </p:cNvPr>
          <p:cNvPicPr>
            <a:picLocks noChangeAspect="1"/>
          </p:cNvPicPr>
          <p:nvPr/>
        </p:nvPicPr>
        <p:blipFill>
          <a:blip r:embed="rId3"/>
          <a:srcRect b="26239"/>
          <a:stretch>
            <a:fillRect/>
          </a:stretch>
        </p:blipFill>
        <p:spPr>
          <a:xfrm>
            <a:off x="320040" y="1433008"/>
            <a:ext cx="5029200" cy="3079412"/>
          </a:xfrm>
          <a:prstGeom prst="rect">
            <a:avLst/>
          </a:prstGeom>
          <a:ln w="9525">
            <a:solidFill>
              <a:srgbClr val="C9D2D8"/>
            </a:solidFill>
          </a:ln>
        </p:spPr>
      </p:pic>
      <p:sp>
        <p:nvSpPr>
          <p:cNvPr id="16" name="Rounded Rectangle 75">
            <a:extLst>
              <a:ext uri="{FF2B5EF4-FFF2-40B4-BE49-F238E27FC236}">
                <a16:creationId xmlns:a16="http://schemas.microsoft.com/office/drawing/2014/main" id="{06FF997A-2CC7-5002-124D-B556990F903C}"/>
              </a:ext>
            </a:extLst>
          </p:cNvPr>
          <p:cNvSpPr/>
          <p:nvPr/>
        </p:nvSpPr>
        <p:spPr>
          <a:xfrm>
            <a:off x="5532120" y="1417320"/>
            <a:ext cx="6199632" cy="4251960"/>
          </a:xfrm>
          <a:prstGeom prst="roundRect">
            <a:avLst>
              <a:gd name="adj" fmla="val 5809"/>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700" b="1">
                <a:solidFill>
                  <a:srgbClr val="0174AB"/>
                </a:solidFill>
                <a:latin typeface="Times New Roman"/>
              </a:rPr>
              <a:t>• </a:t>
            </a:r>
            <a:r>
              <a:rPr sz="1700" b="1">
                <a:solidFill>
                  <a:srgbClr val="111111"/>
                </a:solidFill>
                <a:latin typeface="Times New Roman"/>
              </a:rPr>
              <a:t>GIN encoder: </a:t>
            </a:r>
            <a:r>
              <a:rPr sz="1700">
                <a:solidFill>
                  <a:srgbClr val="111111"/>
                </a:solidFill>
                <a:latin typeface="Times New Roman"/>
              </a:rPr>
              <a:t>aggregates node neighborhoods and produces a representation of the full-resolution quadtree.</a:t>
            </a:r>
          </a:p>
          <a:p>
            <a:pPr algn="l">
              <a:lnSpc>
                <a:spcPct val="105000"/>
              </a:lnSpc>
              <a:spcAft>
                <a:spcPts val="700"/>
              </a:spcAft>
            </a:pPr>
            <a:r>
              <a:rPr sz="1700" b="1">
                <a:solidFill>
                  <a:srgbClr val="0174AB"/>
                </a:solidFill>
                <a:latin typeface="Times New Roman"/>
              </a:rPr>
              <a:t>• </a:t>
            </a:r>
            <a:r>
              <a:rPr sz="1700" b="1">
                <a:solidFill>
                  <a:srgbClr val="111111"/>
                </a:solidFill>
                <a:latin typeface="Times New Roman"/>
              </a:rPr>
              <a:t>Context fusion: </a:t>
            </a:r>
            <a:r>
              <a:rPr sz="1700">
                <a:solidFill>
                  <a:srgbClr val="111111"/>
                </a:solidFill>
                <a:latin typeface="Times New Roman"/>
              </a:rPr>
              <a:t>the graph embedding is concatenated with the agent location and received symbols.</a:t>
            </a:r>
          </a:p>
          <a:p>
            <a:pPr algn="l">
              <a:lnSpc>
                <a:spcPct val="105000"/>
              </a:lnSpc>
              <a:spcAft>
                <a:spcPts val="700"/>
              </a:spcAft>
            </a:pPr>
            <a:r>
              <a:rPr sz="1700" b="1">
                <a:solidFill>
                  <a:srgbClr val="0174AB"/>
                </a:solidFill>
                <a:latin typeface="Times New Roman"/>
              </a:rPr>
              <a:t>• </a:t>
            </a:r>
            <a:r>
              <a:rPr sz="1700" b="1">
                <a:solidFill>
                  <a:srgbClr val="111111"/>
                </a:solidFill>
                <a:latin typeface="Times New Roman"/>
              </a:rPr>
              <a:t>Merge decision: </a:t>
            </a:r>
            <a:r>
              <a:rPr sz="1700">
                <a:solidFill>
                  <a:srgbClr val="111111"/>
                </a:solidFill>
                <a:latin typeface="Times New Roman"/>
              </a:rPr>
              <a:t>an MLP predicts merge/non-merge scores for each internal node.</a:t>
            </a:r>
          </a:p>
          <a:p>
            <a:pPr algn="l">
              <a:lnSpc>
                <a:spcPct val="105000"/>
              </a:lnSpc>
              <a:spcAft>
                <a:spcPts val="700"/>
              </a:spcAft>
            </a:pPr>
            <a:r>
              <a:rPr sz="1700" b="1">
                <a:solidFill>
                  <a:srgbClr val="0174AB"/>
                </a:solidFill>
                <a:latin typeface="Times New Roman"/>
              </a:rPr>
              <a:t>• </a:t>
            </a:r>
            <a:r>
              <a:rPr sz="1700" b="1">
                <a:solidFill>
                  <a:srgbClr val="111111"/>
                </a:solidFill>
                <a:latin typeface="Times New Roman"/>
              </a:rPr>
              <a:t>Straight-through Gumbel-softmax: </a:t>
            </a:r>
            <a:r>
              <a:rPr sz="1700">
                <a:solidFill>
                  <a:srgbClr val="111111"/>
                </a:solidFill>
                <a:latin typeface="Times New Roman"/>
              </a:rPr>
              <a:t>produces discrete pruning decisions in the forward pass while retaining differentiability during backpropagation.</a:t>
            </a:r>
          </a:p>
        </p:txBody>
      </p:sp>
    </p:spTree>
    <p:extLst>
      <p:ext uri="{BB962C8B-B14F-4D97-AF65-F5344CB8AC3E}">
        <p14:creationId xmlns:p14="http://schemas.microsoft.com/office/powerpoint/2010/main" val="356294275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EEAD3-59A3-B782-C124-AE1BD556682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74607EA4-17BD-891E-BA7C-15D05935B6F4}"/>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5E8E2F1A-4F2B-D842-BB3B-41812DF31850}"/>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FEDC2855-36CC-9CCC-E1D5-D769990A94EF}"/>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D5FD2B20-BA48-508E-74F5-48FED89A9127}"/>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1D7BF20D-DF1F-5361-BCE8-74C29FAC29B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BFB57E0D-6A6D-5FAD-602C-667E3198AC7D}"/>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67A0A46E-EE3A-1446-9D99-771F6BB30C04}"/>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3 Adaptive Abstractor and Decentralized Training</a:t>
            </a:r>
          </a:p>
        </p:txBody>
      </p:sp>
      <p:sp>
        <p:nvSpPr>
          <p:cNvPr id="7" name="Rectangle 73">
            <a:extLst>
              <a:ext uri="{FF2B5EF4-FFF2-40B4-BE49-F238E27FC236}">
                <a16:creationId xmlns:a16="http://schemas.microsoft.com/office/drawing/2014/main" id="{D9DF8AF7-EC98-5791-C04F-8406DB94F7C2}"/>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74" descr="p3_arch.png">
            <a:extLst>
              <a:ext uri="{FF2B5EF4-FFF2-40B4-BE49-F238E27FC236}">
                <a16:creationId xmlns:a16="http://schemas.microsoft.com/office/drawing/2014/main" id="{DDD929DA-5280-E381-393B-6F4EEE8C0456}"/>
              </a:ext>
            </a:extLst>
          </p:cNvPr>
          <p:cNvPicPr>
            <a:picLocks noChangeAspect="1"/>
          </p:cNvPicPr>
          <p:nvPr/>
        </p:nvPicPr>
        <p:blipFill>
          <a:blip r:embed="rId3"/>
          <a:srcRect b="7529"/>
          <a:stretch>
            <a:fillRect/>
          </a:stretch>
        </p:blipFill>
        <p:spPr>
          <a:xfrm>
            <a:off x="274320" y="1660225"/>
            <a:ext cx="7406640" cy="3575615"/>
          </a:xfrm>
          <a:prstGeom prst="rect">
            <a:avLst/>
          </a:prstGeom>
          <a:ln w="9525">
            <a:solidFill>
              <a:srgbClr val="C9D2D8"/>
            </a:solidFill>
          </a:ln>
        </p:spPr>
      </p:pic>
      <p:sp>
        <p:nvSpPr>
          <p:cNvPr id="17" name="Rounded Rectangle 75">
            <a:extLst>
              <a:ext uri="{FF2B5EF4-FFF2-40B4-BE49-F238E27FC236}">
                <a16:creationId xmlns:a16="http://schemas.microsoft.com/office/drawing/2014/main" id="{CADD775F-9C8B-9A38-18B0-1C1C45FD8C17}"/>
              </a:ext>
            </a:extLst>
          </p:cNvPr>
          <p:cNvSpPr/>
          <p:nvPr/>
        </p:nvSpPr>
        <p:spPr>
          <a:xfrm>
            <a:off x="7845552" y="1417320"/>
            <a:ext cx="3822191" cy="4160520"/>
          </a:xfrm>
          <a:prstGeom prst="roundRect">
            <a:avLst>
              <a:gd name="adj" fmla="val 7403"/>
            </a:avLst>
          </a:prstGeom>
          <a:solidFill>
            <a:srgbClr val="F5F5F5"/>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l">
              <a:lnSpc>
                <a:spcPct val="105000"/>
              </a:lnSpc>
              <a:spcAft>
                <a:spcPts val="700"/>
              </a:spcAft>
            </a:pPr>
            <a:r>
              <a:rPr sz="1580" b="1">
                <a:solidFill>
                  <a:srgbClr val="0174AB"/>
                </a:solidFill>
                <a:latin typeface="Times New Roman"/>
              </a:rPr>
              <a:t>• </a:t>
            </a:r>
            <a:r>
              <a:rPr sz="1580" b="1">
                <a:solidFill>
                  <a:srgbClr val="111111"/>
                </a:solidFill>
                <a:latin typeface="Times New Roman"/>
              </a:rPr>
              <a:t>Policy input: </a:t>
            </a:r>
            <a:r>
              <a:rPr sz="1580">
                <a:solidFill>
                  <a:srgbClr val="111111"/>
                </a:solidFill>
                <a:latin typeface="Times New Roman"/>
              </a:rPr>
              <a:t>the trimmed quadtree, agent position, and received symbol.</a:t>
            </a:r>
          </a:p>
          <a:p>
            <a:pPr algn="l">
              <a:lnSpc>
                <a:spcPct val="105000"/>
              </a:lnSpc>
              <a:spcAft>
                <a:spcPts val="700"/>
              </a:spcAft>
            </a:pPr>
            <a:r>
              <a:rPr sz="1580" b="1">
                <a:solidFill>
                  <a:srgbClr val="0174AB"/>
                </a:solidFill>
                <a:latin typeface="Times New Roman"/>
              </a:rPr>
              <a:t>• </a:t>
            </a:r>
            <a:r>
              <a:rPr sz="1580" b="1">
                <a:solidFill>
                  <a:srgbClr val="111111"/>
                </a:solidFill>
                <a:latin typeface="Times New Roman"/>
              </a:rPr>
              <a:t>Joint output: </a:t>
            </a:r>
            <a:r>
              <a:rPr sz="1580">
                <a:solidFill>
                  <a:srgbClr val="111111"/>
                </a:solidFill>
                <a:latin typeface="Times New Roman"/>
              </a:rPr>
              <a:t>navigation action and communication action.</a:t>
            </a:r>
          </a:p>
          <a:p>
            <a:pPr algn="l">
              <a:lnSpc>
                <a:spcPct val="105000"/>
              </a:lnSpc>
              <a:spcAft>
                <a:spcPts val="700"/>
              </a:spcAft>
            </a:pPr>
            <a:r>
              <a:rPr sz="1580" b="1">
                <a:solidFill>
                  <a:srgbClr val="0174AB"/>
                </a:solidFill>
                <a:latin typeface="Times New Roman"/>
              </a:rPr>
              <a:t>• </a:t>
            </a:r>
            <a:r>
              <a:rPr sz="1580" b="1">
                <a:solidFill>
                  <a:srgbClr val="111111"/>
                </a:solidFill>
                <a:latin typeface="Times New Roman"/>
              </a:rPr>
              <a:t>Training objective: </a:t>
            </a:r>
            <a:r>
              <a:rPr sz="1580">
                <a:solidFill>
                  <a:srgbClr val="111111"/>
                </a:solidFill>
                <a:latin typeface="Times New Roman"/>
              </a:rPr>
              <a:t>L = LRL + ‖Aabs‖F rewards task completion while penalizing tree size.</a:t>
            </a:r>
          </a:p>
          <a:p>
            <a:pPr algn="l">
              <a:lnSpc>
                <a:spcPct val="105000"/>
              </a:lnSpc>
              <a:spcAft>
                <a:spcPts val="700"/>
              </a:spcAft>
            </a:pPr>
            <a:r>
              <a:rPr sz="1580" b="1">
                <a:solidFill>
                  <a:srgbClr val="0174AB"/>
                </a:solidFill>
                <a:latin typeface="Times New Roman"/>
              </a:rPr>
              <a:t>• </a:t>
            </a:r>
            <a:r>
              <a:rPr sz="1580" b="1">
                <a:solidFill>
                  <a:srgbClr val="111111"/>
                </a:solidFill>
                <a:latin typeface="Times New Roman"/>
              </a:rPr>
              <a:t>Learning mode: </a:t>
            </a:r>
            <a:r>
              <a:rPr sz="1580">
                <a:solidFill>
                  <a:srgbClr val="111111"/>
                </a:solidFill>
                <a:latin typeface="Times New Roman"/>
              </a:rPr>
              <a:t>each agent has an independent GRU policy and the abstractor is optimized simultaneously with A3C.</a:t>
            </a:r>
          </a:p>
        </p:txBody>
      </p:sp>
    </p:spTree>
    <p:extLst>
      <p:ext uri="{BB962C8B-B14F-4D97-AF65-F5344CB8AC3E}">
        <p14:creationId xmlns:p14="http://schemas.microsoft.com/office/powerpoint/2010/main" val="422501722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48C21F9-B9D5-2948-04ED-6A2AA4427538}"/>
              </a:ext>
            </a:extLst>
          </p:cNvPr>
          <p:cNvSpPr txBox="1"/>
          <p:nvPr/>
        </p:nvSpPr>
        <p:spPr>
          <a:xfrm>
            <a:off x="-24000" y="765000"/>
            <a:ext cx="11357699" cy="46166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Training Performance Evaluation</a:t>
            </a:r>
          </a:p>
        </p:txBody>
      </p:sp>
      <p:cxnSp>
        <p:nvCxnSpPr>
          <p:cNvPr id="4" name="直接连接符 3">
            <a:extLst>
              <a:ext uri="{FF2B5EF4-FFF2-40B4-BE49-F238E27FC236}">
                <a16:creationId xmlns:a16="http://schemas.microsoft.com/office/drawing/2014/main" id="{E32ADEC8-29F4-1881-D405-329A2C4647F1}"/>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6" name="图片 5">
            <a:extLst>
              <a:ext uri="{FF2B5EF4-FFF2-40B4-BE49-F238E27FC236}">
                <a16:creationId xmlns:a16="http://schemas.microsoft.com/office/drawing/2014/main" id="{A42BA6F1-D550-9C6A-A07D-11F5DED62CC5}"/>
              </a:ext>
            </a:extLst>
          </p:cNvPr>
          <p:cNvPicPr>
            <a:picLocks noChangeAspect="1"/>
          </p:cNvPicPr>
          <p:nvPr/>
        </p:nvPicPr>
        <p:blipFill>
          <a:blip r:embed="rId5"/>
          <a:stretch>
            <a:fillRect/>
          </a:stretch>
        </p:blipFill>
        <p:spPr>
          <a:xfrm>
            <a:off x="120000" y="2565000"/>
            <a:ext cx="3270743" cy="2639187"/>
          </a:xfrm>
          <a:prstGeom prst="rect">
            <a:avLst/>
          </a:prstGeom>
        </p:spPr>
      </p:pic>
      <p:pic>
        <p:nvPicPr>
          <p:cNvPr id="8" name="图片 7">
            <a:extLst>
              <a:ext uri="{FF2B5EF4-FFF2-40B4-BE49-F238E27FC236}">
                <a16:creationId xmlns:a16="http://schemas.microsoft.com/office/drawing/2014/main" id="{098795CF-BB69-39DD-D7EF-5BFA8C3AF98B}"/>
              </a:ext>
            </a:extLst>
          </p:cNvPr>
          <p:cNvPicPr>
            <a:picLocks noChangeAspect="1"/>
          </p:cNvPicPr>
          <p:nvPr/>
        </p:nvPicPr>
        <p:blipFill>
          <a:blip r:embed="rId6"/>
          <a:stretch>
            <a:fillRect/>
          </a:stretch>
        </p:blipFill>
        <p:spPr>
          <a:xfrm>
            <a:off x="3648000" y="2575679"/>
            <a:ext cx="3600000" cy="2717080"/>
          </a:xfrm>
          <a:prstGeom prst="rect">
            <a:avLst/>
          </a:prstGeom>
        </p:spPr>
      </p:pic>
      <p:pic>
        <p:nvPicPr>
          <p:cNvPr id="11" name="图片 10">
            <a:extLst>
              <a:ext uri="{FF2B5EF4-FFF2-40B4-BE49-F238E27FC236}">
                <a16:creationId xmlns:a16="http://schemas.microsoft.com/office/drawing/2014/main" id="{CF7152EE-F9AA-9A23-3D49-F11B8BFD2C04}"/>
              </a:ext>
            </a:extLst>
          </p:cNvPr>
          <p:cNvPicPr>
            <a:picLocks noChangeAspect="1"/>
          </p:cNvPicPr>
          <p:nvPr/>
        </p:nvPicPr>
        <p:blipFill>
          <a:blip r:embed="rId7"/>
          <a:stretch>
            <a:fillRect/>
          </a:stretch>
        </p:blipFill>
        <p:spPr>
          <a:xfrm>
            <a:off x="7608000" y="2529481"/>
            <a:ext cx="3725699" cy="2844005"/>
          </a:xfrm>
          <a:prstGeom prst="rect">
            <a:avLst/>
          </a:prstGeom>
        </p:spPr>
      </p:pic>
    </p:spTree>
    <p:extLst>
      <p:ext uri="{BB962C8B-B14F-4D97-AF65-F5344CB8AC3E}">
        <p14:creationId xmlns:p14="http://schemas.microsoft.com/office/powerpoint/2010/main" val="3601739965"/>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87FC-2F7C-51B9-39B2-D71E9DB94E9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5C1F3FD-4BF2-03C8-1049-7508C74CFC41}"/>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B0BFDB1-A12B-1ECD-0BE7-50957121F7D0}"/>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B0A2C10F-D6CA-A7AA-43B2-75884A6405EF}"/>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477C2BBA-5EF8-FB4D-BA11-E10438006BD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433811B1-CC0A-C990-9E56-BFCAE21A2A87}"/>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3288832F-568C-DAA4-87AD-08EEC26C675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67156BE0-01DB-3FF8-44AD-CC704E8D7CDC}"/>
              </a:ext>
            </a:extLst>
          </p:cNvPr>
          <p:cNvSpPr txBox="1"/>
          <p:nvPr/>
        </p:nvSpPr>
        <p:spPr>
          <a:xfrm>
            <a:off x="-24000" y="765000"/>
            <a:ext cx="11357699" cy="46166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2 Abstraction &amp; Generalization</a:t>
            </a:r>
          </a:p>
        </p:txBody>
      </p:sp>
      <p:cxnSp>
        <p:nvCxnSpPr>
          <p:cNvPr id="4" name="直接连接符 3">
            <a:extLst>
              <a:ext uri="{FF2B5EF4-FFF2-40B4-BE49-F238E27FC236}">
                <a16:creationId xmlns:a16="http://schemas.microsoft.com/office/drawing/2014/main" id="{3E344CC7-E7AE-FDC9-2E4D-80692F1A33ED}"/>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5" name="图片 4">
            <a:extLst>
              <a:ext uri="{FF2B5EF4-FFF2-40B4-BE49-F238E27FC236}">
                <a16:creationId xmlns:a16="http://schemas.microsoft.com/office/drawing/2014/main" id="{8DA05A77-7E6B-9A7C-1174-850A684B7B08}"/>
              </a:ext>
            </a:extLst>
          </p:cNvPr>
          <p:cNvPicPr>
            <a:picLocks noChangeAspect="1"/>
          </p:cNvPicPr>
          <p:nvPr/>
        </p:nvPicPr>
        <p:blipFill>
          <a:blip r:embed="rId5"/>
          <a:stretch>
            <a:fillRect/>
          </a:stretch>
        </p:blipFill>
        <p:spPr>
          <a:xfrm>
            <a:off x="336000" y="2313285"/>
            <a:ext cx="3456000" cy="2721600"/>
          </a:xfrm>
          <a:prstGeom prst="rect">
            <a:avLst/>
          </a:prstGeom>
        </p:spPr>
      </p:pic>
      <p:pic>
        <p:nvPicPr>
          <p:cNvPr id="9" name="图片 8">
            <a:extLst>
              <a:ext uri="{FF2B5EF4-FFF2-40B4-BE49-F238E27FC236}">
                <a16:creationId xmlns:a16="http://schemas.microsoft.com/office/drawing/2014/main" id="{BDF35665-B434-A297-F7C2-17DCDA801758}"/>
              </a:ext>
            </a:extLst>
          </p:cNvPr>
          <p:cNvPicPr>
            <a:picLocks noChangeAspect="1"/>
          </p:cNvPicPr>
          <p:nvPr/>
        </p:nvPicPr>
        <p:blipFill>
          <a:blip r:embed="rId6"/>
          <a:stretch>
            <a:fillRect/>
          </a:stretch>
        </p:blipFill>
        <p:spPr>
          <a:xfrm>
            <a:off x="3936000" y="2421000"/>
            <a:ext cx="3734614" cy="2726269"/>
          </a:xfrm>
          <a:prstGeom prst="rect">
            <a:avLst/>
          </a:prstGeom>
        </p:spPr>
      </p:pic>
      <p:pic>
        <p:nvPicPr>
          <p:cNvPr id="12" name="图片 11">
            <a:extLst>
              <a:ext uri="{FF2B5EF4-FFF2-40B4-BE49-F238E27FC236}">
                <a16:creationId xmlns:a16="http://schemas.microsoft.com/office/drawing/2014/main" id="{386001BE-30D9-B68C-233A-6E31D9011704}"/>
              </a:ext>
            </a:extLst>
          </p:cNvPr>
          <p:cNvPicPr>
            <a:picLocks noChangeAspect="1"/>
          </p:cNvPicPr>
          <p:nvPr/>
        </p:nvPicPr>
        <p:blipFill>
          <a:blip r:embed="rId7"/>
          <a:stretch>
            <a:fillRect/>
          </a:stretch>
        </p:blipFill>
        <p:spPr>
          <a:xfrm>
            <a:off x="8140690" y="2484500"/>
            <a:ext cx="3742592" cy="2747052"/>
          </a:xfrm>
          <a:prstGeom prst="rect">
            <a:avLst/>
          </a:prstGeom>
        </p:spPr>
      </p:pic>
    </p:spTree>
    <p:extLst>
      <p:ext uri="{BB962C8B-B14F-4D97-AF65-F5344CB8AC3E}">
        <p14:creationId xmlns:p14="http://schemas.microsoft.com/office/powerpoint/2010/main" val="231907679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9BAD4-12E7-00F8-32A4-851586FD864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8D7B581-C0C2-8161-ED24-34E10205F92C}"/>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1F985B3E-3273-97F2-FC68-4A709355E4F2}"/>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2E275D8F-BF1B-4666-4C8E-90DCB8B1A256}"/>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1FD55C6B-BA4C-0B9A-A807-EF5A2914BB78}"/>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19E77AC1-513F-B59F-DEA6-DCC62A70763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ADB364EA-A8AD-9D6D-0983-EF7DCBAD02FE}"/>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F6616296-F1AB-2F72-8DD8-A64ABE5D5812}"/>
              </a:ext>
            </a:extLst>
          </p:cNvPr>
          <p:cNvSpPr txBox="1"/>
          <p:nvPr/>
        </p:nvSpPr>
        <p:spPr>
          <a:xfrm>
            <a:off x="-24000" y="765000"/>
            <a:ext cx="11357699" cy="46166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3 Emergent Communication</a:t>
            </a:r>
          </a:p>
        </p:txBody>
      </p:sp>
      <p:cxnSp>
        <p:nvCxnSpPr>
          <p:cNvPr id="4" name="直接连接符 3">
            <a:extLst>
              <a:ext uri="{FF2B5EF4-FFF2-40B4-BE49-F238E27FC236}">
                <a16:creationId xmlns:a16="http://schemas.microsoft.com/office/drawing/2014/main" id="{F7D0E74B-3425-A5B1-0D13-8A4B9D2CD094}"/>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6" name="图片 5">
            <a:extLst>
              <a:ext uri="{FF2B5EF4-FFF2-40B4-BE49-F238E27FC236}">
                <a16:creationId xmlns:a16="http://schemas.microsoft.com/office/drawing/2014/main" id="{EF1993F7-D9F7-1687-6040-1B73BB57EE3A}"/>
              </a:ext>
            </a:extLst>
          </p:cNvPr>
          <p:cNvPicPr>
            <a:picLocks noChangeAspect="1"/>
          </p:cNvPicPr>
          <p:nvPr/>
        </p:nvPicPr>
        <p:blipFill>
          <a:blip r:embed="rId5"/>
          <a:stretch>
            <a:fillRect/>
          </a:stretch>
        </p:blipFill>
        <p:spPr>
          <a:xfrm>
            <a:off x="1416000" y="1917000"/>
            <a:ext cx="9272330" cy="3517764"/>
          </a:xfrm>
          <a:prstGeom prst="rect">
            <a:avLst/>
          </a:prstGeom>
        </p:spPr>
      </p:pic>
    </p:spTree>
    <p:extLst>
      <p:ext uri="{BB962C8B-B14F-4D97-AF65-F5344CB8AC3E}">
        <p14:creationId xmlns:p14="http://schemas.microsoft.com/office/powerpoint/2010/main" val="31948245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49</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49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矩形 3"/>
          <p:cNvSpPr/>
          <p:nvPr/>
        </p:nvSpPr>
        <p:spPr>
          <a:xfrm>
            <a:off x="680085" y="1391920"/>
            <a:ext cx="10871835" cy="2880012"/>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 name="矩形 4"/>
          <p:cNvSpPr/>
          <p:nvPr/>
        </p:nvSpPr>
        <p:spPr>
          <a:xfrm>
            <a:off x="980177" y="1109377"/>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①</a:t>
            </a:r>
          </a:p>
        </p:txBody>
      </p:sp>
      <p:sp>
        <p:nvSpPr>
          <p:cNvPr id="6" name="矩形 5"/>
          <p:cNvSpPr/>
          <p:nvPr/>
        </p:nvSpPr>
        <p:spPr>
          <a:xfrm>
            <a:off x="680085" y="4643320"/>
            <a:ext cx="10872470" cy="1575869"/>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917575" y="4420435"/>
            <a:ext cx="1106170"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②</a:t>
            </a:r>
          </a:p>
        </p:txBody>
      </p:sp>
      <p:sp>
        <p:nvSpPr>
          <p:cNvPr id="8" name="文本框 7"/>
          <p:cNvSpPr txBox="1"/>
          <p:nvPr/>
        </p:nvSpPr>
        <p:spPr>
          <a:xfrm>
            <a:off x="911860" y="4725235"/>
            <a:ext cx="10610215" cy="960328"/>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r>
              <a:rPr lang="en-US" altLang="zh-CN" sz="2000" dirty="0">
                <a:latin typeface="Times New Roman" panose="02020603050405020304" pitchFamily="18" charset="0"/>
                <a:cs typeface="Times New Roman" panose="02020603050405020304" pitchFamily="18" charset="0"/>
              </a:rPr>
              <a:t>For multi-agent state abstraction, structure and communication can be treated as part of the representation-learning problem rather than as separate modules.</a:t>
            </a:r>
          </a:p>
        </p:txBody>
      </p:sp>
      <p:sp>
        <p:nvSpPr>
          <p:cNvPr id="9" name="文本框 8"/>
          <p:cNvSpPr txBox="1"/>
          <p:nvPr/>
        </p:nvSpPr>
        <p:spPr>
          <a:xfrm>
            <a:off x="711835" y="1383030"/>
            <a:ext cx="10733405" cy="2806987"/>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latin typeface="Times New Roman" panose="02020603050405020304" pitchFamily="18" charset="0"/>
                <a:cs typeface="Times New Roman" panose="02020603050405020304" pitchFamily="18" charset="0"/>
              </a:rPr>
              <a:t>The paper converts each agent’s local observation into a quadtree and learns which branches to prune using a GIN, context features, and straight-through Gumbel-</a:t>
            </a:r>
            <a:r>
              <a:rPr lang="en-US" altLang="zh-CN" sz="2000" dirty="0" err="1">
                <a:latin typeface="Times New Roman" panose="02020603050405020304" pitchFamily="18" charset="0"/>
                <a:cs typeface="Times New Roman" panose="02020603050405020304" pitchFamily="18" charset="0"/>
              </a:rPr>
              <a:t>softmax</a:t>
            </a:r>
            <a:r>
              <a:rPr lang="en-US" altLang="zh-CN" sz="2000" dirty="0">
                <a:latin typeface="Times New Roman" panose="02020603050405020304" pitchFamily="18" charset="0"/>
                <a:cs typeface="Times New Roman" panose="02020603050405020304" pitchFamily="18" charset="0"/>
              </a:rPr>
              <a:t>. The resulting structured abstract state is used jointly for navigation and communication decisions.</a:t>
            </a:r>
          </a:p>
          <a:p>
            <a:pPr algn="just">
              <a:lnSpc>
                <a:spcPct val="150000"/>
              </a:lnSpc>
            </a:pPr>
            <a:r>
              <a:rPr lang="en-US" altLang="zh-CN" sz="2000" dirty="0">
                <a:latin typeface="Times New Roman" panose="02020603050405020304" pitchFamily="18" charset="0"/>
                <a:cs typeface="Times New Roman" panose="02020603050405020304" pitchFamily="18" charset="0"/>
              </a:rPr>
              <a:t>Adaptive abstraction reduces training complexity without sacrificing policy quality and improves robustness to noisy observations and erased messages. Communication emerges during training, but scalability and the semantics of the learned protocol remain important future directions.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701" y="1960245"/>
            <a:ext cx="12147550" cy="2045335"/>
            <a:chOff x="1590910" y="1960245"/>
            <a:chExt cx="9078797" cy="2045335"/>
          </a:xfrm>
        </p:grpSpPr>
        <p:sp>
          <p:nvSpPr>
            <p:cNvPr id="8" name="矩形 7"/>
            <p:cNvSpPr/>
            <p:nvPr/>
          </p:nvSpPr>
          <p:spPr>
            <a:xfrm>
              <a:off x="1590910" y="1960245"/>
              <a:ext cx="9078797" cy="2045335"/>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9" name="文本框 8"/>
            <p:cNvSpPr txBox="1"/>
            <p:nvPr/>
          </p:nvSpPr>
          <p:spPr>
            <a:xfrm>
              <a:off x="1598073" y="2189552"/>
              <a:ext cx="8911269" cy="1133965"/>
            </a:xfrm>
            <a:prstGeom prst="rect">
              <a:avLst/>
            </a:prstGeom>
            <a:noFill/>
          </p:spPr>
          <p:txBody>
            <a:bodyPr wrap="square" rtlCol="0" anchor="ctr">
              <a:spAutoFit/>
            </a:bodyPr>
            <a:lstStyle/>
            <a:p>
              <a:pPr algn="ctr">
                <a:lnSpc>
                  <a:spcPct val="150000"/>
                </a:lnSpc>
              </a:pPr>
              <a:r>
                <a:rPr lang="en-US" altLang="zh-CN" sz="2400" b="1" dirty="0">
                  <a:solidFill>
                    <a:schemeClr val="bg1"/>
                  </a:solidFill>
                  <a:latin typeface="Times New Roman" panose="02020603050405020304" pitchFamily="18" charset="0"/>
                  <a:cs typeface="Times New Roman" panose="02020603050405020304" pitchFamily="18" charset="0"/>
                </a:rPr>
                <a:t>Compact Goal Representation Learning via Information Bottleneck </a:t>
              </a:r>
            </a:p>
            <a:p>
              <a:pPr algn="ctr">
                <a:lnSpc>
                  <a:spcPct val="150000"/>
                </a:lnSpc>
              </a:pPr>
              <a:r>
                <a:rPr lang="en-US" altLang="zh-CN" sz="2400" b="1" dirty="0">
                  <a:solidFill>
                    <a:schemeClr val="bg1"/>
                  </a:solidFill>
                  <a:latin typeface="Times New Roman" panose="02020603050405020304" pitchFamily="18" charset="0"/>
                  <a:cs typeface="Times New Roman" panose="02020603050405020304" pitchFamily="18" charset="0"/>
                </a:rPr>
                <a:t>in Goal-Conditioned Reinforcement Learning</a:t>
              </a:r>
            </a:p>
          </p:txBody>
        </p:sp>
        <p:sp>
          <p:nvSpPr>
            <p:cNvPr id="3" name="文本框 2"/>
            <p:cNvSpPr txBox="1"/>
            <p:nvPr/>
          </p:nvSpPr>
          <p:spPr>
            <a:xfrm>
              <a:off x="1664234" y="3406423"/>
              <a:ext cx="8932150" cy="338554"/>
            </a:xfrm>
            <a:prstGeom prst="rect">
              <a:avLst/>
            </a:prstGeom>
            <a:noFill/>
          </p:spPr>
          <p:txBody>
            <a:bodyPr wrap="square" rtlCol="0">
              <a:spAutoFit/>
            </a:bodyPr>
            <a:lstStyle/>
            <a:p>
              <a:r>
                <a:rPr lang="en-US" altLang="zh-CN" sz="1600" dirty="0">
                  <a:solidFill>
                    <a:schemeClr val="bg1"/>
                  </a:solidFill>
                  <a:latin typeface="Times New Roman" panose="02020603050405020304" pitchFamily="18" charset="0"/>
                  <a:cs typeface="Times New Roman" panose="02020603050405020304" pitchFamily="18" charset="0"/>
                </a:rPr>
                <a:t>Wei </a:t>
              </a:r>
              <a:r>
                <a:rPr lang="en-US" altLang="zh-CN" sz="1600" dirty="0" err="1">
                  <a:solidFill>
                    <a:schemeClr val="bg1"/>
                  </a:solidFill>
                  <a:latin typeface="Times New Roman" panose="02020603050405020304" pitchFamily="18" charset="0"/>
                  <a:cs typeface="Times New Roman" panose="02020603050405020304" pitchFamily="18" charset="0"/>
                </a:rPr>
                <a:t>Wei</a:t>
              </a:r>
              <a:r>
                <a:rPr lang="en-US" altLang="zh-CN" sz="1600" dirty="0">
                  <a:solidFill>
                    <a:schemeClr val="bg1"/>
                  </a:solidFill>
                  <a:latin typeface="Times New Roman" panose="02020603050405020304" pitchFamily="18" charset="0"/>
                  <a:cs typeface="Times New Roman" panose="02020603050405020304" pitchFamily="18" charset="0"/>
                </a:rPr>
                <a:t>, Haibin Li, </a:t>
              </a:r>
              <a:r>
                <a:rPr lang="en-US" altLang="zh-CN" sz="1600" dirty="0" err="1">
                  <a:solidFill>
                    <a:schemeClr val="bg1"/>
                  </a:solidFill>
                  <a:latin typeface="Times New Roman" panose="02020603050405020304" pitchFamily="18" charset="0"/>
                  <a:cs typeface="Times New Roman" panose="02020603050405020304" pitchFamily="18" charset="0"/>
                </a:rPr>
                <a:t>Shiyuan</a:t>
              </a:r>
              <a:r>
                <a:rPr lang="en-US" altLang="zh-CN" sz="1600" dirty="0">
                  <a:solidFill>
                    <a:schemeClr val="bg1"/>
                  </a:solidFill>
                  <a:latin typeface="Times New Roman" panose="02020603050405020304" pitchFamily="18" charset="0"/>
                  <a:cs typeface="Times New Roman" panose="02020603050405020304" pitchFamily="18" charset="0"/>
                </a:rPr>
                <a:t> Zhou, </a:t>
              </a:r>
              <a:r>
                <a:rPr lang="en-US" altLang="zh-CN" sz="1600" dirty="0" err="1">
                  <a:solidFill>
                    <a:schemeClr val="bg1"/>
                  </a:solidFill>
                  <a:latin typeface="Times New Roman" panose="02020603050405020304" pitchFamily="18" charset="0"/>
                  <a:cs typeface="Times New Roman" panose="02020603050405020304" pitchFamily="18" charset="0"/>
                </a:rPr>
                <a:t>Baifeng</a:t>
              </a:r>
              <a:r>
                <a:rPr lang="en-US" altLang="zh-CN" sz="1600" dirty="0">
                  <a:solidFill>
                    <a:schemeClr val="bg1"/>
                  </a:solidFill>
                  <a:latin typeface="Times New Roman" panose="02020603050405020304" pitchFamily="18" charset="0"/>
                  <a:cs typeface="Times New Roman" panose="02020603050405020304" pitchFamily="18" charset="0"/>
                </a:rPr>
                <a:t> Li, and Xue Liu</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4</a:t>
            </a: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351790" y="4596130"/>
            <a:ext cx="10786110" cy="1477328"/>
          </a:xfrm>
          <a:prstGeom prst="rect">
            <a:avLst/>
          </a:prstGeom>
          <a:noFill/>
        </p:spPr>
        <p:txBody>
          <a:bodyPr wrap="square" rtlCol="0">
            <a:spAutoFit/>
          </a:bodyPr>
          <a:lstStyle/>
          <a:p>
            <a:pPr algn="just"/>
            <a:r>
              <a:rPr lang="en-US" altLang="zh-CN" b="1" dirty="0">
                <a:latin typeface="Times New Roman" panose="02020603050405020304" pitchFamily="18" charset="0"/>
                <a:cs typeface="Times New Roman" panose="02020603050405020304" pitchFamily="18" charset="0"/>
                <a:sym typeface="+mn-ea"/>
              </a:rPr>
              <a:t>This paper was published in</a:t>
            </a:r>
            <a:r>
              <a:rPr lang="en-US" altLang="zh-CN" b="1"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sz="18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IEEE Transactions on Neural Networks and Learning Systems (IF: 9.7) </a:t>
            </a:r>
          </a:p>
          <a:p>
            <a:pPr algn="just"/>
            <a:r>
              <a:rPr lang="en-US" altLang="zh-CN" b="1" dirty="0">
                <a:latin typeface="Times New Roman" panose="02020603050405020304" pitchFamily="18" charset="0"/>
                <a:cs typeface="Times New Roman" panose="02020603050405020304" pitchFamily="18" charset="0"/>
                <a:sym typeface="+mn-ea"/>
              </a:rPr>
              <a:t>Published Time:</a:t>
            </a:r>
            <a:r>
              <a:rPr lang="en-US" altLang="zh-CN" dirty="0">
                <a:latin typeface="Times New Roman" panose="02020603050405020304" pitchFamily="18" charset="0"/>
                <a:cs typeface="Times New Roman" panose="02020603050405020304" pitchFamily="18" charset="0"/>
                <a:sym typeface="+mn-ea"/>
              </a:rPr>
              <a:t> 2025</a:t>
            </a:r>
          </a:p>
          <a:p>
            <a:pPr algn="just"/>
            <a:r>
              <a:rPr lang="en-US" altLang="zh-CN" b="1" dirty="0">
                <a:latin typeface="Times New Roman" panose="02020603050405020304" pitchFamily="18" charset="0"/>
                <a:cs typeface="Times New Roman" panose="02020603050405020304" pitchFamily="18" charset="0"/>
                <a:sym typeface="+mn-ea"/>
              </a:rPr>
              <a:t>Reference:</a:t>
            </a:r>
            <a:r>
              <a:rPr lang="en-US" altLang="zh-CN"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rPr>
              <a:t>Q. Zou and E. Suzuki, “Compact Goal Representation Learning via Information Bottleneck in Goal-Conditioned Reinforcement Learning,” IEEE Transactions on Neural Networks and Learning Systems, vol. 36, no. 2, pp. 2368–2380, Feb. 2025, </a:t>
            </a:r>
            <a:r>
              <a:rPr lang="en-US" altLang="zh-CN" dirty="0" err="1">
                <a:latin typeface="Times New Roman" panose="02020603050405020304" pitchFamily="18" charset="0"/>
                <a:cs typeface="Times New Roman" panose="02020603050405020304" pitchFamily="18" charset="0"/>
              </a:rPr>
              <a:t>doi</a:t>
            </a:r>
            <a:r>
              <a:rPr lang="en-US" altLang="zh-CN" dirty="0">
                <a:latin typeface="Times New Roman" panose="02020603050405020304" pitchFamily="18" charset="0"/>
                <a:cs typeface="Times New Roman" panose="02020603050405020304" pitchFamily="18" charset="0"/>
              </a:rPr>
              <a:t>: 10.1109/TNNLS.2023.3344880.</a:t>
            </a: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p:cNvGrpSpPr/>
          <p:nvPr/>
        </p:nvGrpSpPr>
        <p:grpSpPr>
          <a:xfrm>
            <a:off x="-1" y="6553200"/>
            <a:ext cx="12192001" cy="304800"/>
            <a:chOff x="0" y="6569404"/>
            <a:chExt cx="9144000" cy="288000"/>
          </a:xfrm>
        </p:grpSpPr>
        <p:sp>
          <p:nvSpPr>
            <p:cNvPr id="1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497205" y="847090"/>
            <a:ext cx="11060430" cy="225298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Challenge: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Goal-Conditioned Reinforcement Learning (GCRL) agents overfit to irrelevant goal information, leading to poor generalization to unseen goals.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Reward signals are sparse and delayed, making it difficult to extract dense supervision for goal representation learning.</a:t>
            </a:r>
          </a:p>
        </p:txBody>
      </p:sp>
      <p:sp>
        <p:nvSpPr>
          <p:cNvPr id="2" name="文本框 1"/>
          <p:cNvSpPr txBox="1"/>
          <p:nvPr/>
        </p:nvSpPr>
        <p:spPr>
          <a:xfrm>
            <a:off x="473140" y="3227668"/>
            <a:ext cx="11060430" cy="225298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Method: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Proposes InfoGoal, a self-supervised information bottleneck framework that learns compact yet sufficient goal representations.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Defines an intrinsic reward based on representation distance in latent space, guiding goal-oriented exploration under sparse rewards.</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456D0-4780-500C-6213-F6EBE4446610}"/>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415F9AB-EE41-DA92-4CDE-D15A31A8E439}"/>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A1C1E33-4DD1-C317-803A-86C2A95C5B9B}"/>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496124BA-06E8-3C88-9C2D-99D7B1D793CB}"/>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A8117CE1-81DD-87DC-583A-1F147B96EE0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07AB16F0-8BE8-276E-17E8-902C45E4539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EA695F05-49C8-3D09-53DE-B11D0E0E4297}"/>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F5DADAEB-8ECA-6BE0-BB72-AE780E7778C0}"/>
              </a:ext>
            </a:extLst>
          </p:cNvPr>
          <p:cNvPicPr>
            <a:picLocks noChangeAspect="1"/>
          </p:cNvPicPr>
          <p:nvPr/>
        </p:nvPicPr>
        <p:blipFill>
          <a:blip r:embed="rId3"/>
          <a:stretch>
            <a:fillRect/>
          </a:stretch>
        </p:blipFill>
        <p:spPr>
          <a:xfrm>
            <a:off x="1128000" y="909000"/>
            <a:ext cx="9432000" cy="2701939"/>
          </a:xfrm>
          <a:prstGeom prst="rect">
            <a:avLst/>
          </a:prstGeom>
        </p:spPr>
      </p:pic>
      <p:sp>
        <p:nvSpPr>
          <p:cNvPr id="6" name="文本框 5">
            <a:extLst>
              <a:ext uri="{FF2B5EF4-FFF2-40B4-BE49-F238E27FC236}">
                <a16:creationId xmlns:a16="http://schemas.microsoft.com/office/drawing/2014/main" id="{DEB6B7AB-F852-B6F7-B995-E02EB81284B9}"/>
              </a:ext>
            </a:extLst>
          </p:cNvPr>
          <p:cNvSpPr txBox="1"/>
          <p:nvPr/>
        </p:nvSpPr>
        <p:spPr>
          <a:xfrm>
            <a:off x="120000" y="776514"/>
            <a:ext cx="11060430"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Motivation of InfoGoal: </a:t>
            </a:r>
          </a:p>
        </p:txBody>
      </p:sp>
      <p:sp>
        <p:nvSpPr>
          <p:cNvPr id="7" name="文本框 6">
            <a:extLst>
              <a:ext uri="{FF2B5EF4-FFF2-40B4-BE49-F238E27FC236}">
                <a16:creationId xmlns:a16="http://schemas.microsoft.com/office/drawing/2014/main" id="{8B637345-8A9F-A0F7-9776-A2AEC67EB51F}"/>
              </a:ext>
            </a:extLst>
          </p:cNvPr>
          <p:cNvSpPr txBox="1"/>
          <p:nvPr/>
        </p:nvSpPr>
        <p:spPr>
          <a:xfrm>
            <a:off x="126100" y="3558740"/>
            <a:ext cx="11060430" cy="46166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Goal-Conditioned RL:</a:t>
            </a:r>
          </a:p>
        </p:txBody>
      </p:sp>
      <p:pic>
        <p:nvPicPr>
          <p:cNvPr id="9" name="图片 8">
            <a:extLst>
              <a:ext uri="{FF2B5EF4-FFF2-40B4-BE49-F238E27FC236}">
                <a16:creationId xmlns:a16="http://schemas.microsoft.com/office/drawing/2014/main" id="{33FC004C-0340-B021-959E-6D70E7E7681C}"/>
              </a:ext>
            </a:extLst>
          </p:cNvPr>
          <p:cNvPicPr>
            <a:picLocks noChangeAspect="1"/>
          </p:cNvPicPr>
          <p:nvPr/>
        </p:nvPicPr>
        <p:blipFill>
          <a:blip r:embed="rId4"/>
          <a:stretch>
            <a:fillRect/>
          </a:stretch>
        </p:blipFill>
        <p:spPr>
          <a:xfrm>
            <a:off x="570152" y="4397059"/>
            <a:ext cx="4464000" cy="1911207"/>
          </a:xfrm>
          <a:prstGeom prst="rect">
            <a:avLst/>
          </a:prstGeom>
        </p:spPr>
      </p:pic>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3A48037-3359-514A-96A2-55D118AB431D}"/>
                  </a:ext>
                </a:extLst>
              </p:cNvPr>
              <p:cNvSpPr txBox="1"/>
              <p:nvPr/>
            </p:nvSpPr>
            <p:spPr>
              <a:xfrm>
                <a:off x="5681151" y="3885567"/>
                <a:ext cx="6124574" cy="1754326"/>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Goal-conditioned RL (GCRL)</a:t>
                </a:r>
                <a:r>
                  <a:rPr lang="en-US" altLang="zh-CN" dirty="0">
                    <a:latin typeface="Times New Roman" panose="02020603050405020304" pitchFamily="18" charset="0"/>
                    <a:cs typeface="Times New Roman" panose="02020603050405020304" pitchFamily="18" charset="0"/>
                  </a:rPr>
                  <a:t> is a variant of RL that focuses on </a:t>
                </a:r>
                <a:r>
                  <a:rPr lang="en-US" altLang="zh-CN" b="1" dirty="0">
                    <a:latin typeface="Times New Roman" panose="02020603050405020304" pitchFamily="18" charset="0"/>
                    <a:cs typeface="Times New Roman" panose="02020603050405020304" pitchFamily="18" charset="0"/>
                  </a:rPr>
                  <a:t>reaching a specific goal</a:t>
                </a:r>
                <a:r>
                  <a:rPr lang="en-US" altLang="zh-CN" dirty="0">
                    <a:latin typeface="Times New Roman" panose="02020603050405020304" pitchFamily="18" charset="0"/>
                    <a:cs typeface="Times New Roman" panose="02020603050405020304" pitchFamily="18" charset="0"/>
                  </a:rPr>
                  <a:t> </a:t>
                </a:r>
                <a14:m>
                  <m:oMath xmlns:m="http://schemas.openxmlformats.org/officeDocument/2006/math">
                    <m:r>
                      <a:rPr lang="zh-CN" altLang="en-US" b="1">
                        <a:latin typeface="Cambria Math" panose="02040503050406030204" pitchFamily="18" charset="0"/>
                      </a:rPr>
                      <m:t>𝐠</m:t>
                    </m:r>
                  </m:oMath>
                </a14:m>
                <a:r>
                  <a:rPr lang="en-US" altLang="zh-CN" dirty="0">
                    <a:latin typeface="Times New Roman" panose="02020603050405020304" pitchFamily="18" charset="0"/>
                    <a:cs typeface="Times New Roman" panose="02020603050405020304" pitchFamily="18" charset="0"/>
                  </a:rPr>
                  <a:t> drawn from a goal space </a:t>
                </a:r>
                <a14:m>
                  <m:oMath xmlns:m="http://schemas.openxmlformats.org/officeDocument/2006/math">
                    <m:r>
                      <a:rPr lang="zh-CN" altLang="en-US">
                        <a:latin typeface="Cambria Math" panose="02040503050406030204" pitchFamily="18" charset="0"/>
                      </a:rPr>
                      <m:t>𝒢</m:t>
                    </m:r>
                  </m:oMath>
                </a14:m>
                <a:r>
                  <a:rPr lang="en-US" altLang="zh-CN" dirty="0">
                    <a:latin typeface="Times New Roman" panose="02020603050405020304" pitchFamily="18" charset="0"/>
                    <a:cs typeface="Times New Roman" panose="02020603050405020304" pitchFamily="18" charset="0"/>
                  </a:rPr>
                  <a:t>.</a:t>
                </a:r>
              </a:p>
              <a:p>
                <a:r>
                  <a:rPr lang="en-US" altLang="zh-CN" b="1" dirty="0">
                    <a:latin typeface="Times New Roman" panose="02020603050405020304" pitchFamily="18" charset="0"/>
                    <a:cs typeface="Times New Roman" panose="02020603050405020304" pitchFamily="18" charset="0"/>
                  </a:rPr>
                  <a:t>Reward Function:</a:t>
                </a:r>
              </a:p>
              <a:p>
                <a:endParaRPr lang="en-US" altLang="zh-CN" b="1" dirty="0">
                  <a:latin typeface="Times New Roman" panose="02020603050405020304" pitchFamily="18" charset="0"/>
                  <a:cs typeface="Times New Roman" panose="02020603050405020304" pitchFamily="18" charset="0"/>
                </a:endParaRPr>
              </a:p>
              <a:p>
                <a:endParaRPr lang="en-US" altLang="zh-CN" b="1" dirty="0">
                  <a:latin typeface="Times New Roman" panose="02020603050405020304" pitchFamily="18" charset="0"/>
                  <a:cs typeface="Times New Roman" panose="02020603050405020304" pitchFamily="18" charset="0"/>
                </a:endParaRPr>
              </a:p>
              <a:p>
                <a:r>
                  <a:rPr lang="en-US" altLang="zh-CN" b="1" dirty="0">
                    <a:latin typeface="Times New Roman" panose="02020603050405020304" pitchFamily="18" charset="0"/>
                    <a:cs typeface="Times New Roman" panose="02020603050405020304" pitchFamily="18" charset="0"/>
                  </a:rPr>
                  <a:t>Value Functions:</a:t>
                </a:r>
                <a:endParaRPr lang="zh-CN" altLang="en-US" b="1" dirty="0">
                  <a:latin typeface="Times New Roman" panose="02020603050405020304" pitchFamily="18" charset="0"/>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33A48037-3359-514A-96A2-55D118AB431D}"/>
                  </a:ext>
                </a:extLst>
              </p:cNvPr>
              <p:cNvSpPr txBox="1">
                <a:spLocks noRot="1" noChangeAspect="1" noMove="1" noResize="1" noEditPoints="1" noAdjustHandles="1" noChangeArrowheads="1" noChangeShapeType="1" noTextEdit="1"/>
              </p:cNvSpPr>
              <p:nvPr/>
            </p:nvSpPr>
            <p:spPr>
              <a:xfrm>
                <a:off x="5681151" y="3885567"/>
                <a:ext cx="6124574" cy="1754326"/>
              </a:xfrm>
              <a:prstGeom prst="rect">
                <a:avLst/>
              </a:prstGeom>
              <a:blipFill>
                <a:blip r:embed="rId5"/>
                <a:stretch>
                  <a:fillRect l="-896" t="-1736" b="-4514"/>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3153C371-EE4D-0125-65D6-54CBA6ACA4BF}"/>
              </a:ext>
            </a:extLst>
          </p:cNvPr>
          <p:cNvPicPr>
            <a:picLocks noChangeAspect="1"/>
          </p:cNvPicPr>
          <p:nvPr/>
        </p:nvPicPr>
        <p:blipFill>
          <a:blip r:embed="rId6"/>
          <a:stretch>
            <a:fillRect/>
          </a:stretch>
        </p:blipFill>
        <p:spPr>
          <a:xfrm>
            <a:off x="7543595" y="4787625"/>
            <a:ext cx="3016405" cy="635033"/>
          </a:xfrm>
          <a:prstGeom prst="rect">
            <a:avLst/>
          </a:prstGeom>
        </p:spPr>
      </p:pic>
      <p:pic>
        <p:nvPicPr>
          <p:cNvPr id="20" name="图片 19">
            <a:extLst>
              <a:ext uri="{FF2B5EF4-FFF2-40B4-BE49-F238E27FC236}">
                <a16:creationId xmlns:a16="http://schemas.microsoft.com/office/drawing/2014/main" id="{EAEA312A-9406-3718-BC7F-FE896D4AC2B6}"/>
              </a:ext>
            </a:extLst>
          </p:cNvPr>
          <p:cNvPicPr>
            <a:picLocks noChangeAspect="1"/>
          </p:cNvPicPr>
          <p:nvPr/>
        </p:nvPicPr>
        <p:blipFill>
          <a:blip r:embed="rId7"/>
          <a:stretch>
            <a:fillRect/>
          </a:stretch>
        </p:blipFill>
        <p:spPr>
          <a:xfrm>
            <a:off x="7322395" y="5611340"/>
            <a:ext cx="4483330" cy="876345"/>
          </a:xfrm>
          <a:prstGeom prst="rect">
            <a:avLst/>
          </a:prstGeom>
        </p:spPr>
      </p:pic>
    </p:spTree>
    <p:extLst>
      <p:ext uri="{BB962C8B-B14F-4D97-AF65-F5344CB8AC3E}">
        <p14:creationId xmlns:p14="http://schemas.microsoft.com/office/powerpoint/2010/main" val="190326688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5" name="文本框 4"/>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Sufficient Goal Representation</a:t>
            </a:r>
          </a:p>
        </p:txBody>
      </p:sp>
      <p:cxnSp>
        <p:nvCxnSpPr>
          <p:cNvPr id="6" name="直接连接符 5"/>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 name="图片 1">
            <a:extLst>
              <a:ext uri="{FF2B5EF4-FFF2-40B4-BE49-F238E27FC236}">
                <a16:creationId xmlns:a16="http://schemas.microsoft.com/office/drawing/2014/main" id="{53F0E40A-BA58-7426-C21B-EE3CB7757A33}"/>
              </a:ext>
            </a:extLst>
          </p:cNvPr>
          <p:cNvPicPr>
            <a:picLocks noChangeAspect="1"/>
          </p:cNvPicPr>
          <p:nvPr/>
        </p:nvPicPr>
        <p:blipFill>
          <a:blip r:embed="rId3"/>
          <a:stretch>
            <a:fillRect/>
          </a:stretch>
        </p:blipFill>
        <p:spPr>
          <a:xfrm>
            <a:off x="408000" y="1986595"/>
            <a:ext cx="5580251" cy="3388214"/>
          </a:xfrm>
          <a:prstGeom prst="rect">
            <a:avLst/>
          </a:prstGeom>
        </p:spPr>
      </p:pic>
      <p:pic>
        <p:nvPicPr>
          <p:cNvPr id="3" name="图片 2">
            <a:extLst>
              <a:ext uri="{FF2B5EF4-FFF2-40B4-BE49-F238E27FC236}">
                <a16:creationId xmlns:a16="http://schemas.microsoft.com/office/drawing/2014/main" id="{F927809D-9C64-5A3F-497C-483DE2D63285}"/>
              </a:ext>
            </a:extLst>
          </p:cNvPr>
          <p:cNvPicPr>
            <a:picLocks noChangeAspect="1"/>
          </p:cNvPicPr>
          <p:nvPr/>
        </p:nvPicPr>
        <p:blipFill>
          <a:blip r:embed="rId4"/>
          <a:stretch>
            <a:fillRect/>
          </a:stretch>
        </p:blipFill>
        <p:spPr>
          <a:xfrm>
            <a:off x="6456000" y="2439291"/>
            <a:ext cx="5112000" cy="2482822"/>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53150-3307-05D5-E387-8F1FB77BF17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9F2E86F-71D5-F71B-23C6-15645A97FDD3}"/>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8B808BF-B789-F78F-BBA3-65E9D7462E7F}"/>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5" name="文本框 4">
            <a:extLst>
              <a:ext uri="{FF2B5EF4-FFF2-40B4-BE49-F238E27FC236}">
                <a16:creationId xmlns:a16="http://schemas.microsoft.com/office/drawing/2014/main" id="{03891945-E3DC-E656-B482-075E38AE9210}"/>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2 Information Bottleneck Loss</a:t>
            </a:r>
          </a:p>
        </p:txBody>
      </p:sp>
      <p:cxnSp>
        <p:nvCxnSpPr>
          <p:cNvPr id="6" name="直接连接符 5">
            <a:extLst>
              <a:ext uri="{FF2B5EF4-FFF2-40B4-BE49-F238E27FC236}">
                <a16:creationId xmlns:a16="http://schemas.microsoft.com/office/drawing/2014/main" id="{791F14BB-6DCF-979F-4208-1E3CD70E974C}"/>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8" name="组合 7">
            <a:extLst>
              <a:ext uri="{FF2B5EF4-FFF2-40B4-BE49-F238E27FC236}">
                <a16:creationId xmlns:a16="http://schemas.microsoft.com/office/drawing/2014/main" id="{C2D9AF43-6219-8AA5-BD5B-F853F946D4EB}"/>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E51B25D5-2D37-1790-0BBB-2DD40033034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BB4CE7E5-EBFF-A128-5674-911F9AC3B2D5}"/>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B02F41CC-AB95-0FFE-0B2E-391D17BE2DD0}"/>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13" name="图片 12">
            <a:extLst>
              <a:ext uri="{FF2B5EF4-FFF2-40B4-BE49-F238E27FC236}">
                <a16:creationId xmlns:a16="http://schemas.microsoft.com/office/drawing/2014/main" id="{B113FF2C-AB86-5AD5-97E6-A30FCC6CACEF}"/>
              </a:ext>
            </a:extLst>
          </p:cNvPr>
          <p:cNvPicPr>
            <a:picLocks noChangeAspect="1"/>
          </p:cNvPicPr>
          <p:nvPr/>
        </p:nvPicPr>
        <p:blipFill>
          <a:blip r:embed="rId3"/>
          <a:stretch>
            <a:fillRect/>
          </a:stretch>
        </p:blipFill>
        <p:spPr>
          <a:xfrm>
            <a:off x="336000" y="2349000"/>
            <a:ext cx="5479459" cy="2543232"/>
          </a:xfrm>
          <a:prstGeom prst="rect">
            <a:avLst/>
          </a:prstGeom>
        </p:spPr>
      </p:pic>
      <p:pic>
        <p:nvPicPr>
          <p:cNvPr id="15" name="图片 14">
            <a:extLst>
              <a:ext uri="{FF2B5EF4-FFF2-40B4-BE49-F238E27FC236}">
                <a16:creationId xmlns:a16="http://schemas.microsoft.com/office/drawing/2014/main" id="{80CD12FD-658B-8472-9FF6-A526BCDE6250}"/>
              </a:ext>
            </a:extLst>
          </p:cNvPr>
          <p:cNvPicPr>
            <a:picLocks noChangeAspect="1"/>
          </p:cNvPicPr>
          <p:nvPr/>
        </p:nvPicPr>
        <p:blipFill>
          <a:blip r:embed="rId4"/>
          <a:stretch>
            <a:fillRect/>
          </a:stretch>
        </p:blipFill>
        <p:spPr>
          <a:xfrm>
            <a:off x="6767273" y="2145598"/>
            <a:ext cx="4802587" cy="3028877"/>
          </a:xfrm>
          <a:prstGeom prst="rect">
            <a:avLst/>
          </a:prstGeom>
        </p:spPr>
      </p:pic>
    </p:spTree>
    <p:extLst>
      <p:ext uri="{BB962C8B-B14F-4D97-AF65-F5344CB8AC3E}">
        <p14:creationId xmlns:p14="http://schemas.microsoft.com/office/powerpoint/2010/main" val="2886196259"/>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5" name="文本框 4"/>
          <p:cNvSpPr txBox="1"/>
          <p:nvPr/>
        </p:nvSpPr>
        <p:spPr>
          <a:xfrm>
            <a:off x="-24000" y="765000"/>
            <a:ext cx="11357699" cy="46166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3 MI Estimation and Adaptive Lagrange Multiplier Adjustment</a:t>
            </a:r>
          </a:p>
        </p:txBody>
      </p:sp>
      <p:cxnSp>
        <p:nvCxnSpPr>
          <p:cNvPr id="6" name="直接连接符 5"/>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DF23E799-A6F7-AC6F-3721-4EAF45E4C05E}"/>
              </a:ext>
            </a:extLst>
          </p:cNvPr>
          <p:cNvPicPr>
            <a:picLocks noChangeAspect="1"/>
          </p:cNvPicPr>
          <p:nvPr/>
        </p:nvPicPr>
        <p:blipFill>
          <a:blip r:embed="rId3"/>
          <a:stretch>
            <a:fillRect/>
          </a:stretch>
        </p:blipFill>
        <p:spPr>
          <a:xfrm>
            <a:off x="1344000" y="2051905"/>
            <a:ext cx="4503167" cy="1834796"/>
          </a:xfrm>
          <a:prstGeom prst="rect">
            <a:avLst/>
          </a:prstGeom>
        </p:spPr>
      </p:pic>
      <p:pic>
        <p:nvPicPr>
          <p:cNvPr id="7" name="图片 6">
            <a:extLst>
              <a:ext uri="{FF2B5EF4-FFF2-40B4-BE49-F238E27FC236}">
                <a16:creationId xmlns:a16="http://schemas.microsoft.com/office/drawing/2014/main" id="{947E5776-0632-B264-A624-64F2392337C0}"/>
              </a:ext>
            </a:extLst>
          </p:cNvPr>
          <p:cNvPicPr>
            <a:picLocks noChangeAspect="1"/>
          </p:cNvPicPr>
          <p:nvPr/>
        </p:nvPicPr>
        <p:blipFill>
          <a:blip r:embed="rId4"/>
          <a:stretch>
            <a:fillRect/>
          </a:stretch>
        </p:blipFill>
        <p:spPr>
          <a:xfrm>
            <a:off x="1395546" y="4365000"/>
            <a:ext cx="4503167" cy="1799449"/>
          </a:xfrm>
          <a:prstGeom prst="rect">
            <a:avLst/>
          </a:prstGeom>
        </p:spPr>
      </p:pic>
      <p:pic>
        <p:nvPicPr>
          <p:cNvPr id="13" name="图片 12">
            <a:extLst>
              <a:ext uri="{FF2B5EF4-FFF2-40B4-BE49-F238E27FC236}">
                <a16:creationId xmlns:a16="http://schemas.microsoft.com/office/drawing/2014/main" id="{8121B577-ECAC-10F8-662B-ADC863D31616}"/>
              </a:ext>
            </a:extLst>
          </p:cNvPr>
          <p:cNvPicPr>
            <a:picLocks noChangeAspect="1"/>
          </p:cNvPicPr>
          <p:nvPr/>
        </p:nvPicPr>
        <p:blipFill>
          <a:blip r:embed="rId5"/>
          <a:stretch>
            <a:fillRect/>
          </a:stretch>
        </p:blipFill>
        <p:spPr>
          <a:xfrm>
            <a:off x="7032000" y="1527405"/>
            <a:ext cx="3384000" cy="4947665"/>
          </a:xfrm>
          <a:prstGeom prst="rect">
            <a:avLst/>
          </a:prstGeom>
        </p:spPr>
      </p:pic>
    </p:spTree>
    <p:extLst>
      <p:ext uri="{BB962C8B-B14F-4D97-AF65-F5344CB8AC3E}">
        <p14:creationId xmlns:p14="http://schemas.microsoft.com/office/powerpoint/2010/main" val="4151199254"/>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403B4-AA4C-9938-923B-1B8592B4816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2C80E83-D3F2-CA05-B530-F002187364B6}"/>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95327F53-1863-F703-B471-2383B0E20127}"/>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5" name="文本框 4">
            <a:extLst>
              <a:ext uri="{FF2B5EF4-FFF2-40B4-BE49-F238E27FC236}">
                <a16:creationId xmlns:a16="http://schemas.microsoft.com/office/drawing/2014/main" id="{B261690E-9029-A8DB-9F6A-1D27098A187F}"/>
              </a:ext>
            </a:extLst>
          </p:cNvPr>
          <p:cNvSpPr txBox="1"/>
          <p:nvPr/>
        </p:nvSpPr>
        <p:spPr>
          <a:xfrm>
            <a:off x="-24000" y="765000"/>
            <a:ext cx="11357699" cy="46166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3 Local Searching With Intrinsic Reward</a:t>
            </a:r>
          </a:p>
        </p:txBody>
      </p:sp>
      <p:cxnSp>
        <p:nvCxnSpPr>
          <p:cNvPr id="6" name="直接连接符 5">
            <a:extLst>
              <a:ext uri="{FF2B5EF4-FFF2-40B4-BE49-F238E27FC236}">
                <a16:creationId xmlns:a16="http://schemas.microsoft.com/office/drawing/2014/main" id="{3297364F-1D56-F918-83E0-C106FB10454C}"/>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grpSp>
        <p:nvGrpSpPr>
          <p:cNvPr id="8" name="组合 7">
            <a:extLst>
              <a:ext uri="{FF2B5EF4-FFF2-40B4-BE49-F238E27FC236}">
                <a16:creationId xmlns:a16="http://schemas.microsoft.com/office/drawing/2014/main" id="{11B68B00-310A-2E23-C380-E3C3F32D4060}"/>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78F8BBF5-E749-A726-F6CC-32F9C3D8DE9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0C4EAE4A-3512-6A13-24AF-B3D6749755E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ACBE3090-3C04-560D-8DAC-F1839D7E5BED}"/>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59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9CAF0B37-1F77-23B0-8274-75CD62B6B023}"/>
              </a:ext>
            </a:extLst>
          </p:cNvPr>
          <p:cNvPicPr>
            <a:picLocks noChangeAspect="1"/>
          </p:cNvPicPr>
          <p:nvPr/>
        </p:nvPicPr>
        <p:blipFill>
          <a:blip r:embed="rId3"/>
          <a:stretch>
            <a:fillRect/>
          </a:stretch>
        </p:blipFill>
        <p:spPr>
          <a:xfrm>
            <a:off x="2856000" y="1889176"/>
            <a:ext cx="6312224" cy="3778444"/>
          </a:xfrm>
          <a:prstGeom prst="rect">
            <a:avLst/>
          </a:prstGeom>
        </p:spPr>
      </p:pic>
    </p:spTree>
    <p:extLst>
      <p:ext uri="{BB962C8B-B14F-4D97-AF65-F5344CB8AC3E}">
        <p14:creationId xmlns:p14="http://schemas.microsoft.com/office/powerpoint/2010/main" val="414174036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p:cNvGrpSpPr/>
          <p:nvPr/>
        </p:nvGrpSpPr>
        <p:grpSpPr>
          <a:xfrm>
            <a:off x="-1" y="6553200"/>
            <a:ext cx="12192001" cy="304800"/>
            <a:chOff x="0" y="6569404"/>
            <a:chExt cx="9144000" cy="288000"/>
          </a:xfrm>
        </p:grpSpPr>
        <p:sp>
          <p:nvSpPr>
            <p:cNvPr id="31"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文本框 8">
            <a:extLst>
              <a:ext uri="{FF2B5EF4-FFF2-40B4-BE49-F238E27FC236}">
                <a16:creationId xmlns:a16="http://schemas.microsoft.com/office/drawing/2014/main" id="{580A8CF3-EC39-0BF4-A07F-AF4422AF0D9D}"/>
              </a:ext>
            </a:extLst>
          </p:cNvPr>
          <p:cNvSpPr txBox="1"/>
          <p:nvPr/>
        </p:nvSpPr>
        <p:spPr>
          <a:xfrm>
            <a:off x="352563" y="695758"/>
            <a:ext cx="11357699" cy="4603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0174AB"/>
                </a:solidFill>
                <a:latin typeface="Times New Roman" panose="02020603050405020304" pitchFamily="18" charset="0"/>
                <a:cs typeface="Times New Roman" panose="02020603050405020304" pitchFamily="18" charset="0"/>
              </a:rPr>
              <a:t>Environments</a:t>
            </a:r>
          </a:p>
        </p:txBody>
      </p:sp>
      <p:cxnSp>
        <p:nvCxnSpPr>
          <p:cNvPr id="6" name="直接连接符 5">
            <a:extLst>
              <a:ext uri="{FF2B5EF4-FFF2-40B4-BE49-F238E27FC236}">
                <a16:creationId xmlns:a16="http://schemas.microsoft.com/office/drawing/2014/main" id="{10DAD61C-64DF-9417-F3F9-4C2FE10C2A6C}"/>
              </a:ext>
            </a:extLst>
          </p:cNvPr>
          <p:cNvCxnSpPr/>
          <p:nvPr/>
        </p:nvCxnSpPr>
        <p:spPr>
          <a:xfrm flipV="1">
            <a:off x="428765" y="1121138"/>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7" name="图片 6">
            <a:extLst>
              <a:ext uri="{FF2B5EF4-FFF2-40B4-BE49-F238E27FC236}">
                <a16:creationId xmlns:a16="http://schemas.microsoft.com/office/drawing/2014/main" id="{BF3A25DA-F9B2-796F-186E-3DA6E58B4DF3}"/>
              </a:ext>
            </a:extLst>
          </p:cNvPr>
          <p:cNvPicPr>
            <a:picLocks noChangeAspect="1"/>
          </p:cNvPicPr>
          <p:nvPr/>
        </p:nvPicPr>
        <p:blipFill>
          <a:blip r:embed="rId5"/>
          <a:stretch>
            <a:fillRect/>
          </a:stretch>
        </p:blipFill>
        <p:spPr>
          <a:xfrm>
            <a:off x="453417" y="1415758"/>
            <a:ext cx="5515146" cy="2123743"/>
          </a:xfrm>
          <a:prstGeom prst="rect">
            <a:avLst/>
          </a:prstGeom>
        </p:spPr>
      </p:pic>
      <p:pic>
        <p:nvPicPr>
          <p:cNvPr id="8" name="图片 7">
            <a:extLst>
              <a:ext uri="{FF2B5EF4-FFF2-40B4-BE49-F238E27FC236}">
                <a16:creationId xmlns:a16="http://schemas.microsoft.com/office/drawing/2014/main" id="{852E26BB-AA82-EEED-7B13-768F778BBA9B}"/>
              </a:ext>
            </a:extLst>
          </p:cNvPr>
          <p:cNvPicPr>
            <a:picLocks noChangeAspect="1"/>
          </p:cNvPicPr>
          <p:nvPr/>
        </p:nvPicPr>
        <p:blipFill>
          <a:blip r:embed="rId6"/>
          <a:stretch>
            <a:fillRect/>
          </a:stretch>
        </p:blipFill>
        <p:spPr>
          <a:xfrm>
            <a:off x="6616563" y="1914744"/>
            <a:ext cx="5222873" cy="3360943"/>
          </a:xfrm>
          <a:prstGeom prst="rect">
            <a:avLst/>
          </a:prstGeom>
        </p:spPr>
      </p:pic>
      <p:pic>
        <p:nvPicPr>
          <p:cNvPr id="9" name="图片 8">
            <a:extLst>
              <a:ext uri="{FF2B5EF4-FFF2-40B4-BE49-F238E27FC236}">
                <a16:creationId xmlns:a16="http://schemas.microsoft.com/office/drawing/2014/main" id="{FA571C6F-E625-8168-5B13-944CE25CAA77}"/>
              </a:ext>
            </a:extLst>
          </p:cNvPr>
          <p:cNvPicPr>
            <a:picLocks noChangeAspect="1"/>
          </p:cNvPicPr>
          <p:nvPr/>
        </p:nvPicPr>
        <p:blipFill>
          <a:blip r:embed="rId7"/>
          <a:stretch>
            <a:fillRect/>
          </a:stretch>
        </p:blipFill>
        <p:spPr>
          <a:xfrm>
            <a:off x="775412" y="3884116"/>
            <a:ext cx="5256000" cy="2278126"/>
          </a:xfrm>
          <a:prstGeom prst="rect">
            <a:avLst/>
          </a:prstGeom>
        </p:spPr>
      </p:pic>
    </p:spTree>
    <p:extLst>
      <p:ext uri="{BB962C8B-B14F-4D97-AF65-F5344CB8AC3E}">
        <p14:creationId xmlns:p14="http://schemas.microsoft.com/office/powerpoint/2010/main" val="4343450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F69CA-943A-6623-3E5E-0AA5FC6F1D7D}"/>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601F6AC-7F3E-F9FF-A806-F55193C82CD6}"/>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8D1E17AD-FBF5-B759-2D34-C471E15DA905}"/>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B445A3DB-F76A-6B25-9180-B813DD8070CD}"/>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93879924-71E3-8463-B928-55A38421B50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A5B2C7FE-BDDB-F6A9-1D55-D4B507E393E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C3D493B4-893F-59D8-206D-C6F60C25A4A5}"/>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文本框 8">
            <a:extLst>
              <a:ext uri="{FF2B5EF4-FFF2-40B4-BE49-F238E27FC236}">
                <a16:creationId xmlns:a16="http://schemas.microsoft.com/office/drawing/2014/main" id="{741816B3-C6F1-0EA8-6283-34366CB65B4A}"/>
              </a:ext>
            </a:extLst>
          </p:cNvPr>
          <p:cNvSpPr txBox="1"/>
          <p:nvPr/>
        </p:nvSpPr>
        <p:spPr>
          <a:xfrm>
            <a:off x="417150" y="535545"/>
            <a:ext cx="11357699" cy="4603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0174AB"/>
                </a:solidFill>
                <a:latin typeface="Times New Roman" panose="02020603050405020304" pitchFamily="18" charset="0"/>
                <a:cs typeface="Times New Roman" panose="02020603050405020304" pitchFamily="18" charset="0"/>
              </a:rPr>
              <a:t>Environments</a:t>
            </a:r>
          </a:p>
        </p:txBody>
      </p:sp>
      <p:cxnSp>
        <p:nvCxnSpPr>
          <p:cNvPr id="5" name="直接连接符 4">
            <a:extLst>
              <a:ext uri="{FF2B5EF4-FFF2-40B4-BE49-F238E27FC236}">
                <a16:creationId xmlns:a16="http://schemas.microsoft.com/office/drawing/2014/main" id="{B3E5DD41-16B4-5ED0-7B67-1819A8E804FB}"/>
              </a:ext>
            </a:extLst>
          </p:cNvPr>
          <p:cNvCxnSpPr/>
          <p:nvPr/>
        </p:nvCxnSpPr>
        <p:spPr>
          <a:xfrm flipV="1">
            <a:off x="493352" y="960925"/>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7" name="图片 6">
            <a:extLst>
              <a:ext uri="{FF2B5EF4-FFF2-40B4-BE49-F238E27FC236}">
                <a16:creationId xmlns:a16="http://schemas.microsoft.com/office/drawing/2014/main" id="{40D67BB5-09E7-BD15-FD34-A27E90195E6D}"/>
              </a:ext>
            </a:extLst>
          </p:cNvPr>
          <p:cNvPicPr>
            <a:picLocks noChangeAspect="1"/>
          </p:cNvPicPr>
          <p:nvPr/>
        </p:nvPicPr>
        <p:blipFill>
          <a:blip r:embed="rId5"/>
          <a:stretch>
            <a:fillRect/>
          </a:stretch>
        </p:blipFill>
        <p:spPr>
          <a:xfrm>
            <a:off x="1753175" y="1054145"/>
            <a:ext cx="9330408" cy="5268310"/>
          </a:xfrm>
          <a:prstGeom prst="rect">
            <a:avLst/>
          </a:prstGeom>
        </p:spPr>
      </p:pic>
    </p:spTree>
    <p:extLst>
      <p:ext uri="{BB962C8B-B14F-4D97-AF65-F5344CB8AC3E}">
        <p14:creationId xmlns:p14="http://schemas.microsoft.com/office/powerpoint/2010/main" val="14877697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FDD92-E28E-0664-9EB9-87140F25688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65779E1A-DF8F-5A7E-FA5A-C92E262AE4B4}"/>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C41106D-688E-E272-6D6C-478A23BF30F2}"/>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EBD4638F-8E95-6196-90DB-CBCDEA7E65F4}"/>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06451360-519C-FD6B-054A-BE26B3570FB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BBEA3AD8-6DFB-D7A3-A031-2A85B422BA2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4F8EBADB-602E-6CAE-B1E5-131D00D2A577}"/>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5CF236C4-BAE3-2D78-3C2B-7D083502661F}"/>
              </a:ext>
            </a:extLst>
          </p:cNvPr>
          <p:cNvPicPr>
            <a:picLocks noChangeAspect="1"/>
          </p:cNvPicPr>
          <p:nvPr/>
        </p:nvPicPr>
        <p:blipFill>
          <a:blip r:embed="rId5"/>
          <a:stretch>
            <a:fillRect/>
          </a:stretch>
        </p:blipFill>
        <p:spPr>
          <a:xfrm>
            <a:off x="721737" y="1929453"/>
            <a:ext cx="10748526" cy="2999094"/>
          </a:xfrm>
          <a:prstGeom prst="rect">
            <a:avLst/>
          </a:prstGeom>
        </p:spPr>
      </p:pic>
    </p:spTree>
    <p:extLst>
      <p:ext uri="{BB962C8B-B14F-4D97-AF65-F5344CB8AC3E}">
        <p14:creationId xmlns:p14="http://schemas.microsoft.com/office/powerpoint/2010/main" val="228472965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D5758-212D-41D3-EFF4-98A8AC29FAA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321CFF2-D042-D9F5-F6D0-FB8DBC404195}"/>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039DFD6-332C-ADA8-2BB5-18047018CBBD}"/>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01F7B504-069E-B4D2-4B1C-F6C391C65977}"/>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E5597DD0-0A3D-342D-A08B-FF1B5E98618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9416D418-B638-BFC7-717E-813F325D3E6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472241F8-9490-A9C3-F376-2D94BC160DC4}"/>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A8FB51BD-5AAF-6DDE-F763-2E614367ACD4}"/>
              </a:ext>
            </a:extLst>
          </p:cNvPr>
          <p:cNvPicPr>
            <a:picLocks noChangeAspect="1"/>
          </p:cNvPicPr>
          <p:nvPr/>
        </p:nvPicPr>
        <p:blipFill>
          <a:blip r:embed="rId5"/>
          <a:stretch>
            <a:fillRect/>
          </a:stretch>
        </p:blipFill>
        <p:spPr>
          <a:xfrm>
            <a:off x="208301" y="908310"/>
            <a:ext cx="3871181" cy="4442765"/>
          </a:xfrm>
          <a:prstGeom prst="rect">
            <a:avLst/>
          </a:prstGeom>
        </p:spPr>
      </p:pic>
      <p:pic>
        <p:nvPicPr>
          <p:cNvPr id="6" name="图片 5">
            <a:extLst>
              <a:ext uri="{FF2B5EF4-FFF2-40B4-BE49-F238E27FC236}">
                <a16:creationId xmlns:a16="http://schemas.microsoft.com/office/drawing/2014/main" id="{C571FF1B-7AF7-366E-FF2B-8F497AA94294}"/>
              </a:ext>
            </a:extLst>
          </p:cNvPr>
          <p:cNvPicPr>
            <a:picLocks noChangeAspect="1"/>
          </p:cNvPicPr>
          <p:nvPr/>
        </p:nvPicPr>
        <p:blipFill>
          <a:blip r:embed="rId6"/>
          <a:stretch>
            <a:fillRect/>
          </a:stretch>
        </p:blipFill>
        <p:spPr>
          <a:xfrm>
            <a:off x="4098045" y="910660"/>
            <a:ext cx="4455729" cy="4514433"/>
          </a:xfrm>
          <a:prstGeom prst="rect">
            <a:avLst/>
          </a:prstGeom>
        </p:spPr>
      </p:pic>
      <p:pic>
        <p:nvPicPr>
          <p:cNvPr id="7" name="图片 6">
            <a:extLst>
              <a:ext uri="{FF2B5EF4-FFF2-40B4-BE49-F238E27FC236}">
                <a16:creationId xmlns:a16="http://schemas.microsoft.com/office/drawing/2014/main" id="{3C7142FB-C071-914F-321F-01E17A545F45}"/>
              </a:ext>
            </a:extLst>
          </p:cNvPr>
          <p:cNvPicPr>
            <a:picLocks noChangeAspect="1"/>
          </p:cNvPicPr>
          <p:nvPr/>
        </p:nvPicPr>
        <p:blipFill>
          <a:blip r:embed="rId7"/>
          <a:stretch>
            <a:fillRect/>
          </a:stretch>
        </p:blipFill>
        <p:spPr>
          <a:xfrm>
            <a:off x="8828908" y="609693"/>
            <a:ext cx="3154790" cy="5638614"/>
          </a:xfrm>
          <a:prstGeom prst="rect">
            <a:avLst/>
          </a:prstGeom>
        </p:spPr>
      </p:pic>
    </p:spTree>
    <p:extLst>
      <p:ext uri="{BB962C8B-B14F-4D97-AF65-F5344CB8AC3E}">
        <p14:creationId xmlns:p14="http://schemas.microsoft.com/office/powerpoint/2010/main" val="338432604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1869-A77F-428D-54C4-7524D3F9C9E8}"/>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6F0DCB16-F61D-D8F3-2D9B-4E270BFE0D36}"/>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1F7494DC-ADF5-602B-32F3-DE34944FE521}"/>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F4277AB8-59EC-12BC-3FEE-106C7CD2956A}"/>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F5CAC53C-BD74-4904-8233-3F22D6225EF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65397815-3E0F-34AB-5237-5BDFD8145B5C}"/>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F3774848-6069-CAA5-4199-22E2008A1F9E}"/>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1EA7BA66-86E1-5B77-D780-C87D2835D242}"/>
              </a:ext>
            </a:extLst>
          </p:cNvPr>
          <p:cNvPicPr>
            <a:picLocks noChangeAspect="1"/>
          </p:cNvPicPr>
          <p:nvPr/>
        </p:nvPicPr>
        <p:blipFill>
          <a:blip r:embed="rId5"/>
          <a:stretch>
            <a:fillRect/>
          </a:stretch>
        </p:blipFill>
        <p:spPr>
          <a:xfrm>
            <a:off x="4234582" y="1025102"/>
            <a:ext cx="7920000" cy="5509790"/>
          </a:xfrm>
          <a:prstGeom prst="rect">
            <a:avLst/>
          </a:prstGeom>
        </p:spPr>
      </p:pic>
      <p:pic>
        <p:nvPicPr>
          <p:cNvPr id="6" name="图片 5">
            <a:extLst>
              <a:ext uri="{FF2B5EF4-FFF2-40B4-BE49-F238E27FC236}">
                <a16:creationId xmlns:a16="http://schemas.microsoft.com/office/drawing/2014/main" id="{7FFD16BE-0629-5092-29ED-AE6E5FC6B056}"/>
              </a:ext>
            </a:extLst>
          </p:cNvPr>
          <p:cNvPicPr>
            <a:picLocks noChangeAspect="1"/>
          </p:cNvPicPr>
          <p:nvPr/>
        </p:nvPicPr>
        <p:blipFill>
          <a:blip r:embed="rId6"/>
          <a:stretch>
            <a:fillRect/>
          </a:stretch>
        </p:blipFill>
        <p:spPr>
          <a:xfrm>
            <a:off x="-1" y="2061000"/>
            <a:ext cx="4166325" cy="4366043"/>
          </a:xfrm>
          <a:prstGeom prst="rect">
            <a:avLst/>
          </a:prstGeom>
        </p:spPr>
      </p:pic>
    </p:spTree>
    <p:extLst>
      <p:ext uri="{BB962C8B-B14F-4D97-AF65-F5344CB8AC3E}">
        <p14:creationId xmlns:p14="http://schemas.microsoft.com/office/powerpoint/2010/main" val="195040338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E3656-EBC9-54C9-36F2-1CFCF189D44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6EE37D91-8D25-3989-0C62-B8CCA7ED208C}"/>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6E7134E-F0E5-ACD5-1BAA-2B070FAD1BE6}"/>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6B6E2B6E-2ED9-B15D-6F00-D940E48CCA48}"/>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EEE2339B-4712-83E9-702C-EC6389124D3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8F64E954-68AF-2516-8C0E-A66F6647255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511A1A2B-9F13-65E1-1A2F-8507EACB871E}"/>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71365ACE-F0AB-943A-9699-9EC23D7044D5}"/>
              </a:ext>
            </a:extLst>
          </p:cNvPr>
          <p:cNvPicPr>
            <a:picLocks noChangeAspect="1"/>
          </p:cNvPicPr>
          <p:nvPr/>
        </p:nvPicPr>
        <p:blipFill>
          <a:blip r:embed="rId5"/>
          <a:stretch>
            <a:fillRect/>
          </a:stretch>
        </p:blipFill>
        <p:spPr>
          <a:xfrm>
            <a:off x="912000" y="1554048"/>
            <a:ext cx="10503745" cy="4187901"/>
          </a:xfrm>
          <a:prstGeom prst="rect">
            <a:avLst/>
          </a:prstGeom>
        </p:spPr>
      </p:pic>
    </p:spTree>
    <p:extLst>
      <p:ext uri="{BB962C8B-B14F-4D97-AF65-F5344CB8AC3E}">
        <p14:creationId xmlns:p14="http://schemas.microsoft.com/office/powerpoint/2010/main" val="323480667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67</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EB321163-FA5E-F82A-1755-28B4CA5DDDD2}"/>
              </a:ext>
            </a:extLst>
          </p:cNvPr>
          <p:cNvSpPr/>
          <p:nvPr/>
        </p:nvSpPr>
        <p:spPr>
          <a:xfrm>
            <a:off x="1682498" y="1161590"/>
            <a:ext cx="8863330" cy="241867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230D0B7C-3819-A6D6-2FC1-F3F7204300F6}"/>
              </a:ext>
            </a:extLst>
          </p:cNvPr>
          <p:cNvSpPr/>
          <p:nvPr/>
        </p:nvSpPr>
        <p:spPr>
          <a:xfrm>
            <a:off x="1768849" y="901741"/>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①</a:t>
            </a:r>
          </a:p>
        </p:txBody>
      </p:sp>
      <p:sp>
        <p:nvSpPr>
          <p:cNvPr id="10" name="矩形 9">
            <a:extLst>
              <a:ext uri="{FF2B5EF4-FFF2-40B4-BE49-F238E27FC236}">
                <a16:creationId xmlns:a16="http://schemas.microsoft.com/office/drawing/2014/main" id="{441FA7AC-4351-A61C-BAB4-45728CD1570D}"/>
              </a:ext>
            </a:extLst>
          </p:cNvPr>
          <p:cNvSpPr/>
          <p:nvPr/>
        </p:nvSpPr>
        <p:spPr>
          <a:xfrm>
            <a:off x="1682498" y="3834940"/>
            <a:ext cx="8863330" cy="212132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E53F4825-EF2D-EA92-6B0C-E17BB9A55247}"/>
              </a:ext>
            </a:extLst>
          </p:cNvPr>
          <p:cNvSpPr/>
          <p:nvPr/>
        </p:nvSpPr>
        <p:spPr>
          <a:xfrm>
            <a:off x="1867995" y="3624687"/>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②</a:t>
            </a:r>
          </a:p>
        </p:txBody>
      </p:sp>
      <p:sp>
        <p:nvSpPr>
          <p:cNvPr id="12" name="文本框 11">
            <a:extLst>
              <a:ext uri="{FF2B5EF4-FFF2-40B4-BE49-F238E27FC236}">
                <a16:creationId xmlns:a16="http://schemas.microsoft.com/office/drawing/2014/main" id="{E68FE9E3-A2B6-36C5-A2EF-6D24B6639A2F}"/>
              </a:ext>
            </a:extLst>
          </p:cNvPr>
          <p:cNvSpPr txBox="1"/>
          <p:nvPr/>
        </p:nvSpPr>
        <p:spPr>
          <a:xfrm>
            <a:off x="1619568" y="3946146"/>
            <a:ext cx="8952865" cy="1894749"/>
          </a:xfrm>
          <a:prstGeom prst="rect">
            <a:avLst/>
          </a:prstGeom>
          <a:noFill/>
        </p:spPr>
        <p:txBody>
          <a:bodyPr wrap="square">
            <a:spAutoFit/>
          </a:bodyPr>
          <a:lstStyle>
            <a:defPPr>
              <a:defRPr lang="zh-CN"/>
            </a:defPPr>
            <a:lvl1pPr marL="0" algn="just" defTabSz="914400" rtl="0" eaLnBrk="1" latinLnBrk="0" hangingPunct="1">
              <a:lnSpc>
                <a:spcPct val="150000"/>
              </a:lnSpc>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latin typeface="Times New Roman" panose="02020603050405020304" pitchFamily="18" charset="0"/>
                <a:cs typeface="Times New Roman" panose="02020603050405020304" pitchFamily="18" charset="0"/>
              </a:rPr>
              <a:t>Extensive experiments on multiple GCRL benchmarks (Fetch, Object Search, Object Manipulation, Embodied QA) demonstrate that InfoGoal outperforms state-of-the-art methods (e.g., </a:t>
            </a:r>
            <a:r>
              <a:rPr lang="en-US" altLang="zh-CN" sz="1600" dirty="0" err="1">
                <a:latin typeface="Times New Roman" panose="02020603050405020304" pitchFamily="18" charset="0"/>
                <a:cs typeface="Times New Roman" panose="02020603050405020304" pitchFamily="18" charset="0"/>
              </a:rPr>
              <a:t>InfoBot</a:t>
            </a:r>
            <a:r>
              <a:rPr lang="en-US" altLang="zh-CN" sz="1600" dirty="0">
                <a:latin typeface="Times New Roman" panose="02020603050405020304" pitchFamily="18" charset="0"/>
                <a:cs typeface="Times New Roman" panose="02020603050405020304" pitchFamily="18" charset="0"/>
              </a:rPr>
              <a:t>, COGOAL) in both success rate and policy robustness.</a:t>
            </a:r>
          </a:p>
          <a:p>
            <a:r>
              <a:rPr lang="en-US" altLang="zh-CN" sz="1600" dirty="0">
                <a:latin typeface="Times New Roman" panose="02020603050405020304" pitchFamily="18" charset="0"/>
                <a:cs typeface="Times New Roman" panose="02020603050405020304" pitchFamily="18" charset="0"/>
              </a:rPr>
              <a:t>Future work will extend the framework to multi-agent goal-conditioned RL and explore hierarchical bottleneck mechanisms for better scalability in visual and real-world robotic control tasks</a:t>
            </a:r>
          </a:p>
        </p:txBody>
      </p:sp>
      <p:sp>
        <p:nvSpPr>
          <p:cNvPr id="13" name="文本框 13">
            <a:extLst>
              <a:ext uri="{FF2B5EF4-FFF2-40B4-BE49-F238E27FC236}">
                <a16:creationId xmlns:a16="http://schemas.microsoft.com/office/drawing/2014/main" id="{A54CFE93-B2ED-DADB-CC0F-DCE85CC431A1}"/>
              </a:ext>
            </a:extLst>
          </p:cNvPr>
          <p:cNvSpPr txBox="1"/>
          <p:nvPr/>
        </p:nvSpPr>
        <p:spPr>
          <a:xfrm>
            <a:off x="1683133" y="1244775"/>
            <a:ext cx="8862060" cy="2197806"/>
          </a:xfrm>
          <a:prstGeom prst="rect">
            <a:avLst/>
          </a:prstGeom>
          <a:noFill/>
        </p:spPr>
        <p:txBody>
          <a:bodyPr wrap="square">
            <a:noAutofit/>
          </a:bodyPr>
          <a:lstStyle>
            <a:defPPr>
              <a:defRPr lang="zh-CN"/>
            </a:defPPr>
            <a:lvl1pPr marL="0" algn="l" defTabSz="914400" rtl="0" eaLnBrk="1" latinLnBrk="0" hangingPunct="1">
              <a:defRPr sz="18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1600" dirty="0">
                <a:latin typeface="Times New Roman" panose="02020603050405020304" pitchFamily="18" charset="0"/>
                <a:cs typeface="Times New Roman" panose="02020603050405020304" pitchFamily="18" charset="0"/>
              </a:rPr>
              <a:t>The proposed InfoGoal framework—a self-supervised information bottleneck approach for goal-conditioned reinforcement learning—learns compact yet task-relevant goal representations, achieving superior generalization, sample efficiency, and training stability.</a:t>
            </a:r>
          </a:p>
          <a:p>
            <a:pPr algn="just">
              <a:lnSpc>
                <a:spcPct val="150000"/>
              </a:lnSpc>
            </a:pPr>
            <a:r>
              <a:rPr lang="en-US" altLang="zh-CN" sz="1600" dirty="0">
                <a:latin typeface="Times New Roman" panose="02020603050405020304" pitchFamily="18" charset="0"/>
                <a:cs typeface="Times New Roman" panose="02020603050405020304" pitchFamily="18" charset="0"/>
              </a:rPr>
              <a:t>The integration of adaptive information compression, self-supervised objectives, and intrinsic rewards enables agents to learn effectively under sparse or delayed rewards, capturing task semantics while filtering irrelevant goal noise..</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06730" y="1960245"/>
            <a:ext cx="13298805" cy="2045335"/>
            <a:chOff x="1127760" y="1960245"/>
            <a:chExt cx="10008870" cy="2045019"/>
          </a:xfrm>
        </p:grpSpPr>
        <p:sp>
          <p:nvSpPr>
            <p:cNvPr id="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9" name="文本框 8"/>
            <p:cNvSpPr txBox="1"/>
            <p:nvPr/>
          </p:nvSpPr>
          <p:spPr>
            <a:xfrm>
              <a:off x="1127760" y="2102755"/>
              <a:ext cx="10008870" cy="130733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Robust Multi-Agent Reinforcement Learning by </a:t>
              </a:r>
            </a:p>
            <a:p>
              <a:pPr algn="ctr">
                <a:lnSpc>
                  <a:spcPct val="150000"/>
                </a:lnSpc>
              </a:pPr>
              <a:r>
                <a:rPr lang="en-US" altLang="zh-CN" sz="2800" b="1" dirty="0">
                  <a:solidFill>
                    <a:schemeClr val="bg1"/>
                  </a:solidFill>
                  <a:latin typeface="Times New Roman" panose="02020603050405020304" pitchFamily="18" charset="0"/>
                  <a:ea typeface="微软雅黑" panose="020B0503020204020204" charset="-122"/>
                  <a:cs typeface="Times New Roman" panose="02020603050405020304" pitchFamily="18" charset="0"/>
                </a:rPr>
                <a:t>Mutual Information Regularization</a:t>
              </a:r>
            </a:p>
          </p:txBody>
        </p:sp>
        <p:sp>
          <p:nvSpPr>
            <p:cNvPr id="3" name="文本框 2"/>
            <p:cNvSpPr txBox="1"/>
            <p:nvPr/>
          </p:nvSpPr>
          <p:spPr>
            <a:xfrm>
              <a:off x="1579628" y="3419999"/>
              <a:ext cx="9362440" cy="584685"/>
            </a:xfrm>
            <a:prstGeom prst="rect">
              <a:avLst/>
            </a:prstGeom>
            <a:noFill/>
          </p:spPr>
          <p:txBody>
            <a:bodyPr wrap="square" rtlCol="0">
              <a:spAutoFit/>
            </a:bodyPr>
            <a:lstStyle/>
            <a:p>
              <a:r>
                <a:rPr lang="en-US" altLang="zh-CN" sz="1600" dirty="0">
                  <a:solidFill>
                    <a:schemeClr val="bg1"/>
                  </a:solidFill>
                  <a:latin typeface="Times New Roman" panose="02020603050405020304" pitchFamily="18" charset="0"/>
                  <a:cs typeface="Times New Roman" panose="02020603050405020304" pitchFamily="18" charset="0"/>
                </a:rPr>
                <a:t>Simin Li, </a:t>
              </a:r>
              <a:r>
                <a:rPr lang="en-US" altLang="zh-CN" sz="1600" dirty="0" err="1">
                  <a:solidFill>
                    <a:schemeClr val="bg1"/>
                  </a:solidFill>
                  <a:latin typeface="Times New Roman" panose="02020603050405020304" pitchFamily="18" charset="0"/>
                  <a:cs typeface="Times New Roman" panose="02020603050405020304" pitchFamily="18" charset="0"/>
                </a:rPr>
                <a:t>Ruixiao</a:t>
              </a:r>
              <a:r>
                <a:rPr lang="en-US" altLang="zh-CN" sz="1600" dirty="0">
                  <a:solidFill>
                    <a:schemeClr val="bg1"/>
                  </a:solidFill>
                  <a:latin typeface="Times New Roman" panose="02020603050405020304" pitchFamily="18" charset="0"/>
                  <a:cs typeface="Times New Roman" panose="02020603050405020304" pitchFamily="18" charset="0"/>
                </a:rPr>
                <a:t> Xu, </a:t>
              </a:r>
              <a:r>
                <a:rPr lang="en-US" altLang="zh-CN" sz="1600" dirty="0" err="1">
                  <a:solidFill>
                    <a:schemeClr val="bg1"/>
                  </a:solidFill>
                  <a:latin typeface="Times New Roman" panose="02020603050405020304" pitchFamily="18" charset="0"/>
                  <a:cs typeface="Times New Roman" panose="02020603050405020304" pitchFamily="18" charset="0"/>
                </a:rPr>
                <a:t>Jingqiao</a:t>
              </a:r>
              <a:r>
                <a:rPr lang="en-US" altLang="zh-CN" sz="1600" dirty="0">
                  <a:solidFill>
                    <a:schemeClr val="bg1"/>
                  </a:solidFill>
                  <a:latin typeface="Times New Roman" panose="02020603050405020304" pitchFamily="18" charset="0"/>
                  <a:cs typeface="Times New Roman" panose="02020603050405020304" pitchFamily="18" charset="0"/>
                </a:rPr>
                <a:t> Xiu, Yuwei Zheng, Pu Feng, Yuqing Ma, Bo An, Senior Member, IEEE, </a:t>
              </a:r>
              <a:r>
                <a:rPr lang="en-US" altLang="zh-CN" sz="1600" dirty="0" err="1">
                  <a:solidFill>
                    <a:schemeClr val="bg1"/>
                  </a:solidFill>
                  <a:latin typeface="Times New Roman" panose="02020603050405020304" pitchFamily="18" charset="0"/>
                  <a:cs typeface="Times New Roman" panose="02020603050405020304" pitchFamily="18" charset="0"/>
                </a:rPr>
                <a:t>Yaodong</a:t>
              </a:r>
              <a:r>
                <a:rPr lang="en-US" altLang="zh-CN" sz="1600" dirty="0">
                  <a:solidFill>
                    <a:schemeClr val="bg1"/>
                  </a:solidFill>
                  <a:latin typeface="Times New Roman" panose="02020603050405020304" pitchFamily="18" charset="0"/>
                  <a:cs typeface="Times New Roman" panose="02020603050405020304" pitchFamily="18" charset="0"/>
                </a:rPr>
                <a:t> Yang, Member, IEEE, and </a:t>
              </a:r>
            </a:p>
            <a:p>
              <a:r>
                <a:rPr lang="en-US" altLang="zh-CN" sz="1600" dirty="0" err="1">
                  <a:solidFill>
                    <a:schemeClr val="bg1"/>
                  </a:solidFill>
                  <a:latin typeface="Times New Roman" panose="02020603050405020304" pitchFamily="18" charset="0"/>
                  <a:cs typeface="Times New Roman" panose="02020603050405020304" pitchFamily="18" charset="0"/>
                </a:rPr>
                <a:t>Xianglong</a:t>
              </a:r>
              <a:r>
                <a:rPr lang="en-US" altLang="zh-CN" sz="1600" dirty="0">
                  <a:solidFill>
                    <a:schemeClr val="bg1"/>
                  </a:solidFill>
                  <a:latin typeface="Times New Roman" panose="02020603050405020304" pitchFamily="18" charset="0"/>
                  <a:cs typeface="Times New Roman" panose="02020603050405020304" pitchFamily="18" charset="0"/>
                </a:rPr>
                <a:t> Liu, Senior Member, IEEE</a:t>
              </a:r>
            </a:p>
          </p:txBody>
        </p:sp>
      </p:grpSp>
      <p:sp>
        <p:nvSpPr>
          <p:cNvPr id="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5</a:t>
            </a:r>
          </a:p>
        </p:txBody>
      </p:sp>
      <p:grpSp>
        <p:nvGrpSpPr>
          <p:cNvPr id="16" name="组合 15"/>
          <p:cNvGrpSpPr/>
          <p:nvPr/>
        </p:nvGrpSpPr>
        <p:grpSpPr>
          <a:xfrm>
            <a:off x="-1" y="6553200"/>
            <a:ext cx="12192001" cy="304800"/>
            <a:chOff x="0" y="6569404"/>
            <a:chExt cx="9144000" cy="288000"/>
          </a:xfrm>
        </p:grpSpPr>
        <p:sp>
          <p:nvSpPr>
            <p:cNvPr id="17"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69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351876" y="4596014"/>
            <a:ext cx="11000124" cy="1477328"/>
          </a:xfrm>
          <a:prstGeom prst="rect">
            <a:avLst/>
          </a:prstGeom>
          <a:noFill/>
        </p:spPr>
        <p:txBody>
          <a:bodyPr wrap="square" rtlCol="0">
            <a:spAutoFit/>
          </a:bodyPr>
          <a:lstStyle/>
          <a:p>
            <a:pPr algn="just"/>
            <a:r>
              <a:rPr lang="en-US" altLang="zh-CN" b="1" dirty="0">
                <a:latin typeface="Times New Roman" panose="02020603050405020304" pitchFamily="18" charset="0"/>
                <a:cs typeface="Times New Roman" panose="02020603050405020304" pitchFamily="18" charset="0"/>
                <a:sym typeface="+mn-ea"/>
              </a:rPr>
              <a:t>This paper was published in</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IEEE Transactions on Neural Networks and Learning Systems (IF: 9.7)</a:t>
            </a:r>
          </a:p>
          <a:p>
            <a:pPr algn="just"/>
            <a:r>
              <a:rPr lang="en-US" altLang="zh-CN" b="1" dirty="0">
                <a:latin typeface="Times New Roman" panose="02020603050405020304" pitchFamily="18" charset="0"/>
                <a:cs typeface="Times New Roman" panose="02020603050405020304" pitchFamily="18" charset="0"/>
                <a:sym typeface="+mn-ea"/>
              </a:rPr>
              <a:t>Published Time:</a:t>
            </a:r>
            <a:r>
              <a:rPr lang="en-US" altLang="zh-CN" dirty="0">
                <a:latin typeface="Times New Roman" panose="02020603050405020304" pitchFamily="18" charset="0"/>
                <a:cs typeface="Times New Roman" panose="02020603050405020304" pitchFamily="18" charset="0"/>
                <a:sym typeface="+mn-ea"/>
              </a:rPr>
              <a:t> 2025</a:t>
            </a:r>
          </a:p>
          <a:p>
            <a:pPr algn="just"/>
            <a:r>
              <a:rPr lang="en-US" altLang="zh-CN" b="1" dirty="0">
                <a:latin typeface="Times New Roman" panose="02020603050405020304" pitchFamily="18" charset="0"/>
                <a:cs typeface="Times New Roman" panose="02020603050405020304" pitchFamily="18" charset="0"/>
                <a:sym typeface="+mn-ea"/>
              </a:rPr>
              <a:t>Reference:</a:t>
            </a:r>
            <a:r>
              <a:rPr lang="en-US" altLang="zh-CN" dirty="0">
                <a:latin typeface="Times New Roman" panose="02020603050405020304" pitchFamily="18" charset="0"/>
                <a:cs typeface="Times New Roman" panose="02020603050405020304" pitchFamily="18" charset="0"/>
                <a:sym typeface="+mn-ea"/>
              </a:rPr>
              <a:t> </a:t>
            </a:r>
            <a:r>
              <a:rPr lang="en-US" altLang="zh-CN" dirty="0">
                <a:latin typeface="Times New Roman" panose="02020603050405020304" pitchFamily="18" charset="0"/>
                <a:cs typeface="Times New Roman" panose="02020603050405020304" pitchFamily="18" charset="0"/>
              </a:rPr>
              <a:t>S. Li, R. Xu, J. Xiu, Y. Zheng, P. Feng, Y. Ma, B. An, Y. Yang, and X. Liu, “Robust Multi-Agent Reinforcement Learning by Mutual Information Regularization,” IEEE Transactions on Neural Networks and Learning Systems, vol. 36, no. 10, pp. 18118–18132, Oct. 2025, </a:t>
            </a:r>
            <a:r>
              <a:rPr lang="en-US" altLang="zh-CN" dirty="0" err="1">
                <a:latin typeface="Times New Roman" panose="02020603050405020304" pitchFamily="18" charset="0"/>
                <a:cs typeface="Times New Roman" panose="02020603050405020304" pitchFamily="18" charset="0"/>
              </a:rPr>
              <a:t>doi</a:t>
            </a:r>
            <a:r>
              <a:rPr lang="en-US" altLang="zh-CN" dirty="0">
                <a:latin typeface="Times New Roman" panose="02020603050405020304" pitchFamily="18" charset="0"/>
                <a:cs typeface="Times New Roman" panose="02020603050405020304" pitchFamily="18" charset="0"/>
              </a:rPr>
              <a:t>: 10.1109/TNNLS.2025.3577259.</a:t>
            </a:r>
          </a:p>
        </p:txBody>
      </p:sp>
      <p:pic>
        <p:nvPicPr>
          <p:cNvPr id="15" name="图片 14"/>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18"/>
          <p:cNvGrpSpPr/>
          <p:nvPr/>
        </p:nvGrpSpPr>
        <p:grpSpPr bwMode="auto">
          <a:xfrm>
            <a:off x="2409457" y="2650330"/>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nvGrpSpPr>
          <p:cNvPr id="19" name="组合 18"/>
          <p:cNvGrpSpPr/>
          <p:nvPr>
            <p:custDataLst>
              <p:tags r:id="rId1"/>
            </p:custDataLst>
          </p:nvPr>
        </p:nvGrpSpPr>
        <p:grpSpPr>
          <a:xfrm>
            <a:off x="4523741" y="2047924"/>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03593" y="3688642"/>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76292" y="3235107"/>
                <a:ext cx="339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03593" y="4509001"/>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17645" y="2868283"/>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sym typeface="+mn-ea"/>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7" name="组合 6"/>
          <p:cNvGrpSpPr/>
          <p:nvPr/>
        </p:nvGrpSpPr>
        <p:grpSpPr>
          <a:xfrm>
            <a:off x="-1" y="6553200"/>
            <a:ext cx="12192001" cy="304800"/>
            <a:chOff x="0" y="6569404"/>
            <a:chExt cx="9144000" cy="288000"/>
          </a:xfrm>
        </p:grpSpPr>
        <p:sp>
          <p:nvSpPr>
            <p:cNvPr id="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BD44-D26E-AB3F-B079-486AE1B33C4A}"/>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BFAD2C12-2827-0F99-8900-AD245ED9CB8B}"/>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087DDACA-4684-84CD-C0FB-4CB0EEE1D9BD}"/>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CFBDEA49-1964-85EB-73B2-AA7B9E31CDDB}"/>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7F90CAE3-D9E5-0F1A-0F93-1DC5D3AE651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95EDE0B7-5271-22EC-AA11-927944D74DE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54F7E5CF-1881-74E2-1F85-2B3B90502950}"/>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26A24A0F-AA00-792D-E908-267F474792D9}"/>
              </a:ext>
            </a:extLst>
          </p:cNvPr>
          <p:cNvSpPr txBox="1"/>
          <p:nvPr/>
        </p:nvSpPr>
        <p:spPr>
          <a:xfrm>
            <a:off x="497205" y="847090"/>
            <a:ext cx="11060430" cy="2714654"/>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Challenge: </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Cooperative MARL policies can fail when some teammates malfunction, act unpredictably, or are controlled by worst-case adversaries.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With N agents, the possible defender/adversary partitions grow exponentially, making explicit max–min training expensive and incomplete.</a:t>
            </a:r>
          </a:p>
          <a:p>
            <a:pPr marL="342900" indent="-342900" algn="just">
              <a:lnSpc>
                <a:spcPct val="150000"/>
              </a:lnSpc>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2CAFAFF-FA09-7338-FB07-1AFECB71F7ED}"/>
              </a:ext>
            </a:extLst>
          </p:cNvPr>
          <p:cNvSpPr txBox="1"/>
          <p:nvPr/>
        </p:nvSpPr>
        <p:spPr>
          <a:xfrm>
            <a:off x="480000" y="3213000"/>
            <a:ext cx="11060430" cy="3176319"/>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Method:</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Formulate robust MARL as a control-as-inference problem with off-policy evaluation over threat scenarios.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 Derive mutual-information regularization (MIR3), which maximizes a lower bound on worst-case robustness while training only in normal cooperative environments.</a:t>
            </a:r>
          </a:p>
          <a:p>
            <a:pPr marL="342900" indent="-342900" algn="just">
              <a:lnSpc>
                <a:spcPct val="150000"/>
              </a:lnSpc>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 Estimate history–action mutual information with CLUB and add it as a reward penalty to standard MARL backbones.</a:t>
            </a:r>
          </a:p>
        </p:txBody>
      </p:sp>
    </p:spTree>
    <p:extLst>
      <p:ext uri="{BB962C8B-B14F-4D97-AF65-F5344CB8AC3E}">
        <p14:creationId xmlns:p14="http://schemas.microsoft.com/office/powerpoint/2010/main" val="274922692"/>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79EFC-E8D0-B18B-2428-C24A47BFAAF4}"/>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FF5763E1-5D81-AA53-C367-AB8F696964C7}"/>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00CA0609-D4DE-CCDB-13EC-E58174F3EBD2}"/>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33AF6DD6-A740-8C39-4282-74F391652208}"/>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5E9366FC-07CC-BDF6-0628-A02C6E651AA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D4C59740-E29C-959A-5289-07E93B91729E}"/>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414A7A08-383D-0905-BA7D-0F3DD4BCC182}"/>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830E901D-B1B3-6DC2-B370-57BE763404EA}"/>
              </a:ext>
            </a:extLst>
          </p:cNvPr>
          <p:cNvPicPr>
            <a:picLocks noChangeAspect="1"/>
          </p:cNvPicPr>
          <p:nvPr/>
        </p:nvPicPr>
        <p:blipFill>
          <a:blip r:embed="rId3"/>
          <a:stretch>
            <a:fillRect/>
          </a:stretch>
        </p:blipFill>
        <p:spPr>
          <a:xfrm>
            <a:off x="306834" y="2189916"/>
            <a:ext cx="4540483" cy="3105310"/>
          </a:xfrm>
          <a:prstGeom prst="rect">
            <a:avLst/>
          </a:prstGeom>
        </p:spPr>
      </p:pic>
      <p:pic>
        <p:nvPicPr>
          <p:cNvPr id="6" name="图片 5">
            <a:extLst>
              <a:ext uri="{FF2B5EF4-FFF2-40B4-BE49-F238E27FC236}">
                <a16:creationId xmlns:a16="http://schemas.microsoft.com/office/drawing/2014/main" id="{1CCC28C3-8D98-E9CF-00BF-57681E66884B}"/>
              </a:ext>
            </a:extLst>
          </p:cNvPr>
          <p:cNvPicPr>
            <a:picLocks noChangeAspect="1"/>
          </p:cNvPicPr>
          <p:nvPr/>
        </p:nvPicPr>
        <p:blipFill>
          <a:blip r:embed="rId4"/>
          <a:stretch>
            <a:fillRect/>
          </a:stretch>
        </p:blipFill>
        <p:spPr>
          <a:xfrm>
            <a:off x="6384000" y="1945222"/>
            <a:ext cx="4407126" cy="3968954"/>
          </a:xfrm>
          <a:prstGeom prst="rect">
            <a:avLst/>
          </a:prstGeom>
        </p:spPr>
      </p:pic>
    </p:spTree>
    <p:extLst>
      <p:ext uri="{BB962C8B-B14F-4D97-AF65-F5344CB8AC3E}">
        <p14:creationId xmlns:p14="http://schemas.microsoft.com/office/powerpoint/2010/main" val="215712758"/>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5F646-C710-58AF-0982-819AE4AC7E12}"/>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224B189-B6A8-52E0-2C22-1DE74E8E9A48}"/>
              </a:ext>
            </a:extLst>
          </p:cNvPr>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6917B673-8E6F-DE4F-04EB-BC76B50FCE98}"/>
              </a:ext>
            </a:extLst>
          </p:cNvPr>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grpSp>
        <p:nvGrpSpPr>
          <p:cNvPr id="12" name="组合 11">
            <a:extLst>
              <a:ext uri="{FF2B5EF4-FFF2-40B4-BE49-F238E27FC236}">
                <a16:creationId xmlns:a16="http://schemas.microsoft.com/office/drawing/2014/main" id="{DE9E112F-290A-0DA0-B70E-30E6AFA1877B}"/>
              </a:ext>
            </a:extLst>
          </p:cNvPr>
          <p:cNvGrpSpPr/>
          <p:nvPr/>
        </p:nvGrpSpPr>
        <p:grpSpPr>
          <a:xfrm>
            <a:off x="-1" y="6553200"/>
            <a:ext cx="12192001" cy="304800"/>
            <a:chOff x="0" y="6569404"/>
            <a:chExt cx="9144000" cy="288000"/>
          </a:xfrm>
        </p:grpSpPr>
        <p:sp>
          <p:nvSpPr>
            <p:cNvPr id="13" name="矩形 12">
              <a:extLst>
                <a:ext uri="{FF2B5EF4-FFF2-40B4-BE49-F238E27FC236}">
                  <a16:creationId xmlns:a16="http://schemas.microsoft.com/office/drawing/2014/main" id="{313A0483-CF53-BE3E-2F4B-F1A1B37CF1A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3EF6403E-88B3-8DAB-834E-63E3E16FF3E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 name="灯片编号占位符 5">
            <a:extLst>
              <a:ext uri="{FF2B5EF4-FFF2-40B4-BE49-F238E27FC236}">
                <a16:creationId xmlns:a16="http://schemas.microsoft.com/office/drawing/2014/main" id="{6C830B17-0C1C-76CC-C095-E90C35F61DA8}"/>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7A0F9B47-DC94-3B6B-59C6-7D6D5798D968}"/>
              </a:ext>
            </a:extLst>
          </p:cNvPr>
          <p:cNvPicPr>
            <a:picLocks noChangeAspect="1"/>
          </p:cNvPicPr>
          <p:nvPr/>
        </p:nvPicPr>
        <p:blipFill>
          <a:blip r:embed="rId3"/>
          <a:stretch>
            <a:fillRect/>
          </a:stretch>
        </p:blipFill>
        <p:spPr>
          <a:xfrm>
            <a:off x="3792000" y="1197000"/>
            <a:ext cx="4464279" cy="5124713"/>
          </a:xfrm>
          <a:prstGeom prst="rect">
            <a:avLst/>
          </a:prstGeom>
        </p:spPr>
      </p:pic>
    </p:spTree>
    <p:extLst>
      <p:ext uri="{BB962C8B-B14F-4D97-AF65-F5344CB8AC3E}">
        <p14:creationId xmlns:p14="http://schemas.microsoft.com/office/powerpoint/2010/main" val="2504688291"/>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custDataLst>
              <p:tags r:id="rId1"/>
            </p:custDataLst>
          </p:nvPr>
        </p:nvGrpSpPr>
        <p:grpSpPr>
          <a:xfrm>
            <a:off x="4600307" y="2192060"/>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custDataLst>
                  <p:tags r:id="rId26"/>
                </p:custDataLst>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custDataLst>
                  <p:tags r:id="rId24"/>
                </p:custDataLst>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custDataLst>
              <p:tags r:id="rId2"/>
            </p:custDataLst>
          </p:nvPr>
        </p:nvGrpSpPr>
        <p:grpSpPr>
          <a:xfrm>
            <a:off x="4580159" y="3832778"/>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custDataLst>
                  <p:tags r:id="rId22"/>
                </p:custDataLst>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6" name="文本框 81"/>
              <p:cNvSpPr txBox="1">
                <a:spLocks noChangeArrowheads="1"/>
              </p:cNvSpPr>
              <p:nvPr>
                <p:custDataLst>
                  <p:tags r:id="rId17"/>
                </p:custDataLst>
              </p:nvPr>
            </p:nvSpPr>
            <p:spPr bwMode="auto">
              <a:xfrm>
                <a:off x="4803902" y="3235107"/>
                <a:ext cx="354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7"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3" name="组合 22"/>
          <p:cNvGrpSpPr/>
          <p:nvPr>
            <p:custDataLst>
              <p:tags r:id="rId3"/>
            </p:custDataLst>
          </p:nvPr>
        </p:nvGrpSpPr>
        <p:grpSpPr>
          <a:xfrm>
            <a:off x="4580159" y="4653137"/>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custDataLst>
                  <p:tags r:id="rId16"/>
                </p:custDataLst>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chemeClr val="bg2">
                        <a:lumMod val="90000"/>
                      </a:schemeClr>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custDataLst>
                  <p:tags r:id="rId11"/>
                </p:custDataLst>
              </p:nvPr>
            </p:nvSpPr>
            <p:spPr bwMode="auto">
              <a:xfrm>
                <a:off x="4571492" y="4002700"/>
                <a:ext cx="404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6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86"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20" name="组合 19"/>
          <p:cNvGrpSpPr/>
          <p:nvPr>
            <p:custDataLst>
              <p:tags r:id="rId4"/>
            </p:custDataLst>
          </p:nvPr>
        </p:nvGrpSpPr>
        <p:grpSpPr>
          <a:xfrm>
            <a:off x="4594211" y="3012419"/>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custDataLst>
                  <p:tags r:id="rId10"/>
                </p:custDataLst>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custDataLst>
                  <p:tags r:id="rId5"/>
                </p:custDataLst>
              </p:nvPr>
            </p:nvSpPr>
            <p:spPr bwMode="auto">
              <a:xfrm>
                <a:off x="5326034" y="2449079"/>
                <a:ext cx="2499719"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94"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grpSp>
      <p:grpSp>
        <p:nvGrpSpPr>
          <p:cNvPr id="3" name="组合 2"/>
          <p:cNvGrpSpPr/>
          <p:nvPr/>
        </p:nvGrpSpPr>
        <p:grpSpPr>
          <a:xfrm>
            <a:off x="-1" y="6553200"/>
            <a:ext cx="12192001" cy="304800"/>
            <a:chOff x="0" y="6569404"/>
            <a:chExt cx="9144000" cy="288000"/>
          </a:xfrm>
        </p:grpSpPr>
        <p:sp>
          <p:nvSpPr>
            <p:cNvPr id="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31" cstate="print">
            <a:clrChange>
              <a:clrFrom>
                <a:srgbClr val="FFFFFF"/>
              </a:clrFrom>
              <a:clrTo>
                <a:srgbClr val="FFFFFF">
                  <a:alpha val="0"/>
                </a:srgbClr>
              </a:clrTo>
            </a:clrChange>
            <a:extLst>
              <a:ext uri="{BEBA8EAE-BF5A-486C-A8C5-ECC9F3942E4B}">
                <a14:imgProps xmlns:a14="http://schemas.microsoft.com/office/drawing/2010/main">
                  <a14:imgLayer r:embed="rId32">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EBD12-D4BD-E92F-BE1F-5F9EC99FFB3B}"/>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F35522C5-E249-0F0B-450F-FBEBD20BAF98}"/>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B79C1C8-34BC-301F-FF96-8FF94E0E4F69}"/>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55E277C7-7724-D6D6-CDB2-74BC5ED9DCC0}"/>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D6806C40-E40F-A36D-EC73-B74328D4F6D5}"/>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122AE215-605E-5C0F-9596-7800E51FABA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8F9F0127-545A-E96F-9E06-1BF54E88C226}"/>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A236B39F-383B-3BFB-A430-B991FA96A1F9}"/>
              </a:ext>
            </a:extLst>
          </p:cNvPr>
          <p:cNvPicPr>
            <a:picLocks noChangeAspect="1"/>
          </p:cNvPicPr>
          <p:nvPr/>
        </p:nvPicPr>
        <p:blipFill>
          <a:blip r:embed="rId3"/>
          <a:stretch>
            <a:fillRect/>
          </a:stretch>
        </p:blipFill>
        <p:spPr>
          <a:xfrm>
            <a:off x="336000" y="2826080"/>
            <a:ext cx="4824000" cy="2639139"/>
          </a:xfrm>
          <a:prstGeom prst="rect">
            <a:avLst/>
          </a:prstGeom>
        </p:spPr>
      </p:pic>
      <p:pic>
        <p:nvPicPr>
          <p:cNvPr id="6" name="图片 5">
            <a:extLst>
              <a:ext uri="{FF2B5EF4-FFF2-40B4-BE49-F238E27FC236}">
                <a16:creationId xmlns:a16="http://schemas.microsoft.com/office/drawing/2014/main" id="{4F1AA4F5-5D4F-76FC-8FE7-5807E712F107}"/>
              </a:ext>
            </a:extLst>
          </p:cNvPr>
          <p:cNvPicPr>
            <a:picLocks noChangeAspect="1"/>
          </p:cNvPicPr>
          <p:nvPr/>
        </p:nvPicPr>
        <p:blipFill>
          <a:blip r:embed="rId4"/>
          <a:stretch>
            <a:fillRect/>
          </a:stretch>
        </p:blipFill>
        <p:spPr>
          <a:xfrm>
            <a:off x="6960000" y="2421276"/>
            <a:ext cx="4210266" cy="3587934"/>
          </a:xfrm>
          <a:prstGeom prst="rect">
            <a:avLst/>
          </a:prstGeom>
        </p:spPr>
      </p:pic>
      <p:sp>
        <p:nvSpPr>
          <p:cNvPr id="12" name="TextBox 72">
            <a:extLst>
              <a:ext uri="{FF2B5EF4-FFF2-40B4-BE49-F238E27FC236}">
                <a16:creationId xmlns:a16="http://schemas.microsoft.com/office/drawing/2014/main" id="{E17A76EB-480E-BBB4-F641-EC5AB58203D3}"/>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MIR3: Train Normally, Defend Broadly</a:t>
            </a:r>
          </a:p>
        </p:txBody>
      </p:sp>
      <p:sp>
        <p:nvSpPr>
          <p:cNvPr id="14" name="Rectangle 73">
            <a:extLst>
              <a:ext uri="{FF2B5EF4-FFF2-40B4-BE49-F238E27FC236}">
                <a16:creationId xmlns:a16="http://schemas.microsoft.com/office/drawing/2014/main" id="{6565ECB3-F94A-D301-B81A-383A37EA66FC}"/>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79677821"/>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0C9F4-A942-1C24-13A7-5F3E782C399E}"/>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081E7A9-1E7C-71C4-F7F6-1AA673EF1C63}"/>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8BE0E42-9DED-0924-809C-1C9D39520130}"/>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36F36A2F-F909-31E3-0998-868D29FC2E08}"/>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80623242-DD03-45A9-3021-462C005BBA9C}"/>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6C5669A2-8E52-1B2B-A617-20639412EC1A}"/>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A7A4DD5D-A0C7-10FE-BA6B-D87B863AE605}"/>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12" name="TextBox 72">
            <a:extLst>
              <a:ext uri="{FF2B5EF4-FFF2-40B4-BE49-F238E27FC236}">
                <a16:creationId xmlns:a16="http://schemas.microsoft.com/office/drawing/2014/main" id="{F14B68B2-5F63-73A5-3948-F4ABED9580E9}"/>
              </a:ext>
            </a:extLst>
          </p:cNvPr>
          <p:cNvSpPr txBox="1"/>
          <p:nvPr/>
        </p:nvSpPr>
        <p:spPr>
          <a:xfrm>
            <a:off x="0" y="768096"/>
            <a:ext cx="11384280" cy="411480"/>
          </a:xfrm>
          <a:prstGeom prst="rect">
            <a:avLst/>
          </a:prstGeom>
          <a:noFill/>
        </p:spPr>
        <p:txBody>
          <a:bodyPr wrap="square" lIns="27432" tIns="0" rIns="27432" bIns="0" anchor="ctr">
            <a:spAutoFit/>
          </a:bodyPr>
          <a:lstStyle/>
          <a:p>
            <a:pPr algn="l"/>
            <a:r>
              <a:rPr sz="2400" b="1" i="0">
                <a:solidFill>
                  <a:srgbClr val="0174AB"/>
                </a:solidFill>
                <a:latin typeface="Times New Roman"/>
              </a:rPr>
              <a:t>1 MIR3: Train Normally, Defend Broadly</a:t>
            </a:r>
          </a:p>
        </p:txBody>
      </p:sp>
      <p:sp>
        <p:nvSpPr>
          <p:cNvPr id="14" name="Rectangle 73">
            <a:extLst>
              <a:ext uri="{FF2B5EF4-FFF2-40B4-BE49-F238E27FC236}">
                <a16:creationId xmlns:a16="http://schemas.microsoft.com/office/drawing/2014/main" id="{14E4B524-36F1-14D1-2651-F442F23C9E42}"/>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图片 3">
            <a:extLst>
              <a:ext uri="{FF2B5EF4-FFF2-40B4-BE49-F238E27FC236}">
                <a16:creationId xmlns:a16="http://schemas.microsoft.com/office/drawing/2014/main" id="{F843636E-D796-B521-F70C-1448347F1D7D}"/>
              </a:ext>
            </a:extLst>
          </p:cNvPr>
          <p:cNvPicPr>
            <a:picLocks noChangeAspect="1"/>
          </p:cNvPicPr>
          <p:nvPr/>
        </p:nvPicPr>
        <p:blipFill>
          <a:blip r:embed="rId3"/>
          <a:stretch>
            <a:fillRect/>
          </a:stretch>
        </p:blipFill>
        <p:spPr>
          <a:xfrm>
            <a:off x="1416000" y="2779009"/>
            <a:ext cx="4140413" cy="2216264"/>
          </a:xfrm>
          <a:prstGeom prst="rect">
            <a:avLst/>
          </a:prstGeom>
        </p:spPr>
      </p:pic>
      <p:pic>
        <p:nvPicPr>
          <p:cNvPr id="7" name="图片 6">
            <a:extLst>
              <a:ext uri="{FF2B5EF4-FFF2-40B4-BE49-F238E27FC236}">
                <a16:creationId xmlns:a16="http://schemas.microsoft.com/office/drawing/2014/main" id="{62726D52-0F53-0A3D-CD11-8F48666CD18A}"/>
              </a:ext>
            </a:extLst>
          </p:cNvPr>
          <p:cNvPicPr>
            <a:picLocks noChangeAspect="1"/>
          </p:cNvPicPr>
          <p:nvPr/>
        </p:nvPicPr>
        <p:blipFill>
          <a:blip r:embed="rId4"/>
          <a:srcRect b="17334"/>
          <a:stretch>
            <a:fillRect/>
          </a:stretch>
        </p:blipFill>
        <p:spPr>
          <a:xfrm>
            <a:off x="7032000" y="1701000"/>
            <a:ext cx="2829836" cy="4503825"/>
          </a:xfrm>
          <a:prstGeom prst="rect">
            <a:avLst/>
          </a:prstGeom>
        </p:spPr>
      </p:pic>
    </p:spTree>
    <p:extLst>
      <p:ext uri="{BB962C8B-B14F-4D97-AF65-F5344CB8AC3E}">
        <p14:creationId xmlns:p14="http://schemas.microsoft.com/office/powerpoint/2010/main" val="3027118711"/>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ECBB-9B83-891C-4F53-243E4B2EDDCA}"/>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CE671738-46A8-77CE-949E-0ECBB2F6A9C5}"/>
              </a:ext>
            </a:extLst>
          </p:cNvPr>
          <p:cNvSpPr/>
          <p:nvPr/>
        </p:nvSpPr>
        <p:spPr>
          <a:xfrm>
            <a:off x="-1" y="1"/>
            <a:ext cx="12174172"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3BAD6524-6636-A10F-A305-D93FF6D51575}"/>
              </a:ext>
            </a:extLst>
          </p:cNvPr>
          <p:cNvSpPr txBox="1"/>
          <p:nvPr/>
        </p:nvSpPr>
        <p:spPr>
          <a:xfrm>
            <a:off x="21488" y="55940"/>
            <a:ext cx="6539897"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Method Design</a:t>
            </a:r>
          </a:p>
        </p:txBody>
      </p:sp>
      <p:grpSp>
        <p:nvGrpSpPr>
          <p:cNvPr id="8" name="组合 7">
            <a:extLst>
              <a:ext uri="{FF2B5EF4-FFF2-40B4-BE49-F238E27FC236}">
                <a16:creationId xmlns:a16="http://schemas.microsoft.com/office/drawing/2014/main" id="{8F89A2FD-C94B-C5C0-7F5B-C9C2C3D38BB6}"/>
              </a:ext>
            </a:extLst>
          </p:cNvPr>
          <p:cNvGrpSpPr/>
          <p:nvPr/>
        </p:nvGrpSpPr>
        <p:grpSpPr>
          <a:xfrm>
            <a:off x="-1" y="6553200"/>
            <a:ext cx="12192001" cy="304800"/>
            <a:chOff x="0" y="6569404"/>
            <a:chExt cx="9144000" cy="288000"/>
          </a:xfrm>
        </p:grpSpPr>
        <p:sp>
          <p:nvSpPr>
            <p:cNvPr id="9" name="矩形 8">
              <a:extLst>
                <a:ext uri="{FF2B5EF4-FFF2-40B4-BE49-F238E27FC236}">
                  <a16:creationId xmlns:a16="http://schemas.microsoft.com/office/drawing/2014/main" id="{8EFF8BC3-4872-63A3-121C-1D639848BD0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90B9C499-DEF6-822F-9744-EE66F9F0639D}"/>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1" name="灯片编号占位符 5">
            <a:extLst>
              <a:ext uri="{FF2B5EF4-FFF2-40B4-BE49-F238E27FC236}">
                <a16:creationId xmlns:a16="http://schemas.microsoft.com/office/drawing/2014/main" id="{E5490CA0-4927-5008-E893-2158D9759A7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77</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TextBox 72">
            <a:extLst>
              <a:ext uri="{FF2B5EF4-FFF2-40B4-BE49-F238E27FC236}">
                <a16:creationId xmlns:a16="http://schemas.microsoft.com/office/drawing/2014/main" id="{8062F9F7-4F42-6554-200A-4CA76AB09700}"/>
              </a:ext>
            </a:extLst>
          </p:cNvPr>
          <p:cNvSpPr txBox="1"/>
          <p:nvPr/>
        </p:nvSpPr>
        <p:spPr>
          <a:xfrm>
            <a:off x="0" y="789170"/>
            <a:ext cx="11384280" cy="369332"/>
          </a:xfrm>
          <a:prstGeom prst="rect">
            <a:avLst/>
          </a:prstGeom>
          <a:noFill/>
        </p:spPr>
        <p:txBody>
          <a:bodyPr wrap="square" lIns="27432" tIns="0" rIns="27432" bIns="0" anchor="ctr">
            <a:spAutoFit/>
          </a:bodyPr>
          <a:lstStyle/>
          <a:p>
            <a:pPr algn="l"/>
            <a:r>
              <a:rPr lang="en-US" sz="2400" b="1" i="0" dirty="0">
                <a:solidFill>
                  <a:srgbClr val="0174AB"/>
                </a:solidFill>
                <a:latin typeface="Times New Roman"/>
              </a:rPr>
              <a:t>2</a:t>
            </a:r>
            <a:r>
              <a:rPr sz="2400" b="1" i="0" dirty="0">
                <a:solidFill>
                  <a:srgbClr val="0174AB"/>
                </a:solidFill>
                <a:latin typeface="Times New Roman"/>
              </a:rPr>
              <a:t> Practical Algorithm and Architecture-Agnostic Integration</a:t>
            </a:r>
          </a:p>
        </p:txBody>
      </p:sp>
      <p:sp>
        <p:nvSpPr>
          <p:cNvPr id="7" name="Rectangle 73">
            <a:extLst>
              <a:ext uri="{FF2B5EF4-FFF2-40B4-BE49-F238E27FC236}">
                <a16:creationId xmlns:a16="http://schemas.microsoft.com/office/drawing/2014/main" id="{F7689633-99D8-AF51-C67F-93ED52D94FDB}"/>
              </a:ext>
            </a:extLst>
          </p:cNvPr>
          <p:cNvSpPr/>
          <p:nvPr/>
        </p:nvSpPr>
        <p:spPr>
          <a:xfrm>
            <a:off x="54864" y="1188720"/>
            <a:ext cx="10826496" cy="22860"/>
          </a:xfrm>
          <a:prstGeom prst="rect">
            <a:avLst/>
          </a:prstGeom>
          <a:solidFill>
            <a:srgbClr val="9EC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75" descr="p5_fig23.png">
            <a:extLst>
              <a:ext uri="{FF2B5EF4-FFF2-40B4-BE49-F238E27FC236}">
                <a16:creationId xmlns:a16="http://schemas.microsoft.com/office/drawing/2014/main" id="{C3AEB17A-92BF-3AAD-E82C-334DB326F24B}"/>
              </a:ext>
            </a:extLst>
          </p:cNvPr>
          <p:cNvPicPr>
            <a:picLocks noChangeAspect="1"/>
          </p:cNvPicPr>
          <p:nvPr/>
        </p:nvPicPr>
        <p:blipFill>
          <a:blip r:embed="rId3"/>
          <a:srcRect t="14625" b="17917"/>
          <a:stretch>
            <a:fillRect/>
          </a:stretch>
        </p:blipFill>
        <p:spPr>
          <a:xfrm>
            <a:off x="336000" y="2984979"/>
            <a:ext cx="7156900" cy="2357250"/>
          </a:xfrm>
          <a:prstGeom prst="rect">
            <a:avLst/>
          </a:prstGeom>
          <a:ln w="9525">
            <a:solidFill>
              <a:srgbClr val="C9D2D8"/>
            </a:solidFill>
          </a:ln>
        </p:spPr>
      </p:pic>
      <p:sp>
        <p:nvSpPr>
          <p:cNvPr id="17" name="Rounded Rectangle 76">
            <a:extLst>
              <a:ext uri="{FF2B5EF4-FFF2-40B4-BE49-F238E27FC236}">
                <a16:creationId xmlns:a16="http://schemas.microsoft.com/office/drawing/2014/main" id="{DFCF5A61-9F9B-588F-2A89-9F4184F8BD90}"/>
              </a:ext>
            </a:extLst>
          </p:cNvPr>
          <p:cNvSpPr/>
          <p:nvPr/>
        </p:nvSpPr>
        <p:spPr>
          <a:xfrm>
            <a:off x="7608000" y="2879034"/>
            <a:ext cx="4021449" cy="2569140"/>
          </a:xfrm>
          <a:prstGeom prst="roundRect">
            <a:avLst>
              <a:gd name="adj" fmla="val 9339"/>
            </a:avLst>
          </a:prstGeom>
          <a:solidFill>
            <a:srgbClr val="F5F5F5"/>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just">
              <a:lnSpc>
                <a:spcPct val="105000"/>
              </a:lnSpc>
              <a:spcAft>
                <a:spcPts val="350"/>
              </a:spcAft>
            </a:pPr>
            <a:r>
              <a:rPr sz="1530" b="1" dirty="0">
                <a:solidFill>
                  <a:srgbClr val="0174AB"/>
                </a:solidFill>
                <a:latin typeface="Times New Roman"/>
              </a:rPr>
              <a:t>• </a:t>
            </a:r>
            <a:r>
              <a:rPr sz="1530" dirty="0">
                <a:solidFill>
                  <a:srgbClr val="111111"/>
                </a:solidFill>
                <a:latin typeface="Times New Roman"/>
              </a:rPr>
              <a:t>CLUB estimates an upper bound on mutual information.</a:t>
            </a:r>
          </a:p>
          <a:p>
            <a:pPr algn="just">
              <a:lnSpc>
                <a:spcPct val="105000"/>
              </a:lnSpc>
              <a:spcAft>
                <a:spcPts val="350"/>
              </a:spcAft>
            </a:pPr>
            <a:r>
              <a:rPr sz="1530" b="1" dirty="0">
                <a:solidFill>
                  <a:srgbClr val="0174AB"/>
                </a:solidFill>
                <a:latin typeface="Times New Roman"/>
              </a:rPr>
              <a:t>• </a:t>
            </a:r>
            <a:r>
              <a:rPr sz="1530" dirty="0">
                <a:solidFill>
                  <a:srgbClr val="111111"/>
                </a:solidFill>
                <a:latin typeface="Times New Roman"/>
              </a:rPr>
              <a:t>The shaped reward is </a:t>
            </a:r>
            <a:r>
              <a:rPr sz="1530" dirty="0" err="1">
                <a:solidFill>
                  <a:srgbClr val="111111"/>
                </a:solidFill>
                <a:latin typeface="Times New Roman"/>
              </a:rPr>
              <a:t>rMI</a:t>
            </a:r>
            <a:r>
              <a:rPr sz="1530" dirty="0">
                <a:solidFill>
                  <a:srgbClr val="111111"/>
                </a:solidFill>
                <a:latin typeface="Times New Roman"/>
              </a:rPr>
              <a:t> = r − </a:t>
            </a:r>
            <a:r>
              <a:rPr sz="1530" dirty="0" err="1">
                <a:solidFill>
                  <a:srgbClr val="111111"/>
                </a:solidFill>
                <a:latin typeface="Times New Roman"/>
              </a:rPr>
              <a:t>λ·I</a:t>
            </a:r>
            <a:r>
              <a:rPr sz="1530" dirty="0">
                <a:solidFill>
                  <a:srgbClr val="111111"/>
                </a:solidFill>
                <a:latin typeface="Times New Roman"/>
              </a:rPr>
              <a:t>(</a:t>
            </a:r>
            <a:r>
              <a:rPr sz="1530" dirty="0" err="1">
                <a:solidFill>
                  <a:srgbClr val="111111"/>
                </a:solidFill>
                <a:latin typeface="Times New Roman"/>
              </a:rPr>
              <a:t>h;a</a:t>
            </a:r>
            <a:r>
              <a:rPr sz="1530" dirty="0">
                <a:solidFill>
                  <a:srgbClr val="111111"/>
                </a:solidFill>
                <a:latin typeface="Times New Roman"/>
              </a:rPr>
              <a:t>).</a:t>
            </a:r>
          </a:p>
          <a:p>
            <a:pPr algn="just">
              <a:lnSpc>
                <a:spcPct val="105000"/>
              </a:lnSpc>
              <a:spcAft>
                <a:spcPts val="350"/>
              </a:spcAft>
            </a:pPr>
            <a:r>
              <a:rPr sz="1530" b="1" dirty="0">
                <a:solidFill>
                  <a:srgbClr val="0174AB"/>
                </a:solidFill>
                <a:latin typeface="Times New Roman"/>
              </a:rPr>
              <a:t>• </a:t>
            </a:r>
            <a:r>
              <a:rPr sz="1530" dirty="0">
                <a:solidFill>
                  <a:srgbClr val="111111"/>
                </a:solidFill>
                <a:latin typeface="Times New Roman"/>
              </a:rPr>
              <a:t>Only the ordinary policy-update step changes across MADDPG, QMIX, and MAPPO.</a:t>
            </a:r>
          </a:p>
          <a:p>
            <a:pPr algn="just">
              <a:lnSpc>
                <a:spcPct val="105000"/>
              </a:lnSpc>
              <a:spcAft>
                <a:spcPts val="350"/>
              </a:spcAft>
            </a:pPr>
            <a:r>
              <a:rPr sz="1530" b="1" dirty="0">
                <a:solidFill>
                  <a:srgbClr val="0174AB"/>
                </a:solidFill>
                <a:latin typeface="Times New Roman"/>
              </a:rPr>
              <a:t>• </a:t>
            </a:r>
            <a:r>
              <a:rPr sz="1530" dirty="0">
                <a:solidFill>
                  <a:srgbClr val="111111"/>
                </a:solidFill>
                <a:latin typeface="Times New Roman"/>
              </a:rPr>
              <a:t>No additional network or computation is needed at test time.</a:t>
            </a:r>
          </a:p>
        </p:txBody>
      </p:sp>
    </p:spTree>
    <p:extLst>
      <p:ext uri="{BB962C8B-B14F-4D97-AF65-F5344CB8AC3E}">
        <p14:creationId xmlns:p14="http://schemas.microsoft.com/office/powerpoint/2010/main" val="1987307198"/>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3" name="Freeform 306"/>
          <p:cNvSpPr>
            <a:spLocks noEditPoints="1"/>
          </p:cNvSpPr>
          <p:nvPr>
            <p:custDataLst>
              <p:tags r:id="rId1"/>
            </p:custDataLst>
          </p:nvPr>
        </p:nvSpPr>
        <p:spPr bwMode="auto">
          <a:xfrm>
            <a:off x="5378259"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Freeform 71"/>
          <p:cNvSpPr>
            <a:spLocks noEditPoints="1"/>
          </p:cNvSpPr>
          <p:nvPr>
            <p:custDataLst>
              <p:tags r:id="rId2"/>
            </p:custDataLst>
          </p:nvPr>
        </p:nvSpPr>
        <p:spPr bwMode="auto">
          <a:xfrm>
            <a:off x="5374788"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grpSp>
        <p:nvGrpSpPr>
          <p:cNvPr id="6" name="组合 5"/>
          <p:cNvGrpSpPr/>
          <p:nvPr/>
        </p:nvGrpSpPr>
        <p:grpSpPr>
          <a:xfrm>
            <a:off x="-1" y="6553200"/>
            <a:ext cx="12192001" cy="304800"/>
            <a:chOff x="0" y="6569404"/>
            <a:chExt cx="9144000" cy="288000"/>
          </a:xfrm>
        </p:grpSpPr>
        <p:sp>
          <p:nvSpPr>
            <p:cNvPr id="7"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8"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78</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24395-B66F-EEF5-D888-60679024E70D}"/>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90DA0E76-4706-EFA2-FB10-5731512F0947}"/>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988040D3-7D95-80D9-5E87-834C3D435839}"/>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77958CF-65C3-479C-9C69-11190F13EB11}"/>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6B44E645-8E42-AEB4-386A-CD4C375CE39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22FA9F36-2B25-76E5-A557-9B36A240342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5CCF08FB-16D6-2CA0-6527-FE7DC1B025C9}"/>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79</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B97D34E8-7964-7C14-35A5-40A8BD4AE8CF}"/>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Simulation Results</a:t>
            </a:r>
          </a:p>
        </p:txBody>
      </p:sp>
      <p:cxnSp>
        <p:nvCxnSpPr>
          <p:cNvPr id="4" name="直接连接符 3">
            <a:extLst>
              <a:ext uri="{FF2B5EF4-FFF2-40B4-BE49-F238E27FC236}">
                <a16:creationId xmlns:a16="http://schemas.microsoft.com/office/drawing/2014/main" id="{09D71441-A1FD-E80B-F1D6-2D18C8A38885}"/>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6" name="图片 5">
            <a:extLst>
              <a:ext uri="{FF2B5EF4-FFF2-40B4-BE49-F238E27FC236}">
                <a16:creationId xmlns:a16="http://schemas.microsoft.com/office/drawing/2014/main" id="{E0C06DA8-9231-6E28-B8CE-8C9DD89769F8}"/>
              </a:ext>
            </a:extLst>
          </p:cNvPr>
          <p:cNvPicPr>
            <a:picLocks noChangeAspect="1"/>
          </p:cNvPicPr>
          <p:nvPr/>
        </p:nvPicPr>
        <p:blipFill>
          <a:blip r:embed="rId5"/>
          <a:stretch>
            <a:fillRect/>
          </a:stretch>
        </p:blipFill>
        <p:spPr>
          <a:xfrm>
            <a:off x="2064000" y="1328783"/>
            <a:ext cx="7976493" cy="4888819"/>
          </a:xfrm>
          <a:prstGeom prst="rect">
            <a:avLst/>
          </a:prstGeom>
        </p:spPr>
      </p:pic>
    </p:spTree>
    <p:extLst>
      <p:ext uri="{BB962C8B-B14F-4D97-AF65-F5344CB8AC3E}">
        <p14:creationId xmlns:p14="http://schemas.microsoft.com/office/powerpoint/2010/main" val="1739583920"/>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D1F7-529A-315C-7D7A-705CBC2A88EF}"/>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37AA9889-71A1-8783-121C-FF6BBD5C2E3E}"/>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A25A0D48-4591-0CD4-E3C8-F8CCADF4B528}"/>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62BCF31B-C3FF-6593-230D-5378C72A54F1}"/>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718BCE97-9B44-3D3E-A582-AEF74C59888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50EBA204-398B-584E-3D6D-AF019964FDA4}"/>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87936F5F-F647-D776-F885-778518FB2E3F}"/>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80</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4955985E-3172-651C-38F9-CE9B9BB8D617}"/>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Simulation Results</a:t>
            </a:r>
          </a:p>
        </p:txBody>
      </p:sp>
      <p:cxnSp>
        <p:nvCxnSpPr>
          <p:cNvPr id="4" name="直接连接符 3">
            <a:extLst>
              <a:ext uri="{FF2B5EF4-FFF2-40B4-BE49-F238E27FC236}">
                <a16:creationId xmlns:a16="http://schemas.microsoft.com/office/drawing/2014/main" id="{A0522C23-7A2E-38FE-3FA3-2BEE272A782B}"/>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5" name="图片 4">
            <a:extLst>
              <a:ext uri="{FF2B5EF4-FFF2-40B4-BE49-F238E27FC236}">
                <a16:creationId xmlns:a16="http://schemas.microsoft.com/office/drawing/2014/main" id="{50FB9883-73EB-508D-60D8-7A45EC9807BD}"/>
              </a:ext>
            </a:extLst>
          </p:cNvPr>
          <p:cNvPicPr>
            <a:picLocks noChangeAspect="1"/>
          </p:cNvPicPr>
          <p:nvPr/>
        </p:nvPicPr>
        <p:blipFill>
          <a:blip r:embed="rId5"/>
          <a:stretch>
            <a:fillRect/>
          </a:stretch>
        </p:blipFill>
        <p:spPr>
          <a:xfrm>
            <a:off x="1416000" y="2205000"/>
            <a:ext cx="9673771" cy="3729560"/>
          </a:xfrm>
          <a:prstGeom prst="rect">
            <a:avLst/>
          </a:prstGeom>
        </p:spPr>
      </p:pic>
    </p:spTree>
    <p:extLst>
      <p:ext uri="{BB962C8B-B14F-4D97-AF65-F5344CB8AC3E}">
        <p14:creationId xmlns:p14="http://schemas.microsoft.com/office/powerpoint/2010/main" val="812421663"/>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4FB5-34B6-7362-663F-092F57EA6856}"/>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10D5125B-6790-C28E-2DE1-D44E48C3EA48}"/>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FDA9B774-021A-7F5B-B6A0-EA40CBBE01E7}"/>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A08CE777-089D-F823-9F69-F9F2E3896D5F}"/>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C3E6B266-782C-75F2-6F2B-7A5B24EA8C9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24E5E47B-C20A-46DE-29FD-401EE8445479}"/>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4A875EAD-062C-EBBF-8C8F-93F65F1FCC58}"/>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81</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EF44F1DF-9861-7F08-E037-11FD450F3A01}"/>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Simulation Results</a:t>
            </a:r>
          </a:p>
        </p:txBody>
      </p:sp>
      <p:cxnSp>
        <p:nvCxnSpPr>
          <p:cNvPr id="4" name="直接连接符 3">
            <a:extLst>
              <a:ext uri="{FF2B5EF4-FFF2-40B4-BE49-F238E27FC236}">
                <a16:creationId xmlns:a16="http://schemas.microsoft.com/office/drawing/2014/main" id="{416B1FF0-5407-8AB0-2B60-E73A731D2090}"/>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6" name="图片 5">
            <a:extLst>
              <a:ext uri="{FF2B5EF4-FFF2-40B4-BE49-F238E27FC236}">
                <a16:creationId xmlns:a16="http://schemas.microsoft.com/office/drawing/2014/main" id="{1D428278-ACBF-AFAC-6611-340C36F58312}"/>
              </a:ext>
            </a:extLst>
          </p:cNvPr>
          <p:cNvPicPr>
            <a:picLocks noChangeAspect="1"/>
          </p:cNvPicPr>
          <p:nvPr/>
        </p:nvPicPr>
        <p:blipFill>
          <a:blip r:embed="rId5"/>
          <a:stretch>
            <a:fillRect/>
          </a:stretch>
        </p:blipFill>
        <p:spPr>
          <a:xfrm>
            <a:off x="1776000" y="1286045"/>
            <a:ext cx="8553890" cy="2540131"/>
          </a:xfrm>
          <a:prstGeom prst="rect">
            <a:avLst/>
          </a:prstGeom>
        </p:spPr>
      </p:pic>
      <p:pic>
        <p:nvPicPr>
          <p:cNvPr id="8" name="图片 7">
            <a:extLst>
              <a:ext uri="{FF2B5EF4-FFF2-40B4-BE49-F238E27FC236}">
                <a16:creationId xmlns:a16="http://schemas.microsoft.com/office/drawing/2014/main" id="{F492D864-BAAC-A94E-19F8-21496C32E8F9}"/>
              </a:ext>
            </a:extLst>
          </p:cNvPr>
          <p:cNvPicPr>
            <a:picLocks noChangeAspect="1"/>
          </p:cNvPicPr>
          <p:nvPr/>
        </p:nvPicPr>
        <p:blipFill>
          <a:blip r:embed="rId6"/>
          <a:stretch>
            <a:fillRect/>
          </a:stretch>
        </p:blipFill>
        <p:spPr>
          <a:xfrm>
            <a:off x="768000" y="3725139"/>
            <a:ext cx="2520000" cy="2834514"/>
          </a:xfrm>
          <a:prstGeom prst="rect">
            <a:avLst/>
          </a:prstGeom>
        </p:spPr>
      </p:pic>
      <p:pic>
        <p:nvPicPr>
          <p:cNvPr id="10" name="图片 9">
            <a:extLst>
              <a:ext uri="{FF2B5EF4-FFF2-40B4-BE49-F238E27FC236}">
                <a16:creationId xmlns:a16="http://schemas.microsoft.com/office/drawing/2014/main" id="{169885A1-AE03-DC20-93A5-B7C0E8D8A536}"/>
              </a:ext>
            </a:extLst>
          </p:cNvPr>
          <p:cNvPicPr>
            <a:picLocks noChangeAspect="1"/>
          </p:cNvPicPr>
          <p:nvPr/>
        </p:nvPicPr>
        <p:blipFill>
          <a:blip r:embed="rId7"/>
          <a:stretch>
            <a:fillRect/>
          </a:stretch>
        </p:blipFill>
        <p:spPr>
          <a:xfrm>
            <a:off x="3720000" y="4128078"/>
            <a:ext cx="8350679" cy="2063856"/>
          </a:xfrm>
          <a:prstGeom prst="rect">
            <a:avLst/>
          </a:prstGeom>
        </p:spPr>
      </p:pic>
    </p:spTree>
    <p:extLst>
      <p:ext uri="{BB962C8B-B14F-4D97-AF65-F5344CB8AC3E}">
        <p14:creationId xmlns:p14="http://schemas.microsoft.com/office/powerpoint/2010/main" val="1566160905"/>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2E7F7-CC7C-FA8A-145C-4816C194387B}"/>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875786E7-802F-1797-4082-516013B7DB9D}"/>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A5E2B71-B73F-095F-66B8-D289BF90B639}"/>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33B83B83-2A9B-1FE4-1159-A80124073013}"/>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A1FC3B82-469B-13CE-017B-B0D6D180CA41}"/>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C85FF78E-7FE8-E64E-34E9-CBB7F159CD56}"/>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D4FCE373-C8D5-F43D-6F5E-D1AD71409581}"/>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82</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BFA88567-9F9E-FA3E-2144-9AC1685B928B}"/>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1 Simulation Results</a:t>
            </a:r>
          </a:p>
        </p:txBody>
      </p:sp>
      <p:cxnSp>
        <p:nvCxnSpPr>
          <p:cNvPr id="4" name="直接连接符 3">
            <a:extLst>
              <a:ext uri="{FF2B5EF4-FFF2-40B4-BE49-F238E27FC236}">
                <a16:creationId xmlns:a16="http://schemas.microsoft.com/office/drawing/2014/main" id="{069609BC-F693-0F9B-5123-6BCA5B301CC9}"/>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5" name="图片 4">
            <a:extLst>
              <a:ext uri="{FF2B5EF4-FFF2-40B4-BE49-F238E27FC236}">
                <a16:creationId xmlns:a16="http://schemas.microsoft.com/office/drawing/2014/main" id="{DCB8298A-8722-E464-FA78-9BB9193C85A7}"/>
              </a:ext>
            </a:extLst>
          </p:cNvPr>
          <p:cNvPicPr>
            <a:picLocks noChangeAspect="1"/>
          </p:cNvPicPr>
          <p:nvPr/>
        </p:nvPicPr>
        <p:blipFill>
          <a:blip r:embed="rId5"/>
          <a:stretch>
            <a:fillRect/>
          </a:stretch>
        </p:blipFill>
        <p:spPr>
          <a:xfrm>
            <a:off x="912000" y="2240080"/>
            <a:ext cx="4608000" cy="3729623"/>
          </a:xfrm>
          <a:prstGeom prst="rect">
            <a:avLst/>
          </a:prstGeom>
        </p:spPr>
      </p:pic>
      <p:pic>
        <p:nvPicPr>
          <p:cNvPr id="9" name="图片 8">
            <a:extLst>
              <a:ext uri="{FF2B5EF4-FFF2-40B4-BE49-F238E27FC236}">
                <a16:creationId xmlns:a16="http://schemas.microsoft.com/office/drawing/2014/main" id="{8B19B56E-A6E4-E12C-F019-7C4E0BCB6244}"/>
              </a:ext>
            </a:extLst>
          </p:cNvPr>
          <p:cNvPicPr>
            <a:picLocks noChangeAspect="1"/>
          </p:cNvPicPr>
          <p:nvPr/>
        </p:nvPicPr>
        <p:blipFill>
          <a:blip r:embed="rId6"/>
          <a:stretch>
            <a:fillRect/>
          </a:stretch>
        </p:blipFill>
        <p:spPr>
          <a:xfrm>
            <a:off x="7032000" y="1304111"/>
            <a:ext cx="4121362" cy="2349621"/>
          </a:xfrm>
          <a:prstGeom prst="rect">
            <a:avLst/>
          </a:prstGeom>
        </p:spPr>
      </p:pic>
      <p:pic>
        <p:nvPicPr>
          <p:cNvPr id="12" name="图片 11">
            <a:extLst>
              <a:ext uri="{FF2B5EF4-FFF2-40B4-BE49-F238E27FC236}">
                <a16:creationId xmlns:a16="http://schemas.microsoft.com/office/drawing/2014/main" id="{58565552-136C-280C-00AA-8985418F772B}"/>
              </a:ext>
            </a:extLst>
          </p:cNvPr>
          <p:cNvPicPr>
            <a:picLocks noChangeAspect="1"/>
          </p:cNvPicPr>
          <p:nvPr/>
        </p:nvPicPr>
        <p:blipFill>
          <a:blip r:embed="rId7"/>
          <a:stretch>
            <a:fillRect/>
          </a:stretch>
        </p:blipFill>
        <p:spPr>
          <a:xfrm>
            <a:off x="6744000" y="3733758"/>
            <a:ext cx="4305521" cy="2825895"/>
          </a:xfrm>
          <a:prstGeom prst="rect">
            <a:avLst/>
          </a:prstGeom>
        </p:spPr>
      </p:pic>
    </p:spTree>
    <p:extLst>
      <p:ext uri="{BB962C8B-B14F-4D97-AF65-F5344CB8AC3E}">
        <p14:creationId xmlns:p14="http://schemas.microsoft.com/office/powerpoint/2010/main" val="3410882076"/>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52B3-4619-7E12-D397-5DF1F23D246A}"/>
            </a:ext>
          </a:extLst>
        </p:cNvPr>
        <p:cNvGrpSpPr/>
        <p:nvPr/>
      </p:nvGrpSpPr>
      <p:grpSpPr>
        <a:xfrm>
          <a:off x="0" y="0"/>
          <a:ext cx="0" cy="0"/>
          <a:chOff x="0" y="0"/>
          <a:chExt cx="0" cy="0"/>
        </a:xfrm>
      </p:grpSpPr>
      <p:sp>
        <p:nvSpPr>
          <p:cNvPr id="19" name="矩形 18">
            <a:extLst>
              <a:ext uri="{FF2B5EF4-FFF2-40B4-BE49-F238E27FC236}">
                <a16:creationId xmlns:a16="http://schemas.microsoft.com/office/drawing/2014/main" id="{DD40A904-A690-81BE-4634-08AB774D1092}"/>
              </a:ext>
            </a:extLst>
          </p:cNvPr>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E26D7EB4-FB65-2587-0242-9B2F8530883F}"/>
              </a:ext>
            </a:extLst>
          </p:cNvPr>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9" name="组合 28">
            <a:extLst>
              <a:ext uri="{FF2B5EF4-FFF2-40B4-BE49-F238E27FC236}">
                <a16:creationId xmlns:a16="http://schemas.microsoft.com/office/drawing/2014/main" id="{2FA5DF22-D9CA-76D8-3D64-B8C047F32BCC}"/>
              </a:ext>
            </a:extLst>
          </p:cNvPr>
          <p:cNvGrpSpPr/>
          <p:nvPr/>
        </p:nvGrpSpPr>
        <p:grpSpPr>
          <a:xfrm>
            <a:off x="-1" y="6553200"/>
            <a:ext cx="12192001" cy="304800"/>
            <a:chOff x="0" y="6569404"/>
            <a:chExt cx="9144000" cy="288000"/>
          </a:xfrm>
        </p:grpSpPr>
        <p:sp>
          <p:nvSpPr>
            <p:cNvPr id="31" name="矩形 30">
              <a:extLst>
                <a:ext uri="{FF2B5EF4-FFF2-40B4-BE49-F238E27FC236}">
                  <a16:creationId xmlns:a16="http://schemas.microsoft.com/office/drawing/2014/main" id="{B212F01A-E68D-687E-9863-558D8AAA425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7DF491E5-6701-1A5A-143E-BD1304527831}"/>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 name="灯片编号占位符 5">
            <a:extLst>
              <a:ext uri="{FF2B5EF4-FFF2-40B4-BE49-F238E27FC236}">
                <a16:creationId xmlns:a16="http://schemas.microsoft.com/office/drawing/2014/main" id="{71813814-AF53-83BC-C311-479B0226BA4B}"/>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83</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4C8D897E-3B5C-6D87-3726-37EEFEB677AE}"/>
              </a:ext>
            </a:extLst>
          </p:cNvPr>
          <p:cNvSpPr txBox="1"/>
          <p:nvPr/>
        </p:nvSpPr>
        <p:spPr>
          <a:xfrm>
            <a:off x="-24000" y="765000"/>
            <a:ext cx="11357699" cy="460375"/>
          </a:xfrm>
          <a:prstGeom prst="rect">
            <a:avLst/>
          </a:prstGeom>
          <a:noFill/>
        </p:spPr>
        <p:txBody>
          <a:bodyPr wrap="square" rtlCol="0" anchor="t">
            <a:spAutoFit/>
          </a:bodyPr>
          <a:lstStyle/>
          <a:p>
            <a:r>
              <a:rPr lang="en-US" altLang="zh-CN" sz="2400" b="1" dirty="0">
                <a:solidFill>
                  <a:srgbClr val="0174AB"/>
                </a:solidFill>
                <a:latin typeface="Times New Roman" panose="02020603050405020304" pitchFamily="18" charset="0"/>
                <a:cs typeface="Times New Roman" panose="02020603050405020304" pitchFamily="18" charset="0"/>
              </a:rPr>
              <a:t>2 Real-World Experiments</a:t>
            </a:r>
          </a:p>
        </p:txBody>
      </p:sp>
      <p:cxnSp>
        <p:nvCxnSpPr>
          <p:cNvPr id="4" name="直接连接符 3">
            <a:extLst>
              <a:ext uri="{FF2B5EF4-FFF2-40B4-BE49-F238E27FC236}">
                <a16:creationId xmlns:a16="http://schemas.microsoft.com/office/drawing/2014/main" id="{A97E09CB-3482-C9EA-D1ED-000A2380EEB9}"/>
              </a:ext>
            </a:extLst>
          </p:cNvPr>
          <p:cNvCxnSpPr/>
          <p:nvPr/>
        </p:nvCxnSpPr>
        <p:spPr>
          <a:xfrm flipV="1">
            <a:off x="52202" y="1190380"/>
            <a:ext cx="10827773" cy="36285"/>
          </a:xfrm>
          <a:prstGeom prst="line">
            <a:avLst/>
          </a:prstGeom>
          <a:ln>
            <a:solidFill>
              <a:srgbClr val="0174AB"/>
            </a:solidFill>
          </a:ln>
        </p:spPr>
        <p:style>
          <a:lnRef idx="2">
            <a:schemeClr val="accent1"/>
          </a:lnRef>
          <a:fillRef idx="0">
            <a:srgbClr val="FFFFFF"/>
          </a:fillRef>
          <a:effectRef idx="0">
            <a:srgbClr val="FFFFFF"/>
          </a:effectRef>
          <a:fontRef idx="minor">
            <a:schemeClr val="tx1"/>
          </a:fontRef>
        </p:style>
      </p:cxnSp>
      <p:pic>
        <p:nvPicPr>
          <p:cNvPr id="6" name="图片 5">
            <a:extLst>
              <a:ext uri="{FF2B5EF4-FFF2-40B4-BE49-F238E27FC236}">
                <a16:creationId xmlns:a16="http://schemas.microsoft.com/office/drawing/2014/main" id="{542FD97B-A9DD-51B5-3A8A-13050D0A75B0}"/>
              </a:ext>
            </a:extLst>
          </p:cNvPr>
          <p:cNvPicPr>
            <a:picLocks noChangeAspect="1"/>
          </p:cNvPicPr>
          <p:nvPr/>
        </p:nvPicPr>
        <p:blipFill>
          <a:blip r:embed="rId5"/>
          <a:stretch>
            <a:fillRect/>
          </a:stretch>
        </p:blipFill>
        <p:spPr>
          <a:xfrm>
            <a:off x="624000" y="1515621"/>
            <a:ext cx="4121362" cy="4692891"/>
          </a:xfrm>
          <a:prstGeom prst="rect">
            <a:avLst/>
          </a:prstGeom>
        </p:spPr>
      </p:pic>
      <p:pic>
        <p:nvPicPr>
          <p:cNvPr id="8" name="图片 7">
            <a:extLst>
              <a:ext uri="{FF2B5EF4-FFF2-40B4-BE49-F238E27FC236}">
                <a16:creationId xmlns:a16="http://schemas.microsoft.com/office/drawing/2014/main" id="{33D126DB-FC3C-D7B8-AFA8-23BDEA5A0778}"/>
              </a:ext>
            </a:extLst>
          </p:cNvPr>
          <p:cNvPicPr>
            <a:picLocks noChangeAspect="1"/>
          </p:cNvPicPr>
          <p:nvPr/>
        </p:nvPicPr>
        <p:blipFill>
          <a:blip r:embed="rId6"/>
          <a:stretch>
            <a:fillRect/>
          </a:stretch>
        </p:blipFill>
        <p:spPr>
          <a:xfrm>
            <a:off x="6168000" y="1301221"/>
            <a:ext cx="4216617" cy="5092962"/>
          </a:xfrm>
          <a:prstGeom prst="rect">
            <a:avLst/>
          </a:prstGeom>
        </p:spPr>
      </p:pic>
    </p:spTree>
    <p:extLst>
      <p:ext uri="{BB962C8B-B14F-4D97-AF65-F5344CB8AC3E}">
        <p14:creationId xmlns:p14="http://schemas.microsoft.com/office/powerpoint/2010/main" val="795340670"/>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2135561" y="2650330"/>
            <a:ext cx="2054225" cy="2002806"/>
            <a:chOff x="800100" y="2426638"/>
            <a:chExt cx="2054225" cy="2002806"/>
          </a:xfrm>
        </p:grpSpPr>
        <p:grpSp>
          <p:nvGrpSpPr>
            <p:cNvPr id="27" name="组合 18"/>
            <p:cNvGrpSpPr/>
            <p:nvPr/>
          </p:nvGrpSpPr>
          <p:grpSpPr bwMode="auto">
            <a:xfrm>
              <a:off x="1073997" y="2426638"/>
              <a:ext cx="1505450" cy="1479472"/>
              <a:chOff x="1709739" y="2636838"/>
              <a:chExt cx="1590160" cy="1584325"/>
            </a:xfrm>
            <a:solidFill>
              <a:srgbClr val="044875"/>
            </a:solidFill>
          </p:grpSpPr>
          <p:sp>
            <p:nvSpPr>
              <p:cNvPr id="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3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sp>
            <p:nvSpPr>
              <p:cNvPr id="4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HK" altLang="en-US">
                  <a:latin typeface="Times New Roman" panose="02020603050405020304" pitchFamily="18" charset="0"/>
                  <a:ea typeface="PMingLiU-ExtB" panose="02020500000000000000" charset="-120"/>
                  <a:cs typeface="Times New Roman" panose="02020603050405020304" pitchFamily="18" charset="0"/>
                </a:endParaRPr>
              </a:p>
            </p:txBody>
          </p:sp>
        </p:grpSp>
        <p:sp>
          <p:nvSpPr>
            <p:cNvPr id="31" name="文本框 30"/>
            <p:cNvSpPr txBox="1"/>
            <p:nvPr/>
          </p:nvSpPr>
          <p:spPr bwMode="auto">
            <a:xfrm>
              <a:off x="800100" y="3906110"/>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p>
          </p:txBody>
        </p:sp>
      </p:grpSp>
      <p:grpSp>
        <p:nvGrpSpPr>
          <p:cNvPr id="19" name="组合 18"/>
          <p:cNvGrpSpPr/>
          <p:nvPr/>
        </p:nvGrpSpPr>
        <p:grpSpPr>
          <a:xfrm>
            <a:off x="4611497" y="2225628"/>
            <a:ext cx="5370513" cy="534987"/>
            <a:chOff x="3281952" y="1484784"/>
            <a:chExt cx="5370513" cy="534987"/>
          </a:xfrm>
        </p:grpSpPr>
        <p:grpSp>
          <p:nvGrpSpPr>
            <p:cNvPr id="14" name="组合 13"/>
            <p:cNvGrpSpPr/>
            <p:nvPr/>
          </p:nvGrpSpPr>
          <p:grpSpPr>
            <a:xfrm>
              <a:off x="3943940" y="1484784"/>
              <a:ext cx="4708525" cy="534987"/>
              <a:chOff x="3943940" y="1626760"/>
              <a:chExt cx="4708525" cy="534987"/>
            </a:xfrm>
          </p:grpSpPr>
          <p:sp>
            <p:nvSpPr>
              <p:cNvPr id="49" name="Freeform 74"/>
              <p:cNvSpPr>
                <a:spLocks noEditPoints="1"/>
              </p:cNvSpPr>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50" name="文本框 20"/>
              <p:cNvSpPr txBox="1">
                <a:spLocks noChangeArrowheads="1"/>
              </p:cNvSpPr>
              <p:nvPr/>
            </p:nvSpPr>
            <p:spPr bwMode="auto">
              <a:xfrm>
                <a:off x="4599577" y="1648846"/>
                <a:ext cx="39893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Problem Description</a:t>
                </a:r>
              </a:p>
            </p:txBody>
          </p:sp>
          <p:sp>
            <p:nvSpPr>
              <p:cNvPr id="51" name="矩形 50"/>
              <p:cNvSpPr/>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2" name="直接连接符 51"/>
              <p:cNvCxnSpPr/>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281952" y="1484784"/>
              <a:ext cx="689642" cy="534987"/>
              <a:chOff x="3281952" y="1626760"/>
              <a:chExt cx="689642" cy="534987"/>
            </a:xfrm>
          </p:grpSpPr>
          <p:sp>
            <p:nvSpPr>
              <p:cNvPr id="53" name="矩形 52"/>
              <p:cNvSpPr/>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54" name="文本框 18"/>
              <p:cNvSpPr txBox="1">
                <a:spLocks noChangeArrowheads="1"/>
              </p:cNvSpPr>
              <p:nvPr/>
            </p:nvSpPr>
            <p:spPr bwMode="auto">
              <a:xfrm>
                <a:off x="3281952" y="1628800"/>
                <a:ext cx="689642"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01</a:t>
                </a:r>
              </a:p>
            </p:txBody>
          </p:sp>
        </p:grpSp>
      </p:grpSp>
      <p:grpSp>
        <p:nvGrpSpPr>
          <p:cNvPr id="22" name="组合 21"/>
          <p:cNvGrpSpPr/>
          <p:nvPr/>
        </p:nvGrpSpPr>
        <p:grpSpPr>
          <a:xfrm>
            <a:off x="4591349" y="3866346"/>
            <a:ext cx="5372100" cy="534987"/>
            <a:chOff x="3261805" y="3188752"/>
            <a:chExt cx="5372100" cy="534987"/>
          </a:xfrm>
        </p:grpSpPr>
        <p:grpSp>
          <p:nvGrpSpPr>
            <p:cNvPr id="12" name="组合 11"/>
            <p:cNvGrpSpPr/>
            <p:nvPr/>
          </p:nvGrpSpPr>
          <p:grpSpPr>
            <a:xfrm>
              <a:off x="3261805" y="3188752"/>
              <a:ext cx="689593" cy="534987"/>
              <a:chOff x="3261805" y="3188752"/>
              <a:chExt cx="689593" cy="534987"/>
            </a:xfrm>
          </p:grpSpPr>
          <p:sp>
            <p:nvSpPr>
              <p:cNvPr id="61" name="矩形 60"/>
              <p:cNvSpPr/>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62" name="文本框 86"/>
              <p:cNvSpPr txBox="1">
                <a:spLocks noChangeArrowheads="1"/>
              </p:cNvSpPr>
              <p:nvPr/>
            </p:nvSpPr>
            <p:spPr bwMode="auto">
              <a:xfrm>
                <a:off x="3261805" y="3188752"/>
                <a:ext cx="689593"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D0CECE"/>
                    </a:solidFill>
                    <a:latin typeface="Times New Roman" panose="02020603050405020304" pitchFamily="18" charset="0"/>
                    <a:cs typeface="Times New Roman" panose="02020603050405020304" pitchFamily="18" charset="0"/>
                  </a:rPr>
                  <a:t>03</a:t>
                </a:r>
              </a:p>
            </p:txBody>
          </p:sp>
        </p:grpSp>
        <p:grpSp>
          <p:nvGrpSpPr>
            <p:cNvPr id="16" name="组合 15"/>
            <p:cNvGrpSpPr/>
            <p:nvPr/>
          </p:nvGrpSpPr>
          <p:grpSpPr>
            <a:xfrm>
              <a:off x="3923792" y="3188752"/>
              <a:ext cx="4710113" cy="534987"/>
              <a:chOff x="3923792" y="3188752"/>
              <a:chExt cx="4710113" cy="534987"/>
            </a:xfrm>
          </p:grpSpPr>
          <p:sp>
            <p:nvSpPr>
              <p:cNvPr id="57" name="矩形 56"/>
              <p:cNvSpPr/>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58" name="直接连接符 57"/>
              <p:cNvCxnSpPr/>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3" name="组合 22"/>
          <p:cNvGrpSpPr/>
          <p:nvPr/>
        </p:nvGrpSpPr>
        <p:grpSpPr>
          <a:xfrm>
            <a:off x="4591349" y="4686705"/>
            <a:ext cx="5372100" cy="534987"/>
            <a:chOff x="3261805" y="4046141"/>
            <a:chExt cx="5372100" cy="534987"/>
          </a:xfrm>
        </p:grpSpPr>
        <p:grpSp>
          <p:nvGrpSpPr>
            <p:cNvPr id="13" name="组合 12"/>
            <p:cNvGrpSpPr/>
            <p:nvPr/>
          </p:nvGrpSpPr>
          <p:grpSpPr>
            <a:xfrm>
              <a:off x="3261805" y="4046141"/>
              <a:ext cx="689447" cy="534987"/>
              <a:chOff x="3261805" y="3969748"/>
              <a:chExt cx="689447" cy="534987"/>
            </a:xfrm>
          </p:grpSpPr>
          <p:sp>
            <p:nvSpPr>
              <p:cNvPr id="89" name="矩形 88"/>
              <p:cNvSpPr/>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Times New Roman" panose="02020603050405020304" pitchFamily="18" charset="0"/>
                  <a:cs typeface="Times New Roman" panose="02020603050405020304" pitchFamily="18" charset="0"/>
                </a:endParaRPr>
              </a:p>
            </p:txBody>
          </p:sp>
          <p:sp>
            <p:nvSpPr>
              <p:cNvPr id="90" name="文本框 131"/>
              <p:cNvSpPr txBox="1">
                <a:spLocks noChangeArrowheads="1"/>
              </p:cNvSpPr>
              <p:nvPr/>
            </p:nvSpPr>
            <p:spPr bwMode="auto">
              <a:xfrm>
                <a:off x="3261805" y="3969748"/>
                <a:ext cx="689447" cy="508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Times New Roman" panose="02020603050405020304" pitchFamily="18" charset="0"/>
                    <a:cs typeface="Times New Roman" panose="02020603050405020304" pitchFamily="18" charset="0"/>
                  </a:rPr>
                  <a:t>04</a:t>
                </a:r>
              </a:p>
            </p:txBody>
          </p:sp>
        </p:grpSp>
        <p:grpSp>
          <p:nvGrpSpPr>
            <p:cNvPr id="17" name="组合 16"/>
            <p:cNvGrpSpPr/>
            <p:nvPr/>
          </p:nvGrpSpPr>
          <p:grpSpPr>
            <a:xfrm>
              <a:off x="3923792" y="4046141"/>
              <a:ext cx="4710113" cy="534987"/>
              <a:chOff x="3923792" y="3969748"/>
              <a:chExt cx="4710113" cy="534987"/>
            </a:xfrm>
          </p:grpSpPr>
          <p:sp>
            <p:nvSpPr>
              <p:cNvPr id="64" name="文本框 126"/>
              <p:cNvSpPr txBox="1">
                <a:spLocks noChangeArrowheads="1"/>
              </p:cNvSpPr>
              <p:nvPr/>
            </p:nvSpPr>
            <p:spPr bwMode="auto">
              <a:xfrm>
                <a:off x="4571492" y="4002700"/>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65" name="矩形 64"/>
              <p:cNvSpPr/>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anose="02020603050405020304" pitchFamily="18" charset="0"/>
                  <a:cs typeface="Times New Roman" panose="02020603050405020304" pitchFamily="18" charset="0"/>
                </a:endParaRPr>
              </a:p>
            </p:txBody>
          </p:sp>
          <p:cxnSp>
            <p:nvCxnSpPr>
              <p:cNvPr id="86" name="直接连接符 85"/>
              <p:cNvCxnSpPr/>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20" name="组合 19"/>
          <p:cNvGrpSpPr/>
          <p:nvPr/>
        </p:nvGrpSpPr>
        <p:grpSpPr>
          <a:xfrm>
            <a:off x="4605401" y="3045987"/>
            <a:ext cx="5370513" cy="534987"/>
            <a:chOff x="3275856" y="2348880"/>
            <a:chExt cx="5370513" cy="534987"/>
          </a:xfrm>
        </p:grpSpPr>
        <p:grpSp>
          <p:nvGrpSpPr>
            <p:cNvPr id="11" name="组合 10"/>
            <p:cNvGrpSpPr/>
            <p:nvPr/>
          </p:nvGrpSpPr>
          <p:grpSpPr>
            <a:xfrm>
              <a:off x="3275856" y="2348880"/>
              <a:ext cx="689474" cy="534987"/>
              <a:chOff x="3275856" y="2407756"/>
              <a:chExt cx="689474" cy="534987"/>
            </a:xfrm>
          </p:grpSpPr>
          <p:sp>
            <p:nvSpPr>
              <p:cNvPr id="97" name="矩形 96"/>
              <p:cNvSpPr/>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bg2">
                      <a:lumMod val="90000"/>
                    </a:schemeClr>
                  </a:solidFill>
                  <a:latin typeface="Times New Roman" panose="02020603050405020304" pitchFamily="18" charset="0"/>
                  <a:cs typeface="Times New Roman" panose="02020603050405020304" pitchFamily="18" charset="0"/>
                </a:endParaRPr>
              </a:p>
            </p:txBody>
          </p:sp>
          <p:sp>
            <p:nvSpPr>
              <p:cNvPr id="98" name="文本框 78"/>
              <p:cNvSpPr txBox="1">
                <a:spLocks noChangeArrowheads="1"/>
              </p:cNvSpPr>
              <p:nvPr/>
            </p:nvSpPr>
            <p:spPr bwMode="auto">
              <a:xfrm>
                <a:off x="3275856" y="2407757"/>
                <a:ext cx="689474" cy="50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Times New Roman" panose="02020603050405020304" pitchFamily="18" charset="0"/>
                    <a:cs typeface="Times New Roman" panose="02020603050405020304" pitchFamily="18" charset="0"/>
                  </a:rPr>
                  <a:t>02</a:t>
                </a:r>
              </a:p>
            </p:txBody>
          </p:sp>
        </p:grpSp>
        <p:grpSp>
          <p:nvGrpSpPr>
            <p:cNvPr id="15" name="组合 14"/>
            <p:cNvGrpSpPr/>
            <p:nvPr/>
          </p:nvGrpSpPr>
          <p:grpSpPr>
            <a:xfrm>
              <a:off x="3937844" y="2348880"/>
              <a:ext cx="4708525" cy="534987"/>
              <a:chOff x="3937844" y="2407756"/>
              <a:chExt cx="4708525" cy="534987"/>
            </a:xfrm>
          </p:grpSpPr>
          <p:sp>
            <p:nvSpPr>
              <p:cNvPr id="92" name="文本框 73"/>
              <p:cNvSpPr txBox="1">
                <a:spLocks noChangeArrowheads="1"/>
              </p:cNvSpPr>
              <p:nvPr/>
            </p:nvSpPr>
            <p:spPr bwMode="auto">
              <a:xfrm>
                <a:off x="5326034" y="2449079"/>
                <a:ext cx="24997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cs typeface="Times New Roman" panose="02020603050405020304" pitchFamily="18" charset="0"/>
                  </a:rPr>
                  <a:t>Method Design</a:t>
                </a:r>
              </a:p>
            </p:txBody>
          </p:sp>
          <p:sp>
            <p:nvSpPr>
              <p:cNvPr id="93" name="矩形 92"/>
              <p:cNvSpPr/>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cxnSp>
            <p:nvCxnSpPr>
              <p:cNvPr id="94" name="直接连接符 93"/>
              <p:cNvCxnSpPr/>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6" name="Freeform 30"/>
              <p:cNvSpPr>
                <a:spLocks noEditPoints="1"/>
              </p:cNvSpPr>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grpSp>
      </p:grpSp>
      <p:grpSp>
        <p:nvGrpSpPr>
          <p:cNvPr id="109" name="组合 108"/>
          <p:cNvGrpSpPr/>
          <p:nvPr/>
        </p:nvGrpSpPr>
        <p:grpSpPr>
          <a:xfrm>
            <a:off x="1524000" y="6569404"/>
            <a:ext cx="9144000" cy="288596"/>
            <a:chOff x="0" y="6569404"/>
            <a:chExt cx="9144000" cy="288596"/>
          </a:xfrm>
        </p:grpSpPr>
        <p:sp>
          <p:nvSpPr>
            <p:cNvPr id="1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3"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66"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p>
        </p:txBody>
      </p:sp>
      <p:sp>
        <p:nvSpPr>
          <p:cNvPr id="2" name="文本框 126"/>
          <p:cNvSpPr txBox="1">
            <a:spLocks noChangeArrowheads="1"/>
          </p:cNvSpPr>
          <p:nvPr/>
        </p:nvSpPr>
        <p:spPr bwMode="auto">
          <a:xfrm>
            <a:off x="5901037" y="3903006"/>
            <a:ext cx="4041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D0CECE"/>
                </a:solidFill>
                <a:latin typeface="Times New Roman" panose="02020603050405020304" pitchFamily="18" charset="0"/>
                <a:ea typeface="微软雅黑" panose="020B0503020204020204" charset="-122"/>
                <a:cs typeface="Times New Roman" panose="02020603050405020304" pitchFamily="18" charset="0"/>
              </a:rPr>
              <a:t>Experiment Results</a:t>
            </a:r>
          </a:p>
        </p:txBody>
      </p:sp>
      <p:sp>
        <p:nvSpPr>
          <p:cNvPr id="5" name="Freeform 306"/>
          <p:cNvSpPr>
            <a:spLocks noEditPoints="1"/>
          </p:cNvSpPr>
          <p:nvPr>
            <p:custDataLst>
              <p:tags r:id="rId1"/>
            </p:custDataLst>
          </p:nvPr>
        </p:nvSpPr>
        <p:spPr bwMode="auto">
          <a:xfrm>
            <a:off x="5361558" y="4739989"/>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pPr>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6" name="Freeform 71"/>
          <p:cNvSpPr>
            <a:spLocks noEditPoints="1"/>
          </p:cNvSpPr>
          <p:nvPr/>
        </p:nvSpPr>
        <p:spPr bwMode="auto">
          <a:xfrm>
            <a:off x="5372987" y="3936800"/>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1">
              <a:lumMod val="50000"/>
            </a:schemeClr>
          </a:solidFill>
          <a:ln>
            <a:noFill/>
          </a:ln>
        </p:spPr>
        <p:txBody>
          <a:bodyPr/>
          <a:lstStyle/>
          <a:p>
            <a:pPr>
              <a:defRPr/>
            </a:pPr>
            <a:endParaRPr lang="zh-CN" altLang="en-US" b="1">
              <a:solidFill>
                <a:schemeClr val="bg2">
                  <a:lumMod val="90000"/>
                </a:schemeClr>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84</a:t>
            </a:fld>
            <a:endParaRPr lang="zh-HK" altLang="en-US">
              <a:solidFill>
                <a:prstClr val="black">
                  <a:tint val="75000"/>
                </a:prstClr>
              </a:solidFill>
            </a:endParaRPr>
          </a:p>
        </p:txBody>
      </p:sp>
      <p:grpSp>
        <p:nvGrpSpPr>
          <p:cNvPr id="8" name="组合 7"/>
          <p:cNvGrpSpPr/>
          <p:nvPr/>
        </p:nvGrpSpPr>
        <p:grpSpPr>
          <a:xfrm>
            <a:off x="-1" y="6553200"/>
            <a:ext cx="12192001" cy="304800"/>
            <a:chOff x="0" y="6569404"/>
            <a:chExt cx="9144000" cy="288000"/>
          </a:xfrm>
        </p:grpSpPr>
        <p:sp>
          <p:nvSpPr>
            <p:cNvPr id="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8"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84</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pic>
        <p:nvPicPr>
          <p:cNvPr id="24" name="图片 23"/>
          <p:cNvPicPr>
            <a:picLocks noChangeAspect="1"/>
          </p:cNvPicPr>
          <p:nvPr/>
        </p:nvPicPr>
        <p:blipFill>
          <a:blip r:embed="rId4" cstate="print">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grpSp>
        <p:nvGrpSpPr>
          <p:cNvPr id="20" name="组合 19"/>
          <p:cNvGrpSpPr/>
          <p:nvPr/>
        </p:nvGrpSpPr>
        <p:grpSpPr>
          <a:xfrm>
            <a:off x="-1" y="6553200"/>
            <a:ext cx="12192001" cy="304800"/>
            <a:chOff x="0" y="6569404"/>
            <a:chExt cx="9144000" cy="288000"/>
          </a:xfrm>
        </p:grpSpPr>
        <p:sp>
          <p:nvSpPr>
            <p:cNvPr id="2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85</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4" name="矩形 3"/>
          <p:cNvSpPr/>
          <p:nvPr/>
        </p:nvSpPr>
        <p:spPr>
          <a:xfrm>
            <a:off x="1481455" y="1043862"/>
            <a:ext cx="9215755" cy="1953138"/>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 name="矩形 4"/>
          <p:cNvSpPr/>
          <p:nvPr/>
        </p:nvSpPr>
        <p:spPr>
          <a:xfrm>
            <a:off x="1769482" y="761319"/>
            <a:ext cx="1033145"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①</a:t>
            </a:r>
          </a:p>
        </p:txBody>
      </p:sp>
      <p:sp>
        <p:nvSpPr>
          <p:cNvPr id="9" name="矩形 8"/>
          <p:cNvSpPr/>
          <p:nvPr/>
        </p:nvSpPr>
        <p:spPr>
          <a:xfrm>
            <a:off x="1487997" y="3546661"/>
            <a:ext cx="9216002" cy="2118020"/>
          </a:xfrm>
          <a:prstGeom prst="rect">
            <a:avLst/>
          </a:prstGeom>
          <a:noFill/>
          <a:ln w="28575">
            <a:solidFill>
              <a:srgbClr val="0174AB"/>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1704000" y="3285000"/>
            <a:ext cx="933999" cy="5041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b="1" dirty="0">
                <a:solidFill>
                  <a:srgbClr val="0174AB"/>
                </a:solidFill>
                <a:latin typeface="Times New Roman" panose="02020603050405020304" pitchFamily="18" charset="0"/>
                <a:ea typeface="Calibri" panose="020F0502020204030204" charset="0"/>
                <a:cs typeface="Calibri" panose="020F0502020204030204" charset="0"/>
              </a:rPr>
              <a:t>②</a:t>
            </a:r>
          </a:p>
        </p:txBody>
      </p:sp>
      <p:sp>
        <p:nvSpPr>
          <p:cNvPr id="15" name="文本框 14"/>
          <p:cNvSpPr txBox="1"/>
          <p:nvPr/>
        </p:nvSpPr>
        <p:spPr>
          <a:xfrm>
            <a:off x="1560000" y="3628266"/>
            <a:ext cx="8816340" cy="1883657"/>
          </a:xfrm>
          <a:prstGeom prst="rect">
            <a:avLst/>
          </a:prstGeom>
          <a:noFill/>
        </p:spPr>
        <p:txBody>
          <a:bodyPr wrap="square">
            <a:spAutoFit/>
          </a:bodyPr>
          <a:lstStyle>
            <a:defPPr>
              <a:defRPr lang="zh-CN"/>
            </a:defPPr>
            <a:lvl1pPr algn="just">
              <a:lnSpc>
                <a:spcPct val="150000"/>
              </a:lnSpc>
              <a:defRPr>
                <a:latin typeface="Arial" panose="020B0604020202020204" pitchFamily="34" charset="0"/>
                <a:cs typeface="Arial" panose="020B0604020202020204" pitchFamily="34" charset="0"/>
              </a:defRPr>
            </a:lvl1pPr>
          </a:lstStyle>
          <a:p>
            <a:r>
              <a:rPr lang="en-US" altLang="zh-CN" sz="2000" dirty="0">
                <a:solidFill>
                  <a:srgbClr val="000000"/>
                </a:solidFill>
                <a:latin typeface="Times New Roman" panose="02020603050405020304" pitchFamily="18" charset="0"/>
                <a:cs typeface="Times New Roman" panose="02020603050405020304" pitchFamily="18" charset="0"/>
              </a:rPr>
              <a:t>By suppressing spurious inter-agent dependencies and learning a robust action prior, MIR3 improves resistance to worst-case and ordinary disturbances while preserving cooperation. Results span SMAC, continuous quadrotor control, and real robot swarms; the uniform-coverage assumption remains a key theoretical caveat.</a:t>
            </a:r>
          </a:p>
        </p:txBody>
      </p:sp>
      <p:sp>
        <p:nvSpPr>
          <p:cNvPr id="16" name="文本框 15"/>
          <p:cNvSpPr txBox="1"/>
          <p:nvPr/>
        </p:nvSpPr>
        <p:spPr>
          <a:xfrm>
            <a:off x="1444893" y="1049502"/>
            <a:ext cx="9215755" cy="1883657"/>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solidFill>
                  <a:srgbClr val="000000"/>
                </a:solidFill>
                <a:effectLst/>
                <a:latin typeface="Times New Roman" panose="02020603050405020304" pitchFamily="18" charset="0"/>
                <a:cs typeface="Times New Roman" panose="02020603050405020304" pitchFamily="18" charset="0"/>
              </a:rPr>
              <a:t>MIR3 derives a history–action mutual-information penalty as a lower-bound surrogate for robust MARL. The </a:t>
            </a:r>
            <a:r>
              <a:rPr lang="en-US" altLang="zh-CN" sz="2000" dirty="0" err="1">
                <a:solidFill>
                  <a:srgbClr val="000000"/>
                </a:solidFill>
                <a:effectLst/>
                <a:latin typeface="Times New Roman" panose="02020603050405020304" pitchFamily="18" charset="0"/>
                <a:cs typeface="Times New Roman" panose="02020603050405020304" pitchFamily="18" charset="0"/>
              </a:rPr>
              <a:t>regularizer</a:t>
            </a:r>
            <a:r>
              <a:rPr lang="en-US" altLang="zh-CN" sz="2000" dirty="0">
                <a:solidFill>
                  <a:srgbClr val="000000"/>
                </a:solidFill>
                <a:effectLst/>
                <a:latin typeface="Times New Roman" panose="02020603050405020304" pitchFamily="18" charset="0"/>
                <a:cs typeface="Times New Roman" panose="02020603050405020304" pitchFamily="18" charset="0"/>
              </a:rPr>
              <a:t> is learned entirely in routine cooperative environments, can be added to different MARL backbones, and introduces no additional execution-time cost.</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 y="6553200"/>
            <a:ext cx="12192001" cy="304800"/>
            <a:chOff x="0" y="6569404"/>
            <a:chExt cx="9144000" cy="288000"/>
          </a:xfrm>
        </p:grpSpPr>
        <p:sp>
          <p:nvSpPr>
            <p:cNvPr id="23" name="矩形 22"/>
            <p:cNvSpPr/>
            <p:nvPr/>
          </p:nvSpPr>
          <p:spPr>
            <a:xfrm>
              <a:off x="8856000" y="6583801"/>
              <a:ext cx="288000" cy="2604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24" name="矩形 2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latin typeface="Times New Roman" panose="02020603050405020304" pitchFamily="18" charset="0"/>
                <a:cs typeface="Times New Roman" panose="02020603050405020304" pitchFamily="18" charset="0"/>
              </a:rPr>
              <a:t>86</a:t>
            </a:fld>
            <a:endParaRPr lang="zh-HK" altLang="en-US" sz="1600" dirty="0">
              <a:solidFill>
                <a:schemeClr val="bg1"/>
              </a:solidFill>
              <a:latin typeface="Times New Roman" panose="02020603050405020304" pitchFamily="18" charset="0"/>
              <a:cs typeface="Times New Roman" panose="02020603050405020304" pitchFamily="18" charset="0"/>
            </a:endParaRPr>
          </a:p>
        </p:txBody>
      </p:sp>
      <p:sp>
        <p:nvSpPr>
          <p:cNvPr id="2" name="矩形 1"/>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72"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Research Inspiration</a:t>
            </a:r>
          </a:p>
        </p:txBody>
      </p:sp>
      <p:pic>
        <p:nvPicPr>
          <p:cNvPr id="5" name="图片 4">
            <a:extLst>
              <a:ext uri="{FF2B5EF4-FFF2-40B4-BE49-F238E27FC236}">
                <a16:creationId xmlns:a16="http://schemas.microsoft.com/office/drawing/2014/main" id="{FEF892E9-2F52-4D60-F011-226DD2DD02D2}"/>
              </a:ext>
            </a:extLst>
          </p:cNvPr>
          <p:cNvPicPr>
            <a:picLocks noChangeAspect="1"/>
          </p:cNvPicPr>
          <p:nvPr/>
        </p:nvPicPr>
        <p:blipFill>
          <a:blip r:embed="rId4"/>
          <a:srcRect t="22047" b="46457"/>
          <a:stretch/>
        </p:blipFill>
        <p:spPr>
          <a:xfrm>
            <a:off x="1200000" y="845293"/>
            <a:ext cx="1800000" cy="1231742"/>
          </a:xfrm>
          <a:prstGeom prst="rect">
            <a:avLst/>
          </a:prstGeom>
        </p:spPr>
      </p:pic>
      <p:sp>
        <p:nvSpPr>
          <p:cNvPr id="6" name="Rounded Rectangle 74">
            <a:extLst>
              <a:ext uri="{FF2B5EF4-FFF2-40B4-BE49-F238E27FC236}">
                <a16:creationId xmlns:a16="http://schemas.microsoft.com/office/drawing/2014/main" id="{AAA54F79-79BE-0681-EE23-34841F830D23}"/>
              </a:ext>
            </a:extLst>
          </p:cNvPr>
          <p:cNvSpPr/>
          <p:nvPr/>
        </p:nvSpPr>
        <p:spPr>
          <a:xfrm>
            <a:off x="336000" y="2202327"/>
            <a:ext cx="3429000" cy="566928"/>
          </a:xfrm>
          <a:prstGeom prst="roundRect">
            <a:avLst/>
          </a:prstGeom>
          <a:solidFill>
            <a:srgbClr val="F2F2F2"/>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1" i="0">
                <a:solidFill>
                  <a:srgbClr val="044875"/>
                </a:solidFill>
                <a:latin typeface="Times New Roman"/>
              </a:rPr>
              <a:t>Raw state / goal / history information</a:t>
            </a:r>
          </a:p>
        </p:txBody>
      </p:sp>
      <p:sp>
        <p:nvSpPr>
          <p:cNvPr id="9" name="Down Arrow 75">
            <a:extLst>
              <a:ext uri="{FF2B5EF4-FFF2-40B4-BE49-F238E27FC236}">
                <a16:creationId xmlns:a16="http://schemas.microsoft.com/office/drawing/2014/main" id="{30EED875-248F-55A4-502A-A40FB1D576B5}"/>
              </a:ext>
            </a:extLst>
          </p:cNvPr>
          <p:cNvSpPr/>
          <p:nvPr/>
        </p:nvSpPr>
        <p:spPr>
          <a:xfrm>
            <a:off x="1616160" y="2842407"/>
            <a:ext cx="868680" cy="685800"/>
          </a:xfrm>
          <a:prstGeom prst="downArrow">
            <a:avLst/>
          </a:prstGeom>
          <a:solidFill>
            <a:srgbClr val="0174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76">
            <a:extLst>
              <a:ext uri="{FF2B5EF4-FFF2-40B4-BE49-F238E27FC236}">
                <a16:creationId xmlns:a16="http://schemas.microsoft.com/office/drawing/2014/main" id="{84B7FB92-1889-EEA3-01C8-F140395E59BB}"/>
              </a:ext>
            </a:extLst>
          </p:cNvPr>
          <p:cNvSpPr/>
          <p:nvPr/>
        </p:nvSpPr>
        <p:spPr>
          <a:xfrm>
            <a:off x="637752" y="3601359"/>
            <a:ext cx="2834640" cy="658368"/>
          </a:xfrm>
          <a:prstGeom prst="roundRect">
            <a:avLst/>
          </a:prstGeom>
          <a:solidFill>
            <a:srgbClr val="EAF3F8"/>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i="0">
                <a:solidFill>
                  <a:srgbClr val="0174AB"/>
                </a:solidFill>
                <a:latin typeface="Times New Roman"/>
              </a:rPr>
              <a:t>Task-relevant equivalence</a:t>
            </a:r>
          </a:p>
        </p:txBody>
      </p:sp>
      <p:sp>
        <p:nvSpPr>
          <p:cNvPr id="13" name="Down Arrow 77">
            <a:extLst>
              <a:ext uri="{FF2B5EF4-FFF2-40B4-BE49-F238E27FC236}">
                <a16:creationId xmlns:a16="http://schemas.microsoft.com/office/drawing/2014/main" id="{722C2C6D-FC54-A7B1-018A-8D2BD3484FA3}"/>
              </a:ext>
            </a:extLst>
          </p:cNvPr>
          <p:cNvSpPr/>
          <p:nvPr/>
        </p:nvSpPr>
        <p:spPr>
          <a:xfrm>
            <a:off x="1616160" y="4378599"/>
            <a:ext cx="868680" cy="685800"/>
          </a:xfrm>
          <a:prstGeom prst="downArrow">
            <a:avLst/>
          </a:prstGeom>
          <a:solidFill>
            <a:srgbClr val="0174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78">
            <a:extLst>
              <a:ext uri="{FF2B5EF4-FFF2-40B4-BE49-F238E27FC236}">
                <a16:creationId xmlns:a16="http://schemas.microsoft.com/office/drawing/2014/main" id="{F7D36A27-6898-3F4B-178D-A3422F6116F9}"/>
              </a:ext>
            </a:extLst>
          </p:cNvPr>
          <p:cNvSpPr/>
          <p:nvPr/>
        </p:nvSpPr>
        <p:spPr>
          <a:xfrm>
            <a:off x="637752" y="5174127"/>
            <a:ext cx="2834640" cy="868680"/>
          </a:xfrm>
          <a:prstGeom prst="roundRect">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i="0">
                <a:solidFill>
                  <a:srgbClr val="044875"/>
                </a:solidFill>
                <a:latin typeface="Times New Roman"/>
              </a:rPr>
              <a:t>Compact representation
with policy fidelity</a:t>
            </a:r>
          </a:p>
        </p:txBody>
      </p:sp>
      <p:sp>
        <p:nvSpPr>
          <p:cNvPr id="17" name="Rounded Rectangle 79">
            <a:extLst>
              <a:ext uri="{FF2B5EF4-FFF2-40B4-BE49-F238E27FC236}">
                <a16:creationId xmlns:a16="http://schemas.microsoft.com/office/drawing/2014/main" id="{135DBB9B-AF35-8E64-3D8D-BA82FB151B95}"/>
              </a:ext>
            </a:extLst>
          </p:cNvPr>
          <p:cNvSpPr/>
          <p:nvPr/>
        </p:nvSpPr>
        <p:spPr>
          <a:xfrm>
            <a:off x="4296000" y="1773000"/>
            <a:ext cx="7388352" cy="4091688"/>
          </a:xfrm>
          <a:prstGeom prst="roundRect">
            <a:avLst>
              <a:gd name="adj" fmla="val 7259"/>
            </a:avLst>
          </a:prstGeom>
          <a:solidFill>
            <a:srgbClr val="F5FAFD"/>
          </a:solidFill>
          <a:ln w="12700">
            <a:solidFill>
              <a:srgbClr val="8EBFD5"/>
            </a:solidFill>
          </a:ln>
        </p:spPr>
        <p:style>
          <a:lnRef idx="1">
            <a:schemeClr val="accent1"/>
          </a:lnRef>
          <a:fillRef idx="3">
            <a:schemeClr val="accent1"/>
          </a:fillRef>
          <a:effectRef idx="2">
            <a:schemeClr val="accent1"/>
          </a:effectRef>
          <a:fontRef idx="minor">
            <a:schemeClr val="lt1"/>
          </a:fontRef>
        </p:style>
        <p:txBody>
          <a:bodyPr wrap="square" lIns="109728" tIns="73152" bIns="54864" rtlCol="0" anchor="t"/>
          <a:lstStyle/>
          <a:p>
            <a:pPr algn="just">
              <a:lnSpc>
                <a:spcPct val="105000"/>
              </a:lnSpc>
              <a:spcAft>
                <a:spcPts val="700"/>
              </a:spcAft>
            </a:pPr>
            <a:r>
              <a:rPr sz="1739" b="1" dirty="0">
                <a:solidFill>
                  <a:srgbClr val="0174AB"/>
                </a:solidFill>
                <a:latin typeface="Times New Roman"/>
              </a:rPr>
              <a:t>• </a:t>
            </a:r>
            <a:r>
              <a:rPr sz="1739" b="1" dirty="0">
                <a:solidFill>
                  <a:srgbClr val="111111"/>
                </a:solidFill>
                <a:latin typeface="Times New Roman"/>
              </a:rPr>
              <a:t>Abstraction is task-dependent: </a:t>
            </a:r>
            <a:r>
              <a:rPr sz="1739" dirty="0">
                <a:solidFill>
                  <a:srgbClr val="111111"/>
                </a:solidFill>
                <a:latin typeface="Times New Roman"/>
              </a:rPr>
              <a:t>the right equivalence relation is defined by values, transitions, goals, communication context, or robustness—not by visual similarity alone.</a:t>
            </a:r>
          </a:p>
          <a:p>
            <a:pPr algn="just">
              <a:lnSpc>
                <a:spcPct val="105000"/>
              </a:lnSpc>
              <a:spcAft>
                <a:spcPts val="700"/>
              </a:spcAft>
            </a:pPr>
            <a:r>
              <a:rPr sz="1739" b="1" dirty="0">
                <a:solidFill>
                  <a:srgbClr val="0174AB"/>
                </a:solidFill>
                <a:latin typeface="Times New Roman"/>
              </a:rPr>
              <a:t>• </a:t>
            </a:r>
            <a:r>
              <a:rPr sz="1739" b="1" dirty="0">
                <a:solidFill>
                  <a:srgbClr val="111111"/>
                </a:solidFill>
                <a:latin typeface="Times New Roman"/>
              </a:rPr>
              <a:t>Granularity should adapt: </a:t>
            </a:r>
            <a:r>
              <a:rPr sz="1739" dirty="0">
                <a:solidFill>
                  <a:srgbClr val="111111"/>
                </a:solidFill>
                <a:latin typeface="Times New Roman"/>
              </a:rPr>
              <a:t>coarse representations help early sample efficiency, while finer distinctions become useful as data, tasks, and uncertainty grow.</a:t>
            </a:r>
          </a:p>
          <a:p>
            <a:pPr algn="just">
              <a:lnSpc>
                <a:spcPct val="105000"/>
              </a:lnSpc>
              <a:spcAft>
                <a:spcPts val="700"/>
              </a:spcAft>
            </a:pPr>
            <a:r>
              <a:rPr sz="1739" b="1" dirty="0">
                <a:solidFill>
                  <a:srgbClr val="0174AB"/>
                </a:solidFill>
                <a:latin typeface="Times New Roman"/>
              </a:rPr>
              <a:t>• </a:t>
            </a:r>
            <a:r>
              <a:rPr sz="1739" b="1" dirty="0">
                <a:solidFill>
                  <a:srgbClr val="111111"/>
                </a:solidFill>
                <a:latin typeface="Times New Roman"/>
              </a:rPr>
              <a:t>Explicit and implicit abstraction are complementary: </a:t>
            </a:r>
            <a:r>
              <a:rPr sz="1739" dirty="0">
                <a:solidFill>
                  <a:srgbClr val="111111"/>
                </a:solidFill>
                <a:latin typeface="Times New Roman"/>
              </a:rPr>
              <a:t>hash codes, </a:t>
            </a:r>
            <a:r>
              <a:rPr sz="1739" dirty="0" err="1">
                <a:solidFill>
                  <a:srgbClr val="111111"/>
                </a:solidFill>
                <a:latin typeface="Times New Roman"/>
              </a:rPr>
              <a:t>bisimulation</a:t>
            </a:r>
            <a:r>
              <a:rPr sz="1739" dirty="0">
                <a:solidFill>
                  <a:srgbClr val="111111"/>
                </a:solidFill>
                <a:latin typeface="Times New Roman"/>
              </a:rPr>
              <a:t>, structured pruning, information bottlenecks, and MI regularization all control what information influences decisions.</a:t>
            </a:r>
          </a:p>
          <a:p>
            <a:pPr algn="just">
              <a:lnSpc>
                <a:spcPct val="105000"/>
              </a:lnSpc>
              <a:spcAft>
                <a:spcPts val="700"/>
              </a:spcAft>
            </a:pPr>
            <a:r>
              <a:rPr sz="1739" b="1" dirty="0">
                <a:solidFill>
                  <a:srgbClr val="0174AB"/>
                </a:solidFill>
                <a:latin typeface="Times New Roman"/>
              </a:rPr>
              <a:t>• </a:t>
            </a:r>
            <a:r>
              <a:rPr sz="1739" b="1" dirty="0">
                <a:solidFill>
                  <a:srgbClr val="111111"/>
                </a:solidFill>
                <a:latin typeface="Times New Roman"/>
              </a:rPr>
              <a:t>Research direction: </a:t>
            </a:r>
            <a:r>
              <a:rPr sz="1739" dirty="0">
                <a:solidFill>
                  <a:srgbClr val="111111"/>
                </a:solidFill>
                <a:latin typeface="Times New Roman"/>
              </a:rPr>
              <a:t>develop unified multi-agent state abstraction with theoretical guarantees, dynamic graph structure, real-world validation, and robustness to changing agents and environments.</a:t>
            </a:r>
          </a:p>
        </p:txBody>
      </p:sp>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90750" y="2482442"/>
            <a:ext cx="7810500" cy="1476375"/>
          </a:xfrm>
          <a:prstGeom prst="rect">
            <a:avLst/>
          </a:prstGeom>
        </p:spPr>
        <p:txBody>
          <a:bodyPr wrap="none" anchor="ctr">
            <a:spAutoFit/>
          </a:bodyPr>
          <a:lstStyle/>
          <a:p>
            <a:pPr algn="ctr">
              <a:lnSpc>
                <a:spcPct val="150000"/>
              </a:lnSpc>
              <a:defRPr/>
            </a:pPr>
            <a:r>
              <a:rPr lang="en-US" altLang="zh-CN"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rPr>
              <a:t>Thank you for listening</a:t>
            </a:r>
          </a:p>
        </p:txBody>
      </p:sp>
      <p:pic>
        <p:nvPicPr>
          <p:cNvPr id="4" name="图片 3"/>
          <p:cNvPicPr>
            <a:picLocks noChangeAspect="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483441" y="156931"/>
            <a:ext cx="3708559" cy="681038"/>
          </a:xfrm>
          <a:prstGeom prst="rect">
            <a:avLst/>
          </a:prstGeom>
        </p:spPr>
      </p:pic>
      <p:grpSp>
        <p:nvGrpSpPr>
          <p:cNvPr id="5" name="组合 4"/>
          <p:cNvGrpSpPr/>
          <p:nvPr/>
        </p:nvGrpSpPr>
        <p:grpSpPr>
          <a:xfrm>
            <a:off x="0" y="6589920"/>
            <a:ext cx="12192001" cy="304800"/>
            <a:chOff x="0" y="6569404"/>
            <a:chExt cx="9144000" cy="288000"/>
          </a:xfrm>
        </p:grpSpPr>
        <p:sp>
          <p:nvSpPr>
            <p:cNvPr id="6" name="矩形 5"/>
            <p:cNvSpPr/>
            <p:nvPr/>
          </p:nvSpPr>
          <p:spPr>
            <a:xfrm>
              <a:off x="8729999" y="6583135"/>
              <a:ext cx="414001" cy="261731"/>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cs typeface="Times New Roman" panose="02020603050405020304" pitchFamily="18" charset="0"/>
                </a:rPr>
                <a:t>108</a:t>
              </a:r>
            </a:p>
          </p:txBody>
        </p:sp>
        <p:sp>
          <p:nvSpPr>
            <p:cNvPr id="7" name="矩形 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e35275c8-fa89-42ce-a201-5e038b2f618b"/>
  <p:tag name="COMMONDATA" val="eyJoZGlkIjoiODViMzZiNjM3MmNkN2VkNDJmMDk5YWI0YzNjNDQ2OWIifQ=="/>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2.15519685039374,&quot;left&quot;:5.05,&quot;top&quot;:193.01251968503936,&quot;width&quot;:947.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39.9089763779528,&quot;left&quot;:143.15,&quot;top&quot;:64.83944881889764,&quot;width&quot;:718.25}"/>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537.2107874015749}"/>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3194</TotalTime>
  <Words>3995</Words>
  <Application>Microsoft Office PowerPoint</Application>
  <PresentationFormat>宽屏</PresentationFormat>
  <Paragraphs>744</Paragraphs>
  <Slides>87</Slides>
  <Notes>87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87</vt:i4>
      </vt:variant>
    </vt:vector>
  </HeadingPairs>
  <TitlesOfParts>
    <vt:vector size="98" baseType="lpstr">
      <vt:lpstr>Inter</vt:lpstr>
      <vt:lpstr>微软雅黑</vt:lpstr>
      <vt:lpstr>Arial</vt:lpstr>
      <vt:lpstr>Calibri</vt:lpstr>
      <vt:lpstr>Calibri Light</vt:lpstr>
      <vt:lpstr>Cambria Math</vt:lpstr>
      <vt:lpstr>Montserrat</vt:lpstr>
      <vt:lpstr>Times New Roman</vt:lpstr>
      <vt:lpstr>Wingdings</vt:lpstr>
      <vt:lpstr>Office 2013 - 2022 主题</vt:lpstr>
      <vt:lpstr>1_Office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北京工业大学研究生开题报告</dc:title>
  <dc:creator>牛末寒</dc:creator>
  <cp:lastModifiedBy>末寒 牛</cp:lastModifiedBy>
  <cp:revision>2675</cp:revision>
  <dcterms:created xsi:type="dcterms:W3CDTF">2019-05-02T06:45:00Z</dcterms:created>
  <dcterms:modified xsi:type="dcterms:W3CDTF">2026-09-08T03:18:49Z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D87C3B92FDC749DEB59DD32930CFB9ED_13</vt:lpwstr>
  </property>
</Properties>
</file>